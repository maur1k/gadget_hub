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2"/>
  </p:notesMasterIdLst>
  <p:handoutMasterIdLst>
    <p:handoutMasterId r:id="rId63"/>
  </p:handoutMasterIdLst>
  <p:sldIdLst>
    <p:sldId id="398" r:id="rId2"/>
    <p:sldId id="256" r:id="rId3"/>
    <p:sldId id="258" r:id="rId4"/>
    <p:sldId id="259" r:id="rId5"/>
    <p:sldId id="394" r:id="rId6"/>
    <p:sldId id="395" r:id="rId7"/>
    <p:sldId id="260" r:id="rId8"/>
    <p:sldId id="261" r:id="rId9"/>
    <p:sldId id="262" r:id="rId10"/>
    <p:sldId id="268" r:id="rId11"/>
    <p:sldId id="266" r:id="rId12"/>
    <p:sldId id="350" r:id="rId13"/>
    <p:sldId id="264" r:id="rId14"/>
    <p:sldId id="269" r:id="rId15"/>
    <p:sldId id="265" r:id="rId16"/>
    <p:sldId id="351" r:id="rId17"/>
    <p:sldId id="267" r:id="rId18"/>
    <p:sldId id="270" r:id="rId19"/>
    <p:sldId id="271" r:id="rId20"/>
    <p:sldId id="352" r:id="rId21"/>
    <p:sldId id="353" r:id="rId22"/>
    <p:sldId id="354" r:id="rId23"/>
    <p:sldId id="272" r:id="rId24"/>
    <p:sldId id="355" r:id="rId25"/>
    <p:sldId id="356" r:id="rId26"/>
    <p:sldId id="357" r:id="rId27"/>
    <p:sldId id="358" r:id="rId28"/>
    <p:sldId id="359" r:id="rId29"/>
    <p:sldId id="360" r:id="rId30"/>
    <p:sldId id="361" r:id="rId31"/>
    <p:sldId id="362" r:id="rId32"/>
    <p:sldId id="363" r:id="rId33"/>
    <p:sldId id="364" r:id="rId34"/>
    <p:sldId id="365" r:id="rId35"/>
    <p:sldId id="399" r:id="rId36"/>
    <p:sldId id="366" r:id="rId37"/>
    <p:sldId id="367" r:id="rId38"/>
    <p:sldId id="368" r:id="rId39"/>
    <p:sldId id="370" r:id="rId40"/>
    <p:sldId id="369" r:id="rId41"/>
    <p:sldId id="371" r:id="rId42"/>
    <p:sldId id="396" r:id="rId43"/>
    <p:sldId id="397" r:id="rId44"/>
    <p:sldId id="372" r:id="rId45"/>
    <p:sldId id="373" r:id="rId46"/>
    <p:sldId id="374" r:id="rId47"/>
    <p:sldId id="376" r:id="rId48"/>
    <p:sldId id="377" r:id="rId49"/>
    <p:sldId id="378" r:id="rId50"/>
    <p:sldId id="379" r:id="rId51"/>
    <p:sldId id="400" r:id="rId52"/>
    <p:sldId id="381" r:id="rId53"/>
    <p:sldId id="386" r:id="rId54"/>
    <p:sldId id="390" r:id="rId55"/>
    <p:sldId id="387" r:id="rId56"/>
    <p:sldId id="388" r:id="rId57"/>
    <p:sldId id="391" r:id="rId58"/>
    <p:sldId id="389" r:id="rId59"/>
    <p:sldId id="392" r:id="rId60"/>
    <p:sldId id="393" r:id="rId61"/>
  </p:sldIdLst>
  <p:sldSz cx="18288000" cy="10287000"/>
  <p:notesSz cx="6858000" cy="9144000"/>
  <p:embeddedFontLst>
    <p:embeddedFont>
      <p:font typeface="Cambria" panose="02040503050406030204" pitchFamily="18" charset="0"/>
      <p:regular r:id="rId64"/>
      <p:bold r:id="rId65"/>
      <p:italic r:id="rId66"/>
      <p:boldItalic r:id="rId67"/>
    </p:embeddedFont>
    <p:embeddedFont>
      <p:font typeface="Consolas" panose="020B0609020204030204" pitchFamily="49" charset="0"/>
      <p:regular r:id="rId68"/>
      <p:bold r:id="rId69"/>
      <p:italic r:id="rId70"/>
      <p:boldItalic r:id="rId7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856" autoAdjust="0"/>
    <p:restoredTop sz="92810" autoAdjust="0"/>
  </p:normalViewPr>
  <p:slideViewPr>
    <p:cSldViewPr>
      <p:cViewPr varScale="1">
        <p:scale>
          <a:sx n="49" d="100"/>
          <a:sy n="49" d="100"/>
        </p:scale>
        <p:origin x="59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handoutMaster" Target="handoutMasters/handoutMaster1.xml"/><Relationship Id="rId68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3.fntdata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1.fntdata"/><Relationship Id="rId69" Type="http://schemas.openxmlformats.org/officeDocument/2006/relationships/font" Target="fonts/font6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70" Type="http://schemas.openxmlformats.org/officeDocument/2006/relationships/font" Target="fonts/font7.fntdata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2.fntdata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font" Target="fonts/font8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E22CC0-1243-338F-5CAD-E7A5B1EE0EA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4A8E39-795D-D837-9A04-090F9A14190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5907F-8ED1-4449-8AB2-425B109C6DAB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079AC-EB4A-C6F4-35A4-C5166122BEB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3FEE0C-CAF7-534F-B1B6-7CB0184B27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C40E73-B33C-482E-B21A-1E3DE061AD4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482812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C21506-B2BE-43BC-8C27-BC2C4DAF9131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7E38AF-BC93-4612-8619-54F4BB1E39A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546646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411046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2329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859827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93610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921290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598635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632360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51570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34428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78522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072053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16553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934498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3189634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04605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4012138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702543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245644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19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442582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0641499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038240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017720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8332276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0741206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051998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239072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1401631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3341038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29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0659811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2154839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727845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1970516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059512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2908213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249CE-3698-134B-E567-149641CC0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D444DC-4EF5-4BB6-A2BB-F0338BB6C0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38FECE-774F-1D73-1B2D-70125A1A01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C76FF3-9B35-49D8-53BE-27EF35F92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101986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406062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5283073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7276821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39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6898031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0936950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6147741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500300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2672592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9748811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3505403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9826066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45496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21817967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49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2696756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IT 4C</a:t>
            </a:r>
          </a:p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25475176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BA145-BBDA-362A-5B02-E3A924BE8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B75BA8-B6C2-38B1-9F57-367F80B94A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BA0B00-7B64-4E37-CE10-99FF94B412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C9CAB4-5A83-F835-1C48-7B8CB8ACC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48476920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26571519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5528860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3897739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32941538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2786402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8422832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75427495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59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7681083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7E38AF-BC93-4612-8619-54F4BB1E39A6}" type="slidenum">
              <a:rPr lang="en-PH" smtClean="0"/>
              <a:t>60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30118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0D81C3-E2DA-4793-BDA0-1375955C19F0}" type="datetime1">
              <a:rPr lang="en-US" smtClean="0"/>
              <a:t>9/18/2025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925800" y="973879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466280C9-FBB2-A5C5-B32E-B1F32E20A7CA}"/>
              </a:ext>
            </a:extLst>
          </p:cNvPr>
          <p:cNvSpPr txBox="1">
            <a:spLocks/>
          </p:cNvSpPr>
          <p:nvPr userDrawn="1"/>
        </p:nvSpPr>
        <p:spPr>
          <a:xfrm>
            <a:off x="76200" y="9799686"/>
            <a:ext cx="5181600" cy="30423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ELECTIVE 4 (SPECIAL TOPICS ON WEB AND MOBILE 2)</a:t>
            </a:r>
          </a:p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0.gi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16.xml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0.gi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15.xml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20.xml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0.gi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22.xml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0.gi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26.xml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0.gi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slide" Target="slide25.xml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0.gi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slide" Target="slide27.xml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slide" Target="slide26.xml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0.gi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slide" Target="slide25.xml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slide" Target="slide28.xml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0.gi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slide" Target="slide27.xml"/><Relationship Id="rId3" Type="http://schemas.openxmlformats.org/officeDocument/2006/relationships/image" Target="../media/image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2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Picture 42" descr="A blue and orange square&#10;&#10;Description automatically generated">
            <a:extLst>
              <a:ext uri="{FF2B5EF4-FFF2-40B4-BE49-F238E27FC236}">
                <a16:creationId xmlns:a16="http://schemas.microsoft.com/office/drawing/2014/main" id="{70D90189-04C8-86AF-B9A8-6A8CA9F302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r="12208"/>
          <a:stretch/>
        </p:blipFill>
        <p:spPr>
          <a:xfrm>
            <a:off x="0" y="3062493"/>
            <a:ext cx="18287999" cy="4408536"/>
          </a:xfrm>
          <a:prstGeom prst="rect">
            <a:avLst/>
          </a:prstGeom>
        </p:spPr>
      </p:pic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sp>
        <p:nvSpPr>
          <p:cNvPr id="28" name="TextBox 28"/>
          <p:cNvSpPr txBox="1"/>
          <p:nvPr/>
        </p:nvSpPr>
        <p:spPr>
          <a:xfrm>
            <a:off x="1138730" y="3587144"/>
            <a:ext cx="15998250" cy="14584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6600" spc="-360" dirty="0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latin typeface="Consolas" panose="020B0609020204030204" pitchFamily="49" charset="0"/>
              </a:rPr>
              <a:t>Chapter 4: Intermediate Elements 1</a:t>
            </a:r>
          </a:p>
        </p:txBody>
      </p:sp>
      <p:grpSp>
        <p:nvGrpSpPr>
          <p:cNvPr id="34" name="Group 13">
            <a:extLst>
              <a:ext uri="{FF2B5EF4-FFF2-40B4-BE49-F238E27FC236}">
                <a16:creationId xmlns:a16="http://schemas.microsoft.com/office/drawing/2014/main" id="{03BEDA6F-F03E-338A-E884-B57BB6E88A2C}"/>
              </a:ext>
            </a:extLst>
          </p:cNvPr>
          <p:cNvGrpSpPr/>
          <p:nvPr/>
        </p:nvGrpSpPr>
        <p:grpSpPr>
          <a:xfrm>
            <a:off x="152400" y="211586"/>
            <a:ext cx="6840467" cy="1321138"/>
            <a:chOff x="0" y="0"/>
            <a:chExt cx="15396444" cy="3066458"/>
          </a:xfrm>
        </p:grpSpPr>
        <p:sp>
          <p:nvSpPr>
            <p:cNvPr id="35" name="Freeform 14">
              <a:extLst>
                <a:ext uri="{FF2B5EF4-FFF2-40B4-BE49-F238E27FC236}">
                  <a16:creationId xmlns:a16="http://schemas.microsoft.com/office/drawing/2014/main" id="{774B46A4-1A07-1B6E-041F-F6905CFA41E7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6" name="Freeform 15">
              <a:extLst>
                <a:ext uri="{FF2B5EF4-FFF2-40B4-BE49-F238E27FC236}">
                  <a16:creationId xmlns:a16="http://schemas.microsoft.com/office/drawing/2014/main" id="{E1DF7690-B553-61D6-9179-CCFD49C98B9E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7" name="Freeform 16">
              <a:extLst>
                <a:ext uri="{FF2B5EF4-FFF2-40B4-BE49-F238E27FC236}">
                  <a16:creationId xmlns:a16="http://schemas.microsoft.com/office/drawing/2014/main" id="{7D4F7B43-6DF2-1438-AF14-A92B65A0B7BC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8" name="Freeform 17">
              <a:extLst>
                <a:ext uri="{FF2B5EF4-FFF2-40B4-BE49-F238E27FC236}">
                  <a16:creationId xmlns:a16="http://schemas.microsoft.com/office/drawing/2014/main" id="{737FF48A-1343-407F-1EA2-017E5834A286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39" name="Freeform 18">
              <a:extLst>
                <a:ext uri="{FF2B5EF4-FFF2-40B4-BE49-F238E27FC236}">
                  <a16:creationId xmlns:a16="http://schemas.microsoft.com/office/drawing/2014/main" id="{5844878D-4F08-5CB8-2978-838AA8A84A59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0" name="Freeform 19">
              <a:extLst>
                <a:ext uri="{FF2B5EF4-FFF2-40B4-BE49-F238E27FC236}">
                  <a16:creationId xmlns:a16="http://schemas.microsoft.com/office/drawing/2014/main" id="{6B102466-B83F-E478-304D-B9605AC9EA8F}"/>
                </a:ext>
              </a:extLst>
            </p:cNvPr>
            <p:cNvSpPr/>
            <p:nvPr/>
          </p:nvSpPr>
          <p:spPr>
            <a:xfrm>
              <a:off x="0" y="0"/>
              <a:ext cx="15396444" cy="3066458"/>
            </a:xfrm>
            <a:custGeom>
              <a:avLst/>
              <a:gdLst/>
              <a:ahLst/>
              <a:cxnLst/>
              <a:rect l="l" t="t" r="r" b="b"/>
              <a:pathLst>
                <a:path w="15396444" h="3066458">
                  <a:moveTo>
                    <a:pt x="0" y="0"/>
                  </a:moveTo>
                  <a:lnTo>
                    <a:pt x="15396444" y="0"/>
                  </a:lnTo>
                  <a:lnTo>
                    <a:pt x="15396444" y="3066458"/>
                  </a:lnTo>
                  <a:lnTo>
                    <a:pt x="0" y="30664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grpSp>
        <p:nvGrpSpPr>
          <p:cNvPr id="2" name="Group 2"/>
          <p:cNvGrpSpPr/>
          <p:nvPr/>
        </p:nvGrpSpPr>
        <p:grpSpPr>
          <a:xfrm>
            <a:off x="14554200" y="6438900"/>
            <a:ext cx="3886200" cy="38481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alphaModFix amt="50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urple and orange rectangular object&#10;&#10;Description automatically generated">
            <a:extLst>
              <a:ext uri="{FF2B5EF4-FFF2-40B4-BE49-F238E27FC236}">
                <a16:creationId xmlns:a16="http://schemas.microsoft.com/office/drawing/2014/main" id="{E4A3BB9E-917C-B34F-1859-2D867C70F9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72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What is a dictionary?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E5AEC0-DCCA-6A88-BD04-736997ED61BB}"/>
              </a:ext>
            </a:extLst>
          </p:cNvPr>
          <p:cNvSpPr txBox="1"/>
          <p:nvPr/>
        </p:nvSpPr>
        <p:spPr>
          <a:xfrm>
            <a:off x="953437" y="3537644"/>
            <a:ext cx="16953563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It is an </a:t>
            </a:r>
            <a:r>
              <a:rPr lang="en-US" sz="5400" b="1" dirty="0">
                <a:latin typeface="Consolas" panose="020B0609020204030204" pitchFamily="49" charset="0"/>
              </a:rPr>
              <a:t>ordered set of a key-value pair</a:t>
            </a:r>
            <a:r>
              <a:rPr lang="en-US" sz="5400" dirty="0">
                <a:latin typeface="Consolas" panose="020B0609020204030204" pitchFamily="49" charset="0"/>
              </a:rPr>
              <a:t> of items. A </a:t>
            </a:r>
            <a:r>
              <a:rPr lang="en-US" sz="5400" b="1" dirty="0">
                <a:latin typeface="Consolas" panose="020B0609020204030204" pitchFamily="49" charset="0"/>
              </a:rPr>
              <a:t>key</a:t>
            </a:r>
            <a:r>
              <a:rPr lang="en-US" sz="5400" dirty="0">
                <a:latin typeface="Consolas" panose="020B0609020204030204" pitchFamily="49" charset="0"/>
              </a:rPr>
              <a:t> can hold any </a:t>
            </a:r>
            <a:r>
              <a:rPr lang="en-US" sz="5400" b="1" dirty="0">
                <a:latin typeface="Consolas" panose="020B0609020204030204" pitchFamily="49" charset="0"/>
              </a:rPr>
              <a:t>primitive</a:t>
            </a:r>
            <a:r>
              <a:rPr lang="en-US" sz="5400" dirty="0">
                <a:latin typeface="Consolas" panose="020B0609020204030204" pitchFamily="49" charset="0"/>
              </a:rPr>
              <a:t> data type whereas </a:t>
            </a:r>
            <a:r>
              <a:rPr lang="en-US" sz="5400" b="1" dirty="0">
                <a:latin typeface="Consolas" panose="020B0609020204030204" pitchFamily="49" charset="0"/>
              </a:rPr>
              <a:t>value</a:t>
            </a:r>
            <a:r>
              <a:rPr lang="en-US" sz="5400" dirty="0">
                <a:latin typeface="Consolas" panose="020B0609020204030204" pitchFamily="49" charset="0"/>
              </a:rPr>
              <a:t> can be any of the data type.</a:t>
            </a: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The items in the dictionary are separated with the comma and enclosed in the curly braces { , }.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0DBCE45-B507-DEAB-2FED-7D7666159F7D}"/>
              </a:ext>
            </a:extLst>
          </p:cNvPr>
          <p:cNvGrpSpPr/>
          <p:nvPr/>
        </p:nvGrpSpPr>
        <p:grpSpPr>
          <a:xfrm>
            <a:off x="8749855" y="2832743"/>
            <a:ext cx="7357444" cy="1746944"/>
            <a:chOff x="8749855" y="2832743"/>
            <a:chExt cx="7357444" cy="1746944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10938DE-3192-F2BA-0F11-024754C0A0EF}"/>
                </a:ext>
              </a:extLst>
            </p:cNvPr>
            <p:cNvCxnSpPr>
              <a:cxnSpLocks/>
              <a:endCxn id="29" idx="2"/>
            </p:cNvCxnSpPr>
            <p:nvPr/>
          </p:nvCxnSpPr>
          <p:spPr>
            <a:xfrm flipH="1" flipV="1">
              <a:off x="10121455" y="3442343"/>
              <a:ext cx="5985844" cy="1137344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6EDF622-4BE5-375A-3A6F-D611A267716C}"/>
                </a:ext>
              </a:extLst>
            </p:cNvPr>
            <p:cNvSpPr/>
            <p:nvPr/>
          </p:nvSpPr>
          <p:spPr>
            <a:xfrm>
              <a:off x="8749855" y="2832743"/>
              <a:ext cx="27432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Strings</a:t>
              </a:r>
              <a:endParaRPr lang="en-PH" sz="4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676A0E4-282F-CEE7-F771-2A96D44B158F}"/>
              </a:ext>
            </a:extLst>
          </p:cNvPr>
          <p:cNvGrpSpPr/>
          <p:nvPr/>
        </p:nvGrpSpPr>
        <p:grpSpPr>
          <a:xfrm>
            <a:off x="9847300" y="1877178"/>
            <a:ext cx="6259999" cy="2702509"/>
            <a:chOff x="9847300" y="1877178"/>
            <a:chExt cx="6259999" cy="2702509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89B56F9-7630-C1F2-7EB4-F1DA0AF5C90A}"/>
                </a:ext>
              </a:extLst>
            </p:cNvPr>
            <p:cNvCxnSpPr>
              <a:cxnSpLocks/>
              <a:endCxn id="30" idx="2"/>
            </p:cNvCxnSpPr>
            <p:nvPr/>
          </p:nvCxnSpPr>
          <p:spPr>
            <a:xfrm flipH="1" flipV="1">
              <a:off x="11371300" y="2486778"/>
              <a:ext cx="4735999" cy="209290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498673F2-EC69-A0E0-71C4-E7C2B15160C2}"/>
                </a:ext>
              </a:extLst>
            </p:cNvPr>
            <p:cNvSpPr/>
            <p:nvPr/>
          </p:nvSpPr>
          <p:spPr>
            <a:xfrm>
              <a:off x="9847300" y="1877178"/>
              <a:ext cx="30480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Integers</a:t>
              </a:r>
              <a:endParaRPr lang="en-PH" sz="4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018A648B-6143-E080-7114-9F19462D6ED8}"/>
              </a:ext>
            </a:extLst>
          </p:cNvPr>
          <p:cNvGrpSpPr/>
          <p:nvPr/>
        </p:nvGrpSpPr>
        <p:grpSpPr>
          <a:xfrm>
            <a:off x="10950423" y="1062711"/>
            <a:ext cx="5156876" cy="3516976"/>
            <a:chOff x="10950423" y="1062711"/>
            <a:chExt cx="5156876" cy="3516976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382EBA95-E6E2-5205-5A08-F90D239FBD42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 flipH="1" flipV="1">
              <a:off x="12474423" y="1672311"/>
              <a:ext cx="3632876" cy="2907376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954034C-D38E-337C-BE9C-0704E3D16D8B}"/>
                </a:ext>
              </a:extLst>
            </p:cNvPr>
            <p:cNvSpPr/>
            <p:nvPr/>
          </p:nvSpPr>
          <p:spPr>
            <a:xfrm>
              <a:off x="10950423" y="1062711"/>
              <a:ext cx="30480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Float</a:t>
              </a:r>
              <a:endParaRPr lang="en-PH" sz="4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7F5851-6BCC-940D-1933-701D13BD314C}"/>
              </a:ext>
            </a:extLst>
          </p:cNvPr>
          <p:cNvGrpSpPr/>
          <p:nvPr/>
        </p:nvGrpSpPr>
        <p:grpSpPr>
          <a:xfrm>
            <a:off x="12895300" y="281398"/>
            <a:ext cx="3225616" cy="4298289"/>
            <a:chOff x="12895300" y="281398"/>
            <a:chExt cx="3225616" cy="4298289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501F775F-B17E-75D4-EE7E-BD36A539091B}"/>
                </a:ext>
              </a:extLst>
            </p:cNvPr>
            <p:cNvCxnSpPr>
              <a:cxnSpLocks/>
              <a:endCxn id="32" idx="2"/>
            </p:cNvCxnSpPr>
            <p:nvPr/>
          </p:nvCxnSpPr>
          <p:spPr>
            <a:xfrm flipH="1" flipV="1">
              <a:off x="14419300" y="890998"/>
              <a:ext cx="1701616" cy="3688689"/>
            </a:xfrm>
            <a:prstGeom prst="straightConnector1">
              <a:avLst/>
            </a:prstGeom>
            <a:ln w="5715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0C9BEBA-42AC-0943-0E58-C850F3ECEA91}"/>
                </a:ext>
              </a:extLst>
            </p:cNvPr>
            <p:cNvSpPr/>
            <p:nvPr/>
          </p:nvSpPr>
          <p:spPr>
            <a:xfrm>
              <a:off x="12895300" y="281398"/>
              <a:ext cx="3048000" cy="6096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4800" dirty="0">
                  <a:solidFill>
                    <a:schemeClr val="tx1"/>
                  </a:solidFill>
                  <a:latin typeface="Consolas" panose="020B0609020204030204" pitchFamily="49" charset="0"/>
                </a:rPr>
                <a:t>Boolean</a:t>
              </a:r>
              <a:endParaRPr lang="en-PH" sz="4800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2555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66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How to create a dictionary?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E5AEC0-DCCA-6A88-BD04-736997ED61BB}"/>
              </a:ext>
            </a:extLst>
          </p:cNvPr>
          <p:cNvSpPr txBox="1"/>
          <p:nvPr/>
        </p:nvSpPr>
        <p:spPr>
          <a:xfrm>
            <a:off x="953437" y="2552700"/>
            <a:ext cx="30851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Syntax: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53437" y="3497082"/>
            <a:ext cx="1649636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Ex. 1: with items</a:t>
            </a: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dictionary = {</a:t>
            </a:r>
            <a:r>
              <a:rPr lang="en-PH" sz="5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5400" dirty="0">
                <a:solidFill>
                  <a:schemeClr val="accent1"/>
                </a:solidFill>
                <a:latin typeface="Consolas" panose="020B0609020204030204" pitchFamily="49" charset="0"/>
              </a:rPr>
              <a:t>key1</a:t>
            </a:r>
            <a:r>
              <a:rPr lang="en-PH" sz="5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: "</a:t>
            </a:r>
            <a:r>
              <a:rPr lang="en-PH" sz="5400" dirty="0">
                <a:solidFill>
                  <a:srgbClr val="FF9933"/>
                </a:solidFill>
                <a:latin typeface="Consolas" panose="020B0609020204030204" pitchFamily="49" charset="0"/>
              </a:rPr>
              <a:t>value1</a:t>
            </a:r>
            <a:r>
              <a:rPr lang="en-PH" sz="5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", "</a:t>
            </a:r>
            <a:r>
              <a:rPr lang="en-US" sz="5400" dirty="0">
                <a:solidFill>
                  <a:schemeClr val="accent1"/>
                </a:solidFill>
                <a:latin typeface="Consolas" panose="020B0609020204030204" pitchFamily="49" charset="0"/>
              </a:rPr>
              <a:t>key2</a:t>
            </a:r>
            <a:r>
              <a:rPr lang="en-PH" sz="5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: "</a:t>
            </a:r>
            <a:r>
              <a:rPr lang="en-PH" sz="5400" dirty="0">
                <a:solidFill>
                  <a:srgbClr val="FF9933"/>
                </a:solidFill>
                <a:latin typeface="Consolas" panose="020B0609020204030204" pitchFamily="49" charset="0"/>
              </a:rPr>
              <a:t>value2</a:t>
            </a:r>
            <a:r>
              <a:rPr lang="en-PH" sz="5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“</a:t>
            </a:r>
            <a:r>
              <a:rPr lang="en-PH" sz="5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US" sz="5400" dirty="0">
                <a:latin typeface="Consolas" panose="020B0609020204030204" pitchFamily="49" charset="0"/>
              </a:rPr>
              <a:t>}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Ex. 2: empty dictionary</a:t>
            </a: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dictionary ={ }</a:t>
            </a:r>
          </a:p>
        </p:txBody>
      </p:sp>
    </p:spTree>
    <p:extLst>
      <p:ext uri="{BB962C8B-B14F-4D97-AF65-F5344CB8AC3E}">
        <p14:creationId xmlns:p14="http://schemas.microsoft.com/office/powerpoint/2010/main" val="24111951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66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How to create a dictionary?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E5AEC0-DCCA-6A88-BD04-736997ED61BB}"/>
              </a:ext>
            </a:extLst>
          </p:cNvPr>
          <p:cNvSpPr txBox="1"/>
          <p:nvPr/>
        </p:nvSpPr>
        <p:spPr>
          <a:xfrm>
            <a:off x="953437" y="2552700"/>
            <a:ext cx="30851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Syntax: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53437" y="3497082"/>
            <a:ext cx="16496363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PH" sz="5400" dirty="0">
                <a:latin typeface="Consolas" panose="020B0609020204030204" pitchFamily="49" charset="0"/>
              </a:rPr>
              <a:t>Ex. 3. using </a:t>
            </a:r>
            <a:r>
              <a:rPr lang="en-PH" sz="5400" dirty="0" err="1">
                <a:latin typeface="Consolas" panose="020B0609020204030204" pitchFamily="49" charset="0"/>
              </a:rPr>
              <a:t>fromkeys</a:t>
            </a:r>
            <a:r>
              <a:rPr lang="en-PH" sz="5400" dirty="0">
                <a:latin typeface="Consolas" panose="020B0609020204030204" pitchFamily="49" charset="0"/>
              </a:rPr>
              <a:t>() method</a:t>
            </a:r>
          </a:p>
          <a:p>
            <a:pPr algn="just"/>
            <a:endParaRPr lang="en-PH" sz="54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keys = ('key1', 'key2', 'key3')</a:t>
            </a: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dictionary = </a:t>
            </a:r>
            <a:r>
              <a:rPr lang="en-US" sz="5400" dirty="0" err="1">
                <a:latin typeface="Consolas" panose="020B0609020204030204" pitchFamily="49" charset="0"/>
              </a:rPr>
              <a:t>dict.fromkeys</a:t>
            </a:r>
            <a:r>
              <a:rPr lang="en-US" sz="5400" dirty="0">
                <a:latin typeface="Consolas" panose="020B0609020204030204" pitchFamily="49" charset="0"/>
              </a:rPr>
              <a:t>(keys)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print(dictionary)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1792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66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How to create a dictionary?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BE5AEC0-DCCA-6A88-BD04-736997ED61BB}"/>
              </a:ext>
            </a:extLst>
          </p:cNvPr>
          <p:cNvSpPr txBox="1"/>
          <p:nvPr/>
        </p:nvSpPr>
        <p:spPr>
          <a:xfrm>
            <a:off x="953437" y="2552700"/>
            <a:ext cx="308516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Syntax: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53437" y="3497082"/>
            <a:ext cx="16496363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PH" sz="5400" dirty="0">
                <a:latin typeface="Consolas" panose="020B0609020204030204" pitchFamily="49" charset="0"/>
              </a:rPr>
              <a:t>Ex. 4. using </a:t>
            </a:r>
            <a:r>
              <a:rPr lang="en-PH" sz="5400" dirty="0" err="1">
                <a:latin typeface="Consolas" panose="020B0609020204030204" pitchFamily="49" charset="0"/>
              </a:rPr>
              <a:t>fromkeys</a:t>
            </a:r>
            <a:r>
              <a:rPr lang="en-PH" sz="5400" dirty="0">
                <a:latin typeface="Consolas" panose="020B0609020204030204" pitchFamily="49" charset="0"/>
              </a:rPr>
              <a:t>() method</a:t>
            </a:r>
          </a:p>
          <a:p>
            <a:pPr algn="just"/>
            <a:endParaRPr lang="en-PH" sz="54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keys = ('key1', 'key2', 'key3')</a:t>
            </a: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values = 0</a:t>
            </a: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dictionary = </a:t>
            </a:r>
            <a:r>
              <a:rPr lang="en-US" sz="5400" dirty="0" err="1">
                <a:latin typeface="Consolas" panose="020B0609020204030204" pitchFamily="49" charset="0"/>
              </a:rPr>
              <a:t>dict.fromkeys</a:t>
            </a:r>
            <a:r>
              <a:rPr lang="en-US" sz="5400" dirty="0">
                <a:latin typeface="Consolas" panose="020B0609020204030204" pitchFamily="49" charset="0"/>
              </a:rPr>
              <a:t>(keys, values)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print(dictionary)</a:t>
            </a:r>
          </a:p>
        </p:txBody>
      </p:sp>
    </p:spTree>
    <p:extLst>
      <p:ext uri="{BB962C8B-B14F-4D97-AF65-F5344CB8AC3E}">
        <p14:creationId xmlns:p14="http://schemas.microsoft.com/office/powerpoint/2010/main" val="997242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520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66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Task </a:t>
            </a:r>
            <a:r>
              <a:rPr lang="en-US" sz="88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1</a:t>
            </a:r>
            <a:endParaRPr lang="en-US" sz="6600" i="1" spc="-36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84895" y="2705100"/>
            <a:ext cx="16496363" cy="7201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Try to create a dictionary where it contains the following keys: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marL="685800" indent="-685800" algn="just">
              <a:buFont typeface="Wingdings" panose="05000000000000000000" pitchFamily="2" charset="2"/>
              <a:buChar char="§"/>
            </a:pPr>
            <a:r>
              <a:rPr lang="en-US" sz="4800" dirty="0">
                <a:latin typeface="Consolas" panose="020B0609020204030204" pitchFamily="49" charset="0"/>
              </a:rPr>
              <a:t>name</a:t>
            </a:r>
          </a:p>
          <a:p>
            <a:pPr marL="685800" indent="-685800" algn="just">
              <a:buFont typeface="Wingdings" panose="05000000000000000000" pitchFamily="2" charset="2"/>
              <a:buChar char="§"/>
            </a:pPr>
            <a:r>
              <a:rPr lang="en-US" sz="4800" dirty="0">
                <a:latin typeface="Consolas" panose="020B0609020204030204" pitchFamily="49" charset="0"/>
              </a:rPr>
              <a:t>age</a:t>
            </a:r>
          </a:p>
          <a:p>
            <a:pPr marL="685800" indent="-685800" algn="just">
              <a:buFont typeface="Wingdings" panose="05000000000000000000" pitchFamily="2" charset="2"/>
              <a:buChar char="§"/>
            </a:pPr>
            <a:r>
              <a:rPr lang="en-US" sz="4800" dirty="0">
                <a:latin typeface="Consolas" panose="020B0609020204030204" pitchFamily="49" charset="0"/>
              </a:rPr>
              <a:t>sex</a:t>
            </a:r>
          </a:p>
          <a:p>
            <a:pPr marL="685800" indent="-685800" algn="just">
              <a:buFont typeface="Wingdings" panose="05000000000000000000" pitchFamily="2" charset="2"/>
              <a:buChar char="§"/>
            </a:pPr>
            <a:endParaRPr lang="en-US" sz="32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Then you provide their values according to your information.</a:t>
            </a:r>
          </a:p>
        </p:txBody>
      </p:sp>
    </p:spTree>
    <p:extLst>
      <p:ext uri="{BB962C8B-B14F-4D97-AF65-F5344CB8AC3E}">
        <p14:creationId xmlns:p14="http://schemas.microsoft.com/office/powerpoint/2010/main" val="3892646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Length and Checking Data Type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84895" y="2705100"/>
            <a:ext cx="1649636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To determine the number of items in each </a:t>
            </a:r>
            <a:r>
              <a:rPr lang="en-US" sz="5400" dirty="0" err="1">
                <a:latin typeface="Consolas" panose="020B0609020204030204" pitchFamily="49" charset="0"/>
              </a:rPr>
              <a:t>iterable</a:t>
            </a:r>
            <a:r>
              <a:rPr lang="en-US" sz="5400" dirty="0">
                <a:latin typeface="Consolas" panose="020B0609020204030204" pitchFamily="49" charset="0"/>
              </a:rPr>
              <a:t> such as dictionary, we can use the </a:t>
            </a:r>
            <a:r>
              <a:rPr lang="en-US" sz="5400" dirty="0" err="1">
                <a:latin typeface="Consolas" panose="020B0609020204030204" pitchFamily="49" charset="0"/>
              </a:rPr>
              <a:t>len</a:t>
            </a:r>
            <a:r>
              <a:rPr lang="en-US" sz="5400" dirty="0">
                <a:latin typeface="Consolas" panose="020B0609020204030204" pitchFamily="49" charset="0"/>
              </a:rPr>
              <a:t>() function.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5400" dirty="0" err="1">
                <a:latin typeface="Consolas" panose="020B0609020204030204" pitchFamily="49" charset="0"/>
              </a:rPr>
              <a:t>len</a:t>
            </a:r>
            <a:r>
              <a:rPr lang="en-US" sz="5400" dirty="0">
                <a:latin typeface="Consolas" panose="020B0609020204030204" pitchFamily="49" charset="0"/>
              </a:rPr>
              <a:t>(dictionary)</a:t>
            </a:r>
          </a:p>
        </p:txBody>
      </p:sp>
    </p:spTree>
    <p:extLst>
      <p:ext uri="{BB962C8B-B14F-4D97-AF65-F5344CB8AC3E}">
        <p14:creationId xmlns:p14="http://schemas.microsoft.com/office/powerpoint/2010/main" val="12904714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Accessing Dictionary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84895" y="2705100"/>
            <a:ext cx="1649636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There are different ways to access the items in the dictionary.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marL="914400" indent="-914400" algn="just">
              <a:buFont typeface="+mj-lt"/>
              <a:buAutoNum type="arabicPeriod"/>
            </a:pPr>
            <a:r>
              <a:rPr lang="en-US" sz="5400" dirty="0">
                <a:latin typeface="Consolas" panose="020B0609020204030204" pitchFamily="49" charset="0"/>
              </a:rPr>
              <a:t>Referring to its key name</a:t>
            </a:r>
          </a:p>
          <a:p>
            <a:pPr marL="914400" indent="-914400" algn="just">
              <a:buFont typeface="+mj-lt"/>
              <a:buAutoNum type="arabicPeriod"/>
            </a:pPr>
            <a:r>
              <a:rPr lang="en-US" sz="5400" dirty="0">
                <a:latin typeface="Consolas" panose="020B0609020204030204" pitchFamily="49" charset="0"/>
              </a:rPr>
              <a:t>Using get() method</a:t>
            </a:r>
          </a:p>
          <a:p>
            <a:pPr marL="914400" indent="-914400" algn="just">
              <a:buFont typeface="+mj-lt"/>
              <a:buAutoNum type="arabicPeriod"/>
            </a:pPr>
            <a:r>
              <a:rPr lang="en-US" sz="5400" dirty="0">
                <a:latin typeface="Consolas" panose="020B0609020204030204" pitchFamily="49" charset="0"/>
              </a:rPr>
              <a:t>Using keys() method</a:t>
            </a:r>
          </a:p>
          <a:p>
            <a:pPr marL="914400" indent="-914400" algn="just">
              <a:buFont typeface="+mj-lt"/>
              <a:buAutoNum type="arabicPeriod"/>
            </a:pPr>
            <a:r>
              <a:rPr lang="en-US" sz="5400" dirty="0">
                <a:latin typeface="Consolas" panose="020B0609020204030204" pitchFamily="49" charset="0"/>
              </a:rPr>
              <a:t>Using values() method</a:t>
            </a:r>
          </a:p>
          <a:p>
            <a:pPr marL="914400" indent="-914400" algn="just">
              <a:buFont typeface="+mj-lt"/>
              <a:buAutoNum type="arabicPeriod"/>
            </a:pPr>
            <a:r>
              <a:rPr lang="en-US" sz="5400" dirty="0">
                <a:latin typeface="Consolas" panose="020B0609020204030204" pitchFamily="49" charset="0"/>
              </a:rPr>
              <a:t>Using items() method</a:t>
            </a:r>
          </a:p>
        </p:txBody>
      </p:sp>
    </p:spTree>
    <p:extLst>
      <p:ext uri="{BB962C8B-B14F-4D97-AF65-F5344CB8AC3E}">
        <p14:creationId xmlns:p14="http://schemas.microsoft.com/office/powerpoint/2010/main" val="4190235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Accessing Dictionary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84895" y="2705100"/>
            <a:ext cx="16496363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 algn="just">
              <a:buFont typeface="+mj-lt"/>
              <a:buAutoNum type="arabicPeriod"/>
            </a:pPr>
            <a:r>
              <a:rPr lang="en-US" sz="5400" dirty="0">
                <a:latin typeface="Consolas" panose="020B0609020204030204" pitchFamily="49" charset="0"/>
              </a:rPr>
              <a:t>Referring to its key name</a:t>
            </a:r>
          </a:p>
          <a:p>
            <a:pPr algn="just"/>
            <a:r>
              <a:rPr lang="en-US" sz="4000" dirty="0"/>
              <a:t>You can directly access a value in a dictionary by referring to its key.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Syntax: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dictionary[“</a:t>
            </a:r>
            <a:r>
              <a:rPr lang="en-US" sz="5400" dirty="0" err="1">
                <a:latin typeface="Consolas" panose="020B0609020204030204" pitchFamily="49" charset="0"/>
              </a:rPr>
              <a:t>keyName</a:t>
            </a:r>
            <a:r>
              <a:rPr lang="en-US" sz="5400" dirty="0">
                <a:latin typeface="Consolas" panose="020B0609020204030204" pitchFamily="49" charset="0"/>
              </a:rPr>
              <a:t>”]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0669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95B95F22-1CC6-AB30-6E2F-B3B5320123D3}"/>
              </a:ext>
            </a:extLst>
          </p:cNvPr>
          <p:cNvGrpSpPr/>
          <p:nvPr/>
        </p:nvGrpSpPr>
        <p:grpSpPr>
          <a:xfrm>
            <a:off x="1143000" y="2448760"/>
            <a:ext cx="15925800" cy="7232689"/>
            <a:chOff x="3924299" y="3963831"/>
            <a:chExt cx="10439400" cy="5308559"/>
          </a:xfrm>
        </p:grpSpPr>
        <p:pic>
          <p:nvPicPr>
            <p:cNvPr id="9" name="Picture 8" descr="A blue screen with white lines&#10;&#10;Description automatically generated with medium confidence">
              <a:extLst>
                <a:ext uri="{FF2B5EF4-FFF2-40B4-BE49-F238E27FC236}">
                  <a16:creationId xmlns:a16="http://schemas.microsoft.com/office/drawing/2014/main" id="{2005A82D-DD07-C1B5-35D2-CA6DFF437BDE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4299" y="3963831"/>
              <a:ext cx="10439400" cy="530855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B7FA62-D24C-C2C9-2711-020EEA73AB72}"/>
                </a:ext>
              </a:extLst>
            </p:cNvPr>
            <p:cNvSpPr txBox="1"/>
            <p:nvPr/>
          </p:nvSpPr>
          <p:spPr>
            <a:xfrm>
              <a:off x="4506100" y="4949244"/>
              <a:ext cx="1186295" cy="4179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1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2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3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4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5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6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7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8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9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10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11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12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033DF27-3BE1-7376-D66E-7AAA564B8565}"/>
                </a:ext>
              </a:extLst>
            </p:cNvPr>
            <p:cNvSpPr txBox="1"/>
            <p:nvPr/>
          </p:nvSpPr>
          <p:spPr>
            <a:xfrm>
              <a:off x="6120492" y="4949244"/>
              <a:ext cx="7661405" cy="19653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varName</a:t>
              </a:r>
              <a:r>
                <a:rPr lang="en-US" sz="28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800" b="0" dirty="0">
                  <a:solidFill>
                    <a:srgbClr val="D4D4D4"/>
                  </a:solidFill>
                  <a:effectLst/>
                  <a:latin typeface="Consolas" panose="020B0609020204030204" pitchFamily="49" charset="0"/>
                </a:rPr>
                <a:t>=</a:t>
              </a:r>
              <a:r>
                <a:rPr lang="en-US" sz="28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{</a:t>
              </a:r>
              <a:r>
                <a:rPr lang="en-US" sz="2800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"name"</a:t>
              </a:r>
              <a:r>
                <a:rPr lang="en-US" sz="28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: </a:t>
              </a:r>
              <a:r>
                <a:rPr lang="en-US" sz="2800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"mark"</a:t>
              </a:r>
              <a:r>
                <a:rPr lang="en-US" sz="28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, </a:t>
              </a:r>
              <a:r>
                <a:rPr lang="en-US" sz="2800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"age"</a:t>
              </a:r>
              <a:r>
                <a:rPr lang="en-US" sz="28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: </a:t>
              </a:r>
              <a:r>
                <a:rPr lang="en-US" sz="2800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"25"</a:t>
              </a:r>
              <a:r>
                <a:rPr lang="en-US" sz="28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}</a:t>
              </a:r>
            </a:p>
            <a:p>
              <a:br>
                <a:rPr lang="en-US" sz="28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r>
                <a:rPr lang="en-US" sz="280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print</a:t>
              </a:r>
              <a:r>
                <a:rPr lang="en-US" sz="28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sz="2800" b="0" dirty="0" err="1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f</a:t>
              </a:r>
              <a:r>
                <a:rPr lang="en-US" sz="2800" b="0" dirty="0" err="1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"Your</a:t>
              </a:r>
              <a:r>
                <a:rPr lang="en-US" sz="2800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 name is </a:t>
              </a:r>
              <a:r>
                <a:rPr lang="en-US" sz="28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{</a:t>
              </a:r>
              <a:r>
                <a:rPr lang="en-US" sz="28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varName</a:t>
              </a:r>
              <a:r>
                <a:rPr lang="en-US" sz="2800" b="0" dirty="0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sz="28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       </a:t>
              </a:r>
              <a:r>
                <a:rPr lang="en-US" sz="28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}</a:t>
              </a:r>
              <a:r>
                <a:rPr lang="en-US" sz="2800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sz="28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r>
                <a:rPr lang="en-US" sz="2800" b="0" dirty="0">
                  <a:solidFill>
                    <a:srgbClr val="DCDCAA"/>
                  </a:solidFill>
                  <a:effectLst/>
                  <a:latin typeface="Consolas" panose="020B0609020204030204" pitchFamily="49" charset="0"/>
                </a:rPr>
                <a:t>print</a:t>
              </a:r>
              <a:r>
                <a:rPr lang="en-US" sz="28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sz="2800" b="0" dirty="0" err="1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f</a:t>
              </a:r>
              <a:r>
                <a:rPr lang="en-US" sz="2800" b="0" dirty="0" err="1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"Your</a:t>
              </a:r>
              <a:r>
                <a:rPr lang="en-US" sz="2800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 age is </a:t>
              </a:r>
              <a:r>
                <a:rPr lang="en-US" sz="28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{</a:t>
              </a:r>
              <a:r>
                <a:rPr lang="en-US" sz="2800" b="0" dirty="0" err="1">
                  <a:solidFill>
                    <a:srgbClr val="9CDCFE"/>
                  </a:solidFill>
                  <a:effectLst/>
                  <a:latin typeface="Consolas" panose="020B0609020204030204" pitchFamily="49" charset="0"/>
                </a:rPr>
                <a:t>varName</a:t>
              </a:r>
              <a:r>
                <a:rPr lang="en-US" sz="2800" dirty="0">
                  <a:solidFill>
                    <a:srgbClr val="CCCCCC"/>
                  </a:solidFill>
                  <a:latin typeface="Consolas" panose="020B0609020204030204" pitchFamily="49" charset="0"/>
                </a:rPr>
                <a:t> </a:t>
              </a:r>
              <a:r>
                <a:rPr lang="en-US" sz="2800" dirty="0">
                  <a:solidFill>
                    <a:srgbClr val="CE9178"/>
                  </a:solidFill>
                  <a:latin typeface="Consolas" panose="020B0609020204030204" pitchFamily="49" charset="0"/>
                </a:rPr>
                <a:t>     </a:t>
              </a:r>
              <a:r>
                <a:rPr lang="en-US" sz="2800" b="0" dirty="0">
                  <a:solidFill>
                    <a:srgbClr val="569CD6"/>
                  </a:solidFill>
                  <a:effectLst/>
                  <a:latin typeface="Consolas" panose="020B0609020204030204" pitchFamily="49" charset="0"/>
                </a:rPr>
                <a:t>}</a:t>
              </a:r>
              <a:r>
                <a:rPr lang="en-US" sz="2800" b="0" dirty="0">
                  <a:solidFill>
                    <a:srgbClr val="CE9178"/>
                  </a:solidFill>
                  <a:effectLst/>
                  <a:latin typeface="Consolas" panose="020B0609020204030204" pitchFamily="49" charset="0"/>
                </a:rPr>
                <a:t>"</a:t>
              </a:r>
              <a:r>
                <a:rPr lang="en-US" sz="28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  <a:t>)</a:t>
              </a:r>
            </a:p>
            <a:p>
              <a:br>
                <a:rPr lang="en-US" sz="2800" b="0" dirty="0">
                  <a:solidFill>
                    <a:srgbClr val="CCCCCC"/>
                  </a:solidFill>
                  <a:effectLst/>
                  <a:latin typeface="Consolas" panose="020B0609020204030204" pitchFamily="49" charset="0"/>
                </a:rPr>
              </a:br>
              <a:endPara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06D5157-2B8D-1292-19CD-153A396F28F3}"/>
                </a:ext>
              </a:extLst>
            </p:cNvPr>
            <p:cNvCxnSpPr/>
            <p:nvPr/>
          </p:nvCxnSpPr>
          <p:spPr>
            <a:xfrm>
              <a:off x="5943600" y="5055029"/>
              <a:ext cx="0" cy="3907379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Accessing Dictionary: Key name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5FC1A28-DFBF-A505-6815-C472DB5FDF32}"/>
              </a:ext>
            </a:extLst>
          </p:cNvPr>
          <p:cNvCxnSpPr/>
          <p:nvPr/>
        </p:nvCxnSpPr>
        <p:spPr>
          <a:xfrm>
            <a:off x="7391400" y="4229100"/>
            <a:ext cx="3505200" cy="533400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310857EF-F728-8776-D8DB-699C90CBB45B}"/>
              </a:ext>
            </a:extLst>
          </p:cNvPr>
          <p:cNvSpPr txBox="1"/>
          <p:nvPr/>
        </p:nvSpPr>
        <p:spPr>
          <a:xfrm>
            <a:off x="10337315" y="4649665"/>
            <a:ext cx="14477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'name'</a:t>
            </a:r>
            <a:endParaRPr lang="en-PH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725EF6-630A-F443-8E17-6EE6D77B8D2C}"/>
              </a:ext>
            </a:extLst>
          </p:cNvPr>
          <p:cNvSpPr txBox="1"/>
          <p:nvPr/>
        </p:nvSpPr>
        <p:spPr>
          <a:xfrm>
            <a:off x="10101197" y="5074258"/>
            <a:ext cx="11697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'age'</a:t>
            </a:r>
            <a:endParaRPr lang="en-PH" sz="28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57022A2-3CDD-997C-8E50-F8926A7BF421}"/>
              </a:ext>
            </a:extLst>
          </p:cNvPr>
          <p:cNvCxnSpPr>
            <a:cxnSpLocks/>
          </p:cNvCxnSpPr>
          <p:nvPr/>
        </p:nvCxnSpPr>
        <p:spPr>
          <a:xfrm>
            <a:off x="10515600" y="4229100"/>
            <a:ext cx="171069" cy="877557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CB1E5EA-87FE-C925-72AB-D186B8D580B8}"/>
              </a:ext>
            </a:extLst>
          </p:cNvPr>
          <p:cNvSpPr txBox="1"/>
          <p:nvPr/>
        </p:nvSpPr>
        <p:spPr>
          <a:xfrm>
            <a:off x="10153958" y="4649665"/>
            <a:ext cx="18297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[      ]</a:t>
            </a:r>
            <a:endParaRPr lang="en-PH" sz="2800" b="1" dirty="0">
              <a:solidFill>
                <a:schemeClr val="bg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3F4CBC-2569-0CCC-BC2F-A8CE2CF42E61}"/>
              </a:ext>
            </a:extLst>
          </p:cNvPr>
          <p:cNvSpPr txBox="1">
            <a:spLocks/>
          </p:cNvSpPr>
          <p:nvPr/>
        </p:nvSpPr>
        <p:spPr>
          <a:xfrm>
            <a:off x="9953605" y="5072380"/>
            <a:ext cx="1635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40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    </a:t>
            </a:r>
            <a:r>
              <a:rPr lang="en-US" sz="2800" b="1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]</a:t>
            </a:r>
            <a:endParaRPr lang="en-PH" sz="2800" b="1" dirty="0">
              <a:solidFill>
                <a:schemeClr val="bg1"/>
              </a:solidFill>
            </a:endParaRPr>
          </a:p>
        </p:txBody>
      </p:sp>
      <p:pic>
        <p:nvPicPr>
          <p:cNvPr id="23" name="Picture 22" descr="A yellow text on a black background&#10;&#10;Description automatically generated">
            <a:hlinkClick r:id="rId8" action="ppaction://hlinksldjump"/>
            <a:extLst>
              <a:ext uri="{FF2B5EF4-FFF2-40B4-BE49-F238E27FC236}">
                <a16:creationId xmlns:a16="http://schemas.microsoft.com/office/drawing/2014/main" id="{7EC88F34-4A8C-6A0B-AD25-0D86E7AB1B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1632" y="8094287"/>
            <a:ext cx="3439913" cy="193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177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2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6" grpId="0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blue screen with white lines&#10;&#10;Description automatically generated with medium confidence">
            <a:extLst>
              <a:ext uri="{FF2B5EF4-FFF2-40B4-BE49-F238E27FC236}">
                <a16:creationId xmlns:a16="http://schemas.microsoft.com/office/drawing/2014/main" id="{8DC3F5D4-54FD-D5BD-11FB-43CF32E33C4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448760"/>
            <a:ext cx="15925800" cy="7232689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Accessing Dictionary: Key name</a:t>
            </a:r>
          </a:p>
        </p:txBody>
      </p:sp>
      <p:pic>
        <p:nvPicPr>
          <p:cNvPr id="23" name="Picture 22">
            <a:hlinkClick r:id="rId8" action="ppaction://hlinksldjump"/>
            <a:extLst>
              <a:ext uri="{FF2B5EF4-FFF2-40B4-BE49-F238E27FC236}">
                <a16:creationId xmlns:a16="http://schemas.microsoft.com/office/drawing/2014/main" id="{5EEF31DE-1B17-760D-9D99-061509DE20B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1101" y="7946350"/>
            <a:ext cx="1645909" cy="177593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DE93668-D958-3A56-B623-8BF057D06ACC}"/>
              </a:ext>
            </a:extLst>
          </p:cNvPr>
          <p:cNvSpPr txBox="1"/>
          <p:nvPr/>
        </p:nvSpPr>
        <p:spPr>
          <a:xfrm>
            <a:off x="1905000" y="3774081"/>
            <a:ext cx="83946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CE9178"/>
                </a:solidFill>
                <a:latin typeface="Consolas" panose="020B0609020204030204" pitchFamily="49" charset="0"/>
              </a:rPr>
              <a:t>Your name is mark</a:t>
            </a:r>
          </a:p>
          <a:p>
            <a:r>
              <a:rPr lang="en-US" sz="3600" dirty="0">
                <a:solidFill>
                  <a:srgbClr val="CE9178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Your age is 25</a:t>
            </a:r>
            <a:endParaRPr lang="en-US" sz="3600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942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831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520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66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Task </a:t>
            </a:r>
            <a:r>
              <a:rPr lang="en-US" sz="88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2</a:t>
            </a:r>
            <a:endParaRPr lang="en-US" sz="6600" i="1" spc="-36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84895" y="2705100"/>
            <a:ext cx="16496363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In your created dictionary try to display the values referring to their respective keys.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Expected output.</a:t>
            </a: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Your name is mark.</a:t>
            </a: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Your age is 25.</a:t>
            </a: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You are male.</a:t>
            </a:r>
          </a:p>
        </p:txBody>
      </p:sp>
    </p:spTree>
    <p:extLst>
      <p:ext uri="{BB962C8B-B14F-4D97-AF65-F5344CB8AC3E}">
        <p14:creationId xmlns:p14="http://schemas.microsoft.com/office/powerpoint/2010/main" val="3753468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Accessing Dictionary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84895" y="2705100"/>
            <a:ext cx="16496363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2. Using the get() method</a:t>
            </a:r>
          </a:p>
          <a:p>
            <a:pPr algn="just"/>
            <a:r>
              <a:rPr lang="en-US" sz="4000" dirty="0"/>
              <a:t>The get() method is a safer way to access a value in a dictionary. 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Syntax: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 err="1">
                <a:latin typeface="Consolas" panose="020B0609020204030204" pitchFamily="49" charset="0"/>
              </a:rPr>
              <a:t>dictionary.get</a:t>
            </a:r>
            <a:r>
              <a:rPr lang="en-US" sz="5400" dirty="0">
                <a:latin typeface="Consolas" panose="020B0609020204030204" pitchFamily="49" charset="0"/>
              </a:rPr>
              <a:t>(“</a:t>
            </a:r>
            <a:r>
              <a:rPr lang="en-US" sz="5400" dirty="0" err="1">
                <a:latin typeface="Consolas" panose="020B0609020204030204" pitchFamily="49" charset="0"/>
              </a:rPr>
              <a:t>keyName</a:t>
            </a:r>
            <a:r>
              <a:rPr lang="en-US" sz="5400" dirty="0">
                <a:latin typeface="Consolas" panose="020B0609020204030204" pitchFamily="49" charset="0"/>
              </a:rPr>
              <a:t>”)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8150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95B95F22-1CC6-AB30-6E2F-B3B5320123D3}"/>
              </a:ext>
            </a:extLst>
          </p:cNvPr>
          <p:cNvGrpSpPr/>
          <p:nvPr/>
        </p:nvGrpSpPr>
        <p:grpSpPr>
          <a:xfrm>
            <a:off x="1143000" y="2448760"/>
            <a:ext cx="15925800" cy="7232689"/>
            <a:chOff x="3924299" y="3963831"/>
            <a:chExt cx="10439400" cy="5308559"/>
          </a:xfrm>
        </p:grpSpPr>
        <p:pic>
          <p:nvPicPr>
            <p:cNvPr id="9" name="Picture 8" descr="A blue screen with white lines&#10;&#10;Description automatically generated with medium confidence">
              <a:extLst>
                <a:ext uri="{FF2B5EF4-FFF2-40B4-BE49-F238E27FC236}">
                  <a16:creationId xmlns:a16="http://schemas.microsoft.com/office/drawing/2014/main" id="{2005A82D-DD07-C1B5-35D2-CA6DFF437BDE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4299" y="3963831"/>
              <a:ext cx="10439400" cy="530855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B7FA62-D24C-C2C9-2711-020EEA73AB72}"/>
                </a:ext>
              </a:extLst>
            </p:cNvPr>
            <p:cNvSpPr txBox="1"/>
            <p:nvPr/>
          </p:nvSpPr>
          <p:spPr>
            <a:xfrm>
              <a:off x="4506100" y="4949244"/>
              <a:ext cx="1186295" cy="4179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1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2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3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4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5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6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7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8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9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10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11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12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033DF27-3BE1-7376-D66E-7AAA564B8565}"/>
                </a:ext>
              </a:extLst>
            </p:cNvPr>
            <p:cNvSpPr txBox="1"/>
            <p:nvPr/>
          </p:nvSpPr>
          <p:spPr>
            <a:xfrm>
              <a:off x="6120492" y="4949244"/>
              <a:ext cx="7661405" cy="384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06D5157-2B8D-1292-19CD-153A396F28F3}"/>
                </a:ext>
              </a:extLst>
            </p:cNvPr>
            <p:cNvCxnSpPr/>
            <p:nvPr/>
          </p:nvCxnSpPr>
          <p:spPr>
            <a:xfrm>
              <a:off x="5943600" y="5055029"/>
              <a:ext cx="0" cy="3907379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Accessing Dictionary: get()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5FC1A28-DFBF-A505-6815-C472DB5FDF32}"/>
              </a:ext>
            </a:extLst>
          </p:cNvPr>
          <p:cNvCxnSpPr>
            <a:cxnSpLocks/>
          </p:cNvCxnSpPr>
          <p:nvPr/>
        </p:nvCxnSpPr>
        <p:spPr>
          <a:xfrm>
            <a:off x="7464820" y="4314563"/>
            <a:ext cx="4422380" cy="524137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50A9AB4-9600-7766-4824-ACC1F1942175}"/>
              </a:ext>
            </a:extLst>
          </p:cNvPr>
          <p:cNvSpPr txBox="1"/>
          <p:nvPr/>
        </p:nvSpPr>
        <p:spPr>
          <a:xfrm>
            <a:off x="4533898" y="3771900"/>
            <a:ext cx="1164733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varName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"mark"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"25"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PH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PH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"Your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name is </a:t>
            </a:r>
            <a:r>
              <a:rPr lang="en-PH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PH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varName</a:t>
            </a:r>
            <a:r>
              <a:rPr lang="en-PH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PH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'name'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PH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PH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PH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"Your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age is </a:t>
            </a:r>
            <a:r>
              <a:rPr lang="en-PH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PH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varName</a:t>
            </a:r>
            <a:r>
              <a:rPr lang="en-PH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PH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'age'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PH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38346FF-C444-FE1F-3BE1-FBA7F50006F6}"/>
              </a:ext>
            </a:extLst>
          </p:cNvPr>
          <p:cNvCxnSpPr>
            <a:cxnSpLocks/>
          </p:cNvCxnSpPr>
          <p:nvPr/>
        </p:nvCxnSpPr>
        <p:spPr>
          <a:xfrm>
            <a:off x="10591800" y="4314563"/>
            <a:ext cx="1015283" cy="1047750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FC4B2849-73C1-F29E-CB4C-A86978ABD6B5}"/>
              </a:ext>
            </a:extLst>
          </p:cNvPr>
          <p:cNvSpPr txBox="1"/>
          <p:nvPr/>
        </p:nvSpPr>
        <p:spPr>
          <a:xfrm>
            <a:off x="4533898" y="5513309"/>
            <a:ext cx="116473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28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PH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"Your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address is </a:t>
            </a:r>
            <a:r>
              <a:rPr lang="en-PH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PH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varName</a:t>
            </a:r>
            <a:r>
              <a:rPr lang="en-PH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PH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PH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addr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PH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BFB4D5B-9C19-AADE-BBAD-466EEEAED992}"/>
              </a:ext>
            </a:extLst>
          </p:cNvPr>
          <p:cNvGrpSpPr/>
          <p:nvPr/>
        </p:nvGrpSpPr>
        <p:grpSpPr>
          <a:xfrm>
            <a:off x="10287001" y="5982968"/>
            <a:ext cx="2087639" cy="2116036"/>
            <a:chOff x="10287001" y="5982968"/>
            <a:chExt cx="2087639" cy="2116036"/>
          </a:xfrm>
        </p:grpSpPr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A7428C2C-3307-5818-6B96-DB6A728F4DA9}"/>
                </a:ext>
              </a:extLst>
            </p:cNvPr>
            <p:cNvCxnSpPr>
              <a:cxnSpLocks/>
              <a:stCxn id="33" idx="0"/>
            </p:cNvCxnSpPr>
            <p:nvPr/>
          </p:nvCxnSpPr>
          <p:spPr>
            <a:xfrm flipV="1">
              <a:off x="10896599" y="5982968"/>
              <a:ext cx="1478041" cy="1773136"/>
            </a:xfrm>
            <a:prstGeom prst="straightConnector1">
              <a:avLst/>
            </a:prstGeom>
            <a:ln w="571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Action Button: Help 32">
              <a:hlinkClick r:id="" action="ppaction://noaction" highlightClick="1"/>
              <a:extLst>
                <a:ext uri="{FF2B5EF4-FFF2-40B4-BE49-F238E27FC236}">
                  <a16:creationId xmlns:a16="http://schemas.microsoft.com/office/drawing/2014/main" id="{0DD543FA-4EEA-6D33-CC77-F77DC03FCC56}"/>
                </a:ext>
              </a:extLst>
            </p:cNvPr>
            <p:cNvSpPr/>
            <p:nvPr/>
          </p:nvSpPr>
          <p:spPr>
            <a:xfrm>
              <a:off x="10287001" y="7413204"/>
              <a:ext cx="609598" cy="685800"/>
            </a:xfrm>
            <a:prstGeom prst="actionButtonHelp">
              <a:avLst/>
            </a:prstGeom>
            <a:noFill/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PH" dirty="0"/>
            </a:p>
          </p:txBody>
        </p:sp>
      </p:grpSp>
      <p:pic>
        <p:nvPicPr>
          <p:cNvPr id="36" name="Picture 35" descr="A yellow text on a black background&#10;&#10;Description automatically generated">
            <a:hlinkClick r:id="rId8" action="ppaction://hlinksldjump"/>
            <a:extLst>
              <a:ext uri="{FF2B5EF4-FFF2-40B4-BE49-F238E27FC236}">
                <a16:creationId xmlns:a16="http://schemas.microsoft.com/office/drawing/2014/main" id="{343912B7-FA27-E2F1-2115-6E301C85CA4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1632" y="8094287"/>
            <a:ext cx="3439913" cy="193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295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blue screen with white lines&#10;&#10;Description automatically generated with medium confidence">
            <a:extLst>
              <a:ext uri="{FF2B5EF4-FFF2-40B4-BE49-F238E27FC236}">
                <a16:creationId xmlns:a16="http://schemas.microsoft.com/office/drawing/2014/main" id="{8DC3F5D4-54FD-D5BD-11FB-43CF32E33C4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448760"/>
            <a:ext cx="15925800" cy="7232689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Accessing Dictionary: get()</a:t>
            </a:r>
          </a:p>
        </p:txBody>
      </p:sp>
      <p:pic>
        <p:nvPicPr>
          <p:cNvPr id="23" name="Picture 22">
            <a:hlinkClick r:id="rId8" action="ppaction://hlinksldjump"/>
            <a:extLst>
              <a:ext uri="{FF2B5EF4-FFF2-40B4-BE49-F238E27FC236}">
                <a16:creationId xmlns:a16="http://schemas.microsoft.com/office/drawing/2014/main" id="{5EEF31DE-1B17-760D-9D99-061509DE20B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1101" y="7946350"/>
            <a:ext cx="1645909" cy="177593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DE93668-D958-3A56-B623-8BF057D06ACC}"/>
              </a:ext>
            </a:extLst>
          </p:cNvPr>
          <p:cNvSpPr txBox="1"/>
          <p:nvPr/>
        </p:nvSpPr>
        <p:spPr>
          <a:xfrm>
            <a:off x="1905000" y="3774081"/>
            <a:ext cx="83946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CE9178"/>
                </a:solidFill>
                <a:latin typeface="Consolas" panose="020B0609020204030204" pitchFamily="49" charset="0"/>
              </a:rPr>
              <a:t>Your name is mark</a:t>
            </a:r>
          </a:p>
          <a:p>
            <a:r>
              <a:rPr lang="en-US" sz="3600" dirty="0">
                <a:solidFill>
                  <a:srgbClr val="CE9178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Your age is 25</a:t>
            </a:r>
            <a:endParaRPr lang="en-US" sz="3600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D4A1C5-F013-B368-EEFA-7D38FF45BBA3}"/>
              </a:ext>
            </a:extLst>
          </p:cNvPr>
          <p:cNvSpPr txBox="1"/>
          <p:nvPr/>
        </p:nvSpPr>
        <p:spPr>
          <a:xfrm>
            <a:off x="1905000" y="4820334"/>
            <a:ext cx="83946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rgbClr val="CE9178"/>
                </a:solidFill>
                <a:latin typeface="Consolas" panose="020B0609020204030204" pitchFamily="49" charset="0"/>
                <a:ea typeface="Cambria" panose="02040503050406030204" pitchFamily="18" charset="0"/>
              </a:rPr>
              <a:t>Your address is None</a:t>
            </a:r>
            <a:endParaRPr lang="en-US" sz="3600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327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831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520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66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Task </a:t>
            </a:r>
            <a:r>
              <a:rPr lang="en-US" sz="88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3</a:t>
            </a:r>
            <a:endParaRPr lang="en-US" sz="6600" i="1" spc="-36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84895" y="2705100"/>
            <a:ext cx="1649636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In your created dictionary try to display the values using get() method. And try to place an undefined key in the get method to see the result.</a:t>
            </a:r>
          </a:p>
        </p:txBody>
      </p:sp>
    </p:spTree>
    <p:extLst>
      <p:ext uri="{BB962C8B-B14F-4D97-AF65-F5344CB8AC3E}">
        <p14:creationId xmlns:p14="http://schemas.microsoft.com/office/powerpoint/2010/main" val="21565542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Accessing Dictionary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84895" y="2705100"/>
            <a:ext cx="16496363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3. Using the keys() method</a:t>
            </a:r>
          </a:p>
          <a:p>
            <a:pPr algn="just"/>
            <a:r>
              <a:rPr lang="en-US" sz="4000" dirty="0"/>
              <a:t>The keys() method returns a view object that displays a list of all the keys in the dictionary.</a:t>
            </a:r>
            <a:endParaRPr lang="en-US" sz="54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Syntax: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 err="1">
                <a:latin typeface="Consolas" panose="020B0609020204030204" pitchFamily="49" charset="0"/>
              </a:rPr>
              <a:t>dictionary.keys</a:t>
            </a:r>
            <a:r>
              <a:rPr lang="en-US" sz="5400" dirty="0">
                <a:latin typeface="Consolas" panose="020B0609020204030204" pitchFamily="49" charset="0"/>
              </a:rPr>
              <a:t>()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4158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95B95F22-1CC6-AB30-6E2F-B3B5320123D3}"/>
              </a:ext>
            </a:extLst>
          </p:cNvPr>
          <p:cNvGrpSpPr/>
          <p:nvPr/>
        </p:nvGrpSpPr>
        <p:grpSpPr>
          <a:xfrm>
            <a:off x="1143000" y="2448760"/>
            <a:ext cx="15925800" cy="7232689"/>
            <a:chOff x="3924299" y="3963831"/>
            <a:chExt cx="10439400" cy="5308559"/>
          </a:xfrm>
        </p:grpSpPr>
        <p:pic>
          <p:nvPicPr>
            <p:cNvPr id="9" name="Picture 8" descr="A blue screen with white lines&#10;&#10;Description automatically generated with medium confidence">
              <a:extLst>
                <a:ext uri="{FF2B5EF4-FFF2-40B4-BE49-F238E27FC236}">
                  <a16:creationId xmlns:a16="http://schemas.microsoft.com/office/drawing/2014/main" id="{2005A82D-DD07-C1B5-35D2-CA6DFF437BDE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4299" y="3963831"/>
              <a:ext cx="10439400" cy="530855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B7FA62-D24C-C2C9-2711-020EEA73AB72}"/>
                </a:ext>
              </a:extLst>
            </p:cNvPr>
            <p:cNvSpPr txBox="1"/>
            <p:nvPr/>
          </p:nvSpPr>
          <p:spPr>
            <a:xfrm>
              <a:off x="4506100" y="4949244"/>
              <a:ext cx="1186295" cy="4179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1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2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3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4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5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6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7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8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9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10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11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12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033DF27-3BE1-7376-D66E-7AAA564B8565}"/>
                </a:ext>
              </a:extLst>
            </p:cNvPr>
            <p:cNvSpPr txBox="1"/>
            <p:nvPr/>
          </p:nvSpPr>
          <p:spPr>
            <a:xfrm>
              <a:off x="6120492" y="4949244"/>
              <a:ext cx="7661405" cy="384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06D5157-2B8D-1292-19CD-153A396F28F3}"/>
                </a:ext>
              </a:extLst>
            </p:cNvPr>
            <p:cNvCxnSpPr/>
            <p:nvPr/>
          </p:nvCxnSpPr>
          <p:spPr>
            <a:xfrm>
              <a:off x="5943600" y="5055029"/>
              <a:ext cx="0" cy="3907379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Accessing Dictionary: keys()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0A9AB4-9600-7766-4824-ACC1F1942175}"/>
              </a:ext>
            </a:extLst>
          </p:cNvPr>
          <p:cNvSpPr txBox="1"/>
          <p:nvPr/>
        </p:nvSpPr>
        <p:spPr>
          <a:xfrm>
            <a:off x="4533898" y="3771900"/>
            <a:ext cx="1164733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varName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"mark"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"25"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PH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varName</a:t>
            </a:r>
            <a:r>
              <a:rPr lang="en-PH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PH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keys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pic>
        <p:nvPicPr>
          <p:cNvPr id="7" name="Picture 6" descr="A yellow text on a black background&#10;&#10;Description automatically generated">
            <a:hlinkClick r:id="rId8" action="ppaction://hlinksldjump"/>
            <a:extLst>
              <a:ext uri="{FF2B5EF4-FFF2-40B4-BE49-F238E27FC236}">
                <a16:creationId xmlns:a16="http://schemas.microsoft.com/office/drawing/2014/main" id="{3D9EDD5C-3223-8630-628F-2D291B740E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1632" y="8094287"/>
            <a:ext cx="3439913" cy="193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095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blue screen with white lines&#10;&#10;Description automatically generated with medium confidence">
            <a:extLst>
              <a:ext uri="{FF2B5EF4-FFF2-40B4-BE49-F238E27FC236}">
                <a16:creationId xmlns:a16="http://schemas.microsoft.com/office/drawing/2014/main" id="{8DC3F5D4-54FD-D5BD-11FB-43CF32E33C4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448760"/>
            <a:ext cx="15925800" cy="7232689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Accessing Dictionary: keys()</a:t>
            </a:r>
          </a:p>
        </p:txBody>
      </p:sp>
      <p:pic>
        <p:nvPicPr>
          <p:cNvPr id="23" name="Picture 22">
            <a:hlinkClick r:id="rId8" action="ppaction://hlinksldjump"/>
            <a:extLst>
              <a:ext uri="{FF2B5EF4-FFF2-40B4-BE49-F238E27FC236}">
                <a16:creationId xmlns:a16="http://schemas.microsoft.com/office/drawing/2014/main" id="{5EEF31DE-1B17-760D-9D99-061509DE20B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1101" y="7946350"/>
            <a:ext cx="1645909" cy="177593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DE93668-D958-3A56-B623-8BF057D06ACC}"/>
              </a:ext>
            </a:extLst>
          </p:cNvPr>
          <p:cNvSpPr txBox="1"/>
          <p:nvPr/>
        </p:nvSpPr>
        <p:spPr>
          <a:xfrm>
            <a:off x="1905000" y="3774081"/>
            <a:ext cx="83946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 err="1">
                <a:solidFill>
                  <a:srgbClr val="CE9178"/>
                </a:solidFill>
                <a:latin typeface="Consolas" panose="020B0609020204030204" pitchFamily="49" charset="0"/>
              </a:rPr>
              <a:t>dict_keys</a:t>
            </a:r>
            <a:r>
              <a:rPr lang="en-US" sz="3600" dirty="0">
                <a:solidFill>
                  <a:srgbClr val="CE9178"/>
                </a:solidFill>
                <a:latin typeface="Consolas" panose="020B0609020204030204" pitchFamily="49" charset="0"/>
              </a:rPr>
              <a:t>(['name', 'age'])</a:t>
            </a:r>
            <a:endParaRPr lang="en-US" sz="3600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02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831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95B95F22-1CC6-AB30-6E2F-B3B5320123D3}"/>
              </a:ext>
            </a:extLst>
          </p:cNvPr>
          <p:cNvGrpSpPr/>
          <p:nvPr/>
        </p:nvGrpSpPr>
        <p:grpSpPr>
          <a:xfrm>
            <a:off x="1143000" y="2448760"/>
            <a:ext cx="15925800" cy="7232689"/>
            <a:chOff x="3924299" y="3963831"/>
            <a:chExt cx="10439400" cy="5308559"/>
          </a:xfrm>
        </p:grpSpPr>
        <p:pic>
          <p:nvPicPr>
            <p:cNvPr id="9" name="Picture 8" descr="A blue screen with white lines&#10;&#10;Description automatically generated with medium confidence">
              <a:extLst>
                <a:ext uri="{FF2B5EF4-FFF2-40B4-BE49-F238E27FC236}">
                  <a16:creationId xmlns:a16="http://schemas.microsoft.com/office/drawing/2014/main" id="{2005A82D-DD07-C1B5-35D2-CA6DFF437BDE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4299" y="3963831"/>
              <a:ext cx="10439400" cy="530855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B7FA62-D24C-C2C9-2711-020EEA73AB72}"/>
                </a:ext>
              </a:extLst>
            </p:cNvPr>
            <p:cNvSpPr txBox="1"/>
            <p:nvPr/>
          </p:nvSpPr>
          <p:spPr>
            <a:xfrm>
              <a:off x="4506100" y="4949244"/>
              <a:ext cx="1186295" cy="4179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1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2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3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4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5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6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7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8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9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10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11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12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033DF27-3BE1-7376-D66E-7AAA564B8565}"/>
                </a:ext>
              </a:extLst>
            </p:cNvPr>
            <p:cNvSpPr txBox="1"/>
            <p:nvPr/>
          </p:nvSpPr>
          <p:spPr>
            <a:xfrm>
              <a:off x="6120492" y="4949244"/>
              <a:ext cx="7661405" cy="384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06D5157-2B8D-1292-19CD-153A396F28F3}"/>
                </a:ext>
              </a:extLst>
            </p:cNvPr>
            <p:cNvCxnSpPr/>
            <p:nvPr/>
          </p:nvCxnSpPr>
          <p:spPr>
            <a:xfrm>
              <a:off x="5943600" y="5055029"/>
              <a:ext cx="0" cy="3907379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Accessing Dictionary: keys()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0A9AB4-9600-7766-4824-ACC1F1942175}"/>
              </a:ext>
            </a:extLst>
          </p:cNvPr>
          <p:cNvSpPr txBox="1"/>
          <p:nvPr/>
        </p:nvSpPr>
        <p:spPr>
          <a:xfrm>
            <a:off x="4533898" y="3771900"/>
            <a:ext cx="1164733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varName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"mark"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"25"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varName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keys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7" name="Picture 6" descr="A yellow text on a black background&#10;&#10;Description automatically generated">
            <a:hlinkClick r:id="rId8" action="ppaction://hlinksldjump"/>
            <a:extLst>
              <a:ext uri="{FF2B5EF4-FFF2-40B4-BE49-F238E27FC236}">
                <a16:creationId xmlns:a16="http://schemas.microsoft.com/office/drawing/2014/main" id="{3D9EDD5C-3223-8630-628F-2D291B740E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1632" y="8094287"/>
            <a:ext cx="3439913" cy="193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8508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blue screen with white lines&#10;&#10;Description automatically generated with medium confidence">
            <a:extLst>
              <a:ext uri="{FF2B5EF4-FFF2-40B4-BE49-F238E27FC236}">
                <a16:creationId xmlns:a16="http://schemas.microsoft.com/office/drawing/2014/main" id="{8DC3F5D4-54FD-D5BD-11FB-43CF32E33C4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448760"/>
            <a:ext cx="15925800" cy="7232689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Accessing Dictionary: keys()</a:t>
            </a:r>
          </a:p>
        </p:txBody>
      </p:sp>
      <p:pic>
        <p:nvPicPr>
          <p:cNvPr id="23" name="Picture 22">
            <a:hlinkClick r:id="rId8" action="ppaction://hlinksldjump"/>
            <a:extLst>
              <a:ext uri="{FF2B5EF4-FFF2-40B4-BE49-F238E27FC236}">
                <a16:creationId xmlns:a16="http://schemas.microsoft.com/office/drawing/2014/main" id="{5EEF31DE-1B17-760D-9D99-061509DE20B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1101" y="7946350"/>
            <a:ext cx="1645909" cy="177593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DE93668-D958-3A56-B623-8BF057D06ACC}"/>
              </a:ext>
            </a:extLst>
          </p:cNvPr>
          <p:cNvSpPr txBox="1"/>
          <p:nvPr/>
        </p:nvSpPr>
        <p:spPr>
          <a:xfrm>
            <a:off x="1905000" y="3774081"/>
            <a:ext cx="83946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name</a:t>
            </a:r>
          </a:p>
          <a:p>
            <a:r>
              <a:rPr lang="en-US" sz="36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age</a:t>
            </a:r>
          </a:p>
        </p:txBody>
      </p:sp>
    </p:spTree>
    <p:extLst>
      <p:ext uri="{BB962C8B-B14F-4D97-AF65-F5344CB8AC3E}">
        <p14:creationId xmlns:p14="http://schemas.microsoft.com/office/powerpoint/2010/main" val="861375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831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520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66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Task </a:t>
            </a:r>
            <a:r>
              <a:rPr lang="en-US" sz="88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4</a:t>
            </a:r>
            <a:endParaRPr lang="en-US" sz="6600" i="1" spc="-36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84895" y="2705100"/>
            <a:ext cx="1649636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Try to display the keys of your dictionary using the keys() method and a for loop. The output should be on one line.</a:t>
            </a:r>
          </a:p>
        </p:txBody>
      </p:sp>
    </p:spTree>
    <p:extLst>
      <p:ext uri="{BB962C8B-B14F-4D97-AF65-F5344CB8AC3E}">
        <p14:creationId xmlns:p14="http://schemas.microsoft.com/office/powerpoint/2010/main" val="5875984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Accessing Dictionary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84895" y="2705100"/>
            <a:ext cx="16496363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4. Using the values() method</a:t>
            </a:r>
          </a:p>
          <a:p>
            <a:pPr algn="just"/>
            <a:r>
              <a:rPr lang="en-US" sz="4000" dirty="0"/>
              <a:t>The values() method returns a view object that displays a list of all the values in the dictionary.</a:t>
            </a:r>
            <a:endParaRPr lang="en-US" sz="54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Syntax: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 err="1">
                <a:latin typeface="Consolas" panose="020B0609020204030204" pitchFamily="49" charset="0"/>
              </a:rPr>
              <a:t>dictionary.values</a:t>
            </a:r>
            <a:r>
              <a:rPr lang="en-US" sz="5400" dirty="0">
                <a:latin typeface="Consolas" panose="020B0609020204030204" pitchFamily="49" charset="0"/>
              </a:rPr>
              <a:t>()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989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95B95F22-1CC6-AB30-6E2F-B3B5320123D3}"/>
              </a:ext>
            </a:extLst>
          </p:cNvPr>
          <p:cNvGrpSpPr/>
          <p:nvPr/>
        </p:nvGrpSpPr>
        <p:grpSpPr>
          <a:xfrm>
            <a:off x="1143000" y="2448760"/>
            <a:ext cx="15925800" cy="7232689"/>
            <a:chOff x="3924299" y="3963831"/>
            <a:chExt cx="10439400" cy="5308559"/>
          </a:xfrm>
        </p:grpSpPr>
        <p:pic>
          <p:nvPicPr>
            <p:cNvPr id="9" name="Picture 8" descr="A blue screen with white lines&#10;&#10;Description automatically generated with medium confidence">
              <a:extLst>
                <a:ext uri="{FF2B5EF4-FFF2-40B4-BE49-F238E27FC236}">
                  <a16:creationId xmlns:a16="http://schemas.microsoft.com/office/drawing/2014/main" id="{2005A82D-DD07-C1B5-35D2-CA6DFF437BDE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4299" y="3963831"/>
              <a:ext cx="10439400" cy="530855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B7FA62-D24C-C2C9-2711-020EEA73AB72}"/>
                </a:ext>
              </a:extLst>
            </p:cNvPr>
            <p:cNvSpPr txBox="1"/>
            <p:nvPr/>
          </p:nvSpPr>
          <p:spPr>
            <a:xfrm>
              <a:off x="4506100" y="4949244"/>
              <a:ext cx="1186295" cy="4179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1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2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3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4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5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6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7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8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9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10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11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12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033DF27-3BE1-7376-D66E-7AAA564B8565}"/>
                </a:ext>
              </a:extLst>
            </p:cNvPr>
            <p:cNvSpPr txBox="1"/>
            <p:nvPr/>
          </p:nvSpPr>
          <p:spPr>
            <a:xfrm>
              <a:off x="6120492" y="4949244"/>
              <a:ext cx="7661405" cy="384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06D5157-2B8D-1292-19CD-153A396F28F3}"/>
                </a:ext>
              </a:extLst>
            </p:cNvPr>
            <p:cNvCxnSpPr/>
            <p:nvPr/>
          </p:nvCxnSpPr>
          <p:spPr>
            <a:xfrm>
              <a:off x="5943600" y="5055029"/>
              <a:ext cx="0" cy="3907379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Accessing Dictionary: values()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0A9AB4-9600-7766-4824-ACC1F1942175}"/>
              </a:ext>
            </a:extLst>
          </p:cNvPr>
          <p:cNvSpPr txBox="1"/>
          <p:nvPr/>
        </p:nvSpPr>
        <p:spPr>
          <a:xfrm>
            <a:off x="4533898" y="3771900"/>
            <a:ext cx="1164733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varName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"mark"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"25"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PH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varName</a:t>
            </a:r>
            <a:r>
              <a:rPr lang="en-PH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PH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pic>
        <p:nvPicPr>
          <p:cNvPr id="7" name="Picture 6" descr="A yellow text on a black background&#10;&#10;Description automatically generated">
            <a:hlinkClick r:id="rId8" action="ppaction://hlinksldjump"/>
            <a:extLst>
              <a:ext uri="{FF2B5EF4-FFF2-40B4-BE49-F238E27FC236}">
                <a16:creationId xmlns:a16="http://schemas.microsoft.com/office/drawing/2014/main" id="{3D9EDD5C-3223-8630-628F-2D291B740E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1632" y="8094287"/>
            <a:ext cx="3439913" cy="193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8592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blue screen with white lines&#10;&#10;Description automatically generated with medium confidence">
            <a:extLst>
              <a:ext uri="{FF2B5EF4-FFF2-40B4-BE49-F238E27FC236}">
                <a16:creationId xmlns:a16="http://schemas.microsoft.com/office/drawing/2014/main" id="{8DC3F5D4-54FD-D5BD-11FB-43CF32E33C4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448760"/>
            <a:ext cx="15925800" cy="7232689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Accessing Dictionary: values()</a:t>
            </a:r>
          </a:p>
        </p:txBody>
      </p:sp>
      <p:pic>
        <p:nvPicPr>
          <p:cNvPr id="23" name="Picture 22">
            <a:hlinkClick r:id="rId8" action="ppaction://hlinksldjump"/>
            <a:extLst>
              <a:ext uri="{FF2B5EF4-FFF2-40B4-BE49-F238E27FC236}">
                <a16:creationId xmlns:a16="http://schemas.microsoft.com/office/drawing/2014/main" id="{5EEF31DE-1B17-760D-9D99-061509DE20B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1101" y="7946350"/>
            <a:ext cx="1645909" cy="177593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DE93668-D958-3A56-B623-8BF057D06ACC}"/>
              </a:ext>
            </a:extLst>
          </p:cNvPr>
          <p:cNvSpPr txBox="1"/>
          <p:nvPr/>
        </p:nvSpPr>
        <p:spPr>
          <a:xfrm>
            <a:off x="1905000" y="3774081"/>
            <a:ext cx="83946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dict_values(['mark', '25'])</a:t>
            </a:r>
            <a:endParaRPr lang="en-US" sz="3600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62441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831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95B95F22-1CC6-AB30-6E2F-B3B5320123D3}"/>
              </a:ext>
            </a:extLst>
          </p:cNvPr>
          <p:cNvGrpSpPr/>
          <p:nvPr/>
        </p:nvGrpSpPr>
        <p:grpSpPr>
          <a:xfrm>
            <a:off x="1143000" y="2448760"/>
            <a:ext cx="15925800" cy="7232689"/>
            <a:chOff x="3924299" y="3963831"/>
            <a:chExt cx="10439400" cy="5308559"/>
          </a:xfrm>
        </p:grpSpPr>
        <p:pic>
          <p:nvPicPr>
            <p:cNvPr id="9" name="Picture 8" descr="A blue screen with white lines&#10;&#10;Description automatically generated with medium confidence">
              <a:extLst>
                <a:ext uri="{FF2B5EF4-FFF2-40B4-BE49-F238E27FC236}">
                  <a16:creationId xmlns:a16="http://schemas.microsoft.com/office/drawing/2014/main" id="{2005A82D-DD07-C1B5-35D2-CA6DFF437BDE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4299" y="3963831"/>
              <a:ext cx="10439400" cy="530855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B7FA62-D24C-C2C9-2711-020EEA73AB72}"/>
                </a:ext>
              </a:extLst>
            </p:cNvPr>
            <p:cNvSpPr txBox="1"/>
            <p:nvPr/>
          </p:nvSpPr>
          <p:spPr>
            <a:xfrm>
              <a:off x="4506100" y="4949244"/>
              <a:ext cx="1186295" cy="4179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1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2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3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4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5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6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7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8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9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10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11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12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033DF27-3BE1-7376-D66E-7AAA564B8565}"/>
                </a:ext>
              </a:extLst>
            </p:cNvPr>
            <p:cNvSpPr txBox="1"/>
            <p:nvPr/>
          </p:nvSpPr>
          <p:spPr>
            <a:xfrm>
              <a:off x="6120492" y="4949244"/>
              <a:ext cx="7661405" cy="384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06D5157-2B8D-1292-19CD-153A396F28F3}"/>
                </a:ext>
              </a:extLst>
            </p:cNvPr>
            <p:cNvCxnSpPr/>
            <p:nvPr/>
          </p:nvCxnSpPr>
          <p:spPr>
            <a:xfrm>
              <a:off x="5943600" y="5055029"/>
              <a:ext cx="0" cy="3907379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Accessing Dictionary: values()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0A9AB4-9600-7766-4824-ACC1F1942175}"/>
              </a:ext>
            </a:extLst>
          </p:cNvPr>
          <p:cNvSpPr txBox="1"/>
          <p:nvPr/>
        </p:nvSpPr>
        <p:spPr>
          <a:xfrm>
            <a:off x="4533898" y="3771900"/>
            <a:ext cx="1164733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varName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"mark"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"25"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varName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7" name="Picture 6" descr="A yellow text on a black background&#10;&#10;Description automatically generated">
            <a:hlinkClick r:id="rId8" action="ppaction://hlinksldjump"/>
            <a:extLst>
              <a:ext uri="{FF2B5EF4-FFF2-40B4-BE49-F238E27FC236}">
                <a16:creationId xmlns:a16="http://schemas.microsoft.com/office/drawing/2014/main" id="{3D9EDD5C-3223-8630-628F-2D291B740E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1632" y="8094287"/>
            <a:ext cx="3439913" cy="193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3885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blue screen with white lines&#10;&#10;Description automatically generated with medium confidence">
            <a:extLst>
              <a:ext uri="{FF2B5EF4-FFF2-40B4-BE49-F238E27FC236}">
                <a16:creationId xmlns:a16="http://schemas.microsoft.com/office/drawing/2014/main" id="{8DC3F5D4-54FD-D5BD-11FB-43CF32E33C4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448760"/>
            <a:ext cx="15925800" cy="7232689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Accessing Dictionary: values()</a:t>
            </a:r>
          </a:p>
        </p:txBody>
      </p:sp>
      <p:pic>
        <p:nvPicPr>
          <p:cNvPr id="23" name="Picture 22">
            <a:hlinkClick r:id="rId8" action="ppaction://hlinksldjump"/>
            <a:extLst>
              <a:ext uri="{FF2B5EF4-FFF2-40B4-BE49-F238E27FC236}">
                <a16:creationId xmlns:a16="http://schemas.microsoft.com/office/drawing/2014/main" id="{5EEF31DE-1B17-760D-9D99-061509DE20B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1101" y="7946350"/>
            <a:ext cx="1645909" cy="177593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DE93668-D958-3A56-B623-8BF057D06ACC}"/>
              </a:ext>
            </a:extLst>
          </p:cNvPr>
          <p:cNvSpPr txBox="1"/>
          <p:nvPr/>
        </p:nvSpPr>
        <p:spPr>
          <a:xfrm>
            <a:off x="1905000" y="3774081"/>
            <a:ext cx="83946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mark</a:t>
            </a:r>
          </a:p>
          <a:p>
            <a:r>
              <a:rPr lang="en-US" sz="36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4196708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831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520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66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Task </a:t>
            </a:r>
            <a:r>
              <a:rPr lang="en-US" sz="88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5</a:t>
            </a:r>
            <a:endParaRPr lang="en-US" sz="6600" i="1" spc="-36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84895" y="2705100"/>
            <a:ext cx="1649636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Try to display the values of your dictionary using the values() method and a for loop. The output should be on one line.</a:t>
            </a:r>
          </a:p>
        </p:txBody>
      </p:sp>
    </p:spTree>
    <p:extLst>
      <p:ext uri="{BB962C8B-B14F-4D97-AF65-F5344CB8AC3E}">
        <p14:creationId xmlns:p14="http://schemas.microsoft.com/office/powerpoint/2010/main" val="24534250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Accessing Dictionary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84895" y="2705100"/>
            <a:ext cx="16496363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5. Using the items() method</a:t>
            </a:r>
          </a:p>
          <a:p>
            <a:pPr algn="just"/>
            <a:r>
              <a:rPr lang="en-US" sz="4000" dirty="0"/>
              <a:t>The items() method returns a view object that displays a list of the dictionary's key-value pairs.</a:t>
            </a: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Syntax: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 err="1">
                <a:latin typeface="Consolas" panose="020B0609020204030204" pitchFamily="49" charset="0"/>
              </a:rPr>
              <a:t>dictionary.items</a:t>
            </a:r>
            <a:r>
              <a:rPr lang="en-US" sz="5400" dirty="0">
                <a:latin typeface="Consolas" panose="020B0609020204030204" pitchFamily="49" charset="0"/>
              </a:rPr>
              <a:t>()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1623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95B95F22-1CC6-AB30-6E2F-B3B5320123D3}"/>
              </a:ext>
            </a:extLst>
          </p:cNvPr>
          <p:cNvGrpSpPr/>
          <p:nvPr/>
        </p:nvGrpSpPr>
        <p:grpSpPr>
          <a:xfrm>
            <a:off x="1143000" y="2448760"/>
            <a:ext cx="15925800" cy="7232689"/>
            <a:chOff x="3924299" y="3963831"/>
            <a:chExt cx="10439400" cy="5308559"/>
          </a:xfrm>
        </p:grpSpPr>
        <p:pic>
          <p:nvPicPr>
            <p:cNvPr id="9" name="Picture 8" descr="A blue screen with white lines&#10;&#10;Description automatically generated with medium confidence">
              <a:extLst>
                <a:ext uri="{FF2B5EF4-FFF2-40B4-BE49-F238E27FC236}">
                  <a16:creationId xmlns:a16="http://schemas.microsoft.com/office/drawing/2014/main" id="{2005A82D-DD07-C1B5-35D2-CA6DFF437BDE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4299" y="3963831"/>
              <a:ext cx="10439400" cy="530855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B7FA62-D24C-C2C9-2711-020EEA73AB72}"/>
                </a:ext>
              </a:extLst>
            </p:cNvPr>
            <p:cNvSpPr txBox="1"/>
            <p:nvPr/>
          </p:nvSpPr>
          <p:spPr>
            <a:xfrm>
              <a:off x="4506100" y="4949244"/>
              <a:ext cx="1186295" cy="4179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1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2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3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4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5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6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7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8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9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10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11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12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033DF27-3BE1-7376-D66E-7AAA564B8565}"/>
                </a:ext>
              </a:extLst>
            </p:cNvPr>
            <p:cNvSpPr txBox="1"/>
            <p:nvPr/>
          </p:nvSpPr>
          <p:spPr>
            <a:xfrm>
              <a:off x="6120492" y="4949244"/>
              <a:ext cx="7661405" cy="384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06D5157-2B8D-1292-19CD-153A396F28F3}"/>
                </a:ext>
              </a:extLst>
            </p:cNvPr>
            <p:cNvCxnSpPr/>
            <p:nvPr/>
          </p:nvCxnSpPr>
          <p:spPr>
            <a:xfrm>
              <a:off x="5943600" y="5055029"/>
              <a:ext cx="0" cy="3907379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Accessing Dictionary: items()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0A9AB4-9600-7766-4824-ACC1F1942175}"/>
              </a:ext>
            </a:extLst>
          </p:cNvPr>
          <p:cNvSpPr txBox="1"/>
          <p:nvPr/>
        </p:nvSpPr>
        <p:spPr>
          <a:xfrm>
            <a:off x="4533898" y="3771900"/>
            <a:ext cx="1164733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varName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"mark"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"25"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PH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varName</a:t>
            </a:r>
            <a:r>
              <a:rPr lang="en-PH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PH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())</a:t>
            </a:r>
          </a:p>
        </p:txBody>
      </p:sp>
      <p:pic>
        <p:nvPicPr>
          <p:cNvPr id="7" name="Picture 6" descr="A yellow text on a black background&#10;&#10;Description automatically generated">
            <a:hlinkClick r:id="rId8" action="ppaction://hlinksldjump"/>
            <a:extLst>
              <a:ext uri="{FF2B5EF4-FFF2-40B4-BE49-F238E27FC236}">
                <a16:creationId xmlns:a16="http://schemas.microsoft.com/office/drawing/2014/main" id="{3D9EDD5C-3223-8630-628F-2D291B740E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1632" y="8094287"/>
            <a:ext cx="3439913" cy="193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4705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blue screen with white lines&#10;&#10;Description automatically generated with medium confidence">
            <a:extLst>
              <a:ext uri="{FF2B5EF4-FFF2-40B4-BE49-F238E27FC236}">
                <a16:creationId xmlns:a16="http://schemas.microsoft.com/office/drawing/2014/main" id="{8DC3F5D4-54FD-D5BD-11FB-43CF32E33C4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448760"/>
            <a:ext cx="15925800" cy="7232689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Accessing Dictionary: items()</a:t>
            </a:r>
          </a:p>
        </p:txBody>
      </p:sp>
      <p:pic>
        <p:nvPicPr>
          <p:cNvPr id="23" name="Picture 22">
            <a:hlinkClick r:id="rId8" action="ppaction://hlinksldjump"/>
            <a:extLst>
              <a:ext uri="{FF2B5EF4-FFF2-40B4-BE49-F238E27FC236}">
                <a16:creationId xmlns:a16="http://schemas.microsoft.com/office/drawing/2014/main" id="{5EEF31DE-1B17-760D-9D99-061509DE20B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1101" y="7946350"/>
            <a:ext cx="1645909" cy="177593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DE93668-D958-3A56-B623-8BF057D06ACC}"/>
              </a:ext>
            </a:extLst>
          </p:cNvPr>
          <p:cNvSpPr txBox="1"/>
          <p:nvPr/>
        </p:nvSpPr>
        <p:spPr>
          <a:xfrm>
            <a:off x="1905000" y="3774081"/>
            <a:ext cx="83946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dict_items([('name', 'mark'), ('age', '25')])</a:t>
            </a:r>
            <a:endParaRPr lang="en-US" sz="3600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037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831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95B95F22-1CC6-AB30-6E2F-B3B5320123D3}"/>
              </a:ext>
            </a:extLst>
          </p:cNvPr>
          <p:cNvGrpSpPr/>
          <p:nvPr/>
        </p:nvGrpSpPr>
        <p:grpSpPr>
          <a:xfrm>
            <a:off x="1143000" y="2448760"/>
            <a:ext cx="15925800" cy="7232689"/>
            <a:chOff x="3924299" y="3963831"/>
            <a:chExt cx="10439400" cy="5308559"/>
          </a:xfrm>
        </p:grpSpPr>
        <p:pic>
          <p:nvPicPr>
            <p:cNvPr id="9" name="Picture 8" descr="A blue screen with white lines&#10;&#10;Description automatically generated with medium confidence">
              <a:extLst>
                <a:ext uri="{FF2B5EF4-FFF2-40B4-BE49-F238E27FC236}">
                  <a16:creationId xmlns:a16="http://schemas.microsoft.com/office/drawing/2014/main" id="{2005A82D-DD07-C1B5-35D2-CA6DFF437BDE}"/>
                </a:ext>
              </a:extLst>
            </p:cNvPr>
            <p:cNvPicPr>
              <a:picLocks noGrp="1" noRot="1" noMove="1" noResize="1" noEditPoints="1" noAdjustHandles="1" noChangeArrowheads="1" noChangeShapeType="1" noCrop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4299" y="3963831"/>
              <a:ext cx="10439400" cy="530855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B7FA62-D24C-C2C9-2711-020EEA73AB72}"/>
                </a:ext>
              </a:extLst>
            </p:cNvPr>
            <p:cNvSpPr txBox="1"/>
            <p:nvPr/>
          </p:nvSpPr>
          <p:spPr>
            <a:xfrm>
              <a:off x="4506100" y="4949244"/>
              <a:ext cx="1186295" cy="4179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1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2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3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4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5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6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7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8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9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10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11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12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13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033DF27-3BE1-7376-D66E-7AAA564B8565}"/>
                </a:ext>
              </a:extLst>
            </p:cNvPr>
            <p:cNvSpPr txBox="1"/>
            <p:nvPr/>
          </p:nvSpPr>
          <p:spPr>
            <a:xfrm>
              <a:off x="6120492" y="4949244"/>
              <a:ext cx="7661405" cy="384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06D5157-2B8D-1292-19CD-153A396F28F3}"/>
                </a:ext>
              </a:extLst>
            </p:cNvPr>
            <p:cNvCxnSpPr/>
            <p:nvPr/>
          </p:nvCxnSpPr>
          <p:spPr>
            <a:xfrm>
              <a:off x="5943600" y="5055029"/>
              <a:ext cx="0" cy="3907379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Accessing Dictionary: items()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0A9AB4-9600-7766-4824-ACC1F1942175}"/>
              </a:ext>
            </a:extLst>
          </p:cNvPr>
          <p:cNvSpPr txBox="1"/>
          <p:nvPr/>
        </p:nvSpPr>
        <p:spPr>
          <a:xfrm>
            <a:off x="4533898" y="3771900"/>
            <a:ext cx="1164733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varName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"mark"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"25"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PH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PH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PH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varName</a:t>
            </a:r>
            <a:r>
              <a:rPr lang="en-PH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PH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items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PH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PH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PH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= "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PH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val</a:t>
            </a:r>
            <a:r>
              <a:rPr lang="en-PH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7" name="Picture 6" descr="A yellow text on a black background&#10;&#10;Description automatically generated">
            <a:hlinkClick r:id="rId8" action="ppaction://hlinksldjump"/>
            <a:extLst>
              <a:ext uri="{FF2B5EF4-FFF2-40B4-BE49-F238E27FC236}">
                <a16:creationId xmlns:a16="http://schemas.microsoft.com/office/drawing/2014/main" id="{3D9EDD5C-3223-8630-628F-2D291B740E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1632" y="8094287"/>
            <a:ext cx="3439913" cy="193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9954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blue screen with white lines&#10;&#10;Description automatically generated with medium confidence">
            <a:extLst>
              <a:ext uri="{FF2B5EF4-FFF2-40B4-BE49-F238E27FC236}">
                <a16:creationId xmlns:a16="http://schemas.microsoft.com/office/drawing/2014/main" id="{8DC3F5D4-54FD-D5BD-11FB-43CF32E33C4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448760"/>
            <a:ext cx="15925800" cy="7232689"/>
          </a:xfrm>
          <a:prstGeom prst="rect">
            <a:avLst/>
          </a:prstGeom>
        </p:spPr>
      </p:pic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Accessing Dictionary: items()</a:t>
            </a:r>
          </a:p>
        </p:txBody>
      </p:sp>
      <p:pic>
        <p:nvPicPr>
          <p:cNvPr id="23" name="Picture 22">
            <a:hlinkClick r:id="rId8" action="ppaction://hlinksldjump"/>
            <a:extLst>
              <a:ext uri="{FF2B5EF4-FFF2-40B4-BE49-F238E27FC236}">
                <a16:creationId xmlns:a16="http://schemas.microsoft.com/office/drawing/2014/main" id="{5EEF31DE-1B17-760D-9D99-061509DE20B4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91101" y="7946350"/>
            <a:ext cx="1645909" cy="177593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DE93668-D958-3A56-B623-8BF057D06ACC}"/>
              </a:ext>
            </a:extLst>
          </p:cNvPr>
          <p:cNvSpPr txBox="1"/>
          <p:nvPr/>
        </p:nvSpPr>
        <p:spPr>
          <a:xfrm>
            <a:off x="1905000" y="3774081"/>
            <a:ext cx="83946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name  =  mark</a:t>
            </a:r>
          </a:p>
          <a:p>
            <a:r>
              <a:rPr lang="en-US" sz="3600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age  </a:t>
            </a:r>
            <a:r>
              <a:rPr lang="en-US" sz="360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=  25</a:t>
            </a:r>
            <a:endParaRPr lang="en-US" sz="3600" dirty="0">
              <a:solidFill>
                <a:schemeClr val="accent2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6164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831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E19D2-F148-CCD5-DED4-06D7BDDB5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F92AD26-639F-434F-8C4D-8B6D0E90257D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4507BE27-4B34-613F-3F28-6451AD09C3C1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DBD1F61-0776-5442-821F-A817ACF8B9D9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C457B8E6-83F4-47D0-E2D2-369B28E4CB05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754F0312-97CF-539F-331C-2169B58B4AD0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E15383F7-197B-CAC7-9FFC-8BEA7B2C387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450222E4-8E8A-081B-8762-22A2802D056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Accessing Nested Dictionary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4CFCF9-0E61-A3BA-6A3C-8D84C6313B27}"/>
              </a:ext>
            </a:extLst>
          </p:cNvPr>
          <p:cNvSpPr txBox="1"/>
          <p:nvPr/>
        </p:nvSpPr>
        <p:spPr>
          <a:xfrm>
            <a:off x="609601" y="2705100"/>
            <a:ext cx="16871658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4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info = {</a:t>
            </a:r>
            <a:r>
              <a:rPr lang="en-PH" sz="4400" dirty="0">
                <a:latin typeface="Consolas" panose="020B0609020204030204" pitchFamily="49" charset="0"/>
              </a:rPr>
              <a:t>"</a:t>
            </a:r>
            <a:r>
              <a:rPr lang="en-US" sz="4400" dirty="0">
                <a:latin typeface="Consolas" panose="020B0609020204030204" pitchFamily="49" charset="0"/>
              </a:rPr>
              <a:t>student1</a:t>
            </a:r>
            <a:r>
              <a:rPr lang="en-PH" sz="4400" dirty="0">
                <a:latin typeface="Consolas" panose="020B0609020204030204" pitchFamily="49" charset="0"/>
              </a:rPr>
              <a:t>" : {"</a:t>
            </a:r>
            <a:r>
              <a:rPr lang="en-US" sz="4400" dirty="0">
                <a:latin typeface="Consolas" panose="020B0609020204030204" pitchFamily="49" charset="0"/>
              </a:rPr>
              <a:t>name</a:t>
            </a:r>
            <a:r>
              <a:rPr lang="en-PH" sz="4400" dirty="0">
                <a:latin typeface="Consolas" panose="020B0609020204030204" pitchFamily="49" charset="0"/>
              </a:rPr>
              <a:t>" :  "</a:t>
            </a:r>
            <a:r>
              <a:rPr lang="en-PH" sz="4400" dirty="0" err="1">
                <a:latin typeface="Consolas" panose="020B0609020204030204" pitchFamily="49" charset="0"/>
              </a:rPr>
              <a:t>denver</a:t>
            </a:r>
            <a:r>
              <a:rPr lang="en-PH" sz="4400" dirty="0">
                <a:latin typeface="Consolas" panose="020B0609020204030204" pitchFamily="49" charset="0"/>
              </a:rPr>
              <a:t>", "age" : 25},</a:t>
            </a:r>
          </a:p>
          <a:p>
            <a:pPr algn="just"/>
            <a:r>
              <a:rPr lang="en-PH" sz="4400" dirty="0">
                <a:latin typeface="Consolas" panose="020B0609020204030204" pitchFamily="49" charset="0"/>
              </a:rPr>
              <a:t>        "</a:t>
            </a:r>
            <a:r>
              <a:rPr lang="en-US" sz="4400" dirty="0">
                <a:latin typeface="Consolas" panose="020B0609020204030204" pitchFamily="49" charset="0"/>
              </a:rPr>
              <a:t>student2</a:t>
            </a:r>
            <a:r>
              <a:rPr lang="en-PH" sz="4400" dirty="0">
                <a:latin typeface="Consolas" panose="020B0609020204030204" pitchFamily="49" charset="0"/>
              </a:rPr>
              <a:t>" : {"</a:t>
            </a:r>
            <a:r>
              <a:rPr lang="en-US" sz="4400" dirty="0">
                <a:latin typeface="Consolas" panose="020B0609020204030204" pitchFamily="49" charset="0"/>
              </a:rPr>
              <a:t>name</a:t>
            </a:r>
            <a:r>
              <a:rPr lang="en-PH" sz="4400" dirty="0">
                <a:latin typeface="Consolas" panose="020B0609020204030204" pitchFamily="49" charset="0"/>
              </a:rPr>
              <a:t>" :  "mark", "age" : 26}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}</a:t>
            </a:r>
          </a:p>
          <a:p>
            <a:pPr algn="just"/>
            <a:endParaRPr lang="en-US" sz="4400" dirty="0">
              <a:latin typeface="Consolas" panose="020B0609020204030204" pitchFamily="49" charset="0"/>
            </a:endParaRP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To display the value of the name:</a:t>
            </a:r>
          </a:p>
          <a:p>
            <a:pPr algn="just"/>
            <a:r>
              <a:rPr lang="en-US" sz="4400" dirty="0">
                <a:latin typeface="Consolas" panose="020B0609020204030204" pitchFamily="49" charset="0"/>
              </a:rPr>
              <a:t>print(info[</a:t>
            </a:r>
            <a:r>
              <a:rPr lang="en-PH" sz="4400" dirty="0">
                <a:latin typeface="Consolas" panose="020B0609020204030204" pitchFamily="49" charset="0"/>
              </a:rPr>
              <a:t>"</a:t>
            </a:r>
            <a:r>
              <a:rPr lang="en-US" sz="4400" dirty="0">
                <a:latin typeface="Consolas" panose="020B0609020204030204" pitchFamily="49" charset="0"/>
              </a:rPr>
              <a:t>student2</a:t>
            </a:r>
            <a:r>
              <a:rPr lang="en-PH" sz="4400" dirty="0">
                <a:latin typeface="Consolas" panose="020B0609020204030204" pitchFamily="49" charset="0"/>
              </a:rPr>
              <a:t>"]["</a:t>
            </a:r>
            <a:r>
              <a:rPr lang="en-US" sz="4400" dirty="0">
                <a:latin typeface="Consolas" panose="020B0609020204030204" pitchFamily="49" charset="0"/>
              </a:rPr>
              <a:t>name</a:t>
            </a:r>
            <a:r>
              <a:rPr lang="en-PH" sz="4400" dirty="0">
                <a:latin typeface="Consolas" panose="020B0609020204030204" pitchFamily="49" charset="0"/>
              </a:rPr>
              <a:t>"])</a:t>
            </a:r>
            <a:endParaRPr lang="en-US" sz="4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17306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520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66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Task </a:t>
            </a:r>
            <a:r>
              <a:rPr lang="en-US" sz="88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6</a:t>
            </a:r>
            <a:endParaRPr lang="en-US" sz="6600" i="1" spc="-36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84895" y="2705100"/>
            <a:ext cx="1649636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Try to display the keys and values of your dictionary using the items() method and a for loop. The output should be on one line.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print(f”{key} = {</a:t>
            </a:r>
            <a:r>
              <a:rPr lang="en-US" sz="5400" dirty="0" err="1">
                <a:latin typeface="Consolas" panose="020B0609020204030204" pitchFamily="49" charset="0"/>
              </a:rPr>
              <a:t>val</a:t>
            </a:r>
            <a:r>
              <a:rPr lang="en-US" sz="5400" dirty="0">
                <a:latin typeface="Consolas" panose="020B0609020204030204" pitchFamily="49" charset="0"/>
              </a:rPr>
              <a:t>}”, end=“ ”)</a:t>
            </a:r>
          </a:p>
        </p:txBody>
      </p:sp>
    </p:spTree>
    <p:extLst>
      <p:ext uri="{BB962C8B-B14F-4D97-AF65-F5344CB8AC3E}">
        <p14:creationId xmlns:p14="http://schemas.microsoft.com/office/powerpoint/2010/main" val="15176215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Adding an item to a dictionary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84895" y="2705100"/>
            <a:ext cx="1649636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There are different ways to add item/s in the dictionary.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marL="914400" indent="-914400" algn="just">
              <a:buFont typeface="+mj-lt"/>
              <a:buAutoNum type="arabicPeriod"/>
            </a:pPr>
            <a:r>
              <a:rPr lang="en-US" sz="5400" dirty="0">
                <a:latin typeface="Consolas" panose="020B0609020204030204" pitchFamily="49" charset="0"/>
              </a:rPr>
              <a:t>Using a new key name</a:t>
            </a:r>
          </a:p>
          <a:p>
            <a:pPr marL="914400" indent="-914400" algn="just">
              <a:buFont typeface="+mj-lt"/>
              <a:buAutoNum type="arabicPeriod"/>
            </a:pPr>
            <a:r>
              <a:rPr lang="en-US" sz="5400" dirty="0">
                <a:latin typeface="Consolas" panose="020B0609020204030204" pitchFamily="49" charset="0"/>
              </a:rPr>
              <a:t>Using update() method</a:t>
            </a:r>
          </a:p>
          <a:p>
            <a:pPr marL="914400" indent="-914400" algn="just">
              <a:buFont typeface="+mj-lt"/>
              <a:buAutoNum type="arabicPeriod"/>
            </a:pPr>
            <a:r>
              <a:rPr lang="en-US" sz="5400" dirty="0">
                <a:latin typeface="Consolas" panose="020B0609020204030204" pitchFamily="49" charset="0"/>
              </a:rPr>
              <a:t>Using </a:t>
            </a:r>
            <a:r>
              <a:rPr lang="en-US" sz="5400" dirty="0" err="1">
                <a:latin typeface="Consolas" panose="020B0609020204030204" pitchFamily="49" charset="0"/>
              </a:rPr>
              <a:t>setdefault</a:t>
            </a:r>
            <a:r>
              <a:rPr lang="en-US" sz="5400" dirty="0">
                <a:latin typeface="Consolas" panose="020B0609020204030204" pitchFamily="49" charset="0"/>
              </a:rPr>
              <a:t>() method</a:t>
            </a:r>
          </a:p>
        </p:txBody>
      </p:sp>
    </p:spTree>
    <p:extLst>
      <p:ext uri="{BB962C8B-B14F-4D97-AF65-F5344CB8AC3E}">
        <p14:creationId xmlns:p14="http://schemas.microsoft.com/office/powerpoint/2010/main" val="31983993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Adding an item to a dictionary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84895" y="2705100"/>
            <a:ext cx="16496363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1. Using a new key name</a:t>
            </a:r>
          </a:p>
          <a:p>
            <a:pPr algn="just"/>
            <a:r>
              <a:rPr lang="en-US" sz="4000" dirty="0"/>
              <a:t>Adding an item to the dictionary is done by using a new index key and assigning a value to it.</a:t>
            </a: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Syntax: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dictionary["</a:t>
            </a:r>
            <a:r>
              <a:rPr lang="en-US" sz="5400" dirty="0" err="1">
                <a:latin typeface="Consolas" panose="020B0609020204030204" pitchFamily="49" charset="0"/>
              </a:rPr>
              <a:t>newKey</a:t>
            </a:r>
            <a:r>
              <a:rPr lang="en-US" sz="5400" dirty="0">
                <a:latin typeface="Consolas" panose="020B0609020204030204" pitchFamily="49" charset="0"/>
              </a:rPr>
              <a:t>"] = value 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63407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520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66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Task </a:t>
            </a:r>
            <a:r>
              <a:rPr lang="en-US" sz="88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7</a:t>
            </a:r>
            <a:endParaRPr lang="en-US" sz="6600" i="1" spc="-36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84895" y="2705100"/>
            <a:ext cx="1649636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Try to add a key “address” and the value will be your address. Loop through and print the items.</a:t>
            </a:r>
          </a:p>
        </p:txBody>
      </p:sp>
    </p:spTree>
    <p:extLst>
      <p:ext uri="{BB962C8B-B14F-4D97-AF65-F5344CB8AC3E}">
        <p14:creationId xmlns:p14="http://schemas.microsoft.com/office/powerpoint/2010/main" val="29996041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Adding an item to a dictionary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84895" y="2705100"/>
            <a:ext cx="16496363" cy="54784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2. Using the update() method</a:t>
            </a:r>
          </a:p>
          <a:p>
            <a:pPr algn="just"/>
            <a:r>
              <a:rPr lang="en-US" sz="4000" dirty="0"/>
              <a:t>The update() method will update the dictionary with the items from a given argument. If the item does not exist, the item will be added.</a:t>
            </a: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Syntax: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 err="1">
                <a:latin typeface="Consolas" panose="020B0609020204030204" pitchFamily="49" charset="0"/>
              </a:rPr>
              <a:t>dictionary.update</a:t>
            </a:r>
            <a:r>
              <a:rPr lang="en-US" sz="5400" dirty="0">
                <a:latin typeface="Consolas" panose="020B0609020204030204" pitchFamily="49" charset="0"/>
              </a:rPr>
              <a:t>({"</a:t>
            </a:r>
            <a:r>
              <a:rPr lang="en-US" sz="5400" dirty="0" err="1">
                <a:latin typeface="Consolas" panose="020B0609020204030204" pitchFamily="49" charset="0"/>
              </a:rPr>
              <a:t>newKey</a:t>
            </a:r>
            <a:r>
              <a:rPr lang="en-US" sz="5400" dirty="0">
                <a:latin typeface="Consolas" panose="020B0609020204030204" pitchFamily="49" charset="0"/>
              </a:rPr>
              <a:t>" : "value"})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3450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5206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66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Task </a:t>
            </a:r>
            <a:r>
              <a:rPr lang="en-US" sz="88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8</a:t>
            </a:r>
            <a:endParaRPr lang="en-US" sz="6600" i="1" spc="-36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84895" y="2705100"/>
            <a:ext cx="1649636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Add 2 more items in your dictionary using update() method. The keys are: “block” and “</a:t>
            </a:r>
            <a:r>
              <a:rPr lang="en-US" sz="5400" dirty="0" err="1">
                <a:latin typeface="Consolas" panose="020B0609020204030204" pitchFamily="49" charset="0"/>
              </a:rPr>
              <a:t>idNumber</a:t>
            </a:r>
            <a:r>
              <a:rPr lang="en-US" sz="5400" dirty="0">
                <a:latin typeface="Consolas" panose="020B0609020204030204" pitchFamily="49" charset="0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41763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Adding an item to a dictionary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84895" y="2705100"/>
            <a:ext cx="1649636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3. Using </a:t>
            </a:r>
            <a:r>
              <a:rPr lang="en-US" sz="5400" dirty="0" err="1">
                <a:latin typeface="Consolas" panose="020B0609020204030204" pitchFamily="49" charset="0"/>
              </a:rPr>
              <a:t>setdefault</a:t>
            </a:r>
            <a:r>
              <a:rPr lang="en-US" sz="5400" dirty="0">
                <a:latin typeface="Consolas" panose="020B0609020204030204" pitchFamily="49" charset="0"/>
              </a:rPr>
              <a:t>() method</a:t>
            </a:r>
          </a:p>
          <a:p>
            <a:pPr algn="just"/>
            <a:r>
              <a:rPr lang="en-US" sz="4000" dirty="0"/>
              <a:t>The </a:t>
            </a:r>
            <a:r>
              <a:rPr lang="en-US" sz="4000" dirty="0" err="1"/>
              <a:t>setdefault</a:t>
            </a:r>
            <a:r>
              <a:rPr lang="en-US" sz="4000" dirty="0"/>
              <a:t>() method returns the value of the item with the specified key.</a:t>
            </a:r>
          </a:p>
          <a:p>
            <a:pPr algn="just"/>
            <a:r>
              <a:rPr lang="en-US" sz="4000" dirty="0"/>
              <a:t>If the key does not exist, insert the key, with the specified value</a:t>
            </a:r>
          </a:p>
          <a:p>
            <a:pPr algn="just"/>
            <a:endParaRPr lang="en-US" sz="4000" dirty="0"/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Syntax: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 err="1">
                <a:latin typeface="Consolas" panose="020B0609020204030204" pitchFamily="49" charset="0"/>
              </a:rPr>
              <a:t>dictionary.setdefault</a:t>
            </a:r>
            <a:r>
              <a:rPr lang="en-US" sz="5400" dirty="0">
                <a:latin typeface="Consolas" panose="020B0609020204030204" pitchFamily="49" charset="0"/>
              </a:rPr>
              <a:t>(</a:t>
            </a:r>
            <a:r>
              <a:rPr lang="en-US" sz="5400" dirty="0" err="1">
                <a:latin typeface="Consolas" panose="020B0609020204030204" pitchFamily="49" charset="0"/>
              </a:rPr>
              <a:t>keyname</a:t>
            </a:r>
            <a:r>
              <a:rPr lang="en-US" sz="5400" dirty="0">
                <a:latin typeface="Consolas" panose="020B0609020204030204" pitchFamily="49" charset="0"/>
              </a:rPr>
              <a:t>, value)</a:t>
            </a:r>
          </a:p>
        </p:txBody>
      </p:sp>
    </p:spTree>
    <p:extLst>
      <p:ext uri="{BB962C8B-B14F-4D97-AF65-F5344CB8AC3E}">
        <p14:creationId xmlns:p14="http://schemas.microsoft.com/office/powerpoint/2010/main" val="152928964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97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66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Task </a:t>
            </a:r>
            <a:r>
              <a:rPr lang="en-US" sz="88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9</a:t>
            </a:r>
            <a:endParaRPr lang="en-US" sz="6600" i="1" spc="-36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84895" y="2705100"/>
            <a:ext cx="16496363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Try to add item with a key “name” and values is your </a:t>
            </a:r>
            <a:r>
              <a:rPr lang="en-US" sz="5400" dirty="0" err="1">
                <a:latin typeface="Consolas" panose="020B0609020204030204" pitchFamily="49" charset="0"/>
              </a:rPr>
              <a:t>middlename</a:t>
            </a:r>
            <a:r>
              <a:rPr lang="en-US" sz="5400" dirty="0">
                <a:latin typeface="Consolas" panose="020B0609020204030204" pitchFamily="49" charset="0"/>
              </a:rPr>
              <a:t>. Then, print the dictionary. 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Next, try to add item with a key “birthday” with a value of your birthday. Then, print the dictionary.</a:t>
            </a:r>
          </a:p>
        </p:txBody>
      </p:sp>
    </p:spTree>
    <p:extLst>
      <p:ext uri="{BB962C8B-B14F-4D97-AF65-F5344CB8AC3E}">
        <p14:creationId xmlns:p14="http://schemas.microsoft.com/office/powerpoint/2010/main" val="239394775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Removing an item to a dictionary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84895" y="2705100"/>
            <a:ext cx="16496363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There are different ways to remove item/s in the dictionary.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marL="914400" indent="-914400" algn="just">
              <a:buFont typeface="+mj-lt"/>
              <a:buAutoNum type="arabicPeriod"/>
            </a:pPr>
            <a:r>
              <a:rPr lang="en-US" sz="5400" dirty="0">
                <a:latin typeface="Consolas" panose="020B0609020204030204" pitchFamily="49" charset="0"/>
              </a:rPr>
              <a:t>Using pop() method</a:t>
            </a:r>
          </a:p>
          <a:p>
            <a:pPr marL="914400" indent="-914400" algn="just">
              <a:buFont typeface="+mj-lt"/>
              <a:buAutoNum type="arabicPeriod"/>
            </a:pPr>
            <a:r>
              <a:rPr lang="en-US" sz="5400" dirty="0">
                <a:latin typeface="Consolas" panose="020B0609020204030204" pitchFamily="49" charset="0"/>
              </a:rPr>
              <a:t>Using </a:t>
            </a:r>
            <a:r>
              <a:rPr lang="en-US" sz="5400" dirty="0" err="1">
                <a:latin typeface="Consolas" panose="020B0609020204030204" pitchFamily="49" charset="0"/>
              </a:rPr>
              <a:t>popitem</a:t>
            </a:r>
            <a:r>
              <a:rPr lang="en-US" sz="5400" dirty="0">
                <a:latin typeface="Consolas" panose="020B0609020204030204" pitchFamily="49" charset="0"/>
              </a:rPr>
              <a:t>() method</a:t>
            </a:r>
          </a:p>
          <a:p>
            <a:pPr marL="914400" indent="-914400" algn="just">
              <a:buFont typeface="+mj-lt"/>
              <a:buAutoNum type="arabicPeriod"/>
            </a:pPr>
            <a:r>
              <a:rPr lang="en-US" sz="5400" dirty="0">
                <a:latin typeface="Consolas" panose="020B0609020204030204" pitchFamily="49" charset="0"/>
              </a:rPr>
              <a:t>Using clear() method</a:t>
            </a:r>
          </a:p>
          <a:p>
            <a:pPr marL="914400" indent="-914400" algn="just">
              <a:buFont typeface="+mj-lt"/>
              <a:buAutoNum type="arabicPeriod"/>
            </a:pPr>
            <a:r>
              <a:rPr lang="en-US" sz="5400" dirty="0">
                <a:latin typeface="Consolas" panose="020B0609020204030204" pitchFamily="49" charset="0"/>
              </a:rPr>
              <a:t>Using del keyword</a:t>
            </a:r>
          </a:p>
        </p:txBody>
      </p:sp>
    </p:spTree>
    <p:extLst>
      <p:ext uri="{BB962C8B-B14F-4D97-AF65-F5344CB8AC3E}">
        <p14:creationId xmlns:p14="http://schemas.microsoft.com/office/powerpoint/2010/main" val="28607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Removing an item to a dictionary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84895" y="2705100"/>
            <a:ext cx="16496363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1. Using the pop() method</a:t>
            </a:r>
          </a:p>
          <a:p>
            <a:pPr algn="just"/>
            <a:r>
              <a:rPr lang="en-US" sz="4000" dirty="0"/>
              <a:t>The pop() method removes the item with the specified key name</a:t>
            </a: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Syntax: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 err="1">
                <a:latin typeface="Consolas" panose="020B0609020204030204" pitchFamily="49" charset="0"/>
              </a:rPr>
              <a:t>dictionary.pop</a:t>
            </a:r>
            <a:r>
              <a:rPr lang="en-US" sz="5400" dirty="0">
                <a:latin typeface="Consolas" panose="020B0609020204030204" pitchFamily="49" charset="0"/>
              </a:rPr>
              <a:t>(“key”, “</a:t>
            </a:r>
            <a:r>
              <a:rPr lang="en-US" sz="5400" dirty="0" err="1">
                <a:latin typeface="Consolas" panose="020B0609020204030204" pitchFamily="49" charset="0"/>
              </a:rPr>
              <a:t>defaultvalue</a:t>
            </a:r>
            <a:r>
              <a:rPr lang="en-US" sz="5400" dirty="0">
                <a:latin typeface="Consolas" panose="020B0609020204030204" pitchFamily="49" charset="0"/>
              </a:rPr>
              <a:t>”)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80312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97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66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Task </a:t>
            </a:r>
            <a:r>
              <a:rPr lang="en-US" sz="88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10</a:t>
            </a:r>
            <a:endParaRPr lang="en-US" sz="6600" i="1" spc="-36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84895" y="2705100"/>
            <a:ext cx="1649636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Try to remove the key “age” in your dictionary. And print again the items of your dictionary using for loop.</a:t>
            </a:r>
          </a:p>
        </p:txBody>
      </p:sp>
    </p:spTree>
    <p:extLst>
      <p:ext uri="{BB962C8B-B14F-4D97-AF65-F5344CB8AC3E}">
        <p14:creationId xmlns:p14="http://schemas.microsoft.com/office/powerpoint/2010/main" val="28208200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Removing an item to a dictionary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84895" y="2705100"/>
            <a:ext cx="16496363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2. Using the </a:t>
            </a:r>
            <a:r>
              <a:rPr lang="en-US" sz="5400" dirty="0" err="1">
                <a:latin typeface="Consolas" panose="020B0609020204030204" pitchFamily="49" charset="0"/>
              </a:rPr>
              <a:t>popitem</a:t>
            </a:r>
            <a:r>
              <a:rPr lang="en-US" sz="5400" dirty="0">
                <a:latin typeface="Consolas" panose="020B0609020204030204" pitchFamily="49" charset="0"/>
              </a:rPr>
              <a:t>() method</a:t>
            </a:r>
          </a:p>
          <a:p>
            <a:pPr algn="just"/>
            <a:r>
              <a:rPr lang="en-US" sz="4000" dirty="0"/>
              <a:t>The </a:t>
            </a:r>
            <a:r>
              <a:rPr lang="en-US" sz="4000" dirty="0" err="1"/>
              <a:t>popitem</a:t>
            </a:r>
            <a:r>
              <a:rPr lang="en-US" sz="4000" dirty="0"/>
              <a:t>() method removes the last inserted item</a:t>
            </a: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Syntax: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 err="1">
                <a:latin typeface="Consolas" panose="020B0609020204030204" pitchFamily="49" charset="0"/>
              </a:rPr>
              <a:t>dictionary.popitem</a:t>
            </a:r>
            <a:r>
              <a:rPr lang="en-US" sz="5400" dirty="0">
                <a:latin typeface="Consolas" panose="020B0609020204030204" pitchFamily="49" charset="0"/>
              </a:rPr>
              <a:t>()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65344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97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66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Task </a:t>
            </a:r>
            <a:r>
              <a:rPr lang="en-US" sz="88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11</a:t>
            </a:r>
            <a:endParaRPr lang="en-US" sz="6600" i="1" spc="-36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84895" y="2705100"/>
            <a:ext cx="1649636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Try to remove the last item in your dictionary. And print again the items of your dictionary using for loop.</a:t>
            </a:r>
          </a:p>
        </p:txBody>
      </p:sp>
    </p:spTree>
    <p:extLst>
      <p:ext uri="{BB962C8B-B14F-4D97-AF65-F5344CB8AC3E}">
        <p14:creationId xmlns:p14="http://schemas.microsoft.com/office/powerpoint/2010/main" val="372808996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Removing an item to a dictionary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84895" y="2705100"/>
            <a:ext cx="16496363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3. Using the clear() method</a:t>
            </a:r>
          </a:p>
          <a:p>
            <a:pPr algn="just"/>
            <a:r>
              <a:rPr lang="en-US" sz="4000" dirty="0"/>
              <a:t>The clear() empties the dictionary</a:t>
            </a: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Syntax: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 err="1">
                <a:latin typeface="Consolas" panose="020B0609020204030204" pitchFamily="49" charset="0"/>
              </a:rPr>
              <a:t>dictionary.clear</a:t>
            </a:r>
            <a:r>
              <a:rPr lang="en-US" sz="5400" dirty="0">
                <a:latin typeface="Consolas" panose="020B0609020204030204" pitchFamily="49" charset="0"/>
              </a:rPr>
              <a:t>()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4412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Removing an item to a dictionary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2C82C-FAAA-D7D5-F706-ADCF2DDB1F8B}"/>
              </a:ext>
            </a:extLst>
          </p:cNvPr>
          <p:cNvSpPr txBox="1"/>
          <p:nvPr/>
        </p:nvSpPr>
        <p:spPr>
          <a:xfrm>
            <a:off x="984895" y="2705100"/>
            <a:ext cx="16496363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4. Using the del keyword</a:t>
            </a:r>
          </a:p>
          <a:p>
            <a:pPr algn="just"/>
            <a:r>
              <a:rPr lang="en-US" sz="4000" dirty="0"/>
              <a:t>The del keyword removes the item with the specified key name</a:t>
            </a: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Syntax: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del dictionary[“key”]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47402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172D2-2611-439A-C357-8A1421E91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AB137C2-D8FA-C38D-1A24-2456E2F05E8D}"/>
              </a:ext>
            </a:extLst>
          </p:cNvPr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28B0FE4-F2BB-1B15-6E7F-4BFC46F4282A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EC63C0B-AC59-6DE5-B280-364B38FA8353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B195BD1-DE69-A3BE-08C0-0A6B576E0612}"/>
                </a:ext>
              </a:extLst>
            </p:cNvPr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>
            <a:extLst>
              <a:ext uri="{FF2B5EF4-FFF2-40B4-BE49-F238E27FC236}">
                <a16:creationId xmlns:a16="http://schemas.microsoft.com/office/drawing/2014/main" id="{A7108098-F0C0-0C39-B244-1870CAAADAA9}"/>
              </a:ext>
            </a:extLst>
          </p:cNvPr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F86DEE56-4A63-6723-EA2F-172CE45CBA90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21B29A96-7F9E-0B12-50D6-F57EEDAB42CB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Removing item from nested dictionary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B25863-2A82-513B-B52B-8B1B9C040F75}"/>
              </a:ext>
            </a:extLst>
          </p:cNvPr>
          <p:cNvSpPr txBox="1"/>
          <p:nvPr/>
        </p:nvSpPr>
        <p:spPr>
          <a:xfrm>
            <a:off x="457200" y="2705100"/>
            <a:ext cx="1737359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info = {</a:t>
            </a:r>
            <a:r>
              <a:rPr lang="en-PH" sz="3600" dirty="0">
                <a:latin typeface="Consolas" panose="020B0609020204030204" pitchFamily="49" charset="0"/>
              </a:rPr>
              <a:t>"</a:t>
            </a:r>
            <a:r>
              <a:rPr lang="en-US" sz="3600" dirty="0">
                <a:latin typeface="Consolas" panose="020B0609020204030204" pitchFamily="49" charset="0"/>
              </a:rPr>
              <a:t>student1</a:t>
            </a:r>
            <a:r>
              <a:rPr lang="en-PH" sz="3600" dirty="0">
                <a:latin typeface="Consolas" panose="020B0609020204030204" pitchFamily="49" charset="0"/>
              </a:rPr>
              <a:t>" : {"</a:t>
            </a:r>
            <a:r>
              <a:rPr lang="en-US" sz="3600" dirty="0">
                <a:latin typeface="Consolas" panose="020B0609020204030204" pitchFamily="49" charset="0"/>
              </a:rPr>
              <a:t>name</a:t>
            </a:r>
            <a:r>
              <a:rPr lang="en-PH" sz="3600" dirty="0">
                <a:latin typeface="Consolas" panose="020B0609020204030204" pitchFamily="49" charset="0"/>
              </a:rPr>
              <a:t>" :  "</a:t>
            </a:r>
            <a:r>
              <a:rPr lang="en-PH" sz="3600" dirty="0" err="1">
                <a:latin typeface="Consolas" panose="020B0609020204030204" pitchFamily="49" charset="0"/>
              </a:rPr>
              <a:t>denver</a:t>
            </a:r>
            <a:r>
              <a:rPr lang="en-PH" sz="3600" dirty="0">
                <a:latin typeface="Consolas" panose="020B0609020204030204" pitchFamily="49" charset="0"/>
              </a:rPr>
              <a:t>", "age" : 25},</a:t>
            </a:r>
          </a:p>
          <a:p>
            <a:pPr algn="just"/>
            <a:r>
              <a:rPr lang="en-PH" sz="3600" dirty="0">
                <a:latin typeface="Consolas" panose="020B0609020204030204" pitchFamily="49" charset="0"/>
              </a:rPr>
              <a:t>        "</a:t>
            </a:r>
            <a:r>
              <a:rPr lang="en-US" sz="3600" dirty="0">
                <a:latin typeface="Consolas" panose="020B0609020204030204" pitchFamily="49" charset="0"/>
              </a:rPr>
              <a:t>student2</a:t>
            </a:r>
            <a:r>
              <a:rPr lang="en-PH" sz="3600" dirty="0">
                <a:latin typeface="Consolas" panose="020B0609020204030204" pitchFamily="49" charset="0"/>
              </a:rPr>
              <a:t>" : {"</a:t>
            </a:r>
            <a:r>
              <a:rPr lang="en-US" sz="3600" dirty="0">
                <a:latin typeface="Consolas" panose="020B0609020204030204" pitchFamily="49" charset="0"/>
              </a:rPr>
              <a:t>name</a:t>
            </a:r>
            <a:r>
              <a:rPr lang="en-PH" sz="3600" dirty="0">
                <a:latin typeface="Consolas" panose="020B0609020204030204" pitchFamily="49" charset="0"/>
              </a:rPr>
              <a:t>" :  "mark", "age" : 26}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}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To remove an item from of student2: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info[</a:t>
            </a:r>
            <a:r>
              <a:rPr lang="en-PH" sz="3600" dirty="0">
                <a:latin typeface="Consolas" panose="020B0609020204030204" pitchFamily="49" charset="0"/>
              </a:rPr>
              <a:t>"</a:t>
            </a:r>
            <a:r>
              <a:rPr lang="en-US" sz="3600" dirty="0">
                <a:latin typeface="Consolas" panose="020B0609020204030204" pitchFamily="49" charset="0"/>
              </a:rPr>
              <a:t>student2</a:t>
            </a:r>
            <a:r>
              <a:rPr lang="en-PH" sz="3600" dirty="0">
                <a:latin typeface="Consolas" panose="020B0609020204030204" pitchFamily="49" charset="0"/>
              </a:rPr>
              <a:t>"].pop("age")</a:t>
            </a:r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print(info[</a:t>
            </a:r>
            <a:r>
              <a:rPr lang="en-PH" sz="3600" dirty="0">
                <a:latin typeface="Consolas" panose="020B0609020204030204" pitchFamily="49" charset="0"/>
              </a:rPr>
              <a:t>"</a:t>
            </a:r>
            <a:r>
              <a:rPr lang="en-US" sz="3600" dirty="0">
                <a:latin typeface="Consolas" panose="020B0609020204030204" pitchFamily="49" charset="0"/>
              </a:rPr>
              <a:t>student2</a:t>
            </a:r>
            <a:r>
              <a:rPr lang="en-PH" sz="3600" dirty="0">
                <a:latin typeface="Consolas" panose="020B0609020204030204" pitchFamily="49" charset="0"/>
              </a:rPr>
              <a:t>"])</a:t>
            </a:r>
            <a:endParaRPr lang="en-US" sz="3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5024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Updating nested dictionary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266065-C1E9-BE7B-5B64-2C09D3739A5B}"/>
              </a:ext>
            </a:extLst>
          </p:cNvPr>
          <p:cNvSpPr txBox="1"/>
          <p:nvPr/>
        </p:nvSpPr>
        <p:spPr>
          <a:xfrm>
            <a:off x="457200" y="2705100"/>
            <a:ext cx="17373599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600" b="1" dirty="0">
                <a:latin typeface="Consolas" panose="020B0609020204030204" pitchFamily="49" charset="0"/>
              </a:rPr>
              <a:t>Example: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info = {</a:t>
            </a:r>
            <a:r>
              <a:rPr lang="en-PH" sz="3600" dirty="0">
                <a:latin typeface="Consolas" panose="020B0609020204030204" pitchFamily="49" charset="0"/>
              </a:rPr>
              <a:t>"</a:t>
            </a:r>
            <a:r>
              <a:rPr lang="en-US" sz="3600" dirty="0">
                <a:latin typeface="Consolas" panose="020B0609020204030204" pitchFamily="49" charset="0"/>
              </a:rPr>
              <a:t>student1</a:t>
            </a:r>
            <a:r>
              <a:rPr lang="en-PH" sz="3600" dirty="0">
                <a:latin typeface="Consolas" panose="020B0609020204030204" pitchFamily="49" charset="0"/>
              </a:rPr>
              <a:t>" : {"</a:t>
            </a:r>
            <a:r>
              <a:rPr lang="en-US" sz="3600" dirty="0">
                <a:latin typeface="Consolas" panose="020B0609020204030204" pitchFamily="49" charset="0"/>
              </a:rPr>
              <a:t>name</a:t>
            </a:r>
            <a:r>
              <a:rPr lang="en-PH" sz="3600" dirty="0">
                <a:latin typeface="Consolas" panose="020B0609020204030204" pitchFamily="49" charset="0"/>
              </a:rPr>
              <a:t>" :  "</a:t>
            </a:r>
            <a:r>
              <a:rPr lang="en-PH" sz="3600" dirty="0" err="1">
                <a:latin typeface="Consolas" panose="020B0609020204030204" pitchFamily="49" charset="0"/>
              </a:rPr>
              <a:t>denver</a:t>
            </a:r>
            <a:r>
              <a:rPr lang="en-PH" sz="3600" dirty="0">
                <a:latin typeface="Consolas" panose="020B0609020204030204" pitchFamily="49" charset="0"/>
              </a:rPr>
              <a:t>", "age" : 25},</a:t>
            </a:r>
          </a:p>
          <a:p>
            <a:pPr algn="just"/>
            <a:r>
              <a:rPr lang="en-PH" sz="3600" dirty="0">
                <a:latin typeface="Consolas" panose="020B0609020204030204" pitchFamily="49" charset="0"/>
              </a:rPr>
              <a:t>        "</a:t>
            </a:r>
            <a:r>
              <a:rPr lang="en-US" sz="3600" dirty="0">
                <a:latin typeface="Consolas" panose="020B0609020204030204" pitchFamily="49" charset="0"/>
              </a:rPr>
              <a:t>student2</a:t>
            </a:r>
            <a:r>
              <a:rPr lang="en-PH" sz="3600" dirty="0">
                <a:latin typeface="Consolas" panose="020B0609020204030204" pitchFamily="49" charset="0"/>
              </a:rPr>
              <a:t>" : {"</a:t>
            </a:r>
            <a:r>
              <a:rPr lang="en-US" sz="3600" dirty="0">
                <a:latin typeface="Consolas" panose="020B0609020204030204" pitchFamily="49" charset="0"/>
              </a:rPr>
              <a:t>name</a:t>
            </a:r>
            <a:r>
              <a:rPr lang="en-PH" sz="3600" dirty="0">
                <a:latin typeface="Consolas" panose="020B0609020204030204" pitchFamily="49" charset="0"/>
              </a:rPr>
              <a:t>" :  "mark", "age" : 26}</a:t>
            </a: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}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To change the value of the name of student2:</a:t>
            </a:r>
          </a:p>
          <a:p>
            <a:pPr algn="just"/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info[</a:t>
            </a:r>
            <a:r>
              <a:rPr lang="en-PH" sz="3600" dirty="0">
                <a:latin typeface="Consolas" panose="020B0609020204030204" pitchFamily="49" charset="0"/>
              </a:rPr>
              <a:t>"</a:t>
            </a:r>
            <a:r>
              <a:rPr lang="en-US" sz="3600" dirty="0">
                <a:latin typeface="Consolas" panose="020B0609020204030204" pitchFamily="49" charset="0"/>
              </a:rPr>
              <a:t>student2</a:t>
            </a:r>
            <a:r>
              <a:rPr lang="en-PH" sz="3600" dirty="0">
                <a:latin typeface="Consolas" panose="020B0609020204030204" pitchFamily="49" charset="0"/>
              </a:rPr>
              <a:t>"]["</a:t>
            </a:r>
            <a:r>
              <a:rPr lang="en-US" sz="3600" dirty="0">
                <a:latin typeface="Consolas" panose="020B0609020204030204" pitchFamily="49" charset="0"/>
              </a:rPr>
              <a:t>name</a:t>
            </a:r>
            <a:r>
              <a:rPr lang="en-PH" sz="3600" dirty="0">
                <a:latin typeface="Consolas" panose="020B0609020204030204" pitchFamily="49" charset="0"/>
              </a:rPr>
              <a:t>"] = "</a:t>
            </a:r>
            <a:r>
              <a:rPr lang="en-US" sz="3600" dirty="0" err="1">
                <a:latin typeface="Consolas" panose="020B0609020204030204" pitchFamily="49" charset="0"/>
              </a:rPr>
              <a:t>adora</a:t>
            </a:r>
            <a:r>
              <a:rPr lang="en-PH" sz="3600" dirty="0">
                <a:latin typeface="Consolas" panose="020B0609020204030204" pitchFamily="49" charset="0"/>
              </a:rPr>
              <a:t>"</a:t>
            </a:r>
          </a:p>
          <a:p>
            <a:pPr algn="just"/>
            <a:r>
              <a:rPr lang="en-PH" sz="3600" dirty="0">
                <a:latin typeface="Consolas" panose="020B0609020204030204" pitchFamily="49" charset="0"/>
              </a:rPr>
              <a:t>#</a:t>
            </a:r>
            <a:r>
              <a:rPr lang="en-US" sz="3600" dirty="0">
                <a:latin typeface="Consolas" panose="020B0609020204030204" pitchFamily="49" charset="0"/>
              </a:rPr>
              <a:t>info[</a:t>
            </a:r>
            <a:r>
              <a:rPr lang="en-PH" sz="3600" dirty="0">
                <a:latin typeface="Consolas" panose="020B0609020204030204" pitchFamily="49" charset="0"/>
              </a:rPr>
              <a:t>"</a:t>
            </a:r>
            <a:r>
              <a:rPr lang="en-US" sz="3600" dirty="0">
                <a:latin typeface="Consolas" panose="020B0609020204030204" pitchFamily="49" charset="0"/>
              </a:rPr>
              <a:t>student2</a:t>
            </a:r>
            <a:r>
              <a:rPr lang="en-PH" sz="3600" dirty="0">
                <a:latin typeface="Consolas" panose="020B0609020204030204" pitchFamily="49" charset="0"/>
              </a:rPr>
              <a:t>"].update({"</a:t>
            </a:r>
            <a:r>
              <a:rPr lang="en-US" sz="3600" dirty="0">
                <a:latin typeface="Consolas" panose="020B0609020204030204" pitchFamily="49" charset="0"/>
              </a:rPr>
              <a:t>name</a:t>
            </a:r>
            <a:r>
              <a:rPr lang="en-PH" sz="3600" dirty="0">
                <a:latin typeface="Consolas" panose="020B0609020204030204" pitchFamily="49" charset="0"/>
              </a:rPr>
              <a:t>" : "</a:t>
            </a:r>
            <a:r>
              <a:rPr lang="en-US" sz="3600" dirty="0" err="1">
                <a:latin typeface="Consolas" panose="020B0609020204030204" pitchFamily="49" charset="0"/>
              </a:rPr>
              <a:t>adora</a:t>
            </a:r>
            <a:r>
              <a:rPr lang="en-PH" sz="3600" dirty="0">
                <a:latin typeface="Consolas" panose="020B0609020204030204" pitchFamily="49" charset="0"/>
              </a:rPr>
              <a:t>", "</a:t>
            </a:r>
            <a:r>
              <a:rPr lang="en-US" sz="3600" dirty="0" err="1">
                <a:latin typeface="Consolas" panose="020B0609020204030204" pitchFamily="49" charset="0"/>
              </a:rPr>
              <a:t>addr</a:t>
            </a:r>
            <a:r>
              <a:rPr lang="en-PH" sz="3600" dirty="0">
                <a:latin typeface="Consolas" panose="020B0609020204030204" pitchFamily="49" charset="0"/>
              </a:rPr>
              <a:t>" : "</a:t>
            </a:r>
            <a:r>
              <a:rPr lang="en-US" sz="3600" dirty="0">
                <a:latin typeface="Consolas" panose="020B0609020204030204" pitchFamily="49" charset="0"/>
              </a:rPr>
              <a:t>Urdaneta</a:t>
            </a:r>
            <a:r>
              <a:rPr lang="en-PH" sz="3600" dirty="0">
                <a:latin typeface="Consolas" panose="020B0609020204030204" pitchFamily="49" charset="0"/>
              </a:rPr>
              <a:t>", })</a:t>
            </a:r>
            <a:endParaRPr lang="en-US" sz="3600" dirty="0">
              <a:latin typeface="Consolas" panose="020B0609020204030204" pitchFamily="49" charset="0"/>
            </a:endParaRPr>
          </a:p>
          <a:p>
            <a:pPr algn="just"/>
            <a:r>
              <a:rPr lang="en-US" sz="3600" dirty="0">
                <a:latin typeface="Consolas" panose="020B0609020204030204" pitchFamily="49" charset="0"/>
              </a:rPr>
              <a:t>print(info[</a:t>
            </a:r>
            <a:r>
              <a:rPr lang="en-PH" sz="3600" dirty="0">
                <a:latin typeface="Consolas" panose="020B0609020204030204" pitchFamily="49" charset="0"/>
              </a:rPr>
              <a:t>"</a:t>
            </a:r>
            <a:r>
              <a:rPr lang="en-US" sz="3600" dirty="0">
                <a:latin typeface="Consolas" panose="020B0609020204030204" pitchFamily="49" charset="0"/>
              </a:rPr>
              <a:t>student2</a:t>
            </a:r>
            <a:r>
              <a:rPr lang="en-PH" sz="3600" dirty="0">
                <a:latin typeface="Consolas" panose="020B0609020204030204" pitchFamily="49" charset="0"/>
              </a:rPr>
              <a:t>"]["</a:t>
            </a:r>
            <a:r>
              <a:rPr lang="en-US" sz="3600" dirty="0">
                <a:latin typeface="Consolas" panose="020B0609020204030204" pitchFamily="49" charset="0"/>
              </a:rPr>
              <a:t>name</a:t>
            </a:r>
            <a:r>
              <a:rPr lang="en-PH" sz="3600" dirty="0">
                <a:latin typeface="Consolas" panose="020B0609020204030204" pitchFamily="49" charset="0"/>
              </a:rPr>
              <a:t>"])</a:t>
            </a:r>
            <a:endParaRPr lang="en-US" sz="3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69718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Copying Dictionary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AB35DC-4F53-F53F-F51B-A220211570EA}"/>
              </a:ext>
            </a:extLst>
          </p:cNvPr>
          <p:cNvSpPr txBox="1"/>
          <p:nvPr/>
        </p:nvSpPr>
        <p:spPr>
          <a:xfrm>
            <a:off x="984895" y="2705100"/>
            <a:ext cx="16496363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You cannot copy a dictionary simply by typing dict2 = dict1, because: dict2 will only be a reference to dict1, and changes made in dict1 will automatically also be made in dict2.</a:t>
            </a:r>
          </a:p>
        </p:txBody>
      </p:sp>
    </p:spTree>
    <p:extLst>
      <p:ext uri="{BB962C8B-B14F-4D97-AF65-F5344CB8AC3E}">
        <p14:creationId xmlns:p14="http://schemas.microsoft.com/office/powerpoint/2010/main" val="10569031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Copying Dictionary: Example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D41CC0-13C1-2521-86C0-1DF37358A39F}"/>
              </a:ext>
            </a:extLst>
          </p:cNvPr>
          <p:cNvGrpSpPr/>
          <p:nvPr/>
        </p:nvGrpSpPr>
        <p:grpSpPr>
          <a:xfrm>
            <a:off x="1143000" y="2448760"/>
            <a:ext cx="15925800" cy="7232689"/>
            <a:chOff x="3924299" y="3963831"/>
            <a:chExt cx="10439400" cy="5308559"/>
          </a:xfrm>
        </p:grpSpPr>
        <p:pic>
          <p:nvPicPr>
            <p:cNvPr id="15" name="Picture 14" descr="A blue screen with white lines&#10;&#10;Description automatically generated with medium confidence">
              <a:extLst>
                <a:ext uri="{FF2B5EF4-FFF2-40B4-BE49-F238E27FC236}">
                  <a16:creationId xmlns:a16="http://schemas.microsoft.com/office/drawing/2014/main" id="{235296AB-8B8D-8387-60D9-A560BD593CAA}"/>
                </a:ext>
              </a:extLst>
            </p:cNvPr>
            <p:cNvPicPr/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4299" y="3963831"/>
              <a:ext cx="10439400" cy="5308559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75D3105-A3D0-2FD5-F829-BE7C8BD5DA17}"/>
                </a:ext>
              </a:extLst>
            </p:cNvPr>
            <p:cNvSpPr txBox="1"/>
            <p:nvPr/>
          </p:nvSpPr>
          <p:spPr>
            <a:xfrm>
              <a:off x="4506100" y="4949244"/>
              <a:ext cx="1186295" cy="4179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1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2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3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4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5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6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7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8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9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10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11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12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576E0D2-C45A-B7DE-9D63-B52AA58372FC}"/>
                </a:ext>
              </a:extLst>
            </p:cNvPr>
            <p:cNvSpPr txBox="1"/>
            <p:nvPr/>
          </p:nvSpPr>
          <p:spPr>
            <a:xfrm>
              <a:off x="6120492" y="4949244"/>
              <a:ext cx="7661405" cy="384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9E7E666-A4BF-436D-5BD8-11AEDA03AA25}"/>
                </a:ext>
              </a:extLst>
            </p:cNvPr>
            <p:cNvCxnSpPr/>
            <p:nvPr/>
          </p:nvCxnSpPr>
          <p:spPr>
            <a:xfrm>
              <a:off x="5943600" y="5055029"/>
              <a:ext cx="0" cy="3907379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07558EF-782A-27F3-7BD7-F54AAAFA3699}"/>
              </a:ext>
            </a:extLst>
          </p:cNvPr>
          <p:cNvSpPr txBox="1"/>
          <p:nvPr/>
        </p:nvSpPr>
        <p:spPr>
          <a:xfrm>
            <a:off x="4533898" y="3771900"/>
            <a:ext cx="1164733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dictionary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"mark"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"25"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newDictionary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dictionary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dictionary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denver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newDictionary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D3B40F-1FB0-086A-5CB8-E64D7E2D54DF}"/>
              </a:ext>
            </a:extLst>
          </p:cNvPr>
          <p:cNvSpPr txBox="1"/>
          <p:nvPr/>
        </p:nvSpPr>
        <p:spPr>
          <a:xfrm>
            <a:off x="6620424" y="5143500"/>
            <a:ext cx="747428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5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just"/>
            <a:endParaRPr lang="en-US" sz="5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sz="5400" dirty="0">
                <a:solidFill>
                  <a:schemeClr val="bg1"/>
                </a:solidFill>
                <a:latin typeface="Consolas" panose="020B0609020204030204" pitchFamily="49" charset="0"/>
              </a:rPr>
              <a:t>What is the output?</a:t>
            </a:r>
          </a:p>
        </p:txBody>
      </p:sp>
    </p:spTree>
    <p:extLst>
      <p:ext uri="{BB962C8B-B14F-4D97-AF65-F5344CB8AC3E}">
        <p14:creationId xmlns:p14="http://schemas.microsoft.com/office/powerpoint/2010/main" val="11523357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Copying Dictionary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AB35DC-4F53-F53F-F51B-A220211570EA}"/>
              </a:ext>
            </a:extLst>
          </p:cNvPr>
          <p:cNvSpPr txBox="1"/>
          <p:nvPr/>
        </p:nvSpPr>
        <p:spPr>
          <a:xfrm>
            <a:off x="984895" y="2705100"/>
            <a:ext cx="1649636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There are ways to make a copy, one way is to use the built-in Dictionary method copy().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marL="914400" indent="-914400" algn="just">
              <a:buAutoNum type="arabicPeriod"/>
            </a:pPr>
            <a:r>
              <a:rPr lang="en-US" sz="5400" dirty="0">
                <a:latin typeface="Consolas" panose="020B0609020204030204" pitchFamily="49" charset="0"/>
              </a:rPr>
              <a:t>copy() method</a:t>
            </a:r>
          </a:p>
          <a:p>
            <a:pPr marL="914400" indent="-914400" algn="just">
              <a:buAutoNum type="arabicPeriod"/>
            </a:pPr>
            <a:r>
              <a:rPr lang="en-US" sz="5400" dirty="0" err="1">
                <a:latin typeface="Consolas" panose="020B0609020204030204" pitchFamily="49" charset="0"/>
              </a:rPr>
              <a:t>dict</a:t>
            </a:r>
            <a:r>
              <a:rPr lang="en-US" sz="5400" dirty="0">
                <a:latin typeface="Consolas" panose="020B0609020204030204" pitchFamily="49" charset="0"/>
              </a:rPr>
              <a:t>() constructor</a:t>
            </a:r>
          </a:p>
        </p:txBody>
      </p:sp>
    </p:spTree>
    <p:extLst>
      <p:ext uri="{BB962C8B-B14F-4D97-AF65-F5344CB8AC3E}">
        <p14:creationId xmlns:p14="http://schemas.microsoft.com/office/powerpoint/2010/main" val="14137096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Copying Dictionary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AB35DC-4F53-F53F-F51B-A220211570EA}"/>
              </a:ext>
            </a:extLst>
          </p:cNvPr>
          <p:cNvSpPr txBox="1"/>
          <p:nvPr/>
        </p:nvSpPr>
        <p:spPr>
          <a:xfrm>
            <a:off x="984895" y="2705100"/>
            <a:ext cx="1649636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 algn="just">
              <a:buAutoNum type="arabicPeriod"/>
            </a:pPr>
            <a:r>
              <a:rPr lang="en-US" sz="5400" dirty="0">
                <a:latin typeface="Consolas" panose="020B0609020204030204" pitchFamily="49" charset="0"/>
              </a:rPr>
              <a:t>copy() method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5400" dirty="0" err="1">
                <a:latin typeface="Consolas" panose="020B0609020204030204" pitchFamily="49" charset="0"/>
              </a:rPr>
              <a:t>newDictionary</a:t>
            </a:r>
            <a:r>
              <a:rPr lang="en-US" sz="5400" dirty="0">
                <a:latin typeface="Consolas" panose="020B0609020204030204" pitchFamily="49" charset="0"/>
              </a:rPr>
              <a:t> = </a:t>
            </a:r>
            <a:r>
              <a:rPr lang="en-US" sz="5400" dirty="0" err="1">
                <a:latin typeface="Consolas" panose="020B0609020204030204" pitchFamily="49" charset="0"/>
              </a:rPr>
              <a:t>dictionary.copy</a:t>
            </a:r>
            <a:r>
              <a:rPr lang="en-US" sz="5400" dirty="0"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7042241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Copying Dictionary: Example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D41CC0-13C1-2521-86C0-1DF37358A39F}"/>
              </a:ext>
            </a:extLst>
          </p:cNvPr>
          <p:cNvGrpSpPr/>
          <p:nvPr/>
        </p:nvGrpSpPr>
        <p:grpSpPr>
          <a:xfrm>
            <a:off x="1143000" y="2448760"/>
            <a:ext cx="15925800" cy="7232689"/>
            <a:chOff x="3924299" y="3963831"/>
            <a:chExt cx="10439400" cy="5308559"/>
          </a:xfrm>
        </p:grpSpPr>
        <p:pic>
          <p:nvPicPr>
            <p:cNvPr id="15" name="Picture 14" descr="A blue screen with white lines&#10;&#10;Description automatically generated with medium confidence">
              <a:extLst>
                <a:ext uri="{FF2B5EF4-FFF2-40B4-BE49-F238E27FC236}">
                  <a16:creationId xmlns:a16="http://schemas.microsoft.com/office/drawing/2014/main" id="{235296AB-8B8D-8387-60D9-A560BD593CAA}"/>
                </a:ext>
              </a:extLst>
            </p:cNvPr>
            <p:cNvPicPr/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4299" y="3963831"/>
              <a:ext cx="10439400" cy="5308559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75D3105-A3D0-2FD5-F829-BE7C8BD5DA17}"/>
                </a:ext>
              </a:extLst>
            </p:cNvPr>
            <p:cNvSpPr txBox="1"/>
            <p:nvPr/>
          </p:nvSpPr>
          <p:spPr>
            <a:xfrm>
              <a:off x="4506100" y="4949244"/>
              <a:ext cx="1186295" cy="4179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1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2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3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4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5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6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7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8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9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10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11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12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576E0D2-C45A-B7DE-9D63-B52AA58372FC}"/>
                </a:ext>
              </a:extLst>
            </p:cNvPr>
            <p:cNvSpPr txBox="1"/>
            <p:nvPr/>
          </p:nvSpPr>
          <p:spPr>
            <a:xfrm>
              <a:off x="6120492" y="4949244"/>
              <a:ext cx="7661405" cy="384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9E7E666-A4BF-436D-5BD8-11AEDA03AA25}"/>
                </a:ext>
              </a:extLst>
            </p:cNvPr>
            <p:cNvCxnSpPr/>
            <p:nvPr/>
          </p:nvCxnSpPr>
          <p:spPr>
            <a:xfrm>
              <a:off x="5943600" y="5055029"/>
              <a:ext cx="0" cy="3907379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07558EF-782A-27F3-7BD7-F54AAAFA3699}"/>
              </a:ext>
            </a:extLst>
          </p:cNvPr>
          <p:cNvSpPr txBox="1"/>
          <p:nvPr/>
        </p:nvSpPr>
        <p:spPr>
          <a:xfrm>
            <a:off x="4533898" y="3771900"/>
            <a:ext cx="1164733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dictionary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"mark"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"25"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newDictionary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dictionary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copy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dictionary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denver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newDictionary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D3B40F-1FB0-086A-5CB8-E64D7E2D54DF}"/>
              </a:ext>
            </a:extLst>
          </p:cNvPr>
          <p:cNvSpPr txBox="1"/>
          <p:nvPr/>
        </p:nvSpPr>
        <p:spPr>
          <a:xfrm>
            <a:off x="6620424" y="5143500"/>
            <a:ext cx="747428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5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just"/>
            <a:endParaRPr lang="en-US" sz="5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sz="5400" dirty="0">
                <a:solidFill>
                  <a:schemeClr val="bg1"/>
                </a:solidFill>
                <a:latin typeface="Consolas" panose="020B0609020204030204" pitchFamily="49" charset="0"/>
              </a:rPr>
              <a:t>What is the output?</a:t>
            </a:r>
          </a:p>
        </p:txBody>
      </p:sp>
    </p:spTree>
    <p:extLst>
      <p:ext uri="{BB962C8B-B14F-4D97-AF65-F5344CB8AC3E}">
        <p14:creationId xmlns:p14="http://schemas.microsoft.com/office/powerpoint/2010/main" val="10219172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Copying Dictionary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AB35DC-4F53-F53F-F51B-A220211570EA}"/>
              </a:ext>
            </a:extLst>
          </p:cNvPr>
          <p:cNvSpPr txBox="1"/>
          <p:nvPr/>
        </p:nvSpPr>
        <p:spPr>
          <a:xfrm>
            <a:off x="984895" y="2705100"/>
            <a:ext cx="1649636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5400" dirty="0">
                <a:latin typeface="Consolas" panose="020B0609020204030204" pitchFamily="49" charset="0"/>
              </a:rPr>
              <a:t>2. </a:t>
            </a:r>
            <a:r>
              <a:rPr lang="en-US" sz="5400" dirty="0" err="1">
                <a:latin typeface="Consolas" panose="020B0609020204030204" pitchFamily="49" charset="0"/>
              </a:rPr>
              <a:t>dict</a:t>
            </a:r>
            <a:r>
              <a:rPr lang="en-US" sz="5400" dirty="0">
                <a:latin typeface="Consolas" panose="020B0609020204030204" pitchFamily="49" charset="0"/>
              </a:rPr>
              <a:t>() constructor</a:t>
            </a:r>
          </a:p>
          <a:p>
            <a:pPr algn="just"/>
            <a:endParaRPr lang="en-US" sz="5400" dirty="0">
              <a:latin typeface="Consolas" panose="020B0609020204030204" pitchFamily="49" charset="0"/>
            </a:endParaRPr>
          </a:p>
          <a:p>
            <a:pPr algn="just"/>
            <a:r>
              <a:rPr lang="en-US" sz="5400" dirty="0">
                <a:latin typeface="Consolas" panose="020B0609020204030204" pitchFamily="49" charset="0"/>
              </a:rPr>
              <a:t>Syntax:</a:t>
            </a:r>
          </a:p>
          <a:p>
            <a:pPr algn="just"/>
            <a:r>
              <a:rPr lang="en-US" sz="5400" dirty="0" err="1">
                <a:latin typeface="Consolas" panose="020B0609020204030204" pitchFamily="49" charset="0"/>
              </a:rPr>
              <a:t>newDictionary</a:t>
            </a:r>
            <a:r>
              <a:rPr lang="en-US" sz="5400" dirty="0">
                <a:latin typeface="Consolas" panose="020B0609020204030204" pitchFamily="49" charset="0"/>
              </a:rPr>
              <a:t> = </a:t>
            </a:r>
            <a:r>
              <a:rPr lang="en-US" sz="5400" dirty="0" err="1">
                <a:latin typeface="Consolas" panose="020B0609020204030204" pitchFamily="49" charset="0"/>
              </a:rPr>
              <a:t>dict</a:t>
            </a:r>
            <a:r>
              <a:rPr lang="en-US" sz="5400" dirty="0">
                <a:latin typeface="Consolas" panose="020B0609020204030204" pitchFamily="49" charset="0"/>
              </a:rPr>
              <a:t>(dictionary)</a:t>
            </a:r>
          </a:p>
        </p:txBody>
      </p:sp>
    </p:spTree>
    <p:extLst>
      <p:ext uri="{BB962C8B-B14F-4D97-AF65-F5344CB8AC3E}">
        <p14:creationId xmlns:p14="http://schemas.microsoft.com/office/powerpoint/2010/main" val="4675432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Copying Dictionary: Example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D41CC0-13C1-2521-86C0-1DF37358A39F}"/>
              </a:ext>
            </a:extLst>
          </p:cNvPr>
          <p:cNvGrpSpPr/>
          <p:nvPr/>
        </p:nvGrpSpPr>
        <p:grpSpPr>
          <a:xfrm>
            <a:off x="1143000" y="2448760"/>
            <a:ext cx="15925800" cy="7232689"/>
            <a:chOff x="3924299" y="3963831"/>
            <a:chExt cx="10439400" cy="5308559"/>
          </a:xfrm>
        </p:grpSpPr>
        <p:pic>
          <p:nvPicPr>
            <p:cNvPr id="15" name="Picture 14" descr="A blue screen with white lines&#10;&#10;Description automatically generated with medium confidence">
              <a:extLst>
                <a:ext uri="{FF2B5EF4-FFF2-40B4-BE49-F238E27FC236}">
                  <a16:creationId xmlns:a16="http://schemas.microsoft.com/office/drawing/2014/main" id="{235296AB-8B8D-8387-60D9-A560BD593CAA}"/>
                </a:ext>
              </a:extLst>
            </p:cNvPr>
            <p:cNvPicPr/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4299" y="3963831"/>
              <a:ext cx="10439400" cy="5308559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75D3105-A3D0-2FD5-F829-BE7C8BD5DA17}"/>
                </a:ext>
              </a:extLst>
            </p:cNvPr>
            <p:cNvSpPr txBox="1"/>
            <p:nvPr/>
          </p:nvSpPr>
          <p:spPr>
            <a:xfrm>
              <a:off x="4506100" y="4949244"/>
              <a:ext cx="1186295" cy="4179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1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2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3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4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5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6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7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8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  9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10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11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12</a:t>
              </a:r>
            </a:p>
            <a:p>
              <a:pPr algn="r"/>
              <a:r>
                <a:rPr lang="en-US" sz="2800" dirty="0">
                  <a:solidFill>
                    <a:schemeClr val="bg1"/>
                  </a:solidFill>
                  <a:latin typeface="Cambria" panose="02040503050406030204" pitchFamily="18" charset="0"/>
                  <a:ea typeface="Cambria" panose="02040503050406030204" pitchFamily="18" charset="0"/>
                </a:rPr>
                <a:t>Line 13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576E0D2-C45A-B7DE-9D63-B52AA58372FC}"/>
                </a:ext>
              </a:extLst>
            </p:cNvPr>
            <p:cNvSpPr txBox="1"/>
            <p:nvPr/>
          </p:nvSpPr>
          <p:spPr>
            <a:xfrm>
              <a:off x="6120492" y="4949244"/>
              <a:ext cx="7661405" cy="3840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19E7E666-A4BF-436D-5BD8-11AEDA03AA25}"/>
                </a:ext>
              </a:extLst>
            </p:cNvPr>
            <p:cNvCxnSpPr/>
            <p:nvPr/>
          </p:nvCxnSpPr>
          <p:spPr>
            <a:xfrm>
              <a:off x="5943600" y="5055029"/>
              <a:ext cx="0" cy="3907379"/>
            </a:xfrm>
            <a:prstGeom prst="line">
              <a:avLst/>
            </a:prstGeom>
            <a:ln w="28575">
              <a:solidFill>
                <a:schemeClr val="accent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207558EF-782A-27F3-7BD7-F54AAAFA3699}"/>
              </a:ext>
            </a:extLst>
          </p:cNvPr>
          <p:cNvSpPr txBox="1"/>
          <p:nvPr/>
        </p:nvSpPr>
        <p:spPr>
          <a:xfrm>
            <a:off x="4533898" y="3771900"/>
            <a:ext cx="11647335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dictionary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"mark"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"age"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"25"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newDictionary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dict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dictionary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dictionary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sz="2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28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denver</a:t>
            </a:r>
            <a:r>
              <a:rPr lang="en-US" sz="28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sz="28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US" sz="28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8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newDictionary</a:t>
            </a:r>
            <a:r>
              <a:rPr lang="en-US" sz="28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sz="28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28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28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n-US" sz="28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BD3B40F-1FB0-086A-5CB8-E64D7E2D54DF}"/>
              </a:ext>
            </a:extLst>
          </p:cNvPr>
          <p:cNvSpPr txBox="1"/>
          <p:nvPr/>
        </p:nvSpPr>
        <p:spPr>
          <a:xfrm>
            <a:off x="6620424" y="5143500"/>
            <a:ext cx="747428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endParaRPr lang="en-US" sz="5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just"/>
            <a:endParaRPr lang="en-US" sz="5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algn="just"/>
            <a:r>
              <a:rPr lang="en-US" sz="5400" dirty="0">
                <a:solidFill>
                  <a:schemeClr val="bg1"/>
                </a:solidFill>
                <a:latin typeface="Consolas" panose="020B0609020204030204" pitchFamily="49" charset="0"/>
              </a:rPr>
              <a:t>What is the output?</a:t>
            </a:r>
          </a:p>
        </p:txBody>
      </p:sp>
    </p:spTree>
    <p:extLst>
      <p:ext uri="{BB962C8B-B14F-4D97-AF65-F5344CB8AC3E}">
        <p14:creationId xmlns:p14="http://schemas.microsoft.com/office/powerpoint/2010/main" val="331516194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240000" y="7086600"/>
            <a:ext cx="3200400" cy="3200400"/>
            <a:chOff x="0" y="0"/>
            <a:chExt cx="10022021" cy="944604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22021" cy="9446043"/>
            </a:xfrm>
            <a:custGeom>
              <a:avLst/>
              <a:gdLst/>
              <a:ahLst/>
              <a:cxnLst/>
              <a:rect l="l" t="t" r="r" b="b"/>
              <a:pathLst>
                <a:path w="10022021" h="9446043">
                  <a:moveTo>
                    <a:pt x="0" y="0"/>
                  </a:moveTo>
                  <a:lnTo>
                    <a:pt x="10022021" y="0"/>
                  </a:lnTo>
                  <a:lnTo>
                    <a:pt x="10022021" y="9446043"/>
                  </a:lnTo>
                  <a:lnTo>
                    <a:pt x="0" y="94460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5000"/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PH"/>
            </a:p>
          </p:txBody>
        </p:sp>
      </p:grpSp>
      <p:sp>
        <p:nvSpPr>
          <p:cNvPr id="20" name="Freeform 20"/>
          <p:cNvSpPr/>
          <p:nvPr/>
        </p:nvSpPr>
        <p:spPr>
          <a:xfrm>
            <a:off x="16022831" y="9062992"/>
            <a:ext cx="2228298" cy="1222779"/>
          </a:xfrm>
          <a:custGeom>
            <a:avLst/>
            <a:gdLst/>
            <a:ahLst/>
            <a:cxnLst/>
            <a:rect l="l" t="t" r="r" b="b"/>
            <a:pathLst>
              <a:path w="2228298" h="1222779">
                <a:moveTo>
                  <a:pt x="0" y="0"/>
                </a:moveTo>
                <a:lnTo>
                  <a:pt x="2228298" y="0"/>
                </a:lnTo>
                <a:lnTo>
                  <a:pt x="2228298" y="1222779"/>
                </a:lnTo>
                <a:lnTo>
                  <a:pt x="0" y="12227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H"/>
          </a:p>
        </p:txBody>
      </p:sp>
      <p:pic>
        <p:nvPicPr>
          <p:cNvPr id="19" name="Picture 18" descr="A blue and orange square&#10;&#10;Description automatically generated">
            <a:extLst>
              <a:ext uri="{FF2B5EF4-FFF2-40B4-BE49-F238E27FC236}">
                <a16:creationId xmlns:a16="http://schemas.microsoft.com/office/drawing/2014/main" id="{6FC96476-CFAB-18A8-4841-0A0AA21B7D24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2"/>
          <a:stretch/>
        </p:blipFill>
        <p:spPr>
          <a:xfrm>
            <a:off x="0" y="304800"/>
            <a:ext cx="10686669" cy="2095500"/>
          </a:xfrm>
          <a:prstGeom prst="rect">
            <a:avLst/>
          </a:prstGeom>
        </p:spPr>
      </p:pic>
      <p:sp>
        <p:nvSpPr>
          <p:cNvPr id="21" name="TextBox 28">
            <a:extLst>
              <a:ext uri="{FF2B5EF4-FFF2-40B4-BE49-F238E27FC236}">
                <a16:creationId xmlns:a16="http://schemas.microsoft.com/office/drawing/2014/main" id="{DCBA537A-7358-1B27-5F22-0AAC08438006}"/>
              </a:ext>
            </a:extLst>
          </p:cNvPr>
          <p:cNvSpPr txBox="1"/>
          <p:nvPr/>
        </p:nvSpPr>
        <p:spPr>
          <a:xfrm>
            <a:off x="953437" y="303571"/>
            <a:ext cx="16381125" cy="1450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857"/>
              </a:lnSpc>
            </a:pPr>
            <a:r>
              <a:rPr lang="en-US" sz="5400" i="1" spc="-360" dirty="0">
                <a:latin typeface="Cambria" panose="02040503050406030204" pitchFamily="18" charset="0"/>
                <a:ea typeface="Cambria" panose="02040503050406030204" pitchFamily="18" charset="0"/>
              </a:rPr>
              <a:t>Dictionary Methods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27BCC1F-AEA5-0D73-6548-D45DB4959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187494"/>
              </p:ext>
            </p:extLst>
          </p:nvPr>
        </p:nvGraphicFramePr>
        <p:xfrm>
          <a:off x="685800" y="2552700"/>
          <a:ext cx="16154400" cy="7135608"/>
        </p:xfrm>
        <a:graphic>
          <a:graphicData uri="http://schemas.openxmlformats.org/drawingml/2006/table">
            <a:tbl>
              <a:tblPr/>
              <a:tblGrid>
                <a:gridCol w="2895600">
                  <a:extLst>
                    <a:ext uri="{9D8B030D-6E8A-4147-A177-3AD203B41FA5}">
                      <a16:colId xmlns:a16="http://schemas.microsoft.com/office/drawing/2014/main" val="334964425"/>
                    </a:ext>
                  </a:extLst>
                </a:gridCol>
                <a:gridCol w="13258800">
                  <a:extLst>
                    <a:ext uri="{9D8B030D-6E8A-4147-A177-3AD203B41FA5}">
                      <a16:colId xmlns:a16="http://schemas.microsoft.com/office/drawing/2014/main" val="3139934017"/>
                    </a:ext>
                  </a:extLst>
                </a:gridCol>
              </a:tblGrid>
              <a:tr h="256914">
                <a:tc>
                  <a:txBody>
                    <a:bodyPr/>
                    <a:lstStyle/>
                    <a:p>
                      <a:pPr algn="l" fontAlgn="t"/>
                      <a:r>
                        <a:rPr lang="en-PH" sz="3200">
                          <a:latin typeface="Consolas" panose="020B0609020204030204" pitchFamily="49" charset="0"/>
                        </a:rPr>
                        <a:t>Method</a:t>
                      </a:r>
                    </a:p>
                  </a:txBody>
                  <a:tcPr marL="66314" marR="33157" marT="33157" marB="3315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PH" sz="3200">
                          <a:latin typeface="Consolas" panose="020B0609020204030204" pitchFamily="49" charset="0"/>
                        </a:rPr>
                        <a:t>Description</a:t>
                      </a:r>
                    </a:p>
                  </a:txBody>
                  <a:tcPr marL="33157" marR="33157" marT="33157" marB="3315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3499988"/>
                  </a:ext>
                </a:extLst>
              </a:tr>
              <a:tr h="435932">
                <a:tc>
                  <a:txBody>
                    <a:bodyPr/>
                    <a:lstStyle/>
                    <a:p>
                      <a:pPr algn="l" fontAlgn="t"/>
                      <a:r>
                        <a:rPr lang="en-PH" sz="3200" dirty="0">
                          <a:latin typeface="Consolas" panose="020B0609020204030204" pitchFamily="49" charset="0"/>
                        </a:rPr>
                        <a:t>clear()</a:t>
                      </a:r>
                    </a:p>
                  </a:txBody>
                  <a:tcPr marL="66314" marR="33157" marT="33157" marB="3315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>
                          <a:latin typeface="Consolas" panose="020B0609020204030204" pitchFamily="49" charset="0"/>
                        </a:rPr>
                        <a:t>Removes all the elements from the dictionary</a:t>
                      </a:r>
                    </a:p>
                  </a:txBody>
                  <a:tcPr marL="33157" marR="33157" marT="33157" marB="3315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148464"/>
                  </a:ext>
                </a:extLst>
              </a:tr>
              <a:tr h="435932">
                <a:tc>
                  <a:txBody>
                    <a:bodyPr/>
                    <a:lstStyle/>
                    <a:p>
                      <a:pPr algn="l" fontAlgn="t"/>
                      <a:r>
                        <a:rPr lang="en-PH" sz="3200" dirty="0">
                          <a:latin typeface="Consolas" panose="020B0609020204030204" pitchFamily="49" charset="0"/>
                        </a:rPr>
                        <a:t>copy()</a:t>
                      </a:r>
                    </a:p>
                  </a:txBody>
                  <a:tcPr marL="66314" marR="33157" marT="33157" marB="3315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>
                          <a:latin typeface="Consolas" panose="020B0609020204030204" pitchFamily="49" charset="0"/>
                        </a:rPr>
                        <a:t>Returns a copy of the dictionary</a:t>
                      </a:r>
                    </a:p>
                  </a:txBody>
                  <a:tcPr marL="33157" marR="33157" marT="33157" marB="3315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9521636"/>
                  </a:ext>
                </a:extLst>
              </a:tr>
              <a:tr h="435932">
                <a:tc>
                  <a:txBody>
                    <a:bodyPr/>
                    <a:lstStyle/>
                    <a:p>
                      <a:pPr algn="l" fontAlgn="t"/>
                      <a:r>
                        <a:rPr lang="en-PH" sz="3200" dirty="0" err="1">
                          <a:latin typeface="Consolas" panose="020B0609020204030204" pitchFamily="49" charset="0"/>
                        </a:rPr>
                        <a:t>fromkeys</a:t>
                      </a:r>
                      <a:r>
                        <a:rPr lang="en-PH" sz="3200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marL="66314" marR="33157" marT="33157" marB="3315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>
                          <a:latin typeface="Consolas" panose="020B0609020204030204" pitchFamily="49" charset="0"/>
                        </a:rPr>
                        <a:t>Returns a dictionary with the specified keys and value</a:t>
                      </a:r>
                    </a:p>
                  </a:txBody>
                  <a:tcPr marL="33157" marR="33157" marT="33157" marB="3315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6720396"/>
                  </a:ext>
                </a:extLst>
              </a:tr>
              <a:tr h="435932">
                <a:tc>
                  <a:txBody>
                    <a:bodyPr/>
                    <a:lstStyle/>
                    <a:p>
                      <a:pPr algn="l" fontAlgn="t"/>
                      <a:r>
                        <a:rPr lang="en-PH" sz="3200" dirty="0">
                          <a:latin typeface="Consolas" panose="020B0609020204030204" pitchFamily="49" charset="0"/>
                        </a:rPr>
                        <a:t>get()</a:t>
                      </a:r>
                    </a:p>
                  </a:txBody>
                  <a:tcPr marL="66314" marR="33157" marT="33157" marB="3315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>
                          <a:latin typeface="Consolas" panose="020B0609020204030204" pitchFamily="49" charset="0"/>
                        </a:rPr>
                        <a:t>Returns the value of the specified key</a:t>
                      </a:r>
                    </a:p>
                  </a:txBody>
                  <a:tcPr marL="33157" marR="33157" marT="33157" marB="3315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2227128"/>
                  </a:ext>
                </a:extLst>
              </a:tr>
              <a:tr h="435932">
                <a:tc>
                  <a:txBody>
                    <a:bodyPr/>
                    <a:lstStyle/>
                    <a:p>
                      <a:pPr algn="l" fontAlgn="t"/>
                      <a:r>
                        <a:rPr lang="en-PH" sz="3200" dirty="0">
                          <a:latin typeface="Consolas" panose="020B0609020204030204" pitchFamily="49" charset="0"/>
                        </a:rPr>
                        <a:t>items()</a:t>
                      </a:r>
                    </a:p>
                  </a:txBody>
                  <a:tcPr marL="66314" marR="33157" marT="33157" marB="3315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>
                          <a:latin typeface="Consolas" panose="020B0609020204030204" pitchFamily="49" charset="0"/>
                        </a:rPr>
                        <a:t>Returns a list containing a tuple for each key value pair</a:t>
                      </a:r>
                    </a:p>
                  </a:txBody>
                  <a:tcPr marL="33157" marR="33157" marT="33157" marB="3315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277870"/>
                  </a:ext>
                </a:extLst>
              </a:tr>
              <a:tr h="435932">
                <a:tc>
                  <a:txBody>
                    <a:bodyPr/>
                    <a:lstStyle/>
                    <a:p>
                      <a:pPr algn="l" fontAlgn="t"/>
                      <a:r>
                        <a:rPr lang="en-PH" sz="3200" dirty="0">
                          <a:latin typeface="Consolas" panose="020B0609020204030204" pitchFamily="49" charset="0"/>
                        </a:rPr>
                        <a:t>keys()</a:t>
                      </a:r>
                    </a:p>
                  </a:txBody>
                  <a:tcPr marL="66314" marR="33157" marT="33157" marB="3315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>
                          <a:latin typeface="Consolas" panose="020B0609020204030204" pitchFamily="49" charset="0"/>
                        </a:rPr>
                        <a:t>Returns a list containing the dictionary's keys</a:t>
                      </a:r>
                    </a:p>
                  </a:txBody>
                  <a:tcPr marL="33157" marR="33157" marT="33157" marB="3315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131833"/>
                  </a:ext>
                </a:extLst>
              </a:tr>
              <a:tr h="435932">
                <a:tc>
                  <a:txBody>
                    <a:bodyPr/>
                    <a:lstStyle/>
                    <a:p>
                      <a:pPr algn="l" fontAlgn="t"/>
                      <a:r>
                        <a:rPr lang="en-PH" sz="3200" dirty="0">
                          <a:latin typeface="Consolas" panose="020B0609020204030204" pitchFamily="49" charset="0"/>
                        </a:rPr>
                        <a:t>pop()</a:t>
                      </a:r>
                    </a:p>
                  </a:txBody>
                  <a:tcPr marL="66314" marR="33157" marT="33157" marB="3315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>
                          <a:latin typeface="Consolas" panose="020B0609020204030204" pitchFamily="49" charset="0"/>
                        </a:rPr>
                        <a:t>Removes the element with the specified key</a:t>
                      </a:r>
                    </a:p>
                  </a:txBody>
                  <a:tcPr marL="33157" marR="33157" marT="33157" marB="3315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2033463"/>
                  </a:ext>
                </a:extLst>
              </a:tr>
              <a:tr h="435932">
                <a:tc>
                  <a:txBody>
                    <a:bodyPr/>
                    <a:lstStyle/>
                    <a:p>
                      <a:pPr algn="l" fontAlgn="t"/>
                      <a:r>
                        <a:rPr lang="en-PH" sz="3200" dirty="0" err="1">
                          <a:latin typeface="Consolas" panose="020B0609020204030204" pitchFamily="49" charset="0"/>
                        </a:rPr>
                        <a:t>popitem</a:t>
                      </a:r>
                      <a:r>
                        <a:rPr lang="en-PH" sz="3200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marL="66314" marR="33157" marT="33157" marB="3315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>
                          <a:latin typeface="Consolas" panose="020B0609020204030204" pitchFamily="49" charset="0"/>
                        </a:rPr>
                        <a:t>Removes the last inserted key-value pair</a:t>
                      </a:r>
                    </a:p>
                  </a:txBody>
                  <a:tcPr marL="33157" marR="33157" marT="33157" marB="3315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2062109"/>
                  </a:ext>
                </a:extLst>
              </a:tr>
              <a:tr h="793967">
                <a:tc>
                  <a:txBody>
                    <a:bodyPr/>
                    <a:lstStyle/>
                    <a:p>
                      <a:pPr algn="l" fontAlgn="t"/>
                      <a:r>
                        <a:rPr lang="en-PH" sz="3200" dirty="0" err="1">
                          <a:latin typeface="Consolas" panose="020B0609020204030204" pitchFamily="49" charset="0"/>
                        </a:rPr>
                        <a:t>setdefault</a:t>
                      </a:r>
                      <a:r>
                        <a:rPr lang="en-PH" sz="3200" dirty="0">
                          <a:latin typeface="Consolas" panose="020B0609020204030204" pitchFamily="49" charset="0"/>
                        </a:rPr>
                        <a:t>()</a:t>
                      </a:r>
                    </a:p>
                  </a:txBody>
                  <a:tcPr marL="66314" marR="33157" marT="33157" marB="3315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>
                          <a:latin typeface="Consolas" panose="020B0609020204030204" pitchFamily="49" charset="0"/>
                        </a:rPr>
                        <a:t>Returns the value of the specified key. </a:t>
                      </a:r>
                      <a:r>
                        <a:rPr lang="en-US" sz="3200">
                          <a:latin typeface="Consolas" panose="020B0609020204030204" pitchFamily="49" charset="0"/>
                        </a:rPr>
                        <a:t>If the key does not exist: insert the key, with the specified value</a:t>
                      </a:r>
                    </a:p>
                  </a:txBody>
                  <a:tcPr marL="33157" marR="33157" marT="33157" marB="3315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325869"/>
                  </a:ext>
                </a:extLst>
              </a:tr>
              <a:tr h="435932">
                <a:tc>
                  <a:txBody>
                    <a:bodyPr/>
                    <a:lstStyle/>
                    <a:p>
                      <a:pPr algn="l" fontAlgn="t"/>
                      <a:r>
                        <a:rPr lang="en-PH" sz="3200" dirty="0">
                          <a:latin typeface="Consolas" panose="020B0609020204030204" pitchFamily="49" charset="0"/>
                        </a:rPr>
                        <a:t>update()</a:t>
                      </a:r>
                    </a:p>
                  </a:txBody>
                  <a:tcPr marL="66314" marR="33157" marT="33157" marB="3315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>
                          <a:latin typeface="Consolas" panose="020B0609020204030204" pitchFamily="49" charset="0"/>
                        </a:rPr>
                        <a:t>Updates the dictionary with the specified key-value pairs</a:t>
                      </a:r>
                    </a:p>
                  </a:txBody>
                  <a:tcPr marL="33157" marR="33157" marT="33157" marB="3315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25793"/>
                  </a:ext>
                </a:extLst>
              </a:tr>
              <a:tr h="435932">
                <a:tc>
                  <a:txBody>
                    <a:bodyPr/>
                    <a:lstStyle/>
                    <a:p>
                      <a:pPr algn="l" fontAlgn="t"/>
                      <a:r>
                        <a:rPr lang="en-PH" sz="3200" dirty="0">
                          <a:latin typeface="Consolas" panose="020B0609020204030204" pitchFamily="49" charset="0"/>
                        </a:rPr>
                        <a:t>values()</a:t>
                      </a:r>
                    </a:p>
                  </a:txBody>
                  <a:tcPr marL="66314" marR="33157" marT="33157" marB="3315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3200" dirty="0">
                          <a:latin typeface="Consolas" panose="020B0609020204030204" pitchFamily="49" charset="0"/>
                        </a:rPr>
                        <a:t>Returns a list of all the values in the dictionary</a:t>
                      </a:r>
                    </a:p>
                  </a:txBody>
                  <a:tcPr marL="33157" marR="33157" marT="33157" marB="33157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2791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7635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1865</TotalTime>
  <Words>2447</Words>
  <Application>Microsoft Office PowerPoint</Application>
  <PresentationFormat>Custom</PresentationFormat>
  <Paragraphs>530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7" baseType="lpstr">
      <vt:lpstr>Consolas</vt:lpstr>
      <vt:lpstr>Aptos</vt:lpstr>
      <vt:lpstr>Cambria</vt:lpstr>
      <vt:lpstr>Wingdings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INTERNAL QUALITY AUDIT 2024</dc:title>
  <dc:creator>DENVER</dc:creator>
  <cp:lastModifiedBy>Mark Denver Adora</cp:lastModifiedBy>
  <cp:revision>165</cp:revision>
  <dcterms:created xsi:type="dcterms:W3CDTF">2006-08-16T00:00:00Z</dcterms:created>
  <dcterms:modified xsi:type="dcterms:W3CDTF">2025-09-18T04:35:04Z</dcterms:modified>
  <dc:identifier>DAGH1tVytZk</dc:identifier>
</cp:coreProperties>
</file>