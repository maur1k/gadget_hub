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2"/>
  </p:notesMasterIdLst>
  <p:handoutMasterIdLst>
    <p:handoutMasterId r:id="rId53"/>
  </p:handoutMasterIdLst>
  <p:sldIdLst>
    <p:sldId id="256" r:id="rId2"/>
    <p:sldId id="518" r:id="rId3"/>
    <p:sldId id="258" r:id="rId4"/>
    <p:sldId id="259" r:id="rId5"/>
    <p:sldId id="260" r:id="rId6"/>
    <p:sldId id="261" r:id="rId7"/>
    <p:sldId id="262" r:id="rId8"/>
    <p:sldId id="263" r:id="rId9"/>
    <p:sldId id="264" r:id="rId10"/>
    <p:sldId id="492" r:id="rId11"/>
    <p:sldId id="493" r:id="rId12"/>
    <p:sldId id="494" r:id="rId13"/>
    <p:sldId id="495" r:id="rId14"/>
    <p:sldId id="496" r:id="rId15"/>
    <p:sldId id="498" r:id="rId16"/>
    <p:sldId id="499" r:id="rId17"/>
    <p:sldId id="500" r:id="rId18"/>
    <p:sldId id="501" r:id="rId19"/>
    <p:sldId id="502" r:id="rId20"/>
    <p:sldId id="503" r:id="rId21"/>
    <p:sldId id="504" r:id="rId22"/>
    <p:sldId id="505" r:id="rId23"/>
    <p:sldId id="506" r:id="rId24"/>
    <p:sldId id="507" r:id="rId25"/>
    <p:sldId id="508" r:id="rId26"/>
    <p:sldId id="509" r:id="rId27"/>
    <p:sldId id="510" r:id="rId28"/>
    <p:sldId id="511" r:id="rId29"/>
    <p:sldId id="512" r:id="rId30"/>
    <p:sldId id="521" r:id="rId31"/>
    <p:sldId id="513" r:id="rId32"/>
    <p:sldId id="514" r:id="rId33"/>
    <p:sldId id="515" r:id="rId34"/>
    <p:sldId id="516" r:id="rId35"/>
    <p:sldId id="517" r:id="rId36"/>
    <p:sldId id="519" r:id="rId37"/>
    <p:sldId id="520" r:id="rId38"/>
    <p:sldId id="522" r:id="rId39"/>
    <p:sldId id="535" r:id="rId40"/>
    <p:sldId id="524" r:id="rId41"/>
    <p:sldId id="525" r:id="rId42"/>
    <p:sldId id="526" r:id="rId43"/>
    <p:sldId id="527" r:id="rId44"/>
    <p:sldId id="528" r:id="rId45"/>
    <p:sldId id="529" r:id="rId46"/>
    <p:sldId id="530" r:id="rId47"/>
    <p:sldId id="531" r:id="rId48"/>
    <p:sldId id="532" r:id="rId49"/>
    <p:sldId id="533" r:id="rId50"/>
    <p:sldId id="534" r:id="rId51"/>
  </p:sldIdLst>
  <p:sldSz cx="18288000" cy="10287000"/>
  <p:notesSz cx="6858000" cy="9144000"/>
  <p:embeddedFontLst>
    <p:embeddedFont>
      <p:font typeface="Cambria Math" panose="02040503050406030204" pitchFamily="18" charset="0"/>
      <p:regular r:id="rId54"/>
    </p:embeddedFont>
    <p:embeddedFont>
      <p:font typeface="Consolas" panose="020B0609020204030204" pitchFamily="49" charset="0"/>
      <p:regular r:id="rId55"/>
      <p:bold r:id="rId56"/>
      <p:italic r:id="rId57"/>
      <p:boldItalic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56" autoAdjust="0"/>
    <p:restoredTop sz="83137" autoAdjust="0"/>
  </p:normalViewPr>
  <p:slideViewPr>
    <p:cSldViewPr>
      <p:cViewPr varScale="1">
        <p:scale>
          <a:sx n="44" d="100"/>
          <a:sy n="44" d="100"/>
        </p:scale>
        <p:origin x="87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E22CC0-1243-338F-5CAD-E7A5B1EE0E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a:extLst>
              <a:ext uri="{FF2B5EF4-FFF2-40B4-BE49-F238E27FC236}">
                <a16:creationId xmlns:a16="http://schemas.microsoft.com/office/drawing/2014/main" id="{F84A8E39-795D-D837-9A04-090F9A1419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55907F-8ED1-4449-8AB2-425B109C6DAB}" type="datetimeFigureOut">
              <a:rPr lang="en-PH" smtClean="0"/>
              <a:t>26/11/2025</a:t>
            </a:fld>
            <a:endParaRPr lang="en-PH"/>
          </a:p>
        </p:txBody>
      </p:sp>
      <p:sp>
        <p:nvSpPr>
          <p:cNvPr id="4" name="Footer Placeholder 3">
            <a:extLst>
              <a:ext uri="{FF2B5EF4-FFF2-40B4-BE49-F238E27FC236}">
                <a16:creationId xmlns:a16="http://schemas.microsoft.com/office/drawing/2014/main" id="{0B1079AC-EB4A-C6F4-35A4-C5166122BEB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5" name="Slide Number Placeholder 4">
            <a:extLst>
              <a:ext uri="{FF2B5EF4-FFF2-40B4-BE49-F238E27FC236}">
                <a16:creationId xmlns:a16="http://schemas.microsoft.com/office/drawing/2014/main" id="{323FEE0C-CAF7-534F-B1B6-7CB0184B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C40E73-B33C-482E-B21A-1E3DE061AD46}" type="slidenum">
              <a:rPr lang="en-PH" smtClean="0"/>
              <a:t>‹#›</a:t>
            </a:fld>
            <a:endParaRPr lang="en-PH"/>
          </a:p>
        </p:txBody>
      </p:sp>
    </p:spTree>
    <p:extLst>
      <p:ext uri="{BB962C8B-B14F-4D97-AF65-F5344CB8AC3E}">
        <p14:creationId xmlns:p14="http://schemas.microsoft.com/office/powerpoint/2010/main" val="9482812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C21506-B2BE-43BC-8C27-BC2C4DAF9131}" type="datetimeFigureOut">
              <a:rPr lang="en-PH" smtClean="0"/>
              <a:t>26/11/2025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E38AF-BC93-4612-8619-54F4BB1E39A6}" type="slidenum">
              <a:rPr lang="en-PH" smtClean="0"/>
              <a:t>‹#›</a:t>
            </a:fld>
            <a:endParaRPr lang="en-PH"/>
          </a:p>
        </p:txBody>
      </p:sp>
    </p:spTree>
    <p:extLst>
      <p:ext uri="{BB962C8B-B14F-4D97-AF65-F5344CB8AC3E}">
        <p14:creationId xmlns:p14="http://schemas.microsoft.com/office/powerpoint/2010/main" val="8546646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E27E38AF-BC93-4612-8619-54F4BB1E39A6}" type="slidenum">
              <a:rPr lang="en-PH" smtClean="0"/>
              <a:t>1</a:t>
            </a:fld>
            <a:endParaRPr lang="en-PH"/>
          </a:p>
        </p:txBody>
      </p:sp>
    </p:spTree>
    <p:extLst>
      <p:ext uri="{BB962C8B-B14F-4D97-AF65-F5344CB8AC3E}">
        <p14:creationId xmlns:p14="http://schemas.microsoft.com/office/powerpoint/2010/main" val="1441104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782C-BB0E-7B60-DF32-FA58B62A9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A9B98-FDAA-55E8-7590-B85FEA8C1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9DEE8-D848-DDF5-E164-E19961A4AF9F}"/>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2BA035E7-8719-0A6A-8E70-66FCFDF80EDF}"/>
              </a:ext>
            </a:extLst>
          </p:cNvPr>
          <p:cNvSpPr>
            <a:spLocks noGrp="1"/>
          </p:cNvSpPr>
          <p:nvPr>
            <p:ph type="sldNum" sz="quarter" idx="5"/>
          </p:nvPr>
        </p:nvSpPr>
        <p:spPr/>
        <p:txBody>
          <a:bodyPr/>
          <a:lstStyle/>
          <a:p>
            <a:fld id="{E27E38AF-BC93-4612-8619-54F4BB1E39A6}" type="slidenum">
              <a:rPr lang="en-PH" smtClean="0"/>
              <a:t>2</a:t>
            </a:fld>
            <a:endParaRPr lang="en-PH"/>
          </a:p>
        </p:txBody>
      </p:sp>
    </p:spTree>
    <p:extLst>
      <p:ext uri="{BB962C8B-B14F-4D97-AF65-F5344CB8AC3E}">
        <p14:creationId xmlns:p14="http://schemas.microsoft.com/office/powerpoint/2010/main" val="1103394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sz="1600" dirty="0"/>
          </a:p>
        </p:txBody>
      </p:sp>
      <p:sp>
        <p:nvSpPr>
          <p:cNvPr id="4" name="Slide Number Placeholder 3"/>
          <p:cNvSpPr>
            <a:spLocks noGrp="1"/>
          </p:cNvSpPr>
          <p:nvPr>
            <p:ph type="sldNum" sz="quarter" idx="5"/>
          </p:nvPr>
        </p:nvSpPr>
        <p:spPr/>
        <p:txBody>
          <a:bodyPr/>
          <a:lstStyle/>
          <a:p>
            <a:fld id="{E27E38AF-BC93-4612-8619-54F4BB1E39A6}" type="slidenum">
              <a:rPr lang="en-PH" smtClean="0"/>
              <a:t>3</a:t>
            </a:fld>
            <a:endParaRPr lang="en-PH"/>
          </a:p>
        </p:txBody>
      </p:sp>
    </p:spTree>
    <p:extLst>
      <p:ext uri="{BB962C8B-B14F-4D97-AF65-F5344CB8AC3E}">
        <p14:creationId xmlns:p14="http://schemas.microsoft.com/office/powerpoint/2010/main" val="3485982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4C478-F179-FF4E-287B-7A44685C0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D921A-6AB2-3196-F77E-4AB62FB1B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272BAD-B2F6-6644-56E7-DB120CBC652C}"/>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3E0E4F54-2D9D-2EEC-7862-E0DA59FF9001}"/>
              </a:ext>
            </a:extLst>
          </p:cNvPr>
          <p:cNvSpPr>
            <a:spLocks noGrp="1"/>
          </p:cNvSpPr>
          <p:nvPr>
            <p:ph type="sldNum" sz="quarter" idx="5"/>
          </p:nvPr>
        </p:nvSpPr>
        <p:spPr/>
        <p:txBody>
          <a:bodyPr/>
          <a:lstStyle/>
          <a:p>
            <a:fld id="{E27E38AF-BC93-4612-8619-54F4BB1E39A6}" type="slidenum">
              <a:rPr lang="en-PH" smtClean="0"/>
              <a:t>4</a:t>
            </a:fld>
            <a:endParaRPr lang="en-PH"/>
          </a:p>
        </p:txBody>
      </p:sp>
    </p:spTree>
    <p:extLst>
      <p:ext uri="{BB962C8B-B14F-4D97-AF65-F5344CB8AC3E}">
        <p14:creationId xmlns:p14="http://schemas.microsoft.com/office/powerpoint/2010/main" val="4085626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99C82-183F-FC09-B481-0CD41D196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5551C-42ED-F1B1-A688-A5E99D00FE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C51B2-5D44-B8C1-0CB9-4AF500E365FA}"/>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E5C779DD-16C6-F669-4362-600551A2B3D5}"/>
              </a:ext>
            </a:extLst>
          </p:cNvPr>
          <p:cNvSpPr>
            <a:spLocks noGrp="1"/>
          </p:cNvSpPr>
          <p:nvPr>
            <p:ph type="sldNum" sz="quarter" idx="5"/>
          </p:nvPr>
        </p:nvSpPr>
        <p:spPr/>
        <p:txBody>
          <a:bodyPr/>
          <a:lstStyle/>
          <a:p>
            <a:fld id="{E27E38AF-BC93-4612-8619-54F4BB1E39A6}" type="slidenum">
              <a:rPr lang="en-PH" smtClean="0"/>
              <a:t>5</a:t>
            </a:fld>
            <a:endParaRPr lang="en-PH"/>
          </a:p>
        </p:txBody>
      </p:sp>
    </p:spTree>
    <p:extLst>
      <p:ext uri="{BB962C8B-B14F-4D97-AF65-F5344CB8AC3E}">
        <p14:creationId xmlns:p14="http://schemas.microsoft.com/office/powerpoint/2010/main" val="859541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B1F4-369D-6BC6-9855-F098288FB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A45DE-37E7-FC67-23FD-5AD3BCC67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4C010D-C8CC-5007-27E4-8C2375EF6571}"/>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BF00A0F2-0B3D-CD45-0459-9F8896A091E2}"/>
              </a:ext>
            </a:extLst>
          </p:cNvPr>
          <p:cNvSpPr>
            <a:spLocks noGrp="1"/>
          </p:cNvSpPr>
          <p:nvPr>
            <p:ph type="sldNum" sz="quarter" idx="5"/>
          </p:nvPr>
        </p:nvSpPr>
        <p:spPr/>
        <p:txBody>
          <a:bodyPr/>
          <a:lstStyle/>
          <a:p>
            <a:fld id="{E27E38AF-BC93-4612-8619-54F4BB1E39A6}" type="slidenum">
              <a:rPr lang="en-PH" smtClean="0"/>
              <a:t>6</a:t>
            </a:fld>
            <a:endParaRPr lang="en-PH"/>
          </a:p>
        </p:txBody>
      </p:sp>
    </p:spTree>
    <p:extLst>
      <p:ext uri="{BB962C8B-B14F-4D97-AF65-F5344CB8AC3E}">
        <p14:creationId xmlns:p14="http://schemas.microsoft.com/office/powerpoint/2010/main" val="2727463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218F7-A612-468E-69FA-590741577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1DAEB-DD7F-C551-3D34-B3E04CBB8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43C86-3C69-5EE9-E736-A6E4CF3425B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C7912F1E-9A1D-C5D7-F641-B8CE0E61FC6F}"/>
              </a:ext>
            </a:extLst>
          </p:cNvPr>
          <p:cNvSpPr>
            <a:spLocks noGrp="1"/>
          </p:cNvSpPr>
          <p:nvPr>
            <p:ph type="sldNum" sz="quarter" idx="5"/>
          </p:nvPr>
        </p:nvSpPr>
        <p:spPr/>
        <p:txBody>
          <a:bodyPr/>
          <a:lstStyle/>
          <a:p>
            <a:fld id="{E27E38AF-BC93-4612-8619-54F4BB1E39A6}" type="slidenum">
              <a:rPr lang="en-PH" smtClean="0"/>
              <a:t>7</a:t>
            </a:fld>
            <a:endParaRPr lang="en-PH"/>
          </a:p>
        </p:txBody>
      </p:sp>
    </p:spTree>
    <p:extLst>
      <p:ext uri="{BB962C8B-B14F-4D97-AF65-F5344CB8AC3E}">
        <p14:creationId xmlns:p14="http://schemas.microsoft.com/office/powerpoint/2010/main" val="633134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A72A5-FD99-3352-2D0F-8B6A3DDD9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7B706-90E6-F3E9-E153-F6B4A50D5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AFA8D-685C-105A-1E3F-01D004EDF546}"/>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2ADA2B21-3F21-7940-FB49-DBA00FBAC589}"/>
              </a:ext>
            </a:extLst>
          </p:cNvPr>
          <p:cNvSpPr>
            <a:spLocks noGrp="1"/>
          </p:cNvSpPr>
          <p:nvPr>
            <p:ph type="sldNum" sz="quarter" idx="5"/>
          </p:nvPr>
        </p:nvSpPr>
        <p:spPr/>
        <p:txBody>
          <a:bodyPr/>
          <a:lstStyle/>
          <a:p>
            <a:fld id="{E27E38AF-BC93-4612-8619-54F4BB1E39A6}" type="slidenum">
              <a:rPr lang="en-PH" smtClean="0"/>
              <a:t>8</a:t>
            </a:fld>
            <a:endParaRPr lang="en-PH"/>
          </a:p>
        </p:txBody>
      </p:sp>
    </p:spTree>
    <p:extLst>
      <p:ext uri="{BB962C8B-B14F-4D97-AF65-F5344CB8AC3E}">
        <p14:creationId xmlns:p14="http://schemas.microsoft.com/office/powerpoint/2010/main" val="186510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B7AD9-C513-A739-40AC-49F58A57F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F7F00-6DC7-6920-5C3A-2DBE229F03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886E2-698C-D63C-2EA2-9D8FEDEC8BB0}"/>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253B054E-A8D8-680A-21E3-626F29A7AA9E}"/>
              </a:ext>
            </a:extLst>
          </p:cNvPr>
          <p:cNvSpPr>
            <a:spLocks noGrp="1"/>
          </p:cNvSpPr>
          <p:nvPr>
            <p:ph type="sldNum" sz="quarter" idx="5"/>
          </p:nvPr>
        </p:nvSpPr>
        <p:spPr/>
        <p:txBody>
          <a:bodyPr/>
          <a:lstStyle/>
          <a:p>
            <a:fld id="{E27E38AF-BC93-4612-8619-54F4BB1E39A6}" type="slidenum">
              <a:rPr lang="en-PH" smtClean="0"/>
              <a:t>9</a:t>
            </a:fld>
            <a:endParaRPr lang="en-PH"/>
          </a:p>
        </p:txBody>
      </p:sp>
    </p:spTree>
    <p:extLst>
      <p:ext uri="{BB962C8B-B14F-4D97-AF65-F5344CB8AC3E}">
        <p14:creationId xmlns:p14="http://schemas.microsoft.com/office/powerpoint/2010/main" val="117393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D5C53-27D5-1B23-8A89-749810D5F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6D1CC-B5CD-444F-EC93-C36896195A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F48B4-6C96-97A4-8478-BE43AE5C6C8E}"/>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7756BFE0-9826-3398-C933-7856AED2A8D4}"/>
              </a:ext>
            </a:extLst>
          </p:cNvPr>
          <p:cNvSpPr>
            <a:spLocks noGrp="1"/>
          </p:cNvSpPr>
          <p:nvPr>
            <p:ph type="sldNum" sz="quarter" idx="5"/>
          </p:nvPr>
        </p:nvSpPr>
        <p:spPr/>
        <p:txBody>
          <a:bodyPr/>
          <a:lstStyle/>
          <a:p>
            <a:fld id="{E27E38AF-BC93-4612-8619-54F4BB1E39A6}" type="slidenum">
              <a:rPr lang="en-PH" smtClean="0"/>
              <a:t>10</a:t>
            </a:fld>
            <a:endParaRPr lang="en-PH"/>
          </a:p>
        </p:txBody>
      </p:sp>
    </p:spTree>
    <p:extLst>
      <p:ext uri="{BB962C8B-B14F-4D97-AF65-F5344CB8AC3E}">
        <p14:creationId xmlns:p14="http://schemas.microsoft.com/office/powerpoint/2010/main" val="787434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3E6E3-57AE-F288-797E-FB4BEBEE59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C7610D-9DE4-3347-80D4-486429DAC1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3164A-E075-1474-8BAE-AE627F2F6FAC}"/>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DB569FA2-051D-7001-57E0-C014EE4094B6}"/>
              </a:ext>
            </a:extLst>
          </p:cNvPr>
          <p:cNvSpPr>
            <a:spLocks noGrp="1"/>
          </p:cNvSpPr>
          <p:nvPr>
            <p:ph type="sldNum" sz="quarter" idx="5"/>
          </p:nvPr>
        </p:nvSpPr>
        <p:spPr/>
        <p:txBody>
          <a:bodyPr/>
          <a:lstStyle/>
          <a:p>
            <a:fld id="{E27E38AF-BC93-4612-8619-54F4BB1E39A6}" type="slidenum">
              <a:rPr lang="en-PH" smtClean="0"/>
              <a:t>11</a:t>
            </a:fld>
            <a:endParaRPr lang="en-PH"/>
          </a:p>
        </p:txBody>
      </p:sp>
    </p:spTree>
    <p:extLst>
      <p:ext uri="{BB962C8B-B14F-4D97-AF65-F5344CB8AC3E}">
        <p14:creationId xmlns:p14="http://schemas.microsoft.com/office/powerpoint/2010/main" val="3292802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3155C-94F2-2A10-CC5A-F626D9B34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086B7-9BDC-F4E5-4AD3-F26CE6CDF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3387F-0517-5BAA-5AAD-49FDCD0873D6}"/>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10BC7E60-3C74-9513-8247-E01656C1B324}"/>
              </a:ext>
            </a:extLst>
          </p:cNvPr>
          <p:cNvSpPr>
            <a:spLocks noGrp="1"/>
          </p:cNvSpPr>
          <p:nvPr>
            <p:ph type="sldNum" sz="quarter" idx="5"/>
          </p:nvPr>
        </p:nvSpPr>
        <p:spPr/>
        <p:txBody>
          <a:bodyPr/>
          <a:lstStyle/>
          <a:p>
            <a:fld id="{E27E38AF-BC93-4612-8619-54F4BB1E39A6}" type="slidenum">
              <a:rPr lang="en-PH" smtClean="0"/>
              <a:t>12</a:t>
            </a:fld>
            <a:endParaRPr lang="en-PH"/>
          </a:p>
        </p:txBody>
      </p:sp>
    </p:spTree>
    <p:extLst>
      <p:ext uri="{BB962C8B-B14F-4D97-AF65-F5344CB8AC3E}">
        <p14:creationId xmlns:p14="http://schemas.microsoft.com/office/powerpoint/2010/main" val="2066687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6644D-2F0F-9D75-D210-4FAA57E26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CFE9F5-3A07-3FA8-6F8B-54C1ADB96E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1E961-24CE-8B70-1367-F43F0C6C5B9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20A21CCF-5CD4-2E66-ED53-B6B4408BC7C2}"/>
              </a:ext>
            </a:extLst>
          </p:cNvPr>
          <p:cNvSpPr>
            <a:spLocks noGrp="1"/>
          </p:cNvSpPr>
          <p:nvPr>
            <p:ph type="sldNum" sz="quarter" idx="5"/>
          </p:nvPr>
        </p:nvSpPr>
        <p:spPr/>
        <p:txBody>
          <a:bodyPr/>
          <a:lstStyle/>
          <a:p>
            <a:fld id="{E27E38AF-BC93-4612-8619-54F4BB1E39A6}" type="slidenum">
              <a:rPr lang="en-PH" smtClean="0"/>
              <a:t>13</a:t>
            </a:fld>
            <a:endParaRPr lang="en-PH"/>
          </a:p>
        </p:txBody>
      </p:sp>
    </p:spTree>
    <p:extLst>
      <p:ext uri="{BB962C8B-B14F-4D97-AF65-F5344CB8AC3E}">
        <p14:creationId xmlns:p14="http://schemas.microsoft.com/office/powerpoint/2010/main" val="1959578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8AE1D-E217-97D7-2AFE-A971ADDE00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8E005-7E83-F2C6-69BD-6A72F49C83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E3C7EE-EFAF-43CE-8A69-DD5360BF47D9}"/>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C04A9E5-0D5A-C0D0-0844-B178D5995F02}"/>
              </a:ext>
            </a:extLst>
          </p:cNvPr>
          <p:cNvSpPr>
            <a:spLocks noGrp="1"/>
          </p:cNvSpPr>
          <p:nvPr>
            <p:ph type="sldNum" sz="quarter" idx="5"/>
          </p:nvPr>
        </p:nvSpPr>
        <p:spPr/>
        <p:txBody>
          <a:bodyPr/>
          <a:lstStyle/>
          <a:p>
            <a:fld id="{E27E38AF-BC93-4612-8619-54F4BB1E39A6}" type="slidenum">
              <a:rPr lang="en-PH" smtClean="0"/>
              <a:t>14</a:t>
            </a:fld>
            <a:endParaRPr lang="en-PH"/>
          </a:p>
        </p:txBody>
      </p:sp>
    </p:spTree>
    <p:extLst>
      <p:ext uri="{BB962C8B-B14F-4D97-AF65-F5344CB8AC3E}">
        <p14:creationId xmlns:p14="http://schemas.microsoft.com/office/powerpoint/2010/main" val="21519598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7C473-740F-9A80-AEAC-698C8EF7A6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3A66E-9675-16D8-2517-40959A6BDF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B67B6-D5ED-847B-9ADB-3A83511C118C}"/>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4A0132C-E924-B656-0CAA-F662D6D2E8DA}"/>
              </a:ext>
            </a:extLst>
          </p:cNvPr>
          <p:cNvSpPr>
            <a:spLocks noGrp="1"/>
          </p:cNvSpPr>
          <p:nvPr>
            <p:ph type="sldNum" sz="quarter" idx="5"/>
          </p:nvPr>
        </p:nvSpPr>
        <p:spPr/>
        <p:txBody>
          <a:bodyPr/>
          <a:lstStyle/>
          <a:p>
            <a:fld id="{E27E38AF-BC93-4612-8619-54F4BB1E39A6}" type="slidenum">
              <a:rPr lang="en-PH" smtClean="0"/>
              <a:t>15</a:t>
            </a:fld>
            <a:endParaRPr lang="en-PH"/>
          </a:p>
        </p:txBody>
      </p:sp>
    </p:spTree>
    <p:extLst>
      <p:ext uri="{BB962C8B-B14F-4D97-AF65-F5344CB8AC3E}">
        <p14:creationId xmlns:p14="http://schemas.microsoft.com/office/powerpoint/2010/main" val="13518933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AC06F-C965-1531-2B60-6F13FDA73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8458F5-FAA3-249F-39EE-7913D4D070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39567-8C86-7006-5832-5815DCCEBA69}"/>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9B058A70-2E69-7555-F24F-C019FE16CF25}"/>
              </a:ext>
            </a:extLst>
          </p:cNvPr>
          <p:cNvSpPr>
            <a:spLocks noGrp="1"/>
          </p:cNvSpPr>
          <p:nvPr>
            <p:ph type="sldNum" sz="quarter" idx="5"/>
          </p:nvPr>
        </p:nvSpPr>
        <p:spPr/>
        <p:txBody>
          <a:bodyPr/>
          <a:lstStyle/>
          <a:p>
            <a:fld id="{E27E38AF-BC93-4612-8619-54F4BB1E39A6}" type="slidenum">
              <a:rPr lang="en-PH" smtClean="0"/>
              <a:t>16</a:t>
            </a:fld>
            <a:endParaRPr lang="en-PH"/>
          </a:p>
        </p:txBody>
      </p:sp>
    </p:spTree>
    <p:extLst>
      <p:ext uri="{BB962C8B-B14F-4D97-AF65-F5344CB8AC3E}">
        <p14:creationId xmlns:p14="http://schemas.microsoft.com/office/powerpoint/2010/main" val="4111957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B8E7A-FAC0-0A28-F680-FAEA6EB6F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97D37-A8A0-77CC-2FDA-9F02FBD16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13FCBF-0524-B87B-2A0A-8510B89BB0FF}"/>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ADCAE6A1-F0E0-DA6A-B511-1463BB50DADC}"/>
              </a:ext>
            </a:extLst>
          </p:cNvPr>
          <p:cNvSpPr>
            <a:spLocks noGrp="1"/>
          </p:cNvSpPr>
          <p:nvPr>
            <p:ph type="sldNum" sz="quarter" idx="5"/>
          </p:nvPr>
        </p:nvSpPr>
        <p:spPr/>
        <p:txBody>
          <a:bodyPr/>
          <a:lstStyle/>
          <a:p>
            <a:fld id="{E27E38AF-BC93-4612-8619-54F4BB1E39A6}" type="slidenum">
              <a:rPr lang="en-PH" smtClean="0"/>
              <a:t>17</a:t>
            </a:fld>
            <a:endParaRPr lang="en-PH"/>
          </a:p>
        </p:txBody>
      </p:sp>
    </p:spTree>
    <p:extLst>
      <p:ext uri="{BB962C8B-B14F-4D97-AF65-F5344CB8AC3E}">
        <p14:creationId xmlns:p14="http://schemas.microsoft.com/office/powerpoint/2010/main" val="22094484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C722D-AF92-3A17-7435-3DCF936B0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00D84-3126-54DA-76E0-17AA8126D6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31CC0-D334-BF0F-A324-A619EC8434F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0C895DCB-772B-3377-6940-EA26D6F7146E}"/>
              </a:ext>
            </a:extLst>
          </p:cNvPr>
          <p:cNvSpPr>
            <a:spLocks noGrp="1"/>
          </p:cNvSpPr>
          <p:nvPr>
            <p:ph type="sldNum" sz="quarter" idx="5"/>
          </p:nvPr>
        </p:nvSpPr>
        <p:spPr/>
        <p:txBody>
          <a:bodyPr/>
          <a:lstStyle/>
          <a:p>
            <a:fld id="{E27E38AF-BC93-4612-8619-54F4BB1E39A6}" type="slidenum">
              <a:rPr lang="en-PH" smtClean="0"/>
              <a:t>18</a:t>
            </a:fld>
            <a:endParaRPr lang="en-PH"/>
          </a:p>
        </p:txBody>
      </p:sp>
    </p:spTree>
    <p:extLst>
      <p:ext uri="{BB962C8B-B14F-4D97-AF65-F5344CB8AC3E}">
        <p14:creationId xmlns:p14="http://schemas.microsoft.com/office/powerpoint/2010/main" val="33008256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B13C5-C643-6CED-A7E6-56A5C2F0E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20464-057D-472F-B7D9-D196E59DA7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26012-F63D-3BEE-FE85-C8AA2508D9D0}"/>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B9D50AF-5ECB-FD4D-99D1-3402DF645C41}"/>
              </a:ext>
            </a:extLst>
          </p:cNvPr>
          <p:cNvSpPr>
            <a:spLocks noGrp="1"/>
          </p:cNvSpPr>
          <p:nvPr>
            <p:ph type="sldNum" sz="quarter" idx="5"/>
          </p:nvPr>
        </p:nvSpPr>
        <p:spPr/>
        <p:txBody>
          <a:bodyPr/>
          <a:lstStyle/>
          <a:p>
            <a:fld id="{E27E38AF-BC93-4612-8619-54F4BB1E39A6}" type="slidenum">
              <a:rPr lang="en-PH" smtClean="0"/>
              <a:t>19</a:t>
            </a:fld>
            <a:endParaRPr lang="en-PH"/>
          </a:p>
        </p:txBody>
      </p:sp>
    </p:spTree>
    <p:extLst>
      <p:ext uri="{BB962C8B-B14F-4D97-AF65-F5344CB8AC3E}">
        <p14:creationId xmlns:p14="http://schemas.microsoft.com/office/powerpoint/2010/main" val="3270027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39D25-EA17-52C1-839C-AEF31B118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CA1ED-9CD8-7368-ECB0-19186F0EB6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40D2DE-01D4-A6AB-6C1B-A0646D3BC68A}"/>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63D7981-75D5-F355-6344-A4CBC27E9A1D}"/>
              </a:ext>
            </a:extLst>
          </p:cNvPr>
          <p:cNvSpPr>
            <a:spLocks noGrp="1"/>
          </p:cNvSpPr>
          <p:nvPr>
            <p:ph type="sldNum" sz="quarter" idx="5"/>
          </p:nvPr>
        </p:nvSpPr>
        <p:spPr/>
        <p:txBody>
          <a:bodyPr/>
          <a:lstStyle/>
          <a:p>
            <a:fld id="{E27E38AF-BC93-4612-8619-54F4BB1E39A6}" type="slidenum">
              <a:rPr lang="en-PH" smtClean="0"/>
              <a:t>20</a:t>
            </a:fld>
            <a:endParaRPr lang="en-PH"/>
          </a:p>
        </p:txBody>
      </p:sp>
    </p:spTree>
    <p:extLst>
      <p:ext uri="{BB962C8B-B14F-4D97-AF65-F5344CB8AC3E}">
        <p14:creationId xmlns:p14="http://schemas.microsoft.com/office/powerpoint/2010/main" val="33667084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2409F-79A9-E245-53C9-4777F80CA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0E8B5-3A91-7989-A818-91E7B73EDC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0446E9-6197-86D7-5556-0C6AD3A0A322}"/>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F676016-4E63-11D1-3347-404DD9D4DE15}"/>
              </a:ext>
            </a:extLst>
          </p:cNvPr>
          <p:cNvSpPr>
            <a:spLocks noGrp="1"/>
          </p:cNvSpPr>
          <p:nvPr>
            <p:ph type="sldNum" sz="quarter" idx="5"/>
          </p:nvPr>
        </p:nvSpPr>
        <p:spPr/>
        <p:txBody>
          <a:bodyPr/>
          <a:lstStyle/>
          <a:p>
            <a:fld id="{E27E38AF-BC93-4612-8619-54F4BB1E39A6}" type="slidenum">
              <a:rPr lang="en-PH" smtClean="0"/>
              <a:t>21</a:t>
            </a:fld>
            <a:endParaRPr lang="en-PH"/>
          </a:p>
        </p:txBody>
      </p:sp>
    </p:spTree>
    <p:extLst>
      <p:ext uri="{BB962C8B-B14F-4D97-AF65-F5344CB8AC3E}">
        <p14:creationId xmlns:p14="http://schemas.microsoft.com/office/powerpoint/2010/main" val="18101762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F4B75-9583-0C37-C556-747F516C6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D63211-9AC6-02C3-8667-DF511A77C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FA7B2-CB99-97D8-439C-C458353B6CCB}"/>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FD3B9414-DCA8-A37B-8245-844B052E04EF}"/>
              </a:ext>
            </a:extLst>
          </p:cNvPr>
          <p:cNvSpPr>
            <a:spLocks noGrp="1"/>
          </p:cNvSpPr>
          <p:nvPr>
            <p:ph type="sldNum" sz="quarter" idx="5"/>
          </p:nvPr>
        </p:nvSpPr>
        <p:spPr/>
        <p:txBody>
          <a:bodyPr/>
          <a:lstStyle/>
          <a:p>
            <a:fld id="{E27E38AF-BC93-4612-8619-54F4BB1E39A6}" type="slidenum">
              <a:rPr lang="en-PH" smtClean="0"/>
              <a:t>22</a:t>
            </a:fld>
            <a:endParaRPr lang="en-PH"/>
          </a:p>
        </p:txBody>
      </p:sp>
    </p:spTree>
    <p:extLst>
      <p:ext uri="{BB962C8B-B14F-4D97-AF65-F5344CB8AC3E}">
        <p14:creationId xmlns:p14="http://schemas.microsoft.com/office/powerpoint/2010/main" val="40423437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1611C-1E26-CC39-E208-3B3FA26A4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B636FC-2EF0-B48D-DFF0-010800B285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AE8CF1-038E-B230-407B-2DABB34BF064}"/>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199B290C-B3E5-0E32-F3B4-2F11C64BC7AF}"/>
              </a:ext>
            </a:extLst>
          </p:cNvPr>
          <p:cNvSpPr>
            <a:spLocks noGrp="1"/>
          </p:cNvSpPr>
          <p:nvPr>
            <p:ph type="sldNum" sz="quarter" idx="5"/>
          </p:nvPr>
        </p:nvSpPr>
        <p:spPr/>
        <p:txBody>
          <a:bodyPr/>
          <a:lstStyle/>
          <a:p>
            <a:fld id="{E27E38AF-BC93-4612-8619-54F4BB1E39A6}" type="slidenum">
              <a:rPr lang="en-PH" smtClean="0"/>
              <a:t>23</a:t>
            </a:fld>
            <a:endParaRPr lang="en-PH"/>
          </a:p>
        </p:txBody>
      </p:sp>
    </p:spTree>
    <p:extLst>
      <p:ext uri="{BB962C8B-B14F-4D97-AF65-F5344CB8AC3E}">
        <p14:creationId xmlns:p14="http://schemas.microsoft.com/office/powerpoint/2010/main" val="34202971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3C396-31F3-B2BE-FFE7-7330B3AFA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2E6F4-903B-E823-CF9C-10271C5736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06323-49FE-CEE6-68D8-7024B70E3A42}"/>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FC3CE15-BCB4-57B3-D3A8-0E04BF8C05D6}"/>
              </a:ext>
            </a:extLst>
          </p:cNvPr>
          <p:cNvSpPr>
            <a:spLocks noGrp="1"/>
          </p:cNvSpPr>
          <p:nvPr>
            <p:ph type="sldNum" sz="quarter" idx="5"/>
          </p:nvPr>
        </p:nvSpPr>
        <p:spPr/>
        <p:txBody>
          <a:bodyPr/>
          <a:lstStyle/>
          <a:p>
            <a:fld id="{E27E38AF-BC93-4612-8619-54F4BB1E39A6}" type="slidenum">
              <a:rPr lang="en-PH" smtClean="0"/>
              <a:t>24</a:t>
            </a:fld>
            <a:endParaRPr lang="en-PH"/>
          </a:p>
        </p:txBody>
      </p:sp>
    </p:spTree>
    <p:extLst>
      <p:ext uri="{BB962C8B-B14F-4D97-AF65-F5344CB8AC3E}">
        <p14:creationId xmlns:p14="http://schemas.microsoft.com/office/powerpoint/2010/main" val="12334748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A195E-777F-27D3-450B-D5430BA2B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9EF9E-10DC-C058-CE6D-B3C1B3DC0D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4F1C09-5058-CCC8-36C4-FC99977FB344}"/>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EEA9E4E-3B1C-DE36-5B68-586311D94AC3}"/>
              </a:ext>
            </a:extLst>
          </p:cNvPr>
          <p:cNvSpPr>
            <a:spLocks noGrp="1"/>
          </p:cNvSpPr>
          <p:nvPr>
            <p:ph type="sldNum" sz="quarter" idx="5"/>
          </p:nvPr>
        </p:nvSpPr>
        <p:spPr/>
        <p:txBody>
          <a:bodyPr/>
          <a:lstStyle/>
          <a:p>
            <a:fld id="{E27E38AF-BC93-4612-8619-54F4BB1E39A6}" type="slidenum">
              <a:rPr lang="en-PH" smtClean="0"/>
              <a:t>25</a:t>
            </a:fld>
            <a:endParaRPr lang="en-PH"/>
          </a:p>
        </p:txBody>
      </p:sp>
    </p:spTree>
    <p:extLst>
      <p:ext uri="{BB962C8B-B14F-4D97-AF65-F5344CB8AC3E}">
        <p14:creationId xmlns:p14="http://schemas.microsoft.com/office/powerpoint/2010/main" val="42581905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69556-07F2-041D-5963-6DF5059889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65A00-C762-7C88-1868-78B70D6871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36278B-BB2F-3413-4BA6-103C75444D85}"/>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7AE3383F-7D35-2908-F11B-9670367DA9D6}"/>
              </a:ext>
            </a:extLst>
          </p:cNvPr>
          <p:cNvSpPr>
            <a:spLocks noGrp="1"/>
          </p:cNvSpPr>
          <p:nvPr>
            <p:ph type="sldNum" sz="quarter" idx="5"/>
          </p:nvPr>
        </p:nvSpPr>
        <p:spPr/>
        <p:txBody>
          <a:bodyPr/>
          <a:lstStyle/>
          <a:p>
            <a:fld id="{E27E38AF-BC93-4612-8619-54F4BB1E39A6}" type="slidenum">
              <a:rPr lang="en-PH" smtClean="0"/>
              <a:t>26</a:t>
            </a:fld>
            <a:endParaRPr lang="en-PH"/>
          </a:p>
        </p:txBody>
      </p:sp>
    </p:spTree>
    <p:extLst>
      <p:ext uri="{BB962C8B-B14F-4D97-AF65-F5344CB8AC3E}">
        <p14:creationId xmlns:p14="http://schemas.microsoft.com/office/powerpoint/2010/main" val="26228790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6B33C-BD59-7B31-3018-00A7B113F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3F42CD-B08F-D17E-5689-86638D71D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FBDEE-A05F-7950-E9E7-47E1804E0FBB}"/>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2F36B85F-AA9C-5015-AE81-8756B2B35045}"/>
              </a:ext>
            </a:extLst>
          </p:cNvPr>
          <p:cNvSpPr>
            <a:spLocks noGrp="1"/>
          </p:cNvSpPr>
          <p:nvPr>
            <p:ph type="sldNum" sz="quarter" idx="5"/>
          </p:nvPr>
        </p:nvSpPr>
        <p:spPr/>
        <p:txBody>
          <a:bodyPr/>
          <a:lstStyle/>
          <a:p>
            <a:fld id="{E27E38AF-BC93-4612-8619-54F4BB1E39A6}" type="slidenum">
              <a:rPr lang="en-PH" smtClean="0"/>
              <a:t>27</a:t>
            </a:fld>
            <a:endParaRPr lang="en-PH"/>
          </a:p>
        </p:txBody>
      </p:sp>
    </p:spTree>
    <p:extLst>
      <p:ext uri="{BB962C8B-B14F-4D97-AF65-F5344CB8AC3E}">
        <p14:creationId xmlns:p14="http://schemas.microsoft.com/office/powerpoint/2010/main" val="38436109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530D8-A5B6-3C42-4C4C-F217F715A2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2FD34-3526-F6DC-1B5F-A568F37BE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39551-DB09-649D-460C-551DB8A30731}"/>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D734D009-B439-74CC-C1D0-55B831B29891}"/>
              </a:ext>
            </a:extLst>
          </p:cNvPr>
          <p:cNvSpPr>
            <a:spLocks noGrp="1"/>
          </p:cNvSpPr>
          <p:nvPr>
            <p:ph type="sldNum" sz="quarter" idx="5"/>
          </p:nvPr>
        </p:nvSpPr>
        <p:spPr/>
        <p:txBody>
          <a:bodyPr/>
          <a:lstStyle/>
          <a:p>
            <a:fld id="{E27E38AF-BC93-4612-8619-54F4BB1E39A6}" type="slidenum">
              <a:rPr lang="en-PH" smtClean="0"/>
              <a:t>28</a:t>
            </a:fld>
            <a:endParaRPr lang="en-PH"/>
          </a:p>
        </p:txBody>
      </p:sp>
    </p:spTree>
    <p:extLst>
      <p:ext uri="{BB962C8B-B14F-4D97-AF65-F5344CB8AC3E}">
        <p14:creationId xmlns:p14="http://schemas.microsoft.com/office/powerpoint/2010/main" val="199306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7462E-AFF8-6878-1214-15F62F293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4C28A-2F7A-7EA5-D59C-43418F3FA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5D2E00-97B1-0A89-A82B-3C5F6909EE79}"/>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209CB2D9-A8BF-D742-3691-77C313F97C83}"/>
              </a:ext>
            </a:extLst>
          </p:cNvPr>
          <p:cNvSpPr>
            <a:spLocks noGrp="1"/>
          </p:cNvSpPr>
          <p:nvPr>
            <p:ph type="sldNum" sz="quarter" idx="5"/>
          </p:nvPr>
        </p:nvSpPr>
        <p:spPr/>
        <p:txBody>
          <a:bodyPr/>
          <a:lstStyle/>
          <a:p>
            <a:fld id="{E27E38AF-BC93-4612-8619-54F4BB1E39A6}" type="slidenum">
              <a:rPr lang="en-PH" smtClean="0"/>
              <a:t>29</a:t>
            </a:fld>
            <a:endParaRPr lang="en-PH"/>
          </a:p>
        </p:txBody>
      </p:sp>
    </p:spTree>
    <p:extLst>
      <p:ext uri="{BB962C8B-B14F-4D97-AF65-F5344CB8AC3E}">
        <p14:creationId xmlns:p14="http://schemas.microsoft.com/office/powerpoint/2010/main" val="39738025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00693-3FA0-3715-7934-7D2FD09126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2CE3B-0AAE-D1D1-F818-35915ADD48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D8305E-2115-EDE0-678D-6C7A1B6EA54A}"/>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20A46E0-9929-DB22-2F36-9469E17DA902}"/>
              </a:ext>
            </a:extLst>
          </p:cNvPr>
          <p:cNvSpPr>
            <a:spLocks noGrp="1"/>
          </p:cNvSpPr>
          <p:nvPr>
            <p:ph type="sldNum" sz="quarter" idx="5"/>
          </p:nvPr>
        </p:nvSpPr>
        <p:spPr/>
        <p:txBody>
          <a:bodyPr/>
          <a:lstStyle/>
          <a:p>
            <a:fld id="{E27E38AF-BC93-4612-8619-54F4BB1E39A6}" type="slidenum">
              <a:rPr lang="en-PH" smtClean="0"/>
              <a:t>30</a:t>
            </a:fld>
            <a:endParaRPr lang="en-PH"/>
          </a:p>
        </p:txBody>
      </p:sp>
    </p:spTree>
    <p:extLst>
      <p:ext uri="{BB962C8B-B14F-4D97-AF65-F5344CB8AC3E}">
        <p14:creationId xmlns:p14="http://schemas.microsoft.com/office/powerpoint/2010/main" val="37468565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C138B-8946-6836-7E1E-ED3F43417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CE3C9-4D5C-5DBB-384B-73B87B33C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9280C-C780-1017-8482-29F6E9AAC1BE}"/>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0E35E819-749D-5774-F03C-858EBB4475BE}"/>
              </a:ext>
            </a:extLst>
          </p:cNvPr>
          <p:cNvSpPr>
            <a:spLocks noGrp="1"/>
          </p:cNvSpPr>
          <p:nvPr>
            <p:ph type="sldNum" sz="quarter" idx="5"/>
          </p:nvPr>
        </p:nvSpPr>
        <p:spPr/>
        <p:txBody>
          <a:bodyPr/>
          <a:lstStyle/>
          <a:p>
            <a:fld id="{E27E38AF-BC93-4612-8619-54F4BB1E39A6}" type="slidenum">
              <a:rPr lang="en-PH" smtClean="0"/>
              <a:t>31</a:t>
            </a:fld>
            <a:endParaRPr lang="en-PH"/>
          </a:p>
        </p:txBody>
      </p:sp>
    </p:spTree>
    <p:extLst>
      <p:ext uri="{BB962C8B-B14F-4D97-AF65-F5344CB8AC3E}">
        <p14:creationId xmlns:p14="http://schemas.microsoft.com/office/powerpoint/2010/main" val="14840203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3C29C-2135-3432-F7D5-3A4FFF460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8DBE7-97A3-6A1E-59AE-178690291F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16916-3481-6482-42C0-343D74194975}"/>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50CAA02-3763-A9DD-55F5-6D80FEF4EB6A}"/>
              </a:ext>
            </a:extLst>
          </p:cNvPr>
          <p:cNvSpPr>
            <a:spLocks noGrp="1"/>
          </p:cNvSpPr>
          <p:nvPr>
            <p:ph type="sldNum" sz="quarter" idx="5"/>
          </p:nvPr>
        </p:nvSpPr>
        <p:spPr/>
        <p:txBody>
          <a:bodyPr/>
          <a:lstStyle/>
          <a:p>
            <a:fld id="{E27E38AF-BC93-4612-8619-54F4BB1E39A6}" type="slidenum">
              <a:rPr lang="en-PH" smtClean="0"/>
              <a:t>32</a:t>
            </a:fld>
            <a:endParaRPr lang="en-PH"/>
          </a:p>
        </p:txBody>
      </p:sp>
    </p:spTree>
    <p:extLst>
      <p:ext uri="{BB962C8B-B14F-4D97-AF65-F5344CB8AC3E}">
        <p14:creationId xmlns:p14="http://schemas.microsoft.com/office/powerpoint/2010/main" val="30863776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1C395-5AE3-A282-B590-76161A20A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768CC-A126-F60C-E7E4-621020E07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92452-5EA7-BC86-BF85-1CF01E4EFACD}"/>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F757F9A5-5617-D3B1-5B3F-6CEFC6966655}"/>
              </a:ext>
            </a:extLst>
          </p:cNvPr>
          <p:cNvSpPr>
            <a:spLocks noGrp="1"/>
          </p:cNvSpPr>
          <p:nvPr>
            <p:ph type="sldNum" sz="quarter" idx="5"/>
          </p:nvPr>
        </p:nvSpPr>
        <p:spPr/>
        <p:txBody>
          <a:bodyPr/>
          <a:lstStyle/>
          <a:p>
            <a:fld id="{E27E38AF-BC93-4612-8619-54F4BB1E39A6}" type="slidenum">
              <a:rPr lang="en-PH" smtClean="0"/>
              <a:t>33</a:t>
            </a:fld>
            <a:endParaRPr lang="en-PH"/>
          </a:p>
        </p:txBody>
      </p:sp>
    </p:spTree>
    <p:extLst>
      <p:ext uri="{BB962C8B-B14F-4D97-AF65-F5344CB8AC3E}">
        <p14:creationId xmlns:p14="http://schemas.microsoft.com/office/powerpoint/2010/main" val="17161180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01D8C-1160-7A25-B095-EA0AFEE5E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4ECED-31E1-E863-6812-21CD5C5AC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C2888-6E33-EF75-4125-CD0C80CF6698}"/>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A4DA29DB-83FD-662C-8B7B-948ADF14E870}"/>
              </a:ext>
            </a:extLst>
          </p:cNvPr>
          <p:cNvSpPr>
            <a:spLocks noGrp="1"/>
          </p:cNvSpPr>
          <p:nvPr>
            <p:ph type="sldNum" sz="quarter" idx="5"/>
          </p:nvPr>
        </p:nvSpPr>
        <p:spPr/>
        <p:txBody>
          <a:bodyPr/>
          <a:lstStyle/>
          <a:p>
            <a:fld id="{E27E38AF-BC93-4612-8619-54F4BB1E39A6}" type="slidenum">
              <a:rPr lang="en-PH" smtClean="0"/>
              <a:t>34</a:t>
            </a:fld>
            <a:endParaRPr lang="en-PH"/>
          </a:p>
        </p:txBody>
      </p:sp>
    </p:spTree>
    <p:extLst>
      <p:ext uri="{BB962C8B-B14F-4D97-AF65-F5344CB8AC3E}">
        <p14:creationId xmlns:p14="http://schemas.microsoft.com/office/powerpoint/2010/main" val="38514089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5610D-F422-936B-355E-9741D32A1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37A80-BF42-289D-99B4-C552A51A2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CEF5ED-6989-258B-FA31-4ED55ED5607F}"/>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B5FEA50B-D51E-A53D-8B51-40F8E8497C6B}"/>
              </a:ext>
            </a:extLst>
          </p:cNvPr>
          <p:cNvSpPr>
            <a:spLocks noGrp="1"/>
          </p:cNvSpPr>
          <p:nvPr>
            <p:ph type="sldNum" sz="quarter" idx="5"/>
          </p:nvPr>
        </p:nvSpPr>
        <p:spPr/>
        <p:txBody>
          <a:bodyPr/>
          <a:lstStyle/>
          <a:p>
            <a:fld id="{E27E38AF-BC93-4612-8619-54F4BB1E39A6}" type="slidenum">
              <a:rPr lang="en-PH" smtClean="0"/>
              <a:t>35</a:t>
            </a:fld>
            <a:endParaRPr lang="en-PH"/>
          </a:p>
        </p:txBody>
      </p:sp>
    </p:spTree>
    <p:extLst>
      <p:ext uri="{BB962C8B-B14F-4D97-AF65-F5344CB8AC3E}">
        <p14:creationId xmlns:p14="http://schemas.microsoft.com/office/powerpoint/2010/main" val="34278316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D8F31-E4CE-28E4-F904-81F7210AE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52FAC-47FA-BD72-4D4E-2E2D12373F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7DDCE5-9DB4-0E6E-7A52-24E71EC05F64}"/>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971A0DE4-C58A-5E59-67A8-C155579ACEC2}"/>
              </a:ext>
            </a:extLst>
          </p:cNvPr>
          <p:cNvSpPr>
            <a:spLocks noGrp="1"/>
          </p:cNvSpPr>
          <p:nvPr>
            <p:ph type="sldNum" sz="quarter" idx="5"/>
          </p:nvPr>
        </p:nvSpPr>
        <p:spPr/>
        <p:txBody>
          <a:bodyPr/>
          <a:lstStyle/>
          <a:p>
            <a:fld id="{E27E38AF-BC93-4612-8619-54F4BB1E39A6}" type="slidenum">
              <a:rPr lang="en-PH" smtClean="0"/>
              <a:t>36</a:t>
            </a:fld>
            <a:endParaRPr lang="en-PH"/>
          </a:p>
        </p:txBody>
      </p:sp>
    </p:spTree>
    <p:extLst>
      <p:ext uri="{BB962C8B-B14F-4D97-AF65-F5344CB8AC3E}">
        <p14:creationId xmlns:p14="http://schemas.microsoft.com/office/powerpoint/2010/main" val="22253838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4B578-259B-8FA4-384B-11EA3B682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15E3CC-D856-06FF-88DC-B88EC80ED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E72CA-E64F-A9CF-2B8E-13E1A002EFBB}"/>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F0589799-EFB0-AD16-CDE1-9C78C74C2417}"/>
              </a:ext>
            </a:extLst>
          </p:cNvPr>
          <p:cNvSpPr>
            <a:spLocks noGrp="1"/>
          </p:cNvSpPr>
          <p:nvPr>
            <p:ph type="sldNum" sz="quarter" idx="5"/>
          </p:nvPr>
        </p:nvSpPr>
        <p:spPr/>
        <p:txBody>
          <a:bodyPr/>
          <a:lstStyle/>
          <a:p>
            <a:fld id="{E27E38AF-BC93-4612-8619-54F4BB1E39A6}" type="slidenum">
              <a:rPr lang="en-PH" smtClean="0"/>
              <a:t>37</a:t>
            </a:fld>
            <a:endParaRPr lang="en-PH"/>
          </a:p>
        </p:txBody>
      </p:sp>
    </p:spTree>
    <p:extLst>
      <p:ext uri="{BB962C8B-B14F-4D97-AF65-F5344CB8AC3E}">
        <p14:creationId xmlns:p14="http://schemas.microsoft.com/office/powerpoint/2010/main" val="36880726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CF316-4879-7358-B475-85FCAD91D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1769D-0233-2DB8-C9AD-58A1BEC85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6E28ED-52AC-405E-FB50-98CE6A72139D}"/>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689D7C1D-F154-71E6-F1B1-0B408B00AD19}"/>
              </a:ext>
            </a:extLst>
          </p:cNvPr>
          <p:cNvSpPr>
            <a:spLocks noGrp="1"/>
          </p:cNvSpPr>
          <p:nvPr>
            <p:ph type="sldNum" sz="quarter" idx="5"/>
          </p:nvPr>
        </p:nvSpPr>
        <p:spPr/>
        <p:txBody>
          <a:bodyPr/>
          <a:lstStyle/>
          <a:p>
            <a:fld id="{E27E38AF-BC93-4612-8619-54F4BB1E39A6}" type="slidenum">
              <a:rPr lang="en-PH" smtClean="0"/>
              <a:t>38</a:t>
            </a:fld>
            <a:endParaRPr lang="en-PH"/>
          </a:p>
        </p:txBody>
      </p:sp>
    </p:spTree>
    <p:extLst>
      <p:ext uri="{BB962C8B-B14F-4D97-AF65-F5344CB8AC3E}">
        <p14:creationId xmlns:p14="http://schemas.microsoft.com/office/powerpoint/2010/main" val="15856433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9A221-7DB4-FA96-B1EE-022EBE8F63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AC6D4-622A-D853-2435-169CCD461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77824D-DC80-3232-BE93-D298D8B81D58}"/>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0E3C2F6-C760-05EA-0810-BABF5CBD28C2}"/>
              </a:ext>
            </a:extLst>
          </p:cNvPr>
          <p:cNvSpPr>
            <a:spLocks noGrp="1"/>
          </p:cNvSpPr>
          <p:nvPr>
            <p:ph type="sldNum" sz="quarter" idx="5"/>
          </p:nvPr>
        </p:nvSpPr>
        <p:spPr/>
        <p:txBody>
          <a:bodyPr/>
          <a:lstStyle/>
          <a:p>
            <a:fld id="{E27E38AF-BC93-4612-8619-54F4BB1E39A6}" type="slidenum">
              <a:rPr lang="en-PH" smtClean="0"/>
              <a:t>39</a:t>
            </a:fld>
            <a:endParaRPr lang="en-PH"/>
          </a:p>
        </p:txBody>
      </p:sp>
    </p:spTree>
    <p:extLst>
      <p:ext uri="{BB962C8B-B14F-4D97-AF65-F5344CB8AC3E}">
        <p14:creationId xmlns:p14="http://schemas.microsoft.com/office/powerpoint/2010/main" val="24398805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9A51A-1F2A-E525-FDB5-ACAE9AFC4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9183E-8B5E-2C69-A749-123AFE8D3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3B590-AA08-969D-6792-763219FB805E}"/>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7236814-0CDA-66D4-5142-6066EAC8674C}"/>
              </a:ext>
            </a:extLst>
          </p:cNvPr>
          <p:cNvSpPr>
            <a:spLocks noGrp="1"/>
          </p:cNvSpPr>
          <p:nvPr>
            <p:ph type="sldNum" sz="quarter" idx="5"/>
          </p:nvPr>
        </p:nvSpPr>
        <p:spPr/>
        <p:txBody>
          <a:bodyPr/>
          <a:lstStyle/>
          <a:p>
            <a:fld id="{E27E38AF-BC93-4612-8619-54F4BB1E39A6}" type="slidenum">
              <a:rPr lang="en-PH" smtClean="0"/>
              <a:t>40</a:t>
            </a:fld>
            <a:endParaRPr lang="en-PH"/>
          </a:p>
        </p:txBody>
      </p:sp>
    </p:spTree>
    <p:extLst>
      <p:ext uri="{BB962C8B-B14F-4D97-AF65-F5344CB8AC3E}">
        <p14:creationId xmlns:p14="http://schemas.microsoft.com/office/powerpoint/2010/main" val="12480982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D20FA-3A00-C26F-233F-3ED8DAAFC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D0211-8D69-365C-E9F8-6109861367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79617-2DA4-3492-AEDE-2D5FC05EA92D}"/>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FF0BB1E4-73F1-4C0F-4FFD-208CAA2A58D0}"/>
              </a:ext>
            </a:extLst>
          </p:cNvPr>
          <p:cNvSpPr>
            <a:spLocks noGrp="1"/>
          </p:cNvSpPr>
          <p:nvPr>
            <p:ph type="sldNum" sz="quarter" idx="5"/>
          </p:nvPr>
        </p:nvSpPr>
        <p:spPr/>
        <p:txBody>
          <a:bodyPr/>
          <a:lstStyle/>
          <a:p>
            <a:fld id="{E27E38AF-BC93-4612-8619-54F4BB1E39A6}" type="slidenum">
              <a:rPr lang="en-PH" smtClean="0"/>
              <a:t>41</a:t>
            </a:fld>
            <a:endParaRPr lang="en-PH"/>
          </a:p>
        </p:txBody>
      </p:sp>
    </p:spTree>
    <p:extLst>
      <p:ext uri="{BB962C8B-B14F-4D97-AF65-F5344CB8AC3E}">
        <p14:creationId xmlns:p14="http://schemas.microsoft.com/office/powerpoint/2010/main" val="18468603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8FDFE-BE46-07F1-3D27-3950998F8B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CA9662-99A9-7FF1-557B-4BBEA6D387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46D7EC-56AE-0343-D58B-08AC6D3A6820}"/>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49845F4-CDBE-016C-91F9-DA74A94F5E35}"/>
              </a:ext>
            </a:extLst>
          </p:cNvPr>
          <p:cNvSpPr>
            <a:spLocks noGrp="1"/>
          </p:cNvSpPr>
          <p:nvPr>
            <p:ph type="sldNum" sz="quarter" idx="5"/>
          </p:nvPr>
        </p:nvSpPr>
        <p:spPr/>
        <p:txBody>
          <a:bodyPr/>
          <a:lstStyle/>
          <a:p>
            <a:fld id="{E27E38AF-BC93-4612-8619-54F4BB1E39A6}" type="slidenum">
              <a:rPr lang="en-PH" smtClean="0"/>
              <a:t>42</a:t>
            </a:fld>
            <a:endParaRPr lang="en-PH"/>
          </a:p>
        </p:txBody>
      </p:sp>
    </p:spTree>
    <p:extLst>
      <p:ext uri="{BB962C8B-B14F-4D97-AF65-F5344CB8AC3E}">
        <p14:creationId xmlns:p14="http://schemas.microsoft.com/office/powerpoint/2010/main" val="2007291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1CFCC-4C4D-ABC6-71D5-954D034F9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E490F-A3D8-27AD-0EF3-FCB34BDB6A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14A947-7F80-09D8-6FD0-9DB90BA98B6B}"/>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FB45E4C-1D62-0B8E-D573-F886A950872F}"/>
              </a:ext>
            </a:extLst>
          </p:cNvPr>
          <p:cNvSpPr>
            <a:spLocks noGrp="1"/>
          </p:cNvSpPr>
          <p:nvPr>
            <p:ph type="sldNum" sz="quarter" idx="5"/>
          </p:nvPr>
        </p:nvSpPr>
        <p:spPr/>
        <p:txBody>
          <a:bodyPr/>
          <a:lstStyle/>
          <a:p>
            <a:fld id="{E27E38AF-BC93-4612-8619-54F4BB1E39A6}" type="slidenum">
              <a:rPr lang="en-PH" smtClean="0"/>
              <a:t>43</a:t>
            </a:fld>
            <a:endParaRPr lang="en-PH"/>
          </a:p>
        </p:txBody>
      </p:sp>
    </p:spTree>
    <p:extLst>
      <p:ext uri="{BB962C8B-B14F-4D97-AF65-F5344CB8AC3E}">
        <p14:creationId xmlns:p14="http://schemas.microsoft.com/office/powerpoint/2010/main" val="6723079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689B4-F014-42CB-D939-DC2FF09775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18FE6-4F9B-1576-8569-4486C7BF3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B0569D-A667-EDA4-7F5D-3FA56D3182B1}"/>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ADBF2011-0779-03A5-D396-79FEA07479DC}"/>
              </a:ext>
            </a:extLst>
          </p:cNvPr>
          <p:cNvSpPr>
            <a:spLocks noGrp="1"/>
          </p:cNvSpPr>
          <p:nvPr>
            <p:ph type="sldNum" sz="quarter" idx="5"/>
          </p:nvPr>
        </p:nvSpPr>
        <p:spPr/>
        <p:txBody>
          <a:bodyPr/>
          <a:lstStyle/>
          <a:p>
            <a:fld id="{E27E38AF-BC93-4612-8619-54F4BB1E39A6}" type="slidenum">
              <a:rPr lang="en-PH" smtClean="0"/>
              <a:t>44</a:t>
            </a:fld>
            <a:endParaRPr lang="en-PH"/>
          </a:p>
        </p:txBody>
      </p:sp>
    </p:spTree>
    <p:extLst>
      <p:ext uri="{BB962C8B-B14F-4D97-AF65-F5344CB8AC3E}">
        <p14:creationId xmlns:p14="http://schemas.microsoft.com/office/powerpoint/2010/main" val="40555927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06C40-BED7-7A01-E33B-7D44DED8F3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C3FDE-9733-EDFB-B629-93DCB643E9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F1AAD-2614-4328-66D6-22826C0AE6E8}"/>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C399B706-DAEC-ABFF-0CAC-E1C56C6A215B}"/>
              </a:ext>
            </a:extLst>
          </p:cNvPr>
          <p:cNvSpPr>
            <a:spLocks noGrp="1"/>
          </p:cNvSpPr>
          <p:nvPr>
            <p:ph type="sldNum" sz="quarter" idx="5"/>
          </p:nvPr>
        </p:nvSpPr>
        <p:spPr/>
        <p:txBody>
          <a:bodyPr/>
          <a:lstStyle/>
          <a:p>
            <a:fld id="{E27E38AF-BC93-4612-8619-54F4BB1E39A6}" type="slidenum">
              <a:rPr lang="en-PH" smtClean="0"/>
              <a:t>45</a:t>
            </a:fld>
            <a:endParaRPr lang="en-PH"/>
          </a:p>
        </p:txBody>
      </p:sp>
    </p:spTree>
    <p:extLst>
      <p:ext uri="{BB962C8B-B14F-4D97-AF65-F5344CB8AC3E}">
        <p14:creationId xmlns:p14="http://schemas.microsoft.com/office/powerpoint/2010/main" val="31448651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4B03F-7525-7E70-2604-3B2C2A2A5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BF11A-1EA6-92D4-EF18-E36006A87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D6D981-6AC0-D81B-4BCE-6E575C4CB959}"/>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6A6CDCCC-B9A9-0506-D219-00A27FD5E135}"/>
              </a:ext>
            </a:extLst>
          </p:cNvPr>
          <p:cNvSpPr>
            <a:spLocks noGrp="1"/>
          </p:cNvSpPr>
          <p:nvPr>
            <p:ph type="sldNum" sz="quarter" idx="5"/>
          </p:nvPr>
        </p:nvSpPr>
        <p:spPr/>
        <p:txBody>
          <a:bodyPr/>
          <a:lstStyle/>
          <a:p>
            <a:fld id="{E27E38AF-BC93-4612-8619-54F4BB1E39A6}" type="slidenum">
              <a:rPr lang="en-PH" smtClean="0"/>
              <a:t>46</a:t>
            </a:fld>
            <a:endParaRPr lang="en-PH"/>
          </a:p>
        </p:txBody>
      </p:sp>
    </p:spTree>
    <p:extLst>
      <p:ext uri="{BB962C8B-B14F-4D97-AF65-F5344CB8AC3E}">
        <p14:creationId xmlns:p14="http://schemas.microsoft.com/office/powerpoint/2010/main" val="19337683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5812D-412C-91C9-336D-742CE0497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76B234-FD62-EC08-69BF-7DA07A413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D00AA-7520-C081-AEFA-08A686E29672}"/>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BE640817-3BD1-3479-29D8-7B69E44DEFA4}"/>
              </a:ext>
            </a:extLst>
          </p:cNvPr>
          <p:cNvSpPr>
            <a:spLocks noGrp="1"/>
          </p:cNvSpPr>
          <p:nvPr>
            <p:ph type="sldNum" sz="quarter" idx="5"/>
          </p:nvPr>
        </p:nvSpPr>
        <p:spPr/>
        <p:txBody>
          <a:bodyPr/>
          <a:lstStyle/>
          <a:p>
            <a:fld id="{E27E38AF-BC93-4612-8619-54F4BB1E39A6}" type="slidenum">
              <a:rPr lang="en-PH" smtClean="0"/>
              <a:t>47</a:t>
            </a:fld>
            <a:endParaRPr lang="en-PH"/>
          </a:p>
        </p:txBody>
      </p:sp>
    </p:spTree>
    <p:extLst>
      <p:ext uri="{BB962C8B-B14F-4D97-AF65-F5344CB8AC3E}">
        <p14:creationId xmlns:p14="http://schemas.microsoft.com/office/powerpoint/2010/main" val="41480134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AA966-14C2-F5B4-3C38-D2237A04E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C7C93-CC5E-E416-172F-7C69A13B2C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1EF1B-0529-548A-E9E7-8EF86FFACD2B}"/>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93FCC5C-92CF-8866-47F1-3710F79F2496}"/>
              </a:ext>
            </a:extLst>
          </p:cNvPr>
          <p:cNvSpPr>
            <a:spLocks noGrp="1"/>
          </p:cNvSpPr>
          <p:nvPr>
            <p:ph type="sldNum" sz="quarter" idx="5"/>
          </p:nvPr>
        </p:nvSpPr>
        <p:spPr/>
        <p:txBody>
          <a:bodyPr/>
          <a:lstStyle/>
          <a:p>
            <a:fld id="{E27E38AF-BC93-4612-8619-54F4BB1E39A6}" type="slidenum">
              <a:rPr lang="en-PH" smtClean="0"/>
              <a:t>48</a:t>
            </a:fld>
            <a:endParaRPr lang="en-PH"/>
          </a:p>
        </p:txBody>
      </p:sp>
    </p:spTree>
    <p:extLst>
      <p:ext uri="{BB962C8B-B14F-4D97-AF65-F5344CB8AC3E}">
        <p14:creationId xmlns:p14="http://schemas.microsoft.com/office/powerpoint/2010/main" val="17959367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ED209-6330-D2A8-2C15-0DD142031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CB66B-3C12-AC64-24E5-14F5D432BE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F36716-7BF2-9DDA-1690-B9F1A91F7380}"/>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CD40C7E-7642-F1E5-DAC6-3321F27A0BCF}"/>
              </a:ext>
            </a:extLst>
          </p:cNvPr>
          <p:cNvSpPr>
            <a:spLocks noGrp="1"/>
          </p:cNvSpPr>
          <p:nvPr>
            <p:ph type="sldNum" sz="quarter" idx="5"/>
          </p:nvPr>
        </p:nvSpPr>
        <p:spPr/>
        <p:txBody>
          <a:bodyPr/>
          <a:lstStyle/>
          <a:p>
            <a:fld id="{E27E38AF-BC93-4612-8619-54F4BB1E39A6}" type="slidenum">
              <a:rPr lang="en-PH" smtClean="0"/>
              <a:t>49</a:t>
            </a:fld>
            <a:endParaRPr lang="en-PH"/>
          </a:p>
        </p:txBody>
      </p:sp>
    </p:spTree>
    <p:extLst>
      <p:ext uri="{BB962C8B-B14F-4D97-AF65-F5344CB8AC3E}">
        <p14:creationId xmlns:p14="http://schemas.microsoft.com/office/powerpoint/2010/main" val="678882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05A1E-58A3-1B49-2B84-E9E765AEC9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CFC7A-CAB8-DAC1-B3F1-4248573BA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57B85B-A52D-53E5-FDA8-14E4CCDB87C8}"/>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00A9C817-C553-1C48-0895-1D82D51FD5A7}"/>
              </a:ext>
            </a:extLst>
          </p:cNvPr>
          <p:cNvSpPr>
            <a:spLocks noGrp="1"/>
          </p:cNvSpPr>
          <p:nvPr>
            <p:ph type="sldNum" sz="quarter" idx="5"/>
          </p:nvPr>
        </p:nvSpPr>
        <p:spPr/>
        <p:txBody>
          <a:bodyPr/>
          <a:lstStyle/>
          <a:p>
            <a:fld id="{E27E38AF-BC93-4612-8619-54F4BB1E39A6}" type="slidenum">
              <a:rPr lang="en-PH" smtClean="0"/>
              <a:t>50</a:t>
            </a:fld>
            <a:endParaRPr lang="en-PH"/>
          </a:p>
        </p:txBody>
      </p:sp>
    </p:spTree>
    <p:extLst>
      <p:ext uri="{BB962C8B-B14F-4D97-AF65-F5344CB8AC3E}">
        <p14:creationId xmlns:p14="http://schemas.microsoft.com/office/powerpoint/2010/main" val="3387191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0D81C3-E2DA-4793-BDA0-1375955C19F0}" type="datetime1">
              <a:rPr lang="en-US" smtClean="0"/>
              <a:t>11/26/2025</a:t>
            </a:fld>
            <a:endParaRPr lang="en-US"/>
          </a:p>
        </p:txBody>
      </p:sp>
      <p:sp>
        <p:nvSpPr>
          <p:cNvPr id="6" name="Slide Number Placeholder 5"/>
          <p:cNvSpPr>
            <a:spLocks noGrp="1"/>
          </p:cNvSpPr>
          <p:nvPr>
            <p:ph type="sldNum" sz="quarter" idx="4"/>
          </p:nvPr>
        </p:nvSpPr>
        <p:spPr>
          <a:xfrm>
            <a:off x="15925800" y="973879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Footer Placeholder 7">
            <a:extLst>
              <a:ext uri="{FF2B5EF4-FFF2-40B4-BE49-F238E27FC236}">
                <a16:creationId xmlns:a16="http://schemas.microsoft.com/office/drawing/2014/main" id="{466280C9-FBB2-A5C5-B32E-B1F32E20A7CA}"/>
              </a:ext>
            </a:extLst>
          </p:cNvPr>
          <p:cNvSpPr txBox="1">
            <a:spLocks/>
          </p:cNvSpPr>
          <p:nvPr userDrawn="1"/>
        </p:nvSpPr>
        <p:spPr>
          <a:xfrm>
            <a:off x="76200" y="9799686"/>
            <a:ext cx="5181600" cy="30423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ELECTIVE 4 (SPECIAL TOPICS ON WEB AND MOBILE 2)</a:t>
            </a:r>
          </a:p>
          <a:p>
            <a:endParaRPr lang="en-US" dirty="0"/>
          </a:p>
        </p:txBody>
      </p:sp>
    </p:spTree>
  </p:cSld>
  <p:clrMap bg1="lt1" tx1="dk1" bg2="lt2" tx2="dk2" accent1="accent1" accent2="accent2" accent3="accent3" accent4="accent4" accent5="accent5" accent6="accent6" hlink="hlink" folHlink="folHlink"/>
  <p:sldLayoutIdLst>
    <p:sldLayoutId id="2147483655"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70D90189-04C8-86AF-B9A8-6A8CA9F302D2}"/>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0" y="3093590"/>
            <a:ext cx="18287999" cy="4408536"/>
          </a:xfrm>
          <a:prstGeom prst="rect">
            <a:avLst/>
          </a:prstGeom>
        </p:spPr>
      </p:pic>
      <p:sp>
        <p:nvSpPr>
          <p:cNvPr id="20" name="Freeform 20"/>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p:cNvSpPr txBox="1"/>
          <p:nvPr/>
        </p:nvSpPr>
        <p:spPr>
          <a:xfrm>
            <a:off x="1137255" y="3710405"/>
            <a:ext cx="15998250" cy="3158942"/>
          </a:xfrm>
          <a:prstGeom prst="rect">
            <a:avLst/>
          </a:prstGeom>
        </p:spPr>
        <p:txBody>
          <a:bodyPr wrap="square" lIns="0" tIns="0" rIns="0" bIns="0" rtlCol="0" anchor="t">
            <a:spAutoFit/>
          </a:bodyPr>
          <a:lstStyle/>
          <a:p>
            <a:pPr algn="l">
              <a:lnSpc>
                <a:spcPts val="12857"/>
              </a:lnSpc>
            </a:pPr>
            <a:r>
              <a:rPr lang="en-US" sz="8000" spc="-360" dirty="0">
                <a:ln>
                  <a:solidFill>
                    <a:sysClr val="windowText" lastClr="000000"/>
                  </a:solidFill>
                </a:ln>
                <a:solidFill>
                  <a:schemeClr val="bg1"/>
                </a:solidFill>
                <a:latin typeface="Consolas" panose="020B0609020204030204" pitchFamily="49" charset="0"/>
              </a:rPr>
              <a:t>Lesson 5: Intermediate Elements of Python 2</a:t>
            </a:r>
          </a:p>
        </p:txBody>
      </p:sp>
      <p:grpSp>
        <p:nvGrpSpPr>
          <p:cNvPr id="34" name="Group 13">
            <a:extLst>
              <a:ext uri="{FF2B5EF4-FFF2-40B4-BE49-F238E27FC236}">
                <a16:creationId xmlns:a16="http://schemas.microsoft.com/office/drawing/2014/main" id="{03BEDA6F-F03E-338A-E884-B57BB6E88A2C}"/>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774B46A4-1A07-1B6E-041F-F6905CFA41E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E1DF7690-B553-61D6-9179-CCFD49C98B9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7D4F7B43-6DF2-1438-AF14-A92B65A0B7BC}"/>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737FF48A-1343-407F-1EA2-017E5834A286}"/>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5844878D-4F08-5CB8-2978-838AA8A84A59}"/>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6B102466-B83F-E478-304D-B9605AC9EA8F}"/>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p:cNvGrpSpPr/>
          <p:nvPr/>
        </p:nvGrpSpPr>
        <p:grpSpPr>
          <a:xfrm>
            <a:off x="14554200" y="6438900"/>
            <a:ext cx="3886200" cy="3848100"/>
            <a:chOff x="0" y="0"/>
            <a:chExt cx="10022021" cy="9446043"/>
          </a:xfrm>
        </p:grpSpPr>
        <p:sp>
          <p:nvSpPr>
            <p:cNvPr id="3" name="Freeform 3"/>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1A356-45AB-01D7-8B02-6A037F3CC56F}"/>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DC537C6D-A9B0-474D-5F7F-5AE18DEDF03D}"/>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0" y="3093590"/>
            <a:ext cx="18287999" cy="4408536"/>
          </a:xfrm>
          <a:prstGeom prst="rect">
            <a:avLst/>
          </a:prstGeom>
        </p:spPr>
      </p:pic>
      <p:sp>
        <p:nvSpPr>
          <p:cNvPr id="20" name="Freeform 20">
            <a:extLst>
              <a:ext uri="{FF2B5EF4-FFF2-40B4-BE49-F238E27FC236}">
                <a16:creationId xmlns:a16="http://schemas.microsoft.com/office/drawing/2014/main" id="{DCCF0552-DC5F-D921-2DBF-8D9ADCE23E87}"/>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677BFE42-B176-2608-684C-E78343E0976F}"/>
              </a:ext>
            </a:extLst>
          </p:cNvPr>
          <p:cNvSpPr txBox="1"/>
          <p:nvPr/>
        </p:nvSpPr>
        <p:spPr>
          <a:xfrm>
            <a:off x="1138730" y="4391178"/>
            <a:ext cx="15998250" cy="1504643"/>
          </a:xfrm>
          <a:prstGeom prst="rect">
            <a:avLst/>
          </a:prstGeom>
        </p:spPr>
        <p:txBody>
          <a:bodyPr wrap="square" lIns="0" tIns="0" rIns="0" bIns="0" rtlCol="0" anchor="t">
            <a:spAutoFit/>
          </a:bodyPr>
          <a:lstStyle/>
          <a:p>
            <a:pPr algn="l">
              <a:lnSpc>
                <a:spcPts val="12857"/>
              </a:lnSpc>
            </a:pPr>
            <a:r>
              <a:rPr lang="en-US" sz="8000" spc="-360" dirty="0">
                <a:ln>
                  <a:solidFill>
                    <a:sysClr val="windowText" lastClr="000000"/>
                  </a:solidFill>
                </a:ln>
                <a:solidFill>
                  <a:schemeClr val="bg1"/>
                </a:solidFill>
                <a:latin typeface="Consolas" panose="020B0609020204030204" pitchFamily="49" charset="0"/>
              </a:rPr>
              <a:t>Lesson 5.1 Python Modules</a:t>
            </a:r>
          </a:p>
        </p:txBody>
      </p:sp>
      <p:grpSp>
        <p:nvGrpSpPr>
          <p:cNvPr id="34" name="Group 13">
            <a:extLst>
              <a:ext uri="{FF2B5EF4-FFF2-40B4-BE49-F238E27FC236}">
                <a16:creationId xmlns:a16="http://schemas.microsoft.com/office/drawing/2014/main" id="{72A88239-CDE8-8509-855C-3034651AEACC}"/>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41231876-AFAA-BFE3-8020-87684489780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7F23A0F6-6A0E-F41A-6275-065DB1E6963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691AA18A-2302-5992-0343-ACF825E4B8B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17AD6AD9-1336-85C3-785F-721F33BC1CE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93637CC3-0198-DE3E-26F2-EFB385F45F3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96B75947-B7B0-3935-78F3-1AA1899A73D2}"/>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7CF40B39-6A84-80B0-F4B1-AD6D8DFF43BE}"/>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294D204A-9C01-45EE-A4F1-6A2805C346D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8B8B855B-F0C5-7834-0ED7-502E5B0BDF1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DED2EA16-D63D-88E9-6D07-B70CB1BB607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747996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0" y="7086600"/>
            <a:ext cx="3200400" cy="3200400"/>
            <a:chOff x="0" y="0"/>
            <a:chExt cx="10022021" cy="9446043"/>
          </a:xfrm>
        </p:grpSpPr>
        <p:sp>
          <p:nvSpPr>
            <p:cNvPr id="3" name="Freeform 3"/>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6FC96476-CFAB-18A8-4841-0A0AA21B7D2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EBE5AEC0-DCCA-6A88-BD04-736997ED61BB}"/>
              </a:ext>
            </a:extLst>
          </p:cNvPr>
          <p:cNvSpPr txBox="1"/>
          <p:nvPr/>
        </p:nvSpPr>
        <p:spPr>
          <a:xfrm>
            <a:off x="381001" y="2628900"/>
            <a:ext cx="17526000" cy="6186309"/>
          </a:xfrm>
          <a:prstGeom prst="rect">
            <a:avLst/>
          </a:prstGeom>
          <a:noFill/>
        </p:spPr>
        <p:txBody>
          <a:bodyPr wrap="square">
            <a:spAutoFit/>
          </a:bodyPr>
          <a:lstStyle/>
          <a:p>
            <a:pPr algn="just"/>
            <a:r>
              <a:rPr lang="en-US" sz="3600" dirty="0">
                <a:latin typeface="Consolas" panose="020B0609020204030204" pitchFamily="49" charset="0"/>
              </a:rPr>
              <a:t>A module is a file that contains Python code, such as functions, classes, and variables. Modules serve to organize code and promote code reusability by breaking down large programs into smaller, more manageable components. They allow you to logically group related code together and separate concerns in your projects.</a:t>
            </a:r>
          </a:p>
          <a:p>
            <a:pPr algn="just"/>
            <a:endParaRPr lang="en-US" sz="3600" dirty="0">
              <a:latin typeface="Consolas" panose="020B0609020204030204" pitchFamily="49" charset="0"/>
            </a:endParaRPr>
          </a:p>
          <a:p>
            <a:pPr algn="just"/>
            <a:r>
              <a:rPr lang="en-US" sz="3600" dirty="0">
                <a:latin typeface="Consolas" panose="020B0609020204030204" pitchFamily="49" charset="0"/>
              </a:rPr>
              <a:t>Modules help you:</a:t>
            </a:r>
          </a:p>
          <a:p>
            <a:pPr marL="1485900" lvl="2" indent="-571500" algn="just">
              <a:buFont typeface="Wingdings" panose="05000000000000000000" pitchFamily="2" charset="2"/>
              <a:buChar char="ü"/>
            </a:pPr>
            <a:r>
              <a:rPr lang="en-US" sz="3600" dirty="0">
                <a:latin typeface="Consolas" panose="020B0609020204030204" pitchFamily="49" charset="0"/>
              </a:rPr>
              <a:t>Organize code</a:t>
            </a:r>
          </a:p>
          <a:p>
            <a:pPr marL="1485900" lvl="2" indent="-571500" algn="just">
              <a:buFont typeface="Wingdings" panose="05000000000000000000" pitchFamily="2" charset="2"/>
              <a:buChar char="ü"/>
            </a:pPr>
            <a:r>
              <a:rPr lang="en-US" sz="3600" dirty="0">
                <a:latin typeface="Consolas" panose="020B0609020204030204" pitchFamily="49" charset="0"/>
              </a:rPr>
              <a:t>Reuse functions</a:t>
            </a:r>
          </a:p>
          <a:p>
            <a:pPr marL="1485900" lvl="2" indent="-571500" algn="just">
              <a:buFont typeface="Wingdings" panose="05000000000000000000" pitchFamily="2" charset="2"/>
              <a:buChar char="ü"/>
            </a:pPr>
            <a:r>
              <a:rPr lang="en-US" sz="3600" dirty="0">
                <a:latin typeface="Consolas" panose="020B0609020204030204" pitchFamily="49" charset="0"/>
              </a:rPr>
              <a:t>Avoid rewriting logic</a:t>
            </a:r>
          </a:p>
          <a:p>
            <a:pPr marL="1485900" lvl="2" indent="-571500" algn="just">
              <a:buFont typeface="Wingdings" panose="05000000000000000000" pitchFamily="2" charset="2"/>
              <a:buChar char="ü"/>
            </a:pPr>
            <a:r>
              <a:rPr lang="en-US" sz="3600" dirty="0">
                <a:latin typeface="Consolas" panose="020B0609020204030204" pitchFamily="49" charset="0"/>
              </a:rPr>
              <a:t>Keep programs clean and maintainable</a:t>
            </a:r>
          </a:p>
        </p:txBody>
      </p:sp>
      <p:sp>
        <p:nvSpPr>
          <p:cNvPr id="6" name="TextBox 28">
            <a:extLst>
              <a:ext uri="{FF2B5EF4-FFF2-40B4-BE49-F238E27FC236}">
                <a16:creationId xmlns:a16="http://schemas.microsoft.com/office/drawing/2014/main" id="{C91970DA-FA58-B72A-EC7F-2D8AE667FD84}"/>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module</a:t>
            </a:r>
          </a:p>
        </p:txBody>
      </p:sp>
    </p:spTree>
    <p:extLst>
      <p:ext uri="{BB962C8B-B14F-4D97-AF65-F5344CB8AC3E}">
        <p14:creationId xmlns:p14="http://schemas.microsoft.com/office/powerpoint/2010/main" val="2222555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98960-DF82-D7FA-C667-8ECE82B83F8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1071655-3F32-99D7-5B96-4A8B8B19F79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8BCABB3E-2BE7-5746-0108-AA505B47465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192702CC-060B-0383-83A5-F49BD81E3A6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F0872DE-181E-D939-8309-B1DDACEB197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8796E932-B813-0A9E-51AE-BF233D41AC00}"/>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4E44CB73-E06C-EE90-ECE4-CE852B055C86}"/>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65060D13-33E3-659B-60B7-D7CE3560C79E}"/>
              </a:ext>
            </a:extLst>
          </p:cNvPr>
          <p:cNvSpPr txBox="1"/>
          <p:nvPr/>
        </p:nvSpPr>
        <p:spPr>
          <a:xfrm>
            <a:off x="381001" y="2628900"/>
            <a:ext cx="17526000" cy="4524315"/>
          </a:xfrm>
          <a:prstGeom prst="rect">
            <a:avLst/>
          </a:prstGeom>
          <a:noFill/>
        </p:spPr>
        <p:txBody>
          <a:bodyPr wrap="square">
            <a:spAutoFit/>
          </a:bodyPr>
          <a:lstStyle/>
          <a:p>
            <a:pPr marL="742950" indent="-742950" algn="just">
              <a:buAutoNum type="arabicPeriod"/>
            </a:pPr>
            <a:r>
              <a:rPr lang="en-US" sz="3600" dirty="0">
                <a:latin typeface="Consolas" panose="020B0609020204030204" pitchFamily="49" charset="0"/>
              </a:rPr>
              <a:t>Importing the whole module</a:t>
            </a:r>
          </a:p>
          <a:p>
            <a:pPr algn="just"/>
            <a:r>
              <a:rPr lang="en-US" sz="3600" b="1" dirty="0">
                <a:latin typeface="Consolas" panose="020B0609020204030204" pitchFamily="49" charset="0"/>
              </a:rPr>
              <a:t>Syntax: import</a:t>
            </a:r>
            <a:r>
              <a:rPr lang="en-US" sz="3600" dirty="0">
                <a:latin typeface="Consolas" panose="020B0609020204030204" pitchFamily="49" charset="0"/>
              </a:rPr>
              <a:t> </a:t>
            </a:r>
            <a:r>
              <a:rPr lang="en-US" sz="3600" i="1" dirty="0">
                <a:latin typeface="Consolas" panose="020B0609020204030204" pitchFamily="49" charset="0"/>
              </a:rPr>
              <a:t>module</a:t>
            </a:r>
          </a:p>
          <a:p>
            <a:pPr algn="just"/>
            <a:endParaRPr lang="en-US" sz="3600" b="1" i="1" dirty="0">
              <a:latin typeface="Consolas" panose="020B0609020204030204" pitchFamily="49" charset="0"/>
            </a:endParaRPr>
          </a:p>
          <a:p>
            <a:pPr algn="just"/>
            <a:r>
              <a:rPr lang="en-US" sz="3600" dirty="0">
                <a:latin typeface="Consolas" panose="020B0609020204030204" pitchFamily="49" charset="0"/>
              </a:rPr>
              <a:t>2. Importing with an alias</a:t>
            </a:r>
          </a:p>
          <a:p>
            <a:pPr algn="just"/>
            <a:r>
              <a:rPr lang="en-US" sz="3600" b="1" dirty="0">
                <a:latin typeface="Consolas" panose="020B0609020204030204" pitchFamily="49" charset="0"/>
              </a:rPr>
              <a:t>Syntax: import</a:t>
            </a:r>
            <a:r>
              <a:rPr lang="en-US" sz="3600" dirty="0">
                <a:latin typeface="Consolas" panose="020B0609020204030204" pitchFamily="49" charset="0"/>
              </a:rPr>
              <a:t> </a:t>
            </a:r>
            <a:r>
              <a:rPr lang="en-US" sz="3600" i="1" dirty="0">
                <a:latin typeface="Consolas" panose="020B0609020204030204" pitchFamily="49" charset="0"/>
              </a:rPr>
              <a:t>module </a:t>
            </a:r>
            <a:r>
              <a:rPr lang="en-US" sz="3600" b="1" dirty="0">
                <a:latin typeface="Consolas" panose="020B0609020204030204" pitchFamily="49" charset="0"/>
              </a:rPr>
              <a:t>as</a:t>
            </a:r>
            <a:r>
              <a:rPr lang="en-US" sz="3600" i="1" dirty="0">
                <a:latin typeface="Consolas" panose="020B0609020204030204" pitchFamily="49" charset="0"/>
              </a:rPr>
              <a:t> alias</a:t>
            </a:r>
          </a:p>
          <a:p>
            <a:pPr algn="just"/>
            <a:endParaRPr lang="en-US" sz="3600" dirty="0">
              <a:latin typeface="Consolas" panose="020B0609020204030204" pitchFamily="49" charset="0"/>
            </a:endParaRPr>
          </a:p>
          <a:p>
            <a:pPr algn="just"/>
            <a:r>
              <a:rPr lang="en-US" sz="3600" dirty="0">
                <a:latin typeface="Consolas" panose="020B0609020204030204" pitchFamily="49" charset="0"/>
              </a:rPr>
              <a:t>3. Importing specific functions</a:t>
            </a:r>
          </a:p>
          <a:p>
            <a:pPr algn="just"/>
            <a:r>
              <a:rPr lang="en-US" sz="3600" b="1" dirty="0">
                <a:latin typeface="Consolas" panose="020B0609020204030204" pitchFamily="49" charset="0"/>
              </a:rPr>
              <a:t>Syntax: from </a:t>
            </a:r>
            <a:r>
              <a:rPr lang="en-US" sz="3600" i="1" dirty="0">
                <a:latin typeface="Consolas" panose="020B0609020204030204" pitchFamily="49" charset="0"/>
              </a:rPr>
              <a:t>module </a:t>
            </a:r>
            <a:r>
              <a:rPr lang="en-US" sz="3600" b="1" dirty="0">
                <a:latin typeface="Consolas" panose="020B0609020204030204" pitchFamily="49" charset="0"/>
              </a:rPr>
              <a:t>import </a:t>
            </a:r>
            <a:r>
              <a:rPr lang="en-US" sz="3600" dirty="0">
                <a:latin typeface="Consolas" panose="020B0609020204030204" pitchFamily="49" charset="0"/>
              </a:rPr>
              <a:t>func1, func2</a:t>
            </a:r>
            <a:endParaRPr lang="en-US" sz="3600" b="1" dirty="0">
              <a:latin typeface="Consolas" panose="020B0609020204030204" pitchFamily="49" charset="0"/>
            </a:endParaRPr>
          </a:p>
        </p:txBody>
      </p:sp>
      <p:sp>
        <p:nvSpPr>
          <p:cNvPr id="6" name="TextBox 28">
            <a:extLst>
              <a:ext uri="{FF2B5EF4-FFF2-40B4-BE49-F238E27FC236}">
                <a16:creationId xmlns:a16="http://schemas.microsoft.com/office/drawing/2014/main" id="{7FD93921-40AC-FC83-53C0-2CE66FB2E22A}"/>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Importing a module</a:t>
            </a:r>
          </a:p>
        </p:txBody>
      </p:sp>
    </p:spTree>
    <p:extLst>
      <p:ext uri="{BB962C8B-B14F-4D97-AF65-F5344CB8AC3E}">
        <p14:creationId xmlns:p14="http://schemas.microsoft.com/office/powerpoint/2010/main" val="747673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208AD-F261-E039-4BBB-58073A1909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12E39A0-5DA8-AF0F-EA83-6212A987968A}"/>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B08EDBE6-591A-7776-8A57-A0DAA031539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8A9A1305-9B56-AB07-7034-421F9D39534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748FBC6-36B5-D5E5-D074-6EA6CA30004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9E05AC8-7B56-E424-65D3-736D0D8EA000}"/>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1089ED71-4BBC-4A82-3426-A4925A24D1A7}"/>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C15BD3D7-1BA5-0EE2-026A-48FD628B159B}"/>
              </a:ext>
            </a:extLst>
          </p:cNvPr>
          <p:cNvSpPr txBox="1"/>
          <p:nvPr/>
        </p:nvSpPr>
        <p:spPr>
          <a:xfrm>
            <a:off x="381001" y="2628900"/>
            <a:ext cx="17526000" cy="5078313"/>
          </a:xfrm>
          <a:prstGeom prst="rect">
            <a:avLst/>
          </a:prstGeom>
          <a:noFill/>
        </p:spPr>
        <p:txBody>
          <a:bodyPr wrap="square">
            <a:spAutoFit/>
          </a:bodyPr>
          <a:lstStyle/>
          <a:p>
            <a:pPr marL="742950" indent="-742950" algn="just">
              <a:buAutoNum type="arabicPeriod"/>
            </a:pPr>
            <a:r>
              <a:rPr lang="en-US" sz="3600" b="1" dirty="0">
                <a:latin typeface="Consolas" panose="020B0609020204030204" pitchFamily="49" charset="0"/>
              </a:rPr>
              <a:t>Built-in modules </a:t>
            </a:r>
            <a:r>
              <a:rPr lang="en-US" sz="3600" dirty="0">
                <a:latin typeface="Consolas" panose="020B0609020204030204" pitchFamily="49" charset="0"/>
              </a:rPr>
              <a:t>- are already included with Python when you install it. No downloading, no pip installation. You import them and use them immediately. </a:t>
            </a:r>
            <a:r>
              <a:rPr lang="en-US" sz="3600" b="1" dirty="0">
                <a:latin typeface="Consolas" panose="020B0609020204030204" pitchFamily="49" charset="0"/>
              </a:rPr>
              <a:t> </a:t>
            </a:r>
          </a:p>
          <a:p>
            <a:pPr marL="742950" indent="-742950" algn="just">
              <a:buAutoNum type="arabicPeriod"/>
            </a:pPr>
            <a:endParaRPr lang="en-US" sz="3600" b="1" dirty="0">
              <a:latin typeface="Consolas" panose="020B0609020204030204" pitchFamily="49" charset="0"/>
            </a:endParaRPr>
          </a:p>
          <a:p>
            <a:pPr algn="just">
              <a:buAutoNum type="arabicPeriod"/>
            </a:pPr>
            <a:r>
              <a:rPr lang="en-US" sz="3600" b="1" dirty="0">
                <a:latin typeface="Consolas" panose="020B0609020204030204" pitchFamily="49" charset="0"/>
              </a:rPr>
              <a:t> User-defined modules </a:t>
            </a:r>
            <a:r>
              <a:rPr lang="en-US" sz="3600" dirty="0">
                <a:latin typeface="Consolas" panose="020B0609020204030204" pitchFamily="49" charset="0"/>
              </a:rPr>
              <a:t>-</a:t>
            </a:r>
            <a:r>
              <a:rPr lang="en-US" sz="3600" b="1" dirty="0">
                <a:latin typeface="Consolas" panose="020B0609020204030204" pitchFamily="49" charset="0"/>
              </a:rPr>
              <a:t> </a:t>
            </a:r>
            <a:r>
              <a:rPr lang="en-US" sz="3600" dirty="0">
                <a:latin typeface="Consolas" panose="020B0609020204030204" pitchFamily="49" charset="0"/>
              </a:rPr>
              <a:t>A user-defined module is a Python file (.</a:t>
            </a:r>
            <a:r>
              <a:rPr lang="en-US" sz="3600" dirty="0" err="1">
                <a:latin typeface="Consolas" panose="020B0609020204030204" pitchFamily="49" charset="0"/>
              </a:rPr>
              <a:t>py</a:t>
            </a:r>
            <a:r>
              <a:rPr lang="en-US" sz="3600" dirty="0">
                <a:latin typeface="Consolas" panose="020B0609020204030204" pitchFamily="49" charset="0"/>
              </a:rPr>
              <a:t>) that you create to organize and reuse your own code.</a:t>
            </a:r>
            <a:endParaRPr lang="en-US" sz="3600" b="1" dirty="0">
              <a:latin typeface="Consolas" panose="020B0609020204030204" pitchFamily="49" charset="0"/>
            </a:endParaRPr>
          </a:p>
          <a:p>
            <a:pPr marL="742950" indent="-742950" algn="just">
              <a:buAutoNum type="arabicPeriod"/>
            </a:pPr>
            <a:endParaRPr lang="en-US" sz="3600" b="1" dirty="0">
              <a:latin typeface="Consolas" panose="020B0609020204030204" pitchFamily="49" charset="0"/>
            </a:endParaRPr>
          </a:p>
          <a:p>
            <a:pPr marL="742950" indent="-742950" algn="just">
              <a:buAutoNum type="arabicPeriod"/>
            </a:pPr>
            <a:r>
              <a:rPr lang="en-US" sz="3600" b="1" dirty="0">
                <a:latin typeface="Consolas" panose="020B0609020204030204" pitchFamily="49" charset="0"/>
              </a:rPr>
              <a:t>External modules </a:t>
            </a:r>
            <a:r>
              <a:rPr lang="en-US" sz="3600" dirty="0">
                <a:latin typeface="Consolas" panose="020B0609020204030204" pitchFamily="49" charset="0"/>
              </a:rPr>
              <a:t>- are not included with Python. They must be installed using pip, Python’s package manager.</a:t>
            </a:r>
            <a:endParaRPr lang="en-US" sz="3600" b="1" dirty="0">
              <a:latin typeface="Consolas" panose="020B0609020204030204" pitchFamily="49" charset="0"/>
            </a:endParaRPr>
          </a:p>
        </p:txBody>
      </p:sp>
      <p:sp>
        <p:nvSpPr>
          <p:cNvPr id="6" name="TextBox 28">
            <a:extLst>
              <a:ext uri="{FF2B5EF4-FFF2-40B4-BE49-F238E27FC236}">
                <a16:creationId xmlns:a16="http://schemas.microsoft.com/office/drawing/2014/main" id="{257B22FE-F006-9480-9C67-714EF829FB8F}"/>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Types of modules</a:t>
            </a:r>
          </a:p>
        </p:txBody>
      </p:sp>
    </p:spTree>
    <p:extLst>
      <p:ext uri="{BB962C8B-B14F-4D97-AF65-F5344CB8AC3E}">
        <p14:creationId xmlns:p14="http://schemas.microsoft.com/office/powerpoint/2010/main" val="3271517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F4DC2-7D00-1A8C-83F5-B2214BF0FAC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1534FEB-D7DD-25AA-F722-CA72EC1ECC8C}"/>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83251964-8A64-4F92-96BC-37547C5E093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85744D2-99D2-03C1-D9B2-5B2CECA2082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7FB8BAF-5DA6-AA7D-EEE5-6BC0C4B8BAE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957243ED-259D-7B40-2A97-EA9846326DDB}"/>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0309B00-99D8-6E5D-3D3E-3F75CA5B504D}"/>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2AC3CB72-7B34-1625-DF72-A95AEDC83553}"/>
              </a:ext>
            </a:extLst>
          </p:cNvPr>
          <p:cNvSpPr txBox="1"/>
          <p:nvPr/>
        </p:nvSpPr>
        <p:spPr>
          <a:xfrm>
            <a:off x="381001" y="2628900"/>
            <a:ext cx="17526000" cy="5078313"/>
          </a:xfrm>
          <a:prstGeom prst="rect">
            <a:avLst/>
          </a:prstGeom>
          <a:noFill/>
        </p:spPr>
        <p:txBody>
          <a:bodyPr wrap="square">
            <a:spAutoFit/>
          </a:bodyPr>
          <a:lstStyle/>
          <a:p>
            <a:pPr algn="just"/>
            <a:r>
              <a:rPr lang="en-US" sz="3600" b="1" dirty="0">
                <a:latin typeface="Consolas" panose="020B0609020204030204" pitchFamily="49" charset="0"/>
              </a:rPr>
              <a:t>1. Math module </a:t>
            </a:r>
            <a:r>
              <a:rPr lang="en-US" sz="3600" dirty="0">
                <a:latin typeface="Consolas" panose="020B0609020204030204" pitchFamily="49" charset="0"/>
              </a:rPr>
              <a:t>- Provides mathematical functions beyond basic arithmetic.</a:t>
            </a:r>
          </a:p>
          <a:p>
            <a:pPr algn="just"/>
            <a:endParaRPr lang="en-US" sz="3600" dirty="0">
              <a:latin typeface="Consolas" panose="020B0609020204030204" pitchFamily="49" charset="0"/>
            </a:endParaRPr>
          </a:p>
          <a:p>
            <a:pPr algn="just"/>
            <a:r>
              <a:rPr lang="en-US" sz="3600" dirty="0">
                <a:latin typeface="Consolas" panose="020B0609020204030204" pitchFamily="49" charset="0"/>
              </a:rPr>
              <a:t>Common Uses:</a:t>
            </a:r>
          </a:p>
          <a:p>
            <a:pPr marL="1028700" lvl="1" indent="-571500" algn="just">
              <a:buFont typeface="Wingdings" panose="05000000000000000000" pitchFamily="2" charset="2"/>
              <a:buChar char="ü"/>
            </a:pPr>
            <a:r>
              <a:rPr lang="en-US" sz="3600" dirty="0">
                <a:latin typeface="Consolas" panose="020B0609020204030204" pitchFamily="49" charset="0"/>
              </a:rPr>
              <a:t>Square roots</a:t>
            </a:r>
          </a:p>
          <a:p>
            <a:pPr marL="1028700" lvl="1" indent="-571500" algn="just">
              <a:buFont typeface="Wingdings" panose="05000000000000000000" pitchFamily="2" charset="2"/>
              <a:buChar char="ü"/>
            </a:pPr>
            <a:r>
              <a:rPr lang="en-US" sz="3600" dirty="0">
                <a:latin typeface="Consolas" panose="020B0609020204030204" pitchFamily="49" charset="0"/>
              </a:rPr>
              <a:t>Trigonometric functions</a:t>
            </a:r>
          </a:p>
          <a:p>
            <a:pPr marL="1028700" lvl="1" indent="-571500" algn="just">
              <a:buFont typeface="Wingdings" panose="05000000000000000000" pitchFamily="2" charset="2"/>
              <a:buChar char="ü"/>
            </a:pPr>
            <a:r>
              <a:rPr lang="en-US" sz="3600" dirty="0">
                <a:latin typeface="Consolas" panose="020B0609020204030204" pitchFamily="49" charset="0"/>
              </a:rPr>
              <a:t>Constants (π, e)</a:t>
            </a:r>
          </a:p>
          <a:p>
            <a:pPr marL="1028700" lvl="1" indent="-571500" algn="just">
              <a:buFont typeface="Wingdings" panose="05000000000000000000" pitchFamily="2" charset="2"/>
              <a:buChar char="ü"/>
            </a:pPr>
            <a:r>
              <a:rPr lang="en-US" sz="3600" dirty="0">
                <a:latin typeface="Consolas" panose="020B0609020204030204" pitchFamily="49" charset="0"/>
              </a:rPr>
              <a:t>Rounding and logarithms</a:t>
            </a:r>
          </a:p>
          <a:p>
            <a:pPr marL="0" lvl="1" algn="just"/>
            <a:endParaRPr lang="en-US" sz="3600" dirty="0">
              <a:latin typeface="Consolas" panose="020B0609020204030204" pitchFamily="49" charset="0"/>
            </a:endParaRPr>
          </a:p>
        </p:txBody>
      </p:sp>
      <p:sp>
        <p:nvSpPr>
          <p:cNvPr id="6" name="TextBox 28">
            <a:extLst>
              <a:ext uri="{FF2B5EF4-FFF2-40B4-BE49-F238E27FC236}">
                <a16:creationId xmlns:a16="http://schemas.microsoft.com/office/drawing/2014/main" id="{1051B585-14F2-3157-714E-6D6BF0424F81}"/>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Math Module</a:t>
            </a:r>
          </a:p>
        </p:txBody>
      </p:sp>
    </p:spTree>
    <p:extLst>
      <p:ext uri="{BB962C8B-B14F-4D97-AF65-F5344CB8AC3E}">
        <p14:creationId xmlns:p14="http://schemas.microsoft.com/office/powerpoint/2010/main" val="2359187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B29B8-9D59-7E6D-2A86-F2F28B4FCB0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2AA6582-54A0-4051-0B43-6CB7258E81F1}"/>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FE59720-AC4F-455C-0F53-5D82563D98E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85800E3-8714-560E-ADF2-62887129771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61D142CE-8841-A60C-F1EE-6EA124E09BA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EC204B4D-482D-9BCA-CBD3-0A9894854E20}"/>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19D1929A-804D-A0BC-FB6B-D4FF280FB453}"/>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3DA3AE3F-73B3-3341-6ACB-211378537A10}"/>
              </a:ext>
            </a:extLst>
          </p:cNvPr>
          <p:cNvSpPr txBox="1"/>
          <p:nvPr/>
        </p:nvSpPr>
        <p:spPr>
          <a:xfrm>
            <a:off x="381001" y="2628900"/>
            <a:ext cx="17526000" cy="646331"/>
          </a:xfrm>
          <a:prstGeom prst="rect">
            <a:avLst/>
          </a:prstGeom>
          <a:noFill/>
        </p:spPr>
        <p:txBody>
          <a:bodyPr wrap="square">
            <a:spAutoFit/>
          </a:bodyPr>
          <a:lstStyle/>
          <a:p>
            <a:pPr algn="just"/>
            <a:r>
              <a:rPr lang="en-US" sz="3600" b="1" dirty="0">
                <a:latin typeface="Consolas" panose="020B0609020204030204" pitchFamily="49" charset="0"/>
              </a:rPr>
              <a:t>Popular Functions</a:t>
            </a:r>
          </a:p>
        </p:txBody>
      </p:sp>
      <p:sp>
        <p:nvSpPr>
          <p:cNvPr id="6" name="TextBox 28">
            <a:extLst>
              <a:ext uri="{FF2B5EF4-FFF2-40B4-BE49-F238E27FC236}">
                <a16:creationId xmlns:a16="http://schemas.microsoft.com/office/drawing/2014/main" id="{8E3C5075-C745-8A13-5C27-033D84F507D7}"/>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Math Module</a:t>
            </a:r>
          </a:p>
        </p:txBody>
      </p:sp>
      <p:graphicFrame>
        <p:nvGraphicFramePr>
          <p:cNvPr id="7" name="Table 6">
            <a:extLst>
              <a:ext uri="{FF2B5EF4-FFF2-40B4-BE49-F238E27FC236}">
                <a16:creationId xmlns:a16="http://schemas.microsoft.com/office/drawing/2014/main" id="{CD9BC7EB-2573-E43C-0FF2-24381265DE9C}"/>
              </a:ext>
            </a:extLst>
          </p:cNvPr>
          <p:cNvGraphicFramePr>
            <a:graphicFrameLocks noGrp="1"/>
          </p:cNvGraphicFramePr>
          <p:nvPr>
            <p:extLst>
              <p:ext uri="{D42A27DB-BD31-4B8C-83A1-F6EECF244321}">
                <p14:modId xmlns:p14="http://schemas.microsoft.com/office/powerpoint/2010/main" val="4035024262"/>
              </p:ext>
            </p:extLst>
          </p:nvPr>
        </p:nvGraphicFramePr>
        <p:xfrm>
          <a:off x="533400" y="3275230"/>
          <a:ext cx="17373597" cy="6516468"/>
        </p:xfrm>
        <a:graphic>
          <a:graphicData uri="http://schemas.openxmlformats.org/drawingml/2006/table">
            <a:tbl>
              <a:tblPr>
                <a:tableStyleId>{3C2FFA5D-87B4-456A-9821-1D502468CF0F}</a:tableStyleId>
              </a:tblPr>
              <a:tblGrid>
                <a:gridCol w="5791199">
                  <a:extLst>
                    <a:ext uri="{9D8B030D-6E8A-4147-A177-3AD203B41FA5}">
                      <a16:colId xmlns:a16="http://schemas.microsoft.com/office/drawing/2014/main" val="256426563"/>
                    </a:ext>
                  </a:extLst>
                </a:gridCol>
                <a:gridCol w="5791199">
                  <a:extLst>
                    <a:ext uri="{9D8B030D-6E8A-4147-A177-3AD203B41FA5}">
                      <a16:colId xmlns:a16="http://schemas.microsoft.com/office/drawing/2014/main" val="3082740142"/>
                    </a:ext>
                  </a:extLst>
                </a:gridCol>
                <a:gridCol w="5791199">
                  <a:extLst>
                    <a:ext uri="{9D8B030D-6E8A-4147-A177-3AD203B41FA5}">
                      <a16:colId xmlns:a16="http://schemas.microsoft.com/office/drawing/2014/main" val="1737506265"/>
                    </a:ext>
                  </a:extLst>
                </a:gridCol>
              </a:tblGrid>
              <a:tr h="930924">
                <a:tc>
                  <a:txBody>
                    <a:bodyPr/>
                    <a:lstStyle/>
                    <a:p>
                      <a:pPr>
                        <a:buNone/>
                      </a:pPr>
                      <a:r>
                        <a:rPr lang="en-PH" sz="3200" b="1" dirty="0">
                          <a:latin typeface="Consolas" panose="020B0609020204030204" pitchFamily="49" charset="0"/>
                        </a:rPr>
                        <a:t>Function</a:t>
                      </a:r>
                    </a:p>
                  </a:txBody>
                  <a:tcPr anchor="ctr"/>
                </a:tc>
                <a:tc>
                  <a:txBody>
                    <a:bodyPr/>
                    <a:lstStyle/>
                    <a:p>
                      <a:pPr>
                        <a:buNone/>
                      </a:pPr>
                      <a:r>
                        <a:rPr lang="en-PH" sz="3200" b="1">
                          <a:latin typeface="Consolas" panose="020B0609020204030204" pitchFamily="49" charset="0"/>
                        </a:rPr>
                        <a:t>Description</a:t>
                      </a:r>
                    </a:p>
                  </a:txBody>
                  <a:tcPr anchor="ctr"/>
                </a:tc>
                <a:tc>
                  <a:txBody>
                    <a:bodyPr/>
                    <a:lstStyle/>
                    <a:p>
                      <a:pPr>
                        <a:buNone/>
                      </a:pPr>
                      <a:r>
                        <a:rPr lang="en-PH" sz="3200" b="1">
                          <a:latin typeface="Consolas" panose="020B0609020204030204" pitchFamily="49" charset="0"/>
                        </a:rPr>
                        <a:t>Example</a:t>
                      </a:r>
                    </a:p>
                  </a:txBody>
                  <a:tcPr anchor="ctr"/>
                </a:tc>
                <a:extLst>
                  <a:ext uri="{0D108BD9-81ED-4DB2-BD59-A6C34878D82A}">
                    <a16:rowId xmlns:a16="http://schemas.microsoft.com/office/drawing/2014/main" val="4226201545"/>
                  </a:ext>
                </a:extLst>
              </a:tr>
              <a:tr h="930924">
                <a:tc>
                  <a:txBody>
                    <a:bodyPr/>
                    <a:lstStyle/>
                    <a:p>
                      <a:pPr>
                        <a:buNone/>
                      </a:pPr>
                      <a:r>
                        <a:rPr lang="en-PH" sz="3200" b="0" dirty="0" err="1">
                          <a:latin typeface="Consolas" panose="020B0609020204030204" pitchFamily="49" charset="0"/>
                        </a:rPr>
                        <a:t>math.sqrt</a:t>
                      </a:r>
                      <a:r>
                        <a:rPr lang="en-PH" sz="3200" b="0" dirty="0">
                          <a:latin typeface="Consolas" panose="020B0609020204030204" pitchFamily="49" charset="0"/>
                        </a:rPr>
                        <a:t>(x)</a:t>
                      </a:r>
                    </a:p>
                  </a:txBody>
                  <a:tcPr anchor="ctr"/>
                </a:tc>
                <a:tc>
                  <a:txBody>
                    <a:bodyPr/>
                    <a:lstStyle/>
                    <a:p>
                      <a:pPr>
                        <a:buNone/>
                      </a:pPr>
                      <a:r>
                        <a:rPr lang="en-PH" sz="3200" b="0">
                          <a:latin typeface="Consolas" panose="020B0609020204030204" pitchFamily="49" charset="0"/>
                        </a:rPr>
                        <a:t>Square root</a:t>
                      </a:r>
                    </a:p>
                  </a:txBody>
                  <a:tcPr anchor="ctr"/>
                </a:tc>
                <a:tc>
                  <a:txBody>
                    <a:bodyPr/>
                    <a:lstStyle/>
                    <a:p>
                      <a:pPr>
                        <a:buNone/>
                      </a:pPr>
                      <a:r>
                        <a:rPr lang="en-PH" sz="3200" b="0" dirty="0" err="1">
                          <a:latin typeface="Consolas" panose="020B0609020204030204" pitchFamily="49" charset="0"/>
                        </a:rPr>
                        <a:t>math.sqrt</a:t>
                      </a:r>
                      <a:r>
                        <a:rPr lang="en-PH" sz="3200" b="0" dirty="0">
                          <a:latin typeface="Consolas" panose="020B0609020204030204" pitchFamily="49" charset="0"/>
                        </a:rPr>
                        <a:t>(25)</a:t>
                      </a:r>
                    </a:p>
                  </a:txBody>
                  <a:tcPr anchor="ctr"/>
                </a:tc>
                <a:extLst>
                  <a:ext uri="{0D108BD9-81ED-4DB2-BD59-A6C34878D82A}">
                    <a16:rowId xmlns:a16="http://schemas.microsoft.com/office/drawing/2014/main" val="1575310679"/>
                  </a:ext>
                </a:extLst>
              </a:tr>
              <a:tr h="930924">
                <a:tc>
                  <a:txBody>
                    <a:bodyPr/>
                    <a:lstStyle/>
                    <a:p>
                      <a:pPr>
                        <a:buNone/>
                      </a:pPr>
                      <a:r>
                        <a:rPr lang="en-PH" sz="3200" b="0">
                          <a:latin typeface="Consolas" panose="020B0609020204030204" pitchFamily="49" charset="0"/>
                        </a:rPr>
                        <a:t>math.pow(a,b)</a:t>
                      </a:r>
                    </a:p>
                  </a:txBody>
                  <a:tcPr anchor="ctr"/>
                </a:tc>
                <a:tc>
                  <a:txBody>
                    <a:bodyPr/>
                    <a:lstStyle/>
                    <a:p>
                      <a:pPr>
                        <a:buNone/>
                      </a:pPr>
                      <a:r>
                        <a:rPr lang="en-PH" sz="3200" b="0" dirty="0">
                          <a:latin typeface="Consolas" panose="020B0609020204030204" pitchFamily="49" charset="0"/>
                        </a:rPr>
                        <a:t>Power/exponent</a:t>
                      </a:r>
                    </a:p>
                  </a:txBody>
                  <a:tcPr anchor="ctr"/>
                </a:tc>
                <a:tc>
                  <a:txBody>
                    <a:bodyPr/>
                    <a:lstStyle/>
                    <a:p>
                      <a:pPr>
                        <a:buNone/>
                      </a:pPr>
                      <a:r>
                        <a:rPr lang="en-PH" sz="3200" b="0" dirty="0" err="1">
                          <a:latin typeface="Consolas" panose="020B0609020204030204" pitchFamily="49" charset="0"/>
                        </a:rPr>
                        <a:t>math.pow</a:t>
                      </a:r>
                      <a:r>
                        <a:rPr lang="en-PH" sz="3200" b="0" dirty="0">
                          <a:latin typeface="Consolas" panose="020B0609020204030204" pitchFamily="49" charset="0"/>
                        </a:rPr>
                        <a:t>(2,3)</a:t>
                      </a:r>
                    </a:p>
                  </a:txBody>
                  <a:tcPr anchor="ctr"/>
                </a:tc>
                <a:extLst>
                  <a:ext uri="{0D108BD9-81ED-4DB2-BD59-A6C34878D82A}">
                    <a16:rowId xmlns:a16="http://schemas.microsoft.com/office/drawing/2014/main" val="2208966850"/>
                  </a:ext>
                </a:extLst>
              </a:tr>
              <a:tr h="930924">
                <a:tc>
                  <a:txBody>
                    <a:bodyPr/>
                    <a:lstStyle/>
                    <a:p>
                      <a:pPr>
                        <a:buNone/>
                      </a:pPr>
                      <a:r>
                        <a:rPr lang="en-PH" sz="3200" b="0" dirty="0" err="1">
                          <a:latin typeface="Consolas" panose="020B0609020204030204" pitchFamily="49" charset="0"/>
                        </a:rPr>
                        <a:t>math.pi</a:t>
                      </a:r>
                      <a:endParaRPr lang="en-PH" sz="3200" b="0" dirty="0">
                        <a:latin typeface="Consolas" panose="020B0609020204030204" pitchFamily="49" charset="0"/>
                      </a:endParaRPr>
                    </a:p>
                  </a:txBody>
                  <a:tcPr anchor="ctr"/>
                </a:tc>
                <a:tc>
                  <a:txBody>
                    <a:bodyPr/>
                    <a:lstStyle/>
                    <a:p>
                      <a:pPr>
                        <a:buNone/>
                      </a:pPr>
                      <a:r>
                        <a:rPr lang="el-GR" sz="3200" b="0" dirty="0">
                          <a:latin typeface="Consolas" panose="020B0609020204030204" pitchFamily="49" charset="0"/>
                        </a:rPr>
                        <a:t>π </a:t>
                      </a:r>
                      <a:r>
                        <a:rPr lang="en-PH" sz="3200" b="0" dirty="0">
                          <a:latin typeface="Consolas" panose="020B0609020204030204" pitchFamily="49" charset="0"/>
                        </a:rPr>
                        <a:t>constant</a:t>
                      </a:r>
                    </a:p>
                  </a:txBody>
                  <a:tcPr anchor="ctr"/>
                </a:tc>
                <a:tc>
                  <a:txBody>
                    <a:bodyPr/>
                    <a:lstStyle/>
                    <a:p>
                      <a:pPr>
                        <a:buNone/>
                      </a:pPr>
                      <a:r>
                        <a:rPr lang="en-PH" sz="3200" b="0" dirty="0" err="1">
                          <a:latin typeface="Consolas" panose="020B0609020204030204" pitchFamily="49" charset="0"/>
                        </a:rPr>
                        <a:t>math.pi</a:t>
                      </a:r>
                      <a:endParaRPr lang="en-PH" sz="3200" b="0" dirty="0">
                        <a:latin typeface="Consolas" panose="020B0609020204030204" pitchFamily="49" charset="0"/>
                      </a:endParaRPr>
                    </a:p>
                  </a:txBody>
                  <a:tcPr anchor="ctr"/>
                </a:tc>
                <a:extLst>
                  <a:ext uri="{0D108BD9-81ED-4DB2-BD59-A6C34878D82A}">
                    <a16:rowId xmlns:a16="http://schemas.microsoft.com/office/drawing/2014/main" val="2800798353"/>
                  </a:ext>
                </a:extLst>
              </a:tr>
              <a:tr h="930924">
                <a:tc>
                  <a:txBody>
                    <a:bodyPr/>
                    <a:lstStyle/>
                    <a:p>
                      <a:pPr>
                        <a:buNone/>
                      </a:pPr>
                      <a:r>
                        <a:rPr lang="en-PH" sz="3200" b="0">
                          <a:latin typeface="Consolas" panose="020B0609020204030204" pitchFamily="49" charset="0"/>
                        </a:rPr>
                        <a:t>math.sin(x)</a:t>
                      </a:r>
                    </a:p>
                  </a:txBody>
                  <a:tcPr anchor="ctr"/>
                </a:tc>
                <a:tc>
                  <a:txBody>
                    <a:bodyPr/>
                    <a:lstStyle/>
                    <a:p>
                      <a:pPr>
                        <a:buNone/>
                      </a:pPr>
                      <a:r>
                        <a:rPr lang="en-PH" sz="3200" b="0" dirty="0">
                          <a:latin typeface="Consolas" panose="020B0609020204030204" pitchFamily="49" charset="0"/>
                        </a:rPr>
                        <a:t>Sine</a:t>
                      </a:r>
                    </a:p>
                  </a:txBody>
                  <a:tcPr anchor="ctr"/>
                </a:tc>
                <a:tc>
                  <a:txBody>
                    <a:bodyPr/>
                    <a:lstStyle/>
                    <a:p>
                      <a:pPr>
                        <a:buNone/>
                      </a:pPr>
                      <a:r>
                        <a:rPr lang="en-PH" sz="3200" b="0" dirty="0" err="1">
                          <a:latin typeface="Consolas" panose="020B0609020204030204" pitchFamily="49" charset="0"/>
                        </a:rPr>
                        <a:t>math.sin</a:t>
                      </a:r>
                      <a:r>
                        <a:rPr lang="en-PH" sz="3200" b="0" dirty="0">
                          <a:latin typeface="Consolas" panose="020B0609020204030204" pitchFamily="49" charset="0"/>
                        </a:rPr>
                        <a:t>(0)</a:t>
                      </a:r>
                    </a:p>
                  </a:txBody>
                  <a:tcPr anchor="ctr"/>
                </a:tc>
                <a:extLst>
                  <a:ext uri="{0D108BD9-81ED-4DB2-BD59-A6C34878D82A}">
                    <a16:rowId xmlns:a16="http://schemas.microsoft.com/office/drawing/2014/main" val="3497641868"/>
                  </a:ext>
                </a:extLst>
              </a:tr>
              <a:tr h="930924">
                <a:tc>
                  <a:txBody>
                    <a:bodyPr/>
                    <a:lstStyle/>
                    <a:p>
                      <a:pPr>
                        <a:buNone/>
                      </a:pPr>
                      <a:r>
                        <a:rPr lang="en-PH" sz="3200" b="0">
                          <a:latin typeface="Consolas" panose="020B0609020204030204" pitchFamily="49" charset="0"/>
                        </a:rPr>
                        <a:t>math.floor(x)</a:t>
                      </a:r>
                    </a:p>
                  </a:txBody>
                  <a:tcPr anchor="ctr"/>
                </a:tc>
                <a:tc>
                  <a:txBody>
                    <a:bodyPr/>
                    <a:lstStyle/>
                    <a:p>
                      <a:pPr>
                        <a:buNone/>
                      </a:pPr>
                      <a:r>
                        <a:rPr lang="en-PH" sz="3200" b="0">
                          <a:latin typeface="Consolas" panose="020B0609020204030204" pitchFamily="49" charset="0"/>
                        </a:rPr>
                        <a:t>Round down</a:t>
                      </a:r>
                    </a:p>
                  </a:txBody>
                  <a:tcPr anchor="ctr"/>
                </a:tc>
                <a:tc>
                  <a:txBody>
                    <a:bodyPr/>
                    <a:lstStyle/>
                    <a:p>
                      <a:pPr>
                        <a:buNone/>
                      </a:pPr>
                      <a:r>
                        <a:rPr lang="en-PH" sz="3200" b="0" dirty="0" err="1">
                          <a:latin typeface="Consolas" panose="020B0609020204030204" pitchFamily="49" charset="0"/>
                        </a:rPr>
                        <a:t>math.floor</a:t>
                      </a:r>
                      <a:r>
                        <a:rPr lang="en-PH" sz="3200" b="0" dirty="0">
                          <a:latin typeface="Consolas" panose="020B0609020204030204" pitchFamily="49" charset="0"/>
                        </a:rPr>
                        <a:t>(3.9)</a:t>
                      </a:r>
                    </a:p>
                  </a:txBody>
                  <a:tcPr anchor="ctr"/>
                </a:tc>
                <a:extLst>
                  <a:ext uri="{0D108BD9-81ED-4DB2-BD59-A6C34878D82A}">
                    <a16:rowId xmlns:a16="http://schemas.microsoft.com/office/drawing/2014/main" val="3761533381"/>
                  </a:ext>
                </a:extLst>
              </a:tr>
              <a:tr h="930924">
                <a:tc>
                  <a:txBody>
                    <a:bodyPr/>
                    <a:lstStyle/>
                    <a:p>
                      <a:pPr>
                        <a:buNone/>
                      </a:pPr>
                      <a:r>
                        <a:rPr lang="en-PH" sz="3200" b="0">
                          <a:latin typeface="Consolas" panose="020B0609020204030204" pitchFamily="49" charset="0"/>
                        </a:rPr>
                        <a:t>math.ceil(x)</a:t>
                      </a:r>
                    </a:p>
                  </a:txBody>
                  <a:tcPr anchor="ctr"/>
                </a:tc>
                <a:tc>
                  <a:txBody>
                    <a:bodyPr/>
                    <a:lstStyle/>
                    <a:p>
                      <a:pPr>
                        <a:buNone/>
                      </a:pPr>
                      <a:r>
                        <a:rPr lang="en-PH" sz="3200" b="0">
                          <a:latin typeface="Consolas" panose="020B0609020204030204" pitchFamily="49" charset="0"/>
                        </a:rPr>
                        <a:t>Round up</a:t>
                      </a:r>
                    </a:p>
                  </a:txBody>
                  <a:tcPr anchor="ctr"/>
                </a:tc>
                <a:tc>
                  <a:txBody>
                    <a:bodyPr/>
                    <a:lstStyle/>
                    <a:p>
                      <a:pPr>
                        <a:buNone/>
                      </a:pPr>
                      <a:r>
                        <a:rPr lang="en-PH" sz="3200" b="0" dirty="0" err="1">
                          <a:latin typeface="Consolas" panose="020B0609020204030204" pitchFamily="49" charset="0"/>
                        </a:rPr>
                        <a:t>math.ceil</a:t>
                      </a:r>
                      <a:r>
                        <a:rPr lang="en-PH" sz="3200" b="0" dirty="0">
                          <a:latin typeface="Consolas" panose="020B0609020204030204" pitchFamily="49" charset="0"/>
                        </a:rPr>
                        <a:t>(3.1)</a:t>
                      </a:r>
                    </a:p>
                  </a:txBody>
                  <a:tcPr anchor="ctr"/>
                </a:tc>
                <a:extLst>
                  <a:ext uri="{0D108BD9-81ED-4DB2-BD59-A6C34878D82A}">
                    <a16:rowId xmlns:a16="http://schemas.microsoft.com/office/drawing/2014/main" val="3988067629"/>
                  </a:ext>
                </a:extLst>
              </a:tr>
            </a:tbl>
          </a:graphicData>
        </a:graphic>
      </p:graphicFrame>
    </p:spTree>
    <p:extLst>
      <p:ext uri="{BB962C8B-B14F-4D97-AF65-F5344CB8AC3E}">
        <p14:creationId xmlns:p14="http://schemas.microsoft.com/office/powerpoint/2010/main" val="1241336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1A3A3-4C40-8ABD-6CB0-8E60BDAAC9E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E4170BA-0C85-1F47-8ACB-66A3A65C07F3}"/>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D855C81D-5643-017A-3A09-AE34917DA53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826454D0-87FC-5139-9BDF-8DCEEB706A7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CBF27B3C-6ED7-F8B0-9216-8CC72E342F3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022664CC-9114-02BD-3479-09F1114CD727}"/>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6B938134-EDF5-A2A1-F032-5E3E8EA070E1}"/>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43870A0-A0A9-C5F5-CB8C-D18C8BEEADE8}"/>
                  </a:ext>
                </a:extLst>
              </p:cNvPr>
              <p:cNvSpPr txBox="1"/>
              <p:nvPr/>
            </p:nvSpPr>
            <p:spPr>
              <a:xfrm>
                <a:off x="381001" y="2628900"/>
                <a:ext cx="17526000" cy="3970318"/>
              </a:xfrm>
              <a:prstGeom prst="rect">
                <a:avLst/>
              </a:prstGeom>
              <a:noFill/>
            </p:spPr>
            <p:txBody>
              <a:bodyPr wrap="square">
                <a:spAutoFit/>
              </a:bodyPr>
              <a:lstStyle/>
              <a:p>
                <a:pPr algn="just"/>
                <a:r>
                  <a:rPr lang="en-US" sz="3600" b="1" dirty="0">
                    <a:latin typeface="Consolas" panose="020B0609020204030204" pitchFamily="49" charset="0"/>
                  </a:rPr>
                  <a:t>Example: Area of Circle (</a:t>
                </a:r>
                <a14:m>
                  <m:oMath xmlns:m="http://schemas.openxmlformats.org/officeDocument/2006/math">
                    <m:r>
                      <a:rPr lang="en-US" sz="3600" b="1" i="1" smtClean="0">
                        <a:latin typeface="Cambria Math" panose="02040503050406030204" pitchFamily="18" charset="0"/>
                      </a:rPr>
                      <m:t>𝑨</m:t>
                    </m:r>
                    <m:r>
                      <a:rPr lang="en-US" sz="3600" b="1" i="1" smtClean="0">
                        <a:latin typeface="Cambria Math" panose="02040503050406030204" pitchFamily="18" charset="0"/>
                      </a:rPr>
                      <m:t>=</m:t>
                    </m:r>
                    <m:r>
                      <a:rPr lang="el-GR" sz="3600" b="1" i="1" smtClean="0">
                        <a:latin typeface="Cambria Math" panose="02040503050406030204" pitchFamily="18" charset="0"/>
                      </a:rPr>
                      <m:t>𝝅</m:t>
                    </m:r>
                    <m:sSup>
                      <m:sSupPr>
                        <m:ctrlPr>
                          <a:rPr lang="en-US" sz="3600" b="1" i="1" smtClean="0">
                            <a:latin typeface="Cambria Math" panose="02040503050406030204" pitchFamily="18" charset="0"/>
                          </a:rPr>
                        </m:ctrlPr>
                      </m:sSupPr>
                      <m:e>
                        <m:r>
                          <a:rPr lang="en-US" sz="3600" b="1" i="1" smtClean="0">
                            <a:latin typeface="Cambria Math" panose="02040503050406030204" pitchFamily="18" charset="0"/>
                          </a:rPr>
                          <m:t>𝒓</m:t>
                        </m:r>
                      </m:e>
                      <m:sup>
                        <m:r>
                          <a:rPr lang="en-US" sz="3600" b="1" i="1" smtClean="0">
                            <a:latin typeface="Cambria Math" panose="02040503050406030204" pitchFamily="18" charset="0"/>
                          </a:rPr>
                          <m:t>𝟐</m:t>
                        </m:r>
                      </m:sup>
                    </m:sSup>
                  </m:oMath>
                </a14:m>
                <a:r>
                  <a:rPr lang="en-US" sz="3600" b="1" dirty="0">
                    <a:latin typeface="Consolas" panose="020B0609020204030204" pitchFamily="49" charset="0"/>
                  </a:rPr>
                  <a:t>)</a:t>
                </a:r>
              </a:p>
              <a:p>
                <a:pPr algn="just"/>
                <a:endParaRPr lang="en-US" sz="3600" b="1" dirty="0">
                  <a:latin typeface="Consolas" panose="020B0609020204030204" pitchFamily="49" charset="0"/>
                </a:endParaRPr>
              </a:p>
              <a:p>
                <a:pPr algn="just"/>
                <a:r>
                  <a:rPr lang="en-US" sz="3600" dirty="0">
                    <a:latin typeface="Consolas" panose="020B0609020204030204" pitchFamily="49" charset="0"/>
                  </a:rPr>
                  <a:t>import math</a:t>
                </a:r>
              </a:p>
              <a:p>
                <a:pPr algn="just"/>
                <a:endParaRPr lang="en-US" sz="3600" dirty="0">
                  <a:latin typeface="Consolas" panose="020B0609020204030204" pitchFamily="49" charset="0"/>
                </a:endParaRPr>
              </a:p>
              <a:p>
                <a:pPr algn="just"/>
                <a:r>
                  <a:rPr lang="en-US" sz="3600" dirty="0">
                    <a:latin typeface="Consolas" panose="020B0609020204030204" pitchFamily="49" charset="0"/>
                  </a:rPr>
                  <a:t>radius = 5</a:t>
                </a:r>
              </a:p>
              <a:p>
                <a:pPr algn="just"/>
                <a:r>
                  <a:rPr lang="en-US" sz="3600" dirty="0">
                    <a:latin typeface="Consolas" panose="020B0609020204030204" pitchFamily="49" charset="0"/>
                  </a:rPr>
                  <a:t>area = </a:t>
                </a:r>
                <a:r>
                  <a:rPr lang="en-US" sz="3600" dirty="0" err="1">
                    <a:latin typeface="Consolas" panose="020B0609020204030204" pitchFamily="49" charset="0"/>
                  </a:rPr>
                  <a:t>math.pi</a:t>
                </a:r>
                <a:r>
                  <a:rPr lang="en-US" sz="3600" dirty="0">
                    <a:latin typeface="Consolas" panose="020B0609020204030204" pitchFamily="49" charset="0"/>
                  </a:rPr>
                  <a:t> * </a:t>
                </a:r>
                <a:r>
                  <a:rPr lang="en-US" sz="3600" dirty="0" err="1">
                    <a:latin typeface="Consolas" panose="020B0609020204030204" pitchFamily="49" charset="0"/>
                  </a:rPr>
                  <a:t>math.pow</a:t>
                </a:r>
                <a:r>
                  <a:rPr lang="en-US" sz="3600" dirty="0">
                    <a:latin typeface="Consolas" panose="020B0609020204030204" pitchFamily="49" charset="0"/>
                  </a:rPr>
                  <a:t>(radius, 2)</a:t>
                </a:r>
              </a:p>
              <a:p>
                <a:pPr algn="just"/>
                <a:r>
                  <a:rPr lang="en-US" sz="3600" dirty="0">
                    <a:latin typeface="Consolas" panose="020B0609020204030204" pitchFamily="49" charset="0"/>
                  </a:rPr>
                  <a:t>print(area)</a:t>
                </a:r>
              </a:p>
            </p:txBody>
          </p:sp>
        </mc:Choice>
        <mc:Fallback xmlns="">
          <p:sp>
            <p:nvSpPr>
              <p:cNvPr id="24" name="TextBox 23">
                <a:extLst>
                  <a:ext uri="{FF2B5EF4-FFF2-40B4-BE49-F238E27FC236}">
                    <a16:creationId xmlns:a16="http://schemas.microsoft.com/office/drawing/2014/main" id="{843870A0-A0A9-C5F5-CB8C-D18C8BEEADE8}"/>
                  </a:ext>
                </a:extLst>
              </p:cNvPr>
              <p:cNvSpPr txBox="1">
                <a:spLocks noRot="1" noChangeAspect="1" noMove="1" noResize="1" noEditPoints="1" noAdjustHandles="1" noChangeArrowheads="1" noChangeShapeType="1" noTextEdit="1"/>
              </p:cNvSpPr>
              <p:nvPr/>
            </p:nvSpPr>
            <p:spPr>
              <a:xfrm>
                <a:off x="381001" y="2628900"/>
                <a:ext cx="17526000" cy="3970318"/>
              </a:xfrm>
              <a:prstGeom prst="rect">
                <a:avLst/>
              </a:prstGeom>
              <a:blipFill>
                <a:blip r:embed="rId7"/>
                <a:stretch>
                  <a:fillRect l="-1078" t="-1994" b="-5061"/>
                </a:stretch>
              </a:blipFill>
            </p:spPr>
            <p:txBody>
              <a:bodyPr/>
              <a:lstStyle/>
              <a:p>
                <a:r>
                  <a:rPr lang="en-PH">
                    <a:noFill/>
                  </a:rPr>
                  <a:t> </a:t>
                </a:r>
              </a:p>
            </p:txBody>
          </p:sp>
        </mc:Fallback>
      </mc:AlternateContent>
      <p:sp>
        <p:nvSpPr>
          <p:cNvPr id="6" name="TextBox 28">
            <a:extLst>
              <a:ext uri="{FF2B5EF4-FFF2-40B4-BE49-F238E27FC236}">
                <a16:creationId xmlns:a16="http://schemas.microsoft.com/office/drawing/2014/main" id="{347DFF65-798A-036E-BA91-606F65B448D6}"/>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Math Module</a:t>
            </a:r>
          </a:p>
        </p:txBody>
      </p:sp>
    </p:spTree>
    <p:extLst>
      <p:ext uri="{BB962C8B-B14F-4D97-AF65-F5344CB8AC3E}">
        <p14:creationId xmlns:p14="http://schemas.microsoft.com/office/powerpoint/2010/main" val="29984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7F489-63F5-DA98-7873-B010F2FF179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3145290-7BB3-5E71-F709-3B52E83C3C4E}"/>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24449B73-B1B1-AAB3-D2E8-21F76BE68EB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DFE0B601-43D2-1106-36DB-512E823F42D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56D717FD-2954-D306-CAF6-483FA9D7450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76B4432-B070-DABA-0AF4-BCD61081A30A}"/>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436DB233-2C0A-31D6-8C77-1AAC7E7269C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31F9865-19F8-0860-56AE-071356E9BB30}"/>
                  </a:ext>
                </a:extLst>
              </p:cNvPr>
              <p:cNvSpPr txBox="1"/>
              <p:nvPr/>
            </p:nvSpPr>
            <p:spPr>
              <a:xfrm>
                <a:off x="381001" y="2628900"/>
                <a:ext cx="17526000" cy="3970318"/>
              </a:xfrm>
              <a:prstGeom prst="rect">
                <a:avLst/>
              </a:prstGeom>
              <a:noFill/>
            </p:spPr>
            <p:txBody>
              <a:bodyPr wrap="square">
                <a:spAutoFit/>
              </a:bodyPr>
              <a:lstStyle/>
              <a:p>
                <a:pPr algn="just"/>
                <a:r>
                  <a:rPr lang="en-US" sz="3600" b="1" dirty="0">
                    <a:latin typeface="Consolas" panose="020B0609020204030204" pitchFamily="49" charset="0"/>
                  </a:rPr>
                  <a:t>Example: Area of Circle (</a:t>
                </a:r>
                <a14:m>
                  <m:oMath xmlns:m="http://schemas.openxmlformats.org/officeDocument/2006/math">
                    <m:r>
                      <a:rPr lang="en-US" sz="3600" b="1" i="1" smtClean="0">
                        <a:latin typeface="Cambria Math" panose="02040503050406030204" pitchFamily="18" charset="0"/>
                      </a:rPr>
                      <m:t>𝑨</m:t>
                    </m:r>
                    <m:r>
                      <a:rPr lang="en-US" sz="3600" b="1" i="1" smtClean="0">
                        <a:latin typeface="Cambria Math" panose="02040503050406030204" pitchFamily="18" charset="0"/>
                      </a:rPr>
                      <m:t>=</m:t>
                    </m:r>
                    <m:r>
                      <a:rPr lang="el-GR" sz="3600" b="1" i="1" smtClean="0">
                        <a:latin typeface="Cambria Math" panose="02040503050406030204" pitchFamily="18" charset="0"/>
                      </a:rPr>
                      <m:t>𝝅</m:t>
                    </m:r>
                    <m:sSup>
                      <m:sSupPr>
                        <m:ctrlPr>
                          <a:rPr lang="en-US" sz="3600" b="1" i="1" smtClean="0">
                            <a:latin typeface="Cambria Math" panose="02040503050406030204" pitchFamily="18" charset="0"/>
                          </a:rPr>
                        </m:ctrlPr>
                      </m:sSupPr>
                      <m:e>
                        <m:r>
                          <a:rPr lang="en-US" sz="3600" b="1" i="1" smtClean="0">
                            <a:latin typeface="Cambria Math" panose="02040503050406030204" pitchFamily="18" charset="0"/>
                          </a:rPr>
                          <m:t>𝒓</m:t>
                        </m:r>
                      </m:e>
                      <m:sup>
                        <m:r>
                          <a:rPr lang="en-US" sz="3600" b="1" i="1" smtClean="0">
                            <a:latin typeface="Cambria Math" panose="02040503050406030204" pitchFamily="18" charset="0"/>
                          </a:rPr>
                          <m:t>𝟐</m:t>
                        </m:r>
                      </m:sup>
                    </m:sSup>
                  </m:oMath>
                </a14:m>
                <a:r>
                  <a:rPr lang="en-US" sz="3600" b="1" dirty="0">
                    <a:latin typeface="Consolas" panose="020B0609020204030204" pitchFamily="49" charset="0"/>
                  </a:rPr>
                  <a:t>)</a:t>
                </a:r>
              </a:p>
              <a:p>
                <a:pPr algn="just"/>
                <a:endParaRPr lang="en-US" sz="3600" b="1" dirty="0">
                  <a:latin typeface="Consolas" panose="020B0609020204030204" pitchFamily="49" charset="0"/>
                </a:endParaRPr>
              </a:p>
              <a:p>
                <a:pPr algn="just"/>
                <a:r>
                  <a:rPr lang="en-US" sz="3600" dirty="0">
                    <a:latin typeface="Consolas" panose="020B0609020204030204" pitchFamily="49" charset="0"/>
                  </a:rPr>
                  <a:t>import math</a:t>
                </a:r>
              </a:p>
              <a:p>
                <a:pPr algn="just"/>
                <a:endParaRPr lang="en-US" sz="3600" dirty="0">
                  <a:latin typeface="Consolas" panose="020B0609020204030204" pitchFamily="49" charset="0"/>
                </a:endParaRPr>
              </a:p>
              <a:p>
                <a:pPr algn="just"/>
                <a:r>
                  <a:rPr lang="en-US" sz="3600" dirty="0">
                    <a:latin typeface="Consolas" panose="020B0609020204030204" pitchFamily="49" charset="0"/>
                  </a:rPr>
                  <a:t>radius = 5</a:t>
                </a:r>
              </a:p>
              <a:p>
                <a:pPr algn="just"/>
                <a:r>
                  <a:rPr lang="en-US" sz="3600" dirty="0">
                    <a:latin typeface="Consolas" panose="020B0609020204030204" pitchFamily="49" charset="0"/>
                  </a:rPr>
                  <a:t>area = </a:t>
                </a:r>
                <a:r>
                  <a:rPr lang="en-US" sz="3600" dirty="0" err="1">
                    <a:latin typeface="Consolas" panose="020B0609020204030204" pitchFamily="49" charset="0"/>
                  </a:rPr>
                  <a:t>math.pi</a:t>
                </a:r>
                <a:r>
                  <a:rPr lang="en-US" sz="3600" dirty="0">
                    <a:latin typeface="Consolas" panose="020B0609020204030204" pitchFamily="49" charset="0"/>
                  </a:rPr>
                  <a:t> * </a:t>
                </a:r>
                <a:r>
                  <a:rPr lang="en-US" sz="3600" dirty="0" err="1">
                    <a:latin typeface="Consolas" panose="020B0609020204030204" pitchFamily="49" charset="0"/>
                  </a:rPr>
                  <a:t>math.pow</a:t>
                </a:r>
                <a:r>
                  <a:rPr lang="en-US" sz="3600" dirty="0">
                    <a:latin typeface="Consolas" panose="020B0609020204030204" pitchFamily="49" charset="0"/>
                  </a:rPr>
                  <a:t>(radius, 2)</a:t>
                </a:r>
              </a:p>
              <a:p>
                <a:pPr algn="just"/>
                <a:r>
                  <a:rPr lang="en-US" sz="3600" dirty="0">
                    <a:latin typeface="Consolas" panose="020B0609020204030204" pitchFamily="49" charset="0"/>
                  </a:rPr>
                  <a:t>print(area)</a:t>
                </a:r>
              </a:p>
            </p:txBody>
          </p:sp>
        </mc:Choice>
        <mc:Fallback xmlns="">
          <p:sp>
            <p:nvSpPr>
              <p:cNvPr id="24" name="TextBox 23">
                <a:extLst>
                  <a:ext uri="{FF2B5EF4-FFF2-40B4-BE49-F238E27FC236}">
                    <a16:creationId xmlns:a16="http://schemas.microsoft.com/office/drawing/2014/main" id="{631F9865-19F8-0860-56AE-071356E9BB30}"/>
                  </a:ext>
                </a:extLst>
              </p:cNvPr>
              <p:cNvSpPr txBox="1">
                <a:spLocks noRot="1" noChangeAspect="1" noMove="1" noResize="1" noEditPoints="1" noAdjustHandles="1" noChangeArrowheads="1" noChangeShapeType="1" noTextEdit="1"/>
              </p:cNvSpPr>
              <p:nvPr/>
            </p:nvSpPr>
            <p:spPr>
              <a:xfrm>
                <a:off x="381001" y="2628900"/>
                <a:ext cx="17526000" cy="3970318"/>
              </a:xfrm>
              <a:prstGeom prst="rect">
                <a:avLst/>
              </a:prstGeom>
              <a:blipFill>
                <a:blip r:embed="rId7"/>
                <a:stretch>
                  <a:fillRect l="-1078" t="-1994" b="-5061"/>
                </a:stretch>
              </a:blipFill>
            </p:spPr>
            <p:txBody>
              <a:bodyPr/>
              <a:lstStyle/>
              <a:p>
                <a:r>
                  <a:rPr lang="en-PH">
                    <a:noFill/>
                  </a:rPr>
                  <a:t> </a:t>
                </a:r>
              </a:p>
            </p:txBody>
          </p:sp>
        </mc:Fallback>
      </mc:AlternateContent>
      <p:sp>
        <p:nvSpPr>
          <p:cNvPr id="6" name="TextBox 28">
            <a:extLst>
              <a:ext uri="{FF2B5EF4-FFF2-40B4-BE49-F238E27FC236}">
                <a16:creationId xmlns:a16="http://schemas.microsoft.com/office/drawing/2014/main" id="{BBA6EEBE-BC79-5DF0-896B-B2620E9E7C6B}"/>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Math Module</a:t>
            </a:r>
          </a:p>
        </p:txBody>
      </p:sp>
    </p:spTree>
    <p:extLst>
      <p:ext uri="{BB962C8B-B14F-4D97-AF65-F5344CB8AC3E}">
        <p14:creationId xmlns:p14="http://schemas.microsoft.com/office/powerpoint/2010/main" val="1981875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EE48C-5B59-6A9C-A3D9-51A309783F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54272EF-CFFD-8114-E535-4D6FF543C73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791B720D-CDE8-CBB6-CEDA-68EE8C59BFF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E81629BC-042E-9612-C5CE-485D72B9D65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7320A00-122F-81B9-3080-1D0834D5EBE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8104C82F-7F50-D085-1F44-F5B45F63CB7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1E3A2FF1-10C5-C84E-918D-594DF2A2142C}"/>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E09DEDB9-87DC-74C0-559E-7B5D86A03B1E}"/>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 </a:t>
            </a:r>
          </a:p>
        </p:txBody>
      </p:sp>
      <p:sp>
        <p:nvSpPr>
          <p:cNvPr id="10" name="AutoShape 8" descr="Grammarly Logo PNG Vector - BrandLogo">
            <a:extLst>
              <a:ext uri="{FF2B5EF4-FFF2-40B4-BE49-F238E27FC236}">
                <a16:creationId xmlns:a16="http://schemas.microsoft.com/office/drawing/2014/main" id="{B401AFF9-5AA1-2019-1D40-413BE727082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8ECC30E3-A6B6-554F-3497-7EBB0CF95094}"/>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52562857-18E4-1592-DCFC-7723307FB01E}"/>
              </a:ext>
            </a:extLst>
          </p:cNvPr>
          <p:cNvSpPr txBox="1"/>
          <p:nvPr/>
        </p:nvSpPr>
        <p:spPr>
          <a:xfrm>
            <a:off x="463773" y="2055128"/>
            <a:ext cx="16953563" cy="4154984"/>
          </a:xfrm>
          <a:prstGeom prst="rect">
            <a:avLst/>
          </a:prstGeom>
          <a:noFill/>
        </p:spPr>
        <p:txBody>
          <a:bodyPr wrap="square">
            <a:spAutoFit/>
          </a:bodyPr>
          <a:lstStyle/>
          <a:p>
            <a:pPr algn="just"/>
            <a:r>
              <a:rPr lang="en-US" sz="3300" b="1" dirty="0">
                <a:latin typeface="Consolas" panose="020B0609020204030204" pitchFamily="49" charset="0"/>
              </a:rPr>
              <a:t>Task:</a:t>
            </a:r>
          </a:p>
          <a:p>
            <a:pPr algn="just"/>
            <a:r>
              <a:rPr lang="en-US" sz="3300" dirty="0">
                <a:latin typeface="Consolas" panose="020B0609020204030204" pitchFamily="49" charset="0"/>
              </a:rPr>
              <a:t>Create a program that asks the user for:</a:t>
            </a:r>
          </a:p>
          <a:p>
            <a:pPr marL="914400" lvl="1" indent="-457200" algn="just">
              <a:buFont typeface="Wingdings" panose="05000000000000000000" pitchFamily="2" charset="2"/>
              <a:buChar char="ü"/>
            </a:pPr>
            <a:r>
              <a:rPr lang="en-US" sz="3300" dirty="0">
                <a:latin typeface="Consolas" panose="020B0609020204030204" pitchFamily="49" charset="0"/>
              </a:rPr>
              <a:t>Radius</a:t>
            </a:r>
          </a:p>
          <a:p>
            <a:pPr marL="914400" lvl="1" indent="-457200" algn="just">
              <a:buFont typeface="Wingdings" panose="05000000000000000000" pitchFamily="2" charset="2"/>
              <a:buChar char="ü"/>
            </a:pPr>
            <a:r>
              <a:rPr lang="en-US" sz="3300" dirty="0">
                <a:latin typeface="Consolas" panose="020B0609020204030204" pitchFamily="49" charset="0"/>
              </a:rPr>
              <a:t>angle in degrees</a:t>
            </a:r>
          </a:p>
          <a:p>
            <a:pPr marL="914400" lvl="1" indent="-457200" algn="just">
              <a:buFont typeface="Wingdings" panose="05000000000000000000" pitchFamily="2" charset="2"/>
              <a:buChar char="ü"/>
            </a:pPr>
            <a:endParaRPr lang="en-US" sz="3300" dirty="0">
              <a:latin typeface="Consolas" panose="020B0609020204030204" pitchFamily="49" charset="0"/>
            </a:endParaRPr>
          </a:p>
          <a:p>
            <a:pPr algn="just"/>
            <a:r>
              <a:rPr lang="en-US" sz="3300" dirty="0">
                <a:latin typeface="Consolas" panose="020B0609020204030204" pitchFamily="49" charset="0"/>
              </a:rPr>
              <a:t>Then compute:</a:t>
            </a:r>
          </a:p>
          <a:p>
            <a:pPr marL="914400" lvl="1" indent="-457200" algn="just">
              <a:buFont typeface="Wingdings" panose="05000000000000000000" pitchFamily="2" charset="2"/>
              <a:buChar char="ü"/>
            </a:pPr>
            <a:r>
              <a:rPr lang="en-US" sz="3300" dirty="0">
                <a:latin typeface="Consolas" panose="020B0609020204030204" pitchFamily="49" charset="0"/>
              </a:rPr>
              <a:t>Circumference</a:t>
            </a:r>
          </a:p>
          <a:p>
            <a:pPr marL="914400" lvl="1" indent="-457200" algn="just">
              <a:buFont typeface="Wingdings" panose="05000000000000000000" pitchFamily="2" charset="2"/>
              <a:buChar char="ü"/>
            </a:pPr>
            <a:r>
              <a:rPr lang="en-US" sz="3300" dirty="0">
                <a:latin typeface="Consolas" panose="020B0609020204030204" pitchFamily="49" charset="0"/>
              </a:rPr>
              <a:t>Sine and cosine of the angle</a:t>
            </a:r>
            <a:endParaRPr lang="en-US" sz="3300" b="1" dirty="0">
              <a:latin typeface="Consolas" panose="020B0609020204030204" pitchFamily="49" charset="0"/>
            </a:endParaRPr>
          </a:p>
        </p:txBody>
      </p:sp>
    </p:spTree>
    <p:extLst>
      <p:ext uri="{BB962C8B-B14F-4D97-AF65-F5344CB8AC3E}">
        <p14:creationId xmlns:p14="http://schemas.microsoft.com/office/powerpoint/2010/main" val="802692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E8AE0-9DF1-6E69-3EB5-6E5B53A2F41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BEBDCC9-A60D-65C8-667F-6D2B44797AD9}"/>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5A89B880-6147-90B0-8332-BBE37060C15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30FBC0B6-9022-3C97-B988-37759F87561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1F1E5519-527D-0697-3DF4-1DFADEF11BF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DD54807-425B-147D-A453-929AB5BF7EC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9F911CF0-4E32-661C-FE03-783BDC4395F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9B5B62D9-742F-2622-E6DA-78DEA64AA36B}"/>
              </a:ext>
            </a:extLst>
          </p:cNvPr>
          <p:cNvSpPr txBox="1"/>
          <p:nvPr/>
        </p:nvSpPr>
        <p:spPr>
          <a:xfrm>
            <a:off x="380999" y="2400300"/>
            <a:ext cx="17526000" cy="3970318"/>
          </a:xfrm>
          <a:prstGeom prst="rect">
            <a:avLst/>
          </a:prstGeom>
          <a:noFill/>
        </p:spPr>
        <p:txBody>
          <a:bodyPr wrap="square">
            <a:spAutoFit/>
          </a:bodyPr>
          <a:lstStyle/>
          <a:p>
            <a:pPr algn="just"/>
            <a:r>
              <a:rPr lang="en-US" sz="3600" b="1" dirty="0">
                <a:latin typeface="Consolas" panose="020B0609020204030204" pitchFamily="49" charset="0"/>
              </a:rPr>
              <a:t>2. datetime module </a:t>
            </a:r>
            <a:r>
              <a:rPr lang="en-US" sz="3600" dirty="0">
                <a:latin typeface="Consolas" panose="020B0609020204030204" pitchFamily="49" charset="0"/>
              </a:rPr>
              <a:t>- handles dates, times, timestamps, and time differences.</a:t>
            </a:r>
          </a:p>
          <a:p>
            <a:pPr algn="just"/>
            <a:endParaRPr lang="en-US" sz="3600" dirty="0">
              <a:latin typeface="Consolas" panose="020B0609020204030204" pitchFamily="49" charset="0"/>
            </a:endParaRPr>
          </a:p>
          <a:p>
            <a:pPr algn="just"/>
            <a:r>
              <a:rPr lang="en-US" sz="3600" dirty="0">
                <a:latin typeface="Consolas" panose="020B0609020204030204" pitchFamily="49" charset="0"/>
              </a:rPr>
              <a:t>Common Uses:</a:t>
            </a:r>
          </a:p>
          <a:p>
            <a:pPr marL="1028700" lvl="1" indent="-571500" algn="just">
              <a:buFont typeface="Wingdings" panose="05000000000000000000" pitchFamily="2" charset="2"/>
              <a:buChar char="ü"/>
            </a:pPr>
            <a:r>
              <a:rPr lang="en-US" sz="3600" dirty="0">
                <a:latin typeface="Consolas" panose="020B0609020204030204" pitchFamily="49" charset="0"/>
              </a:rPr>
              <a:t>Logging</a:t>
            </a:r>
          </a:p>
          <a:p>
            <a:pPr marL="1028700" lvl="1" indent="-571500" algn="just">
              <a:buFont typeface="Wingdings" panose="05000000000000000000" pitchFamily="2" charset="2"/>
              <a:buChar char="ü"/>
            </a:pPr>
            <a:r>
              <a:rPr lang="en-US" sz="3600" dirty="0">
                <a:latin typeface="Consolas" panose="020B0609020204030204" pitchFamily="49" charset="0"/>
              </a:rPr>
              <a:t>Scheduling</a:t>
            </a:r>
          </a:p>
          <a:p>
            <a:pPr marL="1028700" lvl="1" indent="-571500" algn="just">
              <a:buFont typeface="Wingdings" panose="05000000000000000000" pitchFamily="2" charset="2"/>
              <a:buChar char="ü"/>
            </a:pPr>
            <a:r>
              <a:rPr lang="en-US" sz="3600" dirty="0">
                <a:latin typeface="Consolas" panose="020B0609020204030204" pitchFamily="49" charset="0"/>
              </a:rPr>
              <a:t>Age calculators</a:t>
            </a:r>
          </a:p>
        </p:txBody>
      </p:sp>
      <p:sp>
        <p:nvSpPr>
          <p:cNvPr id="6" name="TextBox 28">
            <a:extLst>
              <a:ext uri="{FF2B5EF4-FFF2-40B4-BE49-F238E27FC236}">
                <a16:creationId xmlns:a16="http://schemas.microsoft.com/office/drawing/2014/main" id="{C716505E-D99B-190F-733B-9304DCCCCCBB}"/>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datetime Module</a:t>
            </a:r>
          </a:p>
        </p:txBody>
      </p:sp>
    </p:spTree>
    <p:extLst>
      <p:ext uri="{BB962C8B-B14F-4D97-AF65-F5344CB8AC3E}">
        <p14:creationId xmlns:p14="http://schemas.microsoft.com/office/powerpoint/2010/main" val="52818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CD30F-5BCC-9498-68BA-7FE4B141FF1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8FEE0C1-918B-8FE1-37DB-0F66C78E5680}"/>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0C17F231-BC4C-E510-F5F0-9BB727E2E43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F131CF9D-E870-C7BE-D0DB-4EDFACBCCD1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3CE6B06-9D5C-8AEC-744C-3703A55B18D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B53D291-E34E-BE15-3CA7-A9A580825656}"/>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A85D2720-083A-E4A6-6CC4-7048A1DC4A61}"/>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819D5831-0BD1-9C4B-82B5-2A3DC5F1687F}"/>
              </a:ext>
            </a:extLst>
          </p:cNvPr>
          <p:cNvSpPr txBox="1"/>
          <p:nvPr/>
        </p:nvSpPr>
        <p:spPr>
          <a:xfrm>
            <a:off x="381001" y="2400300"/>
            <a:ext cx="17526000" cy="6740307"/>
          </a:xfrm>
          <a:prstGeom prst="rect">
            <a:avLst/>
          </a:prstGeom>
          <a:noFill/>
        </p:spPr>
        <p:txBody>
          <a:bodyPr wrap="square">
            <a:spAutoFit/>
          </a:bodyPr>
          <a:lstStyle/>
          <a:p>
            <a:pPr algn="just"/>
            <a:r>
              <a:rPr lang="en-US" sz="3600" b="1" dirty="0">
                <a:latin typeface="Consolas" panose="020B0609020204030204" pitchFamily="49" charset="0"/>
              </a:rPr>
              <a:t>Common Functions</a:t>
            </a:r>
          </a:p>
          <a:p>
            <a:pPr algn="just"/>
            <a:r>
              <a:rPr lang="en-US" sz="3600" b="1" dirty="0">
                <a:latin typeface="Consolas" panose="020B0609020204030204" pitchFamily="49" charset="0"/>
              </a:rPr>
              <a:t>2.1. </a:t>
            </a:r>
            <a:r>
              <a:rPr lang="en-US" sz="3600" dirty="0" err="1">
                <a:latin typeface="Consolas" panose="020B0609020204030204" pitchFamily="49" charset="0"/>
              </a:rPr>
              <a:t>datetime.datetime.now</a:t>
            </a:r>
            <a:r>
              <a:rPr lang="en-US" sz="3600" dirty="0">
                <a:latin typeface="Consolas" panose="020B0609020204030204" pitchFamily="49" charset="0"/>
              </a:rPr>
              <a:t>() or </a:t>
            </a:r>
            <a:r>
              <a:rPr lang="en-US" sz="3600" dirty="0" err="1">
                <a:latin typeface="Consolas" panose="020B0609020204030204" pitchFamily="49" charset="0"/>
              </a:rPr>
              <a:t>datetime.datetime.today</a:t>
            </a:r>
            <a:r>
              <a:rPr lang="en-US" sz="3600" dirty="0">
                <a:latin typeface="Consolas" panose="020B0609020204030204" pitchFamily="49" charset="0"/>
              </a:rPr>
              <a:t>() - Returns the current date and time based on your system clock. </a:t>
            </a:r>
          </a:p>
          <a:p>
            <a:pPr algn="just"/>
            <a:endParaRPr lang="en-US" sz="3600" dirty="0">
              <a:latin typeface="Consolas" panose="020B0609020204030204" pitchFamily="49" charset="0"/>
            </a:endParaRP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from datetime import datetime</a:t>
            </a:r>
          </a:p>
          <a:p>
            <a:pPr algn="just"/>
            <a:endParaRPr lang="en-US" sz="3600" dirty="0">
              <a:latin typeface="Consolas" panose="020B0609020204030204" pitchFamily="49" charset="0"/>
            </a:endParaRPr>
          </a:p>
          <a:p>
            <a:pPr algn="just"/>
            <a:r>
              <a:rPr lang="en-US" sz="3600" dirty="0">
                <a:latin typeface="Consolas" panose="020B0609020204030204" pitchFamily="49" charset="0"/>
              </a:rPr>
              <a:t>now = </a:t>
            </a:r>
            <a:r>
              <a:rPr lang="en-US" sz="3600" dirty="0" err="1">
                <a:latin typeface="Consolas" panose="020B0609020204030204" pitchFamily="49" charset="0"/>
              </a:rPr>
              <a:t>datetime.now</a:t>
            </a:r>
            <a:r>
              <a:rPr lang="en-US" sz="3600" dirty="0">
                <a:latin typeface="Consolas" panose="020B0609020204030204" pitchFamily="49" charset="0"/>
              </a:rPr>
              <a:t>()</a:t>
            </a:r>
          </a:p>
          <a:p>
            <a:pPr algn="just"/>
            <a:r>
              <a:rPr lang="en-US" sz="3600" dirty="0">
                <a:latin typeface="Consolas" panose="020B0609020204030204" pitchFamily="49" charset="0"/>
              </a:rPr>
              <a:t>print("Current date and time:", now)</a:t>
            </a:r>
          </a:p>
          <a:p>
            <a:pPr algn="just"/>
            <a:endParaRPr lang="en-US" sz="3600" dirty="0">
              <a:latin typeface="Consolas" panose="020B0609020204030204" pitchFamily="49" charset="0"/>
            </a:endParaRPr>
          </a:p>
          <a:p>
            <a:pPr algn="just"/>
            <a:r>
              <a:rPr lang="en-US" sz="3600" b="1" dirty="0">
                <a:latin typeface="Consolas" panose="020B0609020204030204" pitchFamily="49" charset="0"/>
              </a:rPr>
              <a:t>Output: </a:t>
            </a:r>
          </a:p>
          <a:p>
            <a:pPr algn="just"/>
            <a:r>
              <a:rPr lang="en-US" sz="3600" dirty="0">
                <a:latin typeface="Consolas" panose="020B0609020204030204" pitchFamily="49" charset="0"/>
              </a:rPr>
              <a:t>Current date and time: 2025-11-13 22:29:22.279777</a:t>
            </a:r>
          </a:p>
        </p:txBody>
      </p:sp>
      <p:sp>
        <p:nvSpPr>
          <p:cNvPr id="6" name="TextBox 28">
            <a:extLst>
              <a:ext uri="{FF2B5EF4-FFF2-40B4-BE49-F238E27FC236}">
                <a16:creationId xmlns:a16="http://schemas.microsoft.com/office/drawing/2014/main" id="{A81D7D94-6CE6-1C65-95BD-14C49F887BC6}"/>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datetime Module</a:t>
            </a:r>
          </a:p>
        </p:txBody>
      </p:sp>
    </p:spTree>
    <p:extLst>
      <p:ext uri="{BB962C8B-B14F-4D97-AF65-F5344CB8AC3E}">
        <p14:creationId xmlns:p14="http://schemas.microsoft.com/office/powerpoint/2010/main" val="3897019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AE505-8734-8EEB-34D1-5CD72E3F4E1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85139AC-0301-2237-0695-EE6E127AB1A4}"/>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F5472C28-2C02-1E2D-CB79-01168D55EC2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9084B67-4A23-E1A2-028E-695DA0D652C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ED535490-A364-3927-87F5-2F9880C2C9C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949928FC-A747-BBBF-766D-948B89DA7D5D}"/>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08719C1-F541-200A-00AE-FEFC217F2E88}"/>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BB10D6E7-493F-1ADF-B6FD-405735FDC75E}"/>
              </a:ext>
            </a:extLst>
          </p:cNvPr>
          <p:cNvSpPr txBox="1"/>
          <p:nvPr/>
        </p:nvSpPr>
        <p:spPr>
          <a:xfrm>
            <a:off x="381001" y="2400300"/>
            <a:ext cx="17526000" cy="6740307"/>
          </a:xfrm>
          <a:prstGeom prst="rect">
            <a:avLst/>
          </a:prstGeom>
          <a:noFill/>
        </p:spPr>
        <p:txBody>
          <a:bodyPr wrap="square">
            <a:spAutoFit/>
          </a:bodyPr>
          <a:lstStyle/>
          <a:p>
            <a:pPr algn="just"/>
            <a:r>
              <a:rPr lang="en-US" sz="3600" b="1" dirty="0">
                <a:latin typeface="Consolas" panose="020B0609020204030204" pitchFamily="49" charset="0"/>
              </a:rPr>
              <a:t>Common Functions</a:t>
            </a:r>
          </a:p>
          <a:p>
            <a:pPr algn="just"/>
            <a:r>
              <a:rPr lang="en-US" sz="3600" b="1" dirty="0">
                <a:latin typeface="Consolas" panose="020B0609020204030204" pitchFamily="49" charset="0"/>
              </a:rPr>
              <a:t>2.2. </a:t>
            </a:r>
            <a:r>
              <a:rPr lang="en-US" sz="3600" dirty="0" err="1">
                <a:latin typeface="Consolas" panose="020B0609020204030204" pitchFamily="49" charset="0"/>
              </a:rPr>
              <a:t>datetime.date.today</a:t>
            </a:r>
            <a:r>
              <a:rPr lang="en-US" sz="3600" dirty="0">
                <a:latin typeface="Consolas" panose="020B0609020204030204" pitchFamily="49" charset="0"/>
              </a:rPr>
              <a:t>() - Returns today’s date only (no time included).</a:t>
            </a:r>
          </a:p>
          <a:p>
            <a:pPr algn="just"/>
            <a:endParaRPr lang="en-US" sz="3600" dirty="0">
              <a:latin typeface="Consolas" panose="020B0609020204030204" pitchFamily="49" charset="0"/>
            </a:endParaRP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from datetime import date</a:t>
            </a:r>
          </a:p>
          <a:p>
            <a:pPr algn="just"/>
            <a:endParaRPr lang="en-US" sz="3600" dirty="0">
              <a:latin typeface="Consolas" panose="020B0609020204030204" pitchFamily="49" charset="0"/>
            </a:endParaRPr>
          </a:p>
          <a:p>
            <a:pPr algn="just"/>
            <a:r>
              <a:rPr lang="en-US" sz="3600" dirty="0">
                <a:latin typeface="Consolas" panose="020B0609020204030204" pitchFamily="49" charset="0"/>
              </a:rPr>
              <a:t>today = </a:t>
            </a:r>
            <a:r>
              <a:rPr lang="en-US" sz="3600" dirty="0" err="1">
                <a:latin typeface="Consolas" panose="020B0609020204030204" pitchFamily="49" charset="0"/>
              </a:rPr>
              <a:t>date.today</a:t>
            </a:r>
            <a:r>
              <a:rPr lang="en-US" sz="3600" dirty="0">
                <a:latin typeface="Consolas" panose="020B0609020204030204" pitchFamily="49" charset="0"/>
              </a:rPr>
              <a:t>()</a:t>
            </a:r>
          </a:p>
          <a:p>
            <a:pPr algn="just"/>
            <a:r>
              <a:rPr lang="en-US" sz="3600" dirty="0">
                <a:latin typeface="Consolas" panose="020B0609020204030204" pitchFamily="49" charset="0"/>
              </a:rPr>
              <a:t>print("Today's date:", today)</a:t>
            </a:r>
          </a:p>
          <a:p>
            <a:pPr algn="just"/>
            <a:endParaRPr lang="en-US" sz="3600" dirty="0">
              <a:latin typeface="Consolas" panose="020B0609020204030204" pitchFamily="49" charset="0"/>
            </a:endParaRPr>
          </a:p>
          <a:p>
            <a:pPr algn="just"/>
            <a:r>
              <a:rPr lang="en-US" sz="3600" b="1" dirty="0">
                <a:latin typeface="Consolas" panose="020B0609020204030204" pitchFamily="49" charset="0"/>
              </a:rPr>
              <a:t>Output: </a:t>
            </a:r>
          </a:p>
          <a:p>
            <a:pPr algn="just"/>
            <a:r>
              <a:rPr lang="en-US" sz="3600" dirty="0">
                <a:latin typeface="Consolas" panose="020B0609020204030204" pitchFamily="49" charset="0"/>
              </a:rPr>
              <a:t>Today's date: 2025-11-13</a:t>
            </a:r>
          </a:p>
        </p:txBody>
      </p:sp>
      <p:sp>
        <p:nvSpPr>
          <p:cNvPr id="6" name="TextBox 28">
            <a:extLst>
              <a:ext uri="{FF2B5EF4-FFF2-40B4-BE49-F238E27FC236}">
                <a16:creationId xmlns:a16="http://schemas.microsoft.com/office/drawing/2014/main" id="{750FE100-4E7F-BDFC-C303-8BF2B95AA743}"/>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datetime Module</a:t>
            </a:r>
          </a:p>
        </p:txBody>
      </p:sp>
    </p:spTree>
    <p:extLst>
      <p:ext uri="{BB962C8B-B14F-4D97-AF65-F5344CB8AC3E}">
        <p14:creationId xmlns:p14="http://schemas.microsoft.com/office/powerpoint/2010/main" val="3889259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B67BC-04E6-31C0-5A60-C81CA6474F4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98D9736-45D1-31A2-5A87-D99AF67EA967}"/>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F7A29E1-E2C4-FB06-9599-CDF9AAA7E0D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3DC92024-D33A-627B-0ECD-4FDE625AE0F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6798590E-85B6-DE22-72AD-46C0596532B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94A97C70-B5BE-06A5-7138-2F5BD6AAFA7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F03BA52-D25F-4754-A309-48AC9CC5907C}"/>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531EDB66-65B6-65F2-6516-3889D4549D46}"/>
              </a:ext>
            </a:extLst>
          </p:cNvPr>
          <p:cNvSpPr txBox="1"/>
          <p:nvPr/>
        </p:nvSpPr>
        <p:spPr>
          <a:xfrm>
            <a:off x="381001" y="2391508"/>
            <a:ext cx="17526000" cy="7478970"/>
          </a:xfrm>
          <a:prstGeom prst="rect">
            <a:avLst/>
          </a:prstGeom>
          <a:noFill/>
        </p:spPr>
        <p:txBody>
          <a:bodyPr wrap="square">
            <a:spAutoFit/>
          </a:bodyPr>
          <a:lstStyle/>
          <a:p>
            <a:pPr algn="just"/>
            <a:r>
              <a:rPr lang="en-US" sz="3200" b="1" dirty="0">
                <a:latin typeface="Consolas" panose="020B0609020204030204" pitchFamily="49" charset="0"/>
              </a:rPr>
              <a:t>Common Functions</a:t>
            </a:r>
          </a:p>
          <a:p>
            <a:pPr algn="just"/>
            <a:r>
              <a:rPr lang="en-US" sz="3200" b="1" dirty="0">
                <a:latin typeface="Consolas" panose="020B0609020204030204" pitchFamily="49" charset="0"/>
              </a:rPr>
              <a:t>2.3. </a:t>
            </a:r>
            <a:r>
              <a:rPr lang="en-US" sz="3200" b="1" dirty="0" err="1">
                <a:latin typeface="Consolas" panose="020B0609020204030204" pitchFamily="49" charset="0"/>
              </a:rPr>
              <a:t>datetime.datetime.timedelta</a:t>
            </a:r>
            <a:r>
              <a:rPr lang="en-US" sz="3200" b="1" dirty="0">
                <a:latin typeface="Consolas" panose="020B0609020204030204" pitchFamily="49" charset="0"/>
              </a:rPr>
              <a:t>() </a:t>
            </a:r>
            <a:r>
              <a:rPr lang="en-US" sz="3200" dirty="0">
                <a:latin typeface="Consolas" panose="020B0609020204030204" pitchFamily="49" charset="0"/>
              </a:rPr>
              <a:t>- Represents a difference or duration between two dates or times.</a:t>
            </a:r>
          </a:p>
          <a:p>
            <a:pPr algn="just"/>
            <a:r>
              <a:rPr lang="en-US" sz="3200" b="1" dirty="0">
                <a:latin typeface="Consolas" panose="020B0609020204030204" pitchFamily="49" charset="0"/>
              </a:rPr>
              <a:t>Syntax: </a:t>
            </a:r>
            <a:r>
              <a:rPr lang="en-US" sz="3200" dirty="0" err="1">
                <a:latin typeface="Consolas" panose="020B0609020204030204" pitchFamily="49" charset="0"/>
              </a:rPr>
              <a:t>datetime.timedelta</a:t>
            </a:r>
            <a:r>
              <a:rPr lang="en-US" sz="3200" dirty="0">
                <a:latin typeface="Consolas" panose="020B0609020204030204" pitchFamily="49" charset="0"/>
              </a:rPr>
              <a:t>(days=0, hours=0, minutes=0, seconds=0)</a:t>
            </a:r>
          </a:p>
          <a:p>
            <a:pPr algn="just"/>
            <a:r>
              <a:rPr lang="en-US" sz="3200" dirty="0">
                <a:latin typeface="Consolas" panose="020B0609020204030204" pitchFamily="49" charset="0"/>
              </a:rPr>
              <a:t> </a:t>
            </a: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from datetime import datetime, </a:t>
            </a:r>
            <a:r>
              <a:rPr lang="en-US" sz="3200" dirty="0" err="1">
                <a:latin typeface="Consolas" panose="020B0609020204030204" pitchFamily="49" charset="0"/>
              </a:rPr>
              <a:t>timedelta</a:t>
            </a:r>
            <a:endParaRPr lang="en-US" sz="3200" dirty="0">
              <a:latin typeface="Consolas" panose="020B0609020204030204" pitchFamily="49" charset="0"/>
            </a:endParaRPr>
          </a:p>
          <a:p>
            <a:pPr algn="just"/>
            <a:endParaRPr lang="en-US" sz="3200" dirty="0">
              <a:latin typeface="Consolas" panose="020B0609020204030204" pitchFamily="49" charset="0"/>
            </a:endParaRPr>
          </a:p>
          <a:p>
            <a:pPr algn="just"/>
            <a:r>
              <a:rPr lang="en-US" sz="3200" dirty="0">
                <a:latin typeface="Consolas" panose="020B0609020204030204" pitchFamily="49" charset="0"/>
              </a:rPr>
              <a:t>today = </a:t>
            </a:r>
            <a:r>
              <a:rPr lang="en-US" sz="3200" dirty="0" err="1">
                <a:latin typeface="Consolas" panose="020B0609020204030204" pitchFamily="49" charset="0"/>
              </a:rPr>
              <a:t>datetime.now</a:t>
            </a:r>
            <a:r>
              <a:rPr lang="en-US" sz="3200" dirty="0">
                <a:latin typeface="Consolas" panose="020B0609020204030204" pitchFamily="49" charset="0"/>
              </a:rPr>
              <a:t>()</a:t>
            </a:r>
          </a:p>
          <a:p>
            <a:pPr algn="just"/>
            <a:r>
              <a:rPr lang="en-US" sz="3200" dirty="0" err="1">
                <a:latin typeface="Consolas" panose="020B0609020204030204" pitchFamily="49" charset="0"/>
              </a:rPr>
              <a:t>one_week</a:t>
            </a:r>
            <a:r>
              <a:rPr lang="en-US" sz="3200" dirty="0">
                <a:latin typeface="Consolas" panose="020B0609020204030204" pitchFamily="49" charset="0"/>
              </a:rPr>
              <a:t> = </a:t>
            </a:r>
            <a:r>
              <a:rPr lang="en-US" sz="3200" dirty="0" err="1">
                <a:latin typeface="Consolas" panose="020B0609020204030204" pitchFamily="49" charset="0"/>
              </a:rPr>
              <a:t>timedelta</a:t>
            </a:r>
            <a:r>
              <a:rPr lang="en-US" sz="3200" dirty="0">
                <a:latin typeface="Consolas" panose="020B0609020204030204" pitchFamily="49" charset="0"/>
              </a:rPr>
              <a:t>(weeks=1)</a:t>
            </a:r>
          </a:p>
          <a:p>
            <a:pPr algn="just"/>
            <a:r>
              <a:rPr lang="en-US" sz="3200" dirty="0" err="1">
                <a:latin typeface="Consolas" panose="020B0609020204030204" pitchFamily="49" charset="0"/>
              </a:rPr>
              <a:t>next_week</a:t>
            </a:r>
            <a:r>
              <a:rPr lang="en-US" sz="3200" dirty="0">
                <a:latin typeface="Consolas" panose="020B0609020204030204" pitchFamily="49" charset="0"/>
              </a:rPr>
              <a:t> = today + </a:t>
            </a:r>
            <a:r>
              <a:rPr lang="en-US" sz="3200" dirty="0" err="1">
                <a:latin typeface="Consolas" panose="020B0609020204030204" pitchFamily="49" charset="0"/>
              </a:rPr>
              <a:t>one_week</a:t>
            </a:r>
            <a:endParaRPr lang="en-US" sz="3200" dirty="0">
              <a:latin typeface="Consolas" panose="020B0609020204030204" pitchFamily="49" charset="0"/>
            </a:endParaRPr>
          </a:p>
          <a:p>
            <a:pPr algn="just"/>
            <a:r>
              <a:rPr lang="en-US" sz="3200" dirty="0">
                <a:latin typeface="Consolas" panose="020B0609020204030204" pitchFamily="49" charset="0"/>
              </a:rPr>
              <a:t>print("Next week's date:", </a:t>
            </a:r>
            <a:r>
              <a:rPr lang="en-US" sz="3200" dirty="0" err="1">
                <a:latin typeface="Consolas" panose="020B0609020204030204" pitchFamily="49" charset="0"/>
              </a:rPr>
              <a:t>next_week</a:t>
            </a:r>
            <a:r>
              <a:rPr lang="en-US" sz="3200" dirty="0">
                <a:latin typeface="Consolas" panose="020B0609020204030204" pitchFamily="49" charset="0"/>
              </a:rPr>
              <a:t>)</a:t>
            </a: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Output: </a:t>
            </a:r>
          </a:p>
          <a:p>
            <a:pPr algn="just"/>
            <a:r>
              <a:rPr lang="en-US" sz="3200" dirty="0">
                <a:latin typeface="Consolas" panose="020B0609020204030204" pitchFamily="49" charset="0"/>
              </a:rPr>
              <a:t>Next week's date: 2025-11-20 22:32:06.94068</a:t>
            </a:r>
          </a:p>
        </p:txBody>
      </p:sp>
      <p:sp>
        <p:nvSpPr>
          <p:cNvPr id="6" name="TextBox 28">
            <a:extLst>
              <a:ext uri="{FF2B5EF4-FFF2-40B4-BE49-F238E27FC236}">
                <a16:creationId xmlns:a16="http://schemas.microsoft.com/office/drawing/2014/main" id="{24364D51-2269-AA8A-0980-8A4CE8ED0EC9}"/>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datetime Module</a:t>
            </a:r>
          </a:p>
        </p:txBody>
      </p:sp>
    </p:spTree>
    <p:extLst>
      <p:ext uri="{BB962C8B-B14F-4D97-AF65-F5344CB8AC3E}">
        <p14:creationId xmlns:p14="http://schemas.microsoft.com/office/powerpoint/2010/main" val="3066553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8A212-3EEC-64DB-A3A6-2CBCCD0EB25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8D0AB1D-56EB-46DB-7B2B-75795B3AA8BC}"/>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168EE39E-B81D-7F15-8009-075C1C33C2F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98444097-C1FB-D6E5-BE56-6F5FFC3EBB8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0C0BF97-CF70-8207-DF82-04B5A501902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A103497-E05F-0145-2230-AB433726805E}"/>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3C79A34C-6604-0C09-C6B7-AD501E44DF36}"/>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C711D9A4-21B9-9A56-D6E3-862953BC362B}"/>
              </a:ext>
            </a:extLst>
          </p:cNvPr>
          <p:cNvSpPr txBox="1"/>
          <p:nvPr/>
        </p:nvSpPr>
        <p:spPr>
          <a:xfrm>
            <a:off x="381001" y="2391508"/>
            <a:ext cx="17526000" cy="2616101"/>
          </a:xfrm>
          <a:prstGeom prst="rect">
            <a:avLst/>
          </a:prstGeom>
          <a:noFill/>
        </p:spPr>
        <p:txBody>
          <a:bodyPr wrap="square">
            <a:spAutoFit/>
          </a:bodyPr>
          <a:lstStyle/>
          <a:p>
            <a:pPr algn="just"/>
            <a:r>
              <a:rPr lang="en-US" sz="3200" b="1" dirty="0">
                <a:latin typeface="Consolas" panose="020B0609020204030204" pitchFamily="49" charset="0"/>
              </a:rPr>
              <a:t>Common Functions</a:t>
            </a:r>
          </a:p>
          <a:p>
            <a:pPr algn="just"/>
            <a:r>
              <a:rPr lang="en-US" sz="3200" b="1" dirty="0">
                <a:latin typeface="Consolas" panose="020B0609020204030204" pitchFamily="49" charset="0"/>
              </a:rPr>
              <a:t>2.4. </a:t>
            </a:r>
            <a:r>
              <a:rPr lang="en-US" sz="3200" b="1" dirty="0" err="1">
                <a:latin typeface="Consolas" panose="020B0609020204030204" pitchFamily="49" charset="0"/>
              </a:rPr>
              <a:t>strftime</a:t>
            </a:r>
            <a:r>
              <a:rPr lang="en-US" sz="3200" b="1" dirty="0">
                <a:latin typeface="Consolas" panose="020B0609020204030204" pitchFamily="49" charset="0"/>
              </a:rPr>
              <a:t> </a:t>
            </a:r>
            <a:r>
              <a:rPr lang="en-US" sz="3200" dirty="0">
                <a:latin typeface="Consolas" panose="020B0609020204030204" pitchFamily="49" charset="0"/>
              </a:rPr>
              <a:t>- Converts a datetime object -&gt; formatted string.</a:t>
            </a: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Syntax: </a:t>
            </a:r>
            <a:r>
              <a:rPr lang="en-US" sz="3200" dirty="0" err="1">
                <a:latin typeface="Consolas" panose="020B0609020204030204" pitchFamily="49" charset="0"/>
              </a:rPr>
              <a:t>datetime_object.strftime</a:t>
            </a:r>
            <a:r>
              <a:rPr lang="en-US" sz="3200" dirty="0">
                <a:latin typeface="Consolas" panose="020B0609020204030204" pitchFamily="49" charset="0"/>
              </a:rPr>
              <a:t>("</a:t>
            </a:r>
            <a:r>
              <a:rPr lang="en-US" sz="3200" dirty="0" err="1">
                <a:latin typeface="Consolas" panose="020B0609020204030204" pitchFamily="49" charset="0"/>
              </a:rPr>
              <a:t>format_string</a:t>
            </a:r>
            <a:r>
              <a:rPr lang="en-US" sz="3200" dirty="0">
                <a:latin typeface="Consolas" panose="020B0609020204030204" pitchFamily="49" charset="0"/>
              </a:rPr>
              <a:t>")</a:t>
            </a:r>
          </a:p>
          <a:p>
            <a:pPr algn="just"/>
            <a:r>
              <a:rPr lang="en-US" sz="3200" b="1" dirty="0">
                <a:latin typeface="Consolas" panose="020B0609020204030204" pitchFamily="49" charset="0"/>
              </a:rPr>
              <a:t>Format Codes: For date</a:t>
            </a:r>
          </a:p>
        </p:txBody>
      </p:sp>
      <p:sp>
        <p:nvSpPr>
          <p:cNvPr id="6" name="TextBox 28">
            <a:extLst>
              <a:ext uri="{FF2B5EF4-FFF2-40B4-BE49-F238E27FC236}">
                <a16:creationId xmlns:a16="http://schemas.microsoft.com/office/drawing/2014/main" id="{8FED174E-C129-B584-DDA8-FFC122818915}"/>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datetime Module</a:t>
            </a:r>
          </a:p>
        </p:txBody>
      </p:sp>
      <p:graphicFrame>
        <p:nvGraphicFramePr>
          <p:cNvPr id="7" name="Table 6">
            <a:extLst>
              <a:ext uri="{FF2B5EF4-FFF2-40B4-BE49-F238E27FC236}">
                <a16:creationId xmlns:a16="http://schemas.microsoft.com/office/drawing/2014/main" id="{A20C681B-6A7D-E5DC-2E9C-94AB232CB71E}"/>
              </a:ext>
            </a:extLst>
          </p:cNvPr>
          <p:cNvGraphicFramePr>
            <a:graphicFrameLocks noGrp="1"/>
          </p:cNvGraphicFramePr>
          <p:nvPr>
            <p:extLst>
              <p:ext uri="{D42A27DB-BD31-4B8C-83A1-F6EECF244321}">
                <p14:modId xmlns:p14="http://schemas.microsoft.com/office/powerpoint/2010/main" val="1553926727"/>
              </p:ext>
            </p:extLst>
          </p:nvPr>
        </p:nvGraphicFramePr>
        <p:xfrm>
          <a:off x="661438" y="5009959"/>
          <a:ext cx="16331162" cy="4857941"/>
        </p:xfrm>
        <a:graphic>
          <a:graphicData uri="http://schemas.openxmlformats.org/drawingml/2006/table">
            <a:tbl>
              <a:tblPr firstRow="1" firstCol="1" bandRow="1">
                <a:tableStyleId>{5C22544A-7EE6-4342-B048-85BDC9FD1C3A}</a:tableStyleId>
              </a:tblPr>
              <a:tblGrid>
                <a:gridCol w="1853162">
                  <a:extLst>
                    <a:ext uri="{9D8B030D-6E8A-4147-A177-3AD203B41FA5}">
                      <a16:colId xmlns:a16="http://schemas.microsoft.com/office/drawing/2014/main" val="790684069"/>
                    </a:ext>
                  </a:extLst>
                </a:gridCol>
                <a:gridCol w="10972800">
                  <a:extLst>
                    <a:ext uri="{9D8B030D-6E8A-4147-A177-3AD203B41FA5}">
                      <a16:colId xmlns:a16="http://schemas.microsoft.com/office/drawing/2014/main" val="976113094"/>
                    </a:ext>
                  </a:extLst>
                </a:gridCol>
                <a:gridCol w="3505200">
                  <a:extLst>
                    <a:ext uri="{9D8B030D-6E8A-4147-A177-3AD203B41FA5}">
                      <a16:colId xmlns:a16="http://schemas.microsoft.com/office/drawing/2014/main" val="1966042356"/>
                    </a:ext>
                  </a:extLst>
                </a:gridCol>
              </a:tblGrid>
              <a:tr h="834591">
                <a:tc>
                  <a:txBody>
                    <a:bodyPr/>
                    <a:lstStyle/>
                    <a:p>
                      <a:pPr marL="0" marR="0" algn="ctr">
                        <a:lnSpc>
                          <a:spcPct val="107000"/>
                        </a:lnSpc>
                        <a:spcAft>
                          <a:spcPts val="800"/>
                        </a:spcAft>
                      </a:pPr>
                      <a:r>
                        <a:rPr lang="en-PH" sz="2800" kern="100" dirty="0">
                          <a:effectLst/>
                          <a:latin typeface="Consolas" panose="020B0609020204030204" pitchFamily="49" charset="0"/>
                        </a:rPr>
                        <a:t>Format Code</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pPr>
                      <a:r>
                        <a:rPr lang="en-PH" sz="2800" kern="100" dirty="0">
                          <a:effectLst/>
                          <a:latin typeface="Consolas" panose="020B0609020204030204" pitchFamily="49" charset="0"/>
                        </a:rPr>
                        <a:t>Meaning</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pPr>
                      <a:r>
                        <a:rPr lang="en-PH" sz="2800" kern="100" dirty="0">
                          <a:effectLst/>
                          <a:latin typeface="Consolas" panose="020B0609020204030204" pitchFamily="49" charset="0"/>
                        </a:rPr>
                        <a:t>Example</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8798829"/>
                  </a:ext>
                </a:extLst>
              </a:tr>
              <a:tr h="464819">
                <a:tc>
                  <a:txBody>
                    <a:bodyPr/>
                    <a:lstStyle/>
                    <a:p>
                      <a:pPr marL="0" marR="0" algn="ctr">
                        <a:lnSpc>
                          <a:spcPct val="107000"/>
                        </a:lnSpc>
                        <a:spcAft>
                          <a:spcPts val="800"/>
                        </a:spcAft>
                      </a:pPr>
                      <a:r>
                        <a:rPr lang="en-PH" sz="3200" kern="100">
                          <a:effectLst/>
                          <a:latin typeface="Consolas" panose="020B0609020204030204" pitchFamily="49" charset="0"/>
                        </a:rPr>
                        <a:t>%Y</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PH" sz="3200" kern="100" dirty="0">
                          <a:effectLst/>
                          <a:latin typeface="Consolas" panose="020B0609020204030204" pitchFamily="49" charset="0"/>
                        </a:rPr>
                        <a:t>Year with century (4 digits)</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200" kern="100" dirty="0">
                          <a:effectLst/>
                          <a:latin typeface="Consolas" panose="020B0609020204030204" pitchFamily="49" charset="0"/>
                        </a:rPr>
                        <a:t>2025</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3851599"/>
                  </a:ext>
                </a:extLst>
              </a:tr>
              <a:tr h="464819">
                <a:tc>
                  <a:txBody>
                    <a:bodyPr/>
                    <a:lstStyle/>
                    <a:p>
                      <a:pPr marL="0" marR="0" algn="ctr">
                        <a:lnSpc>
                          <a:spcPct val="107000"/>
                        </a:lnSpc>
                        <a:spcAft>
                          <a:spcPts val="800"/>
                        </a:spcAft>
                      </a:pPr>
                      <a:r>
                        <a:rPr lang="en-PH" sz="3200" kern="100">
                          <a:effectLst/>
                          <a:latin typeface="Consolas" panose="020B0609020204030204" pitchFamily="49" charset="0"/>
                        </a:rPr>
                        <a:t>%y</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PH" sz="3200" kern="100">
                          <a:effectLst/>
                          <a:latin typeface="Consolas" panose="020B0609020204030204" pitchFamily="49" charset="0"/>
                        </a:rPr>
                        <a:t>Year without century (2 digits)</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200" kern="100" dirty="0">
                          <a:effectLst/>
                          <a:latin typeface="Consolas" panose="020B0609020204030204" pitchFamily="49" charset="0"/>
                        </a:rPr>
                        <a:t>25</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5345279"/>
                  </a:ext>
                </a:extLst>
              </a:tr>
              <a:tr h="464819">
                <a:tc>
                  <a:txBody>
                    <a:bodyPr/>
                    <a:lstStyle/>
                    <a:p>
                      <a:pPr marL="0" marR="0" algn="ctr">
                        <a:lnSpc>
                          <a:spcPct val="107000"/>
                        </a:lnSpc>
                        <a:spcAft>
                          <a:spcPts val="800"/>
                        </a:spcAft>
                      </a:pPr>
                      <a:r>
                        <a:rPr lang="en-PH" sz="3200" kern="100" dirty="0">
                          <a:effectLst/>
                          <a:latin typeface="Consolas" panose="020B0609020204030204" pitchFamily="49" charset="0"/>
                        </a:rPr>
                        <a:t>%m</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PH" sz="3200" kern="100">
                          <a:effectLst/>
                          <a:latin typeface="Consolas" panose="020B0609020204030204" pitchFamily="49" charset="0"/>
                        </a:rPr>
                        <a:t>Month as zero-padded decimal</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200" kern="100">
                          <a:effectLst/>
                          <a:latin typeface="Consolas" panose="020B0609020204030204" pitchFamily="49" charset="0"/>
                        </a:rPr>
                        <a:t>01 to 12</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83932730"/>
                  </a:ext>
                </a:extLst>
              </a:tr>
              <a:tr h="464819">
                <a:tc>
                  <a:txBody>
                    <a:bodyPr/>
                    <a:lstStyle/>
                    <a:p>
                      <a:pPr marL="0" marR="0" algn="ctr">
                        <a:lnSpc>
                          <a:spcPct val="107000"/>
                        </a:lnSpc>
                        <a:spcAft>
                          <a:spcPts val="800"/>
                        </a:spcAft>
                      </a:pPr>
                      <a:r>
                        <a:rPr lang="en-PH" sz="3200" kern="100">
                          <a:effectLst/>
                          <a:latin typeface="Consolas" panose="020B0609020204030204" pitchFamily="49" charset="0"/>
                        </a:rPr>
                        <a:t>%B</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PH" sz="3200" kern="100" dirty="0">
                          <a:effectLst/>
                          <a:latin typeface="Consolas" panose="020B0609020204030204" pitchFamily="49" charset="0"/>
                        </a:rPr>
                        <a:t>Full month name</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200" kern="100">
                          <a:effectLst/>
                          <a:latin typeface="Consolas" panose="020B0609020204030204" pitchFamily="49" charset="0"/>
                        </a:rPr>
                        <a:t>November</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2901061"/>
                  </a:ext>
                </a:extLst>
              </a:tr>
              <a:tr h="464819">
                <a:tc>
                  <a:txBody>
                    <a:bodyPr/>
                    <a:lstStyle/>
                    <a:p>
                      <a:pPr marL="0" marR="0" algn="ctr">
                        <a:lnSpc>
                          <a:spcPct val="107000"/>
                        </a:lnSpc>
                        <a:spcAft>
                          <a:spcPts val="800"/>
                        </a:spcAft>
                      </a:pPr>
                      <a:r>
                        <a:rPr lang="en-PH" sz="3200" kern="100" dirty="0">
                          <a:effectLst/>
                          <a:latin typeface="Consolas" panose="020B0609020204030204" pitchFamily="49" charset="0"/>
                        </a:rPr>
                        <a:t>%b</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PH" sz="3200" kern="100">
                          <a:effectLst/>
                          <a:latin typeface="Consolas" panose="020B0609020204030204" pitchFamily="49" charset="0"/>
                        </a:rPr>
                        <a:t>Abbreviated month name</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200" kern="100">
                          <a:effectLst/>
                          <a:latin typeface="Consolas" panose="020B0609020204030204" pitchFamily="49" charset="0"/>
                        </a:rPr>
                        <a:t>Nov</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575290"/>
                  </a:ext>
                </a:extLst>
              </a:tr>
              <a:tr h="464819">
                <a:tc>
                  <a:txBody>
                    <a:bodyPr/>
                    <a:lstStyle/>
                    <a:p>
                      <a:pPr marL="0" marR="0" algn="ctr">
                        <a:lnSpc>
                          <a:spcPct val="107000"/>
                        </a:lnSpc>
                        <a:spcAft>
                          <a:spcPts val="800"/>
                        </a:spcAft>
                      </a:pPr>
                      <a:r>
                        <a:rPr lang="en-PH" sz="3200" kern="100" dirty="0">
                          <a:effectLst/>
                          <a:latin typeface="Consolas" panose="020B0609020204030204" pitchFamily="49" charset="0"/>
                        </a:rPr>
                        <a:t>%d</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PH" sz="3200" kern="100" dirty="0">
                          <a:effectLst/>
                          <a:latin typeface="Consolas" panose="020B0609020204030204" pitchFamily="49" charset="0"/>
                        </a:rPr>
                        <a:t>Day of the month (zero-padded)</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200" kern="100">
                          <a:effectLst/>
                          <a:latin typeface="Consolas" panose="020B0609020204030204" pitchFamily="49" charset="0"/>
                        </a:rPr>
                        <a:t>01 to 31</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78351801"/>
                  </a:ext>
                </a:extLst>
              </a:tr>
              <a:tr h="464819">
                <a:tc>
                  <a:txBody>
                    <a:bodyPr/>
                    <a:lstStyle/>
                    <a:p>
                      <a:pPr marL="0" marR="0" algn="ctr">
                        <a:lnSpc>
                          <a:spcPct val="107000"/>
                        </a:lnSpc>
                        <a:spcAft>
                          <a:spcPts val="800"/>
                        </a:spcAft>
                      </a:pPr>
                      <a:r>
                        <a:rPr lang="en-PH" sz="3200" kern="100">
                          <a:effectLst/>
                          <a:latin typeface="Consolas" panose="020B0609020204030204" pitchFamily="49" charset="0"/>
                        </a:rPr>
                        <a:t>%A</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PH" sz="3200" kern="100" dirty="0">
                          <a:effectLst/>
                          <a:latin typeface="Consolas" panose="020B0609020204030204" pitchFamily="49" charset="0"/>
                        </a:rPr>
                        <a:t>Full weekday name</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200" kern="100">
                          <a:effectLst/>
                          <a:latin typeface="Consolas" panose="020B0609020204030204" pitchFamily="49" charset="0"/>
                        </a:rPr>
                        <a:t>Tuesday</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1417249"/>
                  </a:ext>
                </a:extLst>
              </a:tr>
              <a:tr h="464819">
                <a:tc>
                  <a:txBody>
                    <a:bodyPr/>
                    <a:lstStyle/>
                    <a:p>
                      <a:pPr marL="0" marR="0" algn="ctr">
                        <a:lnSpc>
                          <a:spcPct val="107000"/>
                        </a:lnSpc>
                        <a:spcAft>
                          <a:spcPts val="800"/>
                        </a:spcAft>
                      </a:pPr>
                      <a:r>
                        <a:rPr lang="en-PH" sz="3200" kern="100" dirty="0">
                          <a:effectLst/>
                          <a:latin typeface="Consolas" panose="020B0609020204030204" pitchFamily="49" charset="0"/>
                        </a:rPr>
                        <a:t>%a</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PH" sz="3200" kern="100" dirty="0">
                          <a:effectLst/>
                          <a:latin typeface="Consolas" panose="020B0609020204030204" pitchFamily="49" charset="0"/>
                        </a:rPr>
                        <a:t>Abbreviated weekday name</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200" kern="100" dirty="0">
                          <a:effectLst/>
                          <a:latin typeface="Consolas" panose="020B0609020204030204" pitchFamily="49" charset="0"/>
                        </a:rPr>
                        <a:t>Tue</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9899930"/>
                  </a:ext>
                </a:extLst>
              </a:tr>
            </a:tbl>
          </a:graphicData>
        </a:graphic>
      </p:graphicFrame>
    </p:spTree>
    <p:extLst>
      <p:ext uri="{BB962C8B-B14F-4D97-AF65-F5344CB8AC3E}">
        <p14:creationId xmlns:p14="http://schemas.microsoft.com/office/powerpoint/2010/main" val="2500658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10CE1-D2F5-041D-4CCC-E3636D767D3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C87DAF9-D47A-2A82-4D1D-1BE732C064F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87E16220-12EE-C494-EB75-7AAD0E3F6C3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C305A999-62FA-A81F-7543-C3FFDBC2165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A55A16D-9336-C9B9-2714-904BE4B6FA6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82186CCC-7146-29B5-5DA3-7C8A343C7510}"/>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F5D19312-4902-E248-CA2E-B07E5F492328}"/>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B5040EC8-53B2-A614-09B0-61F374C878A8}"/>
              </a:ext>
            </a:extLst>
          </p:cNvPr>
          <p:cNvSpPr txBox="1"/>
          <p:nvPr/>
        </p:nvSpPr>
        <p:spPr>
          <a:xfrm>
            <a:off x="381001" y="2391508"/>
            <a:ext cx="17526000" cy="2616101"/>
          </a:xfrm>
          <a:prstGeom prst="rect">
            <a:avLst/>
          </a:prstGeom>
          <a:noFill/>
        </p:spPr>
        <p:txBody>
          <a:bodyPr wrap="square">
            <a:spAutoFit/>
          </a:bodyPr>
          <a:lstStyle/>
          <a:p>
            <a:pPr algn="just"/>
            <a:r>
              <a:rPr lang="en-US" sz="3200" b="1" dirty="0">
                <a:latin typeface="Consolas" panose="020B0609020204030204" pitchFamily="49" charset="0"/>
              </a:rPr>
              <a:t>Common Functions</a:t>
            </a:r>
          </a:p>
          <a:p>
            <a:pPr algn="just"/>
            <a:r>
              <a:rPr lang="en-US" sz="3200" b="1" dirty="0">
                <a:latin typeface="Consolas" panose="020B0609020204030204" pitchFamily="49" charset="0"/>
              </a:rPr>
              <a:t>2.4. </a:t>
            </a:r>
            <a:r>
              <a:rPr lang="en-US" sz="3200" b="1" dirty="0" err="1">
                <a:latin typeface="Consolas" panose="020B0609020204030204" pitchFamily="49" charset="0"/>
              </a:rPr>
              <a:t>strftime</a:t>
            </a:r>
            <a:r>
              <a:rPr lang="en-US" sz="3200" b="1" dirty="0">
                <a:latin typeface="Consolas" panose="020B0609020204030204" pitchFamily="49" charset="0"/>
              </a:rPr>
              <a:t> </a:t>
            </a:r>
            <a:r>
              <a:rPr lang="en-US" sz="3200" dirty="0">
                <a:latin typeface="Consolas" panose="020B0609020204030204" pitchFamily="49" charset="0"/>
              </a:rPr>
              <a:t>- Converts a datetime object -&gt; formatted string.</a:t>
            </a: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Syntax: </a:t>
            </a:r>
            <a:r>
              <a:rPr lang="en-US" sz="3200" dirty="0" err="1">
                <a:latin typeface="Consolas" panose="020B0609020204030204" pitchFamily="49" charset="0"/>
              </a:rPr>
              <a:t>datetime_object.strftime</a:t>
            </a:r>
            <a:r>
              <a:rPr lang="en-US" sz="3200" dirty="0">
                <a:latin typeface="Consolas" panose="020B0609020204030204" pitchFamily="49" charset="0"/>
              </a:rPr>
              <a:t>("</a:t>
            </a:r>
            <a:r>
              <a:rPr lang="en-US" sz="3200" dirty="0" err="1">
                <a:latin typeface="Consolas" panose="020B0609020204030204" pitchFamily="49" charset="0"/>
              </a:rPr>
              <a:t>format_string</a:t>
            </a:r>
            <a:r>
              <a:rPr lang="en-US" sz="3200" dirty="0">
                <a:latin typeface="Consolas" panose="020B0609020204030204" pitchFamily="49" charset="0"/>
              </a:rPr>
              <a:t>")</a:t>
            </a:r>
          </a:p>
          <a:p>
            <a:pPr algn="just"/>
            <a:r>
              <a:rPr lang="en-US" sz="3200" b="1" dirty="0">
                <a:latin typeface="Consolas" panose="020B0609020204030204" pitchFamily="49" charset="0"/>
              </a:rPr>
              <a:t>Format Codes: For time</a:t>
            </a:r>
          </a:p>
        </p:txBody>
      </p:sp>
      <p:sp>
        <p:nvSpPr>
          <p:cNvPr id="6" name="TextBox 28">
            <a:extLst>
              <a:ext uri="{FF2B5EF4-FFF2-40B4-BE49-F238E27FC236}">
                <a16:creationId xmlns:a16="http://schemas.microsoft.com/office/drawing/2014/main" id="{CE98B8C5-2DE6-456B-9F2B-4689B7421832}"/>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datetime Module</a:t>
            </a:r>
          </a:p>
        </p:txBody>
      </p:sp>
      <p:graphicFrame>
        <p:nvGraphicFramePr>
          <p:cNvPr id="7" name="Table 6">
            <a:extLst>
              <a:ext uri="{FF2B5EF4-FFF2-40B4-BE49-F238E27FC236}">
                <a16:creationId xmlns:a16="http://schemas.microsoft.com/office/drawing/2014/main" id="{F4D8997E-B883-E339-AA4A-491A0950FAEE}"/>
              </a:ext>
            </a:extLst>
          </p:cNvPr>
          <p:cNvGraphicFramePr>
            <a:graphicFrameLocks noGrp="1"/>
          </p:cNvGraphicFramePr>
          <p:nvPr>
            <p:extLst>
              <p:ext uri="{D42A27DB-BD31-4B8C-83A1-F6EECF244321}">
                <p14:modId xmlns:p14="http://schemas.microsoft.com/office/powerpoint/2010/main" val="3643186862"/>
              </p:ext>
            </p:extLst>
          </p:nvPr>
        </p:nvGraphicFramePr>
        <p:xfrm>
          <a:off x="661438" y="5009959"/>
          <a:ext cx="16331162" cy="4189543"/>
        </p:xfrm>
        <a:graphic>
          <a:graphicData uri="http://schemas.openxmlformats.org/drawingml/2006/table">
            <a:tbl>
              <a:tblPr firstRow="1" firstCol="1" bandRow="1">
                <a:tableStyleId>{5C22544A-7EE6-4342-B048-85BDC9FD1C3A}</a:tableStyleId>
              </a:tblPr>
              <a:tblGrid>
                <a:gridCol w="1853162">
                  <a:extLst>
                    <a:ext uri="{9D8B030D-6E8A-4147-A177-3AD203B41FA5}">
                      <a16:colId xmlns:a16="http://schemas.microsoft.com/office/drawing/2014/main" val="790684069"/>
                    </a:ext>
                  </a:extLst>
                </a:gridCol>
                <a:gridCol w="10972800">
                  <a:extLst>
                    <a:ext uri="{9D8B030D-6E8A-4147-A177-3AD203B41FA5}">
                      <a16:colId xmlns:a16="http://schemas.microsoft.com/office/drawing/2014/main" val="976113094"/>
                    </a:ext>
                  </a:extLst>
                </a:gridCol>
                <a:gridCol w="3505200">
                  <a:extLst>
                    <a:ext uri="{9D8B030D-6E8A-4147-A177-3AD203B41FA5}">
                      <a16:colId xmlns:a16="http://schemas.microsoft.com/office/drawing/2014/main" val="1966042356"/>
                    </a:ext>
                  </a:extLst>
                </a:gridCol>
              </a:tblGrid>
              <a:tr h="834591">
                <a:tc>
                  <a:txBody>
                    <a:bodyPr/>
                    <a:lstStyle/>
                    <a:p>
                      <a:pPr marL="0" marR="0" algn="ctr">
                        <a:lnSpc>
                          <a:spcPct val="107000"/>
                        </a:lnSpc>
                        <a:spcAft>
                          <a:spcPts val="800"/>
                        </a:spcAft>
                      </a:pPr>
                      <a:r>
                        <a:rPr lang="en-PH" sz="2800" kern="100" dirty="0">
                          <a:effectLst/>
                          <a:latin typeface="Consolas" panose="020B0609020204030204" pitchFamily="49" charset="0"/>
                        </a:rPr>
                        <a:t>Format Code</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pPr>
                      <a:r>
                        <a:rPr lang="en-PH" sz="2800" kern="100" dirty="0">
                          <a:effectLst/>
                          <a:latin typeface="Consolas" panose="020B0609020204030204" pitchFamily="49" charset="0"/>
                        </a:rPr>
                        <a:t>Meaning</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pPr>
                      <a:r>
                        <a:rPr lang="en-PH" sz="2800" kern="100" dirty="0">
                          <a:effectLst/>
                          <a:latin typeface="Consolas" panose="020B0609020204030204" pitchFamily="49" charset="0"/>
                        </a:rPr>
                        <a:t>Example</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8798829"/>
                  </a:ext>
                </a:extLst>
              </a:tr>
              <a:tr h="464819">
                <a:tc>
                  <a:txBody>
                    <a:bodyPr/>
                    <a:lstStyle/>
                    <a:p>
                      <a:pPr marL="0" marR="0">
                        <a:lnSpc>
                          <a:spcPct val="107000"/>
                        </a:lnSpc>
                        <a:spcAft>
                          <a:spcPts val="800"/>
                        </a:spcAft>
                      </a:pPr>
                      <a:r>
                        <a:rPr lang="en-PH" sz="3500" kern="100" dirty="0">
                          <a:effectLst/>
                        </a:rPr>
                        <a:t>%H</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dirty="0">
                          <a:effectLst/>
                        </a:rPr>
                        <a:t>Hour (24-hour clock, zero-padded)</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a:effectLst/>
                        </a:rPr>
                        <a:t>00 to 23</a:t>
                      </a:r>
                      <a:endParaRPr lang="en-PH" sz="35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3851599"/>
                  </a:ext>
                </a:extLst>
              </a:tr>
              <a:tr h="464819">
                <a:tc>
                  <a:txBody>
                    <a:bodyPr/>
                    <a:lstStyle/>
                    <a:p>
                      <a:pPr marL="0" marR="0">
                        <a:lnSpc>
                          <a:spcPct val="107000"/>
                        </a:lnSpc>
                        <a:spcAft>
                          <a:spcPts val="800"/>
                        </a:spcAft>
                      </a:pPr>
                      <a:r>
                        <a:rPr lang="en-PH" sz="3500" kern="100" dirty="0">
                          <a:effectLst/>
                        </a:rPr>
                        <a:t>%I</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dirty="0">
                          <a:effectLst/>
                        </a:rPr>
                        <a:t>Hour (12-hour clock, zero-padded)</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dirty="0">
                          <a:effectLst/>
                        </a:rPr>
                        <a:t>01 to 12</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5345279"/>
                  </a:ext>
                </a:extLst>
              </a:tr>
              <a:tr h="464819">
                <a:tc>
                  <a:txBody>
                    <a:bodyPr/>
                    <a:lstStyle/>
                    <a:p>
                      <a:pPr marL="0" marR="0">
                        <a:lnSpc>
                          <a:spcPct val="107000"/>
                        </a:lnSpc>
                        <a:spcAft>
                          <a:spcPts val="800"/>
                        </a:spcAft>
                      </a:pPr>
                      <a:r>
                        <a:rPr lang="en-PH" sz="3500" kern="100" dirty="0">
                          <a:effectLst/>
                        </a:rPr>
                        <a:t>%p</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dirty="0">
                          <a:effectLst/>
                        </a:rPr>
                        <a:t>AM or PM</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a:effectLst/>
                        </a:rPr>
                        <a:t>AM, PM</a:t>
                      </a:r>
                      <a:endParaRPr lang="en-PH" sz="35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83932730"/>
                  </a:ext>
                </a:extLst>
              </a:tr>
              <a:tr h="464819">
                <a:tc>
                  <a:txBody>
                    <a:bodyPr/>
                    <a:lstStyle/>
                    <a:p>
                      <a:pPr marL="0" marR="0">
                        <a:lnSpc>
                          <a:spcPct val="107000"/>
                        </a:lnSpc>
                        <a:spcAft>
                          <a:spcPts val="800"/>
                        </a:spcAft>
                      </a:pPr>
                      <a:r>
                        <a:rPr lang="en-PH" sz="3500" kern="100" dirty="0">
                          <a:effectLst/>
                        </a:rPr>
                        <a:t>%M</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dirty="0">
                          <a:effectLst/>
                        </a:rPr>
                        <a:t>Minute (zero-padded)</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a:effectLst/>
                        </a:rPr>
                        <a:t>00 to 59</a:t>
                      </a:r>
                      <a:endParaRPr lang="en-PH" sz="35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2901061"/>
                  </a:ext>
                </a:extLst>
              </a:tr>
              <a:tr h="464819">
                <a:tc>
                  <a:txBody>
                    <a:bodyPr/>
                    <a:lstStyle/>
                    <a:p>
                      <a:pPr marL="0" marR="0">
                        <a:lnSpc>
                          <a:spcPct val="107000"/>
                        </a:lnSpc>
                        <a:spcAft>
                          <a:spcPts val="800"/>
                        </a:spcAft>
                      </a:pPr>
                      <a:r>
                        <a:rPr lang="en-PH" sz="3500" kern="100">
                          <a:effectLst/>
                        </a:rPr>
                        <a:t>%S</a:t>
                      </a:r>
                      <a:endParaRPr lang="en-PH" sz="35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dirty="0">
                          <a:effectLst/>
                        </a:rPr>
                        <a:t>Second (zero-padded)</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dirty="0">
                          <a:effectLst/>
                        </a:rPr>
                        <a:t>00 to 59</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575290"/>
                  </a:ext>
                </a:extLst>
              </a:tr>
              <a:tr h="0">
                <a:tc>
                  <a:txBody>
                    <a:bodyPr/>
                    <a:lstStyle/>
                    <a:p>
                      <a:pPr marL="0" marR="0">
                        <a:lnSpc>
                          <a:spcPct val="107000"/>
                        </a:lnSpc>
                        <a:spcAft>
                          <a:spcPts val="800"/>
                        </a:spcAft>
                      </a:pPr>
                      <a:r>
                        <a:rPr lang="en-PH" sz="3500" kern="100">
                          <a:effectLst/>
                        </a:rPr>
                        <a:t>%f</a:t>
                      </a:r>
                      <a:endParaRPr lang="en-PH" sz="35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dirty="0">
                          <a:effectLst/>
                        </a:rPr>
                        <a:t>Microsecond (zero-padded to 6 digits)</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PH" sz="3500" kern="100" dirty="0">
                          <a:effectLst/>
                        </a:rPr>
                        <a:t>000000 to 999999</a:t>
                      </a:r>
                      <a:endParaRPr lang="en-PH" sz="3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78351801"/>
                  </a:ext>
                </a:extLst>
              </a:tr>
            </a:tbl>
          </a:graphicData>
        </a:graphic>
      </p:graphicFrame>
    </p:spTree>
    <p:extLst>
      <p:ext uri="{BB962C8B-B14F-4D97-AF65-F5344CB8AC3E}">
        <p14:creationId xmlns:p14="http://schemas.microsoft.com/office/powerpoint/2010/main" val="2878076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1B65B-F165-C450-72AC-052C52D377A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4CE6E36-DEE4-AB07-E566-CF6147E0EEF8}"/>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6D5214C0-7372-F588-53F4-F6353DC5656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5C17E4B8-F56E-BADE-672C-5B346B1924C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59FD4C68-1A6B-C30C-43B8-BB6D5536540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26004412-98C7-7E08-C992-9C535DA38AA0}"/>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3E69FA79-75D6-9364-80BB-42C27F35A8D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EC03A2D5-208C-6B29-EA9D-B5461170EFCA}"/>
              </a:ext>
            </a:extLst>
          </p:cNvPr>
          <p:cNvSpPr txBox="1"/>
          <p:nvPr/>
        </p:nvSpPr>
        <p:spPr>
          <a:xfrm>
            <a:off x="381001" y="2391508"/>
            <a:ext cx="17526000" cy="6986528"/>
          </a:xfrm>
          <a:prstGeom prst="rect">
            <a:avLst/>
          </a:prstGeom>
          <a:noFill/>
        </p:spPr>
        <p:txBody>
          <a:bodyPr wrap="square">
            <a:spAutoFit/>
          </a:bodyPr>
          <a:lstStyle/>
          <a:p>
            <a:pPr algn="just"/>
            <a:r>
              <a:rPr lang="en-US" sz="3200" b="1" dirty="0">
                <a:latin typeface="Consolas" panose="020B0609020204030204" pitchFamily="49" charset="0"/>
              </a:rPr>
              <a:t>Common Functions</a:t>
            </a:r>
          </a:p>
          <a:p>
            <a:pPr algn="just"/>
            <a:r>
              <a:rPr lang="en-US" sz="3200" b="1" dirty="0">
                <a:latin typeface="Consolas" panose="020B0609020204030204" pitchFamily="49" charset="0"/>
              </a:rPr>
              <a:t>2.4. </a:t>
            </a:r>
            <a:r>
              <a:rPr lang="en-US" sz="3200" b="1" dirty="0" err="1">
                <a:latin typeface="Consolas" panose="020B0609020204030204" pitchFamily="49" charset="0"/>
              </a:rPr>
              <a:t>strftime</a:t>
            </a:r>
            <a:r>
              <a:rPr lang="en-US" sz="3200" b="1" dirty="0">
                <a:latin typeface="Consolas" panose="020B0609020204030204" pitchFamily="49" charset="0"/>
              </a:rPr>
              <a:t> </a:t>
            </a:r>
            <a:r>
              <a:rPr lang="en-US" sz="3200" dirty="0">
                <a:latin typeface="Consolas" panose="020B0609020204030204" pitchFamily="49" charset="0"/>
              </a:rPr>
              <a:t>- Converts a datetime object -&gt; formatted string.</a:t>
            </a: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Syntax: </a:t>
            </a:r>
            <a:r>
              <a:rPr lang="en-US" sz="3200" dirty="0" err="1">
                <a:latin typeface="Consolas" panose="020B0609020204030204" pitchFamily="49" charset="0"/>
              </a:rPr>
              <a:t>datetime_object.strftime</a:t>
            </a:r>
            <a:r>
              <a:rPr lang="en-US" sz="3200" dirty="0">
                <a:latin typeface="Consolas" panose="020B0609020204030204" pitchFamily="49" charset="0"/>
              </a:rPr>
              <a:t>("</a:t>
            </a:r>
            <a:r>
              <a:rPr lang="en-US" sz="3200" dirty="0" err="1">
                <a:latin typeface="Consolas" panose="020B0609020204030204" pitchFamily="49" charset="0"/>
              </a:rPr>
              <a:t>format_string</a:t>
            </a:r>
            <a:r>
              <a:rPr lang="en-US" sz="3200" dirty="0">
                <a:latin typeface="Consolas" panose="020B0609020204030204" pitchFamily="49" charset="0"/>
              </a:rPr>
              <a:t>")</a:t>
            </a: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from datetime import datetime</a:t>
            </a:r>
          </a:p>
          <a:p>
            <a:pPr algn="just"/>
            <a:endParaRPr lang="en-US" sz="3200" dirty="0">
              <a:latin typeface="Consolas" panose="020B0609020204030204" pitchFamily="49" charset="0"/>
            </a:endParaRPr>
          </a:p>
          <a:p>
            <a:pPr algn="just"/>
            <a:r>
              <a:rPr lang="en-US" sz="3200" dirty="0">
                <a:latin typeface="Consolas" panose="020B0609020204030204" pitchFamily="49" charset="0"/>
              </a:rPr>
              <a:t>now = </a:t>
            </a:r>
            <a:r>
              <a:rPr lang="en-US" sz="3200" dirty="0" err="1">
                <a:latin typeface="Consolas" panose="020B0609020204030204" pitchFamily="49" charset="0"/>
              </a:rPr>
              <a:t>datetime.now</a:t>
            </a:r>
            <a:r>
              <a:rPr lang="en-US" sz="3200" dirty="0">
                <a:latin typeface="Consolas" panose="020B0609020204030204" pitchFamily="49" charset="0"/>
              </a:rPr>
              <a:t>()</a:t>
            </a:r>
          </a:p>
          <a:p>
            <a:pPr algn="just"/>
            <a:r>
              <a:rPr lang="en-US" sz="3200" dirty="0">
                <a:latin typeface="Consolas" panose="020B0609020204030204" pitchFamily="49" charset="0"/>
              </a:rPr>
              <a:t>formatted = </a:t>
            </a:r>
            <a:r>
              <a:rPr lang="en-US" sz="3200" dirty="0" err="1">
                <a:latin typeface="Consolas" panose="020B0609020204030204" pitchFamily="49" charset="0"/>
              </a:rPr>
              <a:t>now.strftime</a:t>
            </a:r>
            <a:r>
              <a:rPr lang="en-US" sz="3200" dirty="0">
                <a:latin typeface="Consolas" panose="020B0609020204030204" pitchFamily="49" charset="0"/>
              </a:rPr>
              <a:t>("%Y-%m-%d %H:%M:%S")</a:t>
            </a:r>
          </a:p>
          <a:p>
            <a:pPr algn="just"/>
            <a:endParaRPr lang="en-US" sz="3200" dirty="0">
              <a:latin typeface="Consolas" panose="020B0609020204030204" pitchFamily="49" charset="0"/>
            </a:endParaRPr>
          </a:p>
          <a:p>
            <a:pPr algn="just"/>
            <a:r>
              <a:rPr lang="en-US" sz="3200" dirty="0">
                <a:latin typeface="Consolas" panose="020B0609020204030204" pitchFamily="49" charset="0"/>
              </a:rPr>
              <a:t>print("Formatted date:", formatted)</a:t>
            </a:r>
          </a:p>
          <a:p>
            <a:pPr algn="just"/>
            <a:endParaRPr lang="en-US" sz="3200" dirty="0">
              <a:latin typeface="Consolas" panose="020B0609020204030204" pitchFamily="49" charset="0"/>
            </a:endParaRPr>
          </a:p>
          <a:p>
            <a:pPr algn="just"/>
            <a:r>
              <a:rPr lang="en-US" sz="3200" b="1" dirty="0">
                <a:latin typeface="Consolas" panose="020B0609020204030204" pitchFamily="49" charset="0"/>
              </a:rPr>
              <a:t>Output:</a:t>
            </a:r>
          </a:p>
          <a:p>
            <a:pPr algn="just"/>
            <a:r>
              <a:rPr lang="en-US" sz="3200" dirty="0">
                <a:latin typeface="Consolas" panose="020B0609020204030204" pitchFamily="49" charset="0"/>
              </a:rPr>
              <a:t>Formatted date: 2025-11-13 22:41:06</a:t>
            </a:r>
          </a:p>
        </p:txBody>
      </p:sp>
      <p:sp>
        <p:nvSpPr>
          <p:cNvPr id="6" name="TextBox 28">
            <a:extLst>
              <a:ext uri="{FF2B5EF4-FFF2-40B4-BE49-F238E27FC236}">
                <a16:creationId xmlns:a16="http://schemas.microsoft.com/office/drawing/2014/main" id="{229A065C-9953-68C5-5129-537CDFAFCD25}"/>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datetime Module</a:t>
            </a:r>
          </a:p>
        </p:txBody>
      </p:sp>
    </p:spTree>
    <p:extLst>
      <p:ext uri="{BB962C8B-B14F-4D97-AF65-F5344CB8AC3E}">
        <p14:creationId xmlns:p14="http://schemas.microsoft.com/office/powerpoint/2010/main" val="1231214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64F14-DC04-2C09-5963-6E2A2B600D3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0D25F76-8D39-8447-65F0-DEC31151C6F1}"/>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0300AE5-0CAF-8E0A-F701-218C077C0D2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92846B5A-7529-9088-7F5E-0632349FF24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851669A1-EE1F-1A0D-35DE-81DF7C4F220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341659E7-3816-EE83-D47C-DB4525E21329}"/>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60A3834-737A-5051-13F7-15878471D37A}"/>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4BB19FC5-21E0-363D-3BF0-0ACDA2DC2E72}"/>
              </a:ext>
            </a:extLst>
          </p:cNvPr>
          <p:cNvSpPr txBox="1"/>
          <p:nvPr/>
        </p:nvSpPr>
        <p:spPr>
          <a:xfrm>
            <a:off x="381001" y="2391508"/>
            <a:ext cx="17526000" cy="6986528"/>
          </a:xfrm>
          <a:prstGeom prst="rect">
            <a:avLst/>
          </a:prstGeom>
          <a:noFill/>
        </p:spPr>
        <p:txBody>
          <a:bodyPr wrap="square">
            <a:spAutoFit/>
          </a:bodyPr>
          <a:lstStyle/>
          <a:p>
            <a:pPr algn="just"/>
            <a:r>
              <a:rPr lang="en-US" sz="3200" b="1" dirty="0">
                <a:latin typeface="Consolas" panose="020B0609020204030204" pitchFamily="49" charset="0"/>
              </a:rPr>
              <a:t>Common Functions</a:t>
            </a:r>
          </a:p>
          <a:p>
            <a:pPr algn="just"/>
            <a:r>
              <a:rPr lang="en-US" sz="3200" b="1" dirty="0">
                <a:latin typeface="Consolas" panose="020B0609020204030204" pitchFamily="49" charset="0"/>
              </a:rPr>
              <a:t>2.5. </a:t>
            </a:r>
            <a:r>
              <a:rPr lang="en-US" sz="3200" b="1" dirty="0" err="1">
                <a:latin typeface="Consolas" panose="020B0609020204030204" pitchFamily="49" charset="0"/>
              </a:rPr>
              <a:t>strptime</a:t>
            </a:r>
            <a:r>
              <a:rPr lang="en-US" sz="3200" b="1" dirty="0">
                <a:latin typeface="Consolas" panose="020B0609020204030204" pitchFamily="49" charset="0"/>
              </a:rPr>
              <a:t> </a:t>
            </a:r>
            <a:r>
              <a:rPr lang="en-US" sz="3200" dirty="0">
                <a:latin typeface="Consolas" panose="020B0609020204030204" pitchFamily="49" charset="0"/>
              </a:rPr>
              <a:t>– Parsed a date string into the </a:t>
            </a:r>
            <a:r>
              <a:rPr lang="en-US" sz="3200">
                <a:latin typeface="Consolas" panose="020B0609020204030204" pitchFamily="49" charset="0"/>
              </a:rPr>
              <a:t>given format. </a:t>
            </a:r>
            <a:endParaRPr lang="en-US" sz="3200" dirty="0">
              <a:latin typeface="Consolas" panose="020B0609020204030204" pitchFamily="49" charset="0"/>
            </a:endParaRP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Syntax: </a:t>
            </a:r>
            <a:r>
              <a:rPr lang="en-US" sz="3200" dirty="0" err="1">
                <a:latin typeface="Consolas" panose="020B0609020204030204" pitchFamily="49" charset="0"/>
              </a:rPr>
              <a:t>datetime.datetime.strptime</a:t>
            </a:r>
            <a:r>
              <a:rPr lang="en-US" sz="3200" dirty="0">
                <a:latin typeface="Consolas" panose="020B0609020204030204" pitchFamily="49" charset="0"/>
              </a:rPr>
              <a:t>("</a:t>
            </a:r>
            <a:r>
              <a:rPr lang="en-US" sz="3200" dirty="0" err="1">
                <a:latin typeface="Consolas" panose="020B0609020204030204" pitchFamily="49" charset="0"/>
              </a:rPr>
              <a:t>date_string</a:t>
            </a:r>
            <a:r>
              <a:rPr lang="en-US" sz="3200" dirty="0">
                <a:latin typeface="Consolas" panose="020B0609020204030204" pitchFamily="49" charset="0"/>
              </a:rPr>
              <a:t>", "</a:t>
            </a:r>
            <a:r>
              <a:rPr lang="en-US" sz="3200" dirty="0" err="1">
                <a:latin typeface="Consolas" panose="020B0609020204030204" pitchFamily="49" charset="0"/>
              </a:rPr>
              <a:t>format_string</a:t>
            </a:r>
            <a:r>
              <a:rPr lang="en-US" sz="3200" dirty="0">
                <a:latin typeface="Consolas" panose="020B0609020204030204" pitchFamily="49" charset="0"/>
              </a:rPr>
              <a:t>")</a:t>
            </a: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from datetime import datetime</a:t>
            </a:r>
          </a:p>
          <a:p>
            <a:pPr algn="just"/>
            <a:endParaRPr lang="en-US" sz="3200" dirty="0">
              <a:latin typeface="Consolas" panose="020B0609020204030204" pitchFamily="49" charset="0"/>
            </a:endParaRPr>
          </a:p>
          <a:p>
            <a:pPr algn="just"/>
            <a:r>
              <a:rPr lang="en-US" sz="3200" dirty="0" err="1">
                <a:latin typeface="Consolas" panose="020B0609020204030204" pitchFamily="49" charset="0"/>
              </a:rPr>
              <a:t>date_str</a:t>
            </a:r>
            <a:r>
              <a:rPr lang="en-US" sz="3200" dirty="0">
                <a:latin typeface="Consolas" panose="020B0609020204030204" pitchFamily="49" charset="0"/>
              </a:rPr>
              <a:t> = "2025-12-25 05:31:00"</a:t>
            </a:r>
          </a:p>
          <a:p>
            <a:pPr algn="just"/>
            <a:r>
              <a:rPr lang="en-US" sz="3200" dirty="0" err="1">
                <a:latin typeface="Consolas" panose="020B0609020204030204" pitchFamily="49" charset="0"/>
              </a:rPr>
              <a:t>date_obj</a:t>
            </a:r>
            <a:r>
              <a:rPr lang="en-US" sz="3200" dirty="0">
                <a:latin typeface="Consolas" panose="020B0609020204030204" pitchFamily="49" charset="0"/>
              </a:rPr>
              <a:t> = </a:t>
            </a:r>
            <a:r>
              <a:rPr lang="en-US" sz="3200" dirty="0" err="1">
                <a:latin typeface="Consolas" panose="020B0609020204030204" pitchFamily="49" charset="0"/>
              </a:rPr>
              <a:t>datetime.strptime</a:t>
            </a:r>
            <a:r>
              <a:rPr lang="en-US" sz="3200" dirty="0">
                <a:latin typeface="Consolas" panose="020B0609020204030204" pitchFamily="49" charset="0"/>
              </a:rPr>
              <a:t>(</a:t>
            </a:r>
            <a:r>
              <a:rPr lang="en-US" sz="3200" dirty="0" err="1">
                <a:latin typeface="Consolas" panose="020B0609020204030204" pitchFamily="49" charset="0"/>
              </a:rPr>
              <a:t>date_str</a:t>
            </a:r>
            <a:r>
              <a:rPr lang="en-US" sz="3200" dirty="0">
                <a:latin typeface="Consolas" panose="020B0609020204030204" pitchFamily="49" charset="0"/>
              </a:rPr>
              <a:t>, "%Y-%m-%d %H:%M:%S")</a:t>
            </a:r>
          </a:p>
          <a:p>
            <a:pPr algn="just"/>
            <a:endParaRPr lang="en-US" sz="3200" dirty="0">
              <a:latin typeface="Consolas" panose="020B0609020204030204" pitchFamily="49" charset="0"/>
            </a:endParaRPr>
          </a:p>
          <a:p>
            <a:pPr algn="just"/>
            <a:r>
              <a:rPr lang="en-US" sz="3200" dirty="0">
                <a:latin typeface="Consolas" panose="020B0609020204030204" pitchFamily="49" charset="0"/>
              </a:rPr>
              <a:t>print("Converted to datetime:", </a:t>
            </a:r>
            <a:r>
              <a:rPr lang="en-US" sz="3200" dirty="0" err="1">
                <a:latin typeface="Consolas" panose="020B0609020204030204" pitchFamily="49" charset="0"/>
              </a:rPr>
              <a:t>date_obj</a:t>
            </a:r>
            <a:r>
              <a:rPr lang="en-US" sz="3200" dirty="0">
                <a:latin typeface="Consolas" panose="020B0609020204030204" pitchFamily="49" charset="0"/>
              </a:rPr>
              <a:t>)</a:t>
            </a:r>
          </a:p>
          <a:p>
            <a:pPr algn="just"/>
            <a:endParaRPr lang="en-US" sz="3200" dirty="0">
              <a:latin typeface="Consolas" panose="020B0609020204030204" pitchFamily="49" charset="0"/>
            </a:endParaRPr>
          </a:p>
          <a:p>
            <a:pPr algn="just"/>
            <a:r>
              <a:rPr lang="en-US" sz="3200" b="1" dirty="0">
                <a:latin typeface="Consolas" panose="020B0609020204030204" pitchFamily="49" charset="0"/>
              </a:rPr>
              <a:t>Output:</a:t>
            </a:r>
          </a:p>
          <a:p>
            <a:pPr algn="just"/>
            <a:r>
              <a:rPr lang="en-US" sz="3200" dirty="0">
                <a:latin typeface="Consolas" panose="020B0609020204030204" pitchFamily="49" charset="0"/>
              </a:rPr>
              <a:t>Converted to datetime: 2025-12-25 05:31:00</a:t>
            </a:r>
          </a:p>
        </p:txBody>
      </p:sp>
      <p:sp>
        <p:nvSpPr>
          <p:cNvPr id="6" name="TextBox 28">
            <a:extLst>
              <a:ext uri="{FF2B5EF4-FFF2-40B4-BE49-F238E27FC236}">
                <a16:creationId xmlns:a16="http://schemas.microsoft.com/office/drawing/2014/main" id="{E2CD2460-422B-1DCA-F86D-FB71D3624F4F}"/>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datetime Module</a:t>
            </a:r>
          </a:p>
        </p:txBody>
      </p:sp>
    </p:spTree>
    <p:extLst>
      <p:ext uri="{BB962C8B-B14F-4D97-AF65-F5344CB8AC3E}">
        <p14:creationId xmlns:p14="http://schemas.microsoft.com/office/powerpoint/2010/main" val="3404511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D17C9-E727-38B0-161A-F8A8BD84CBE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C80BCB4-2519-921E-07B7-4A8A2F2F23D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ACA16B16-839D-075F-7C80-2E6A354D382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4243F92-4B72-09B1-4FE8-A7AB3F7DCB9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89E7C829-51BD-FE85-B2BB-3912249F112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A4A738A3-885E-31F5-4624-3DA338D9E3BA}"/>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2965147D-9955-7DAE-5E84-99E763EECDBE}"/>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E3EC8D4F-AD0C-7F96-7B4E-F5709A1621BC}"/>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 </a:t>
            </a:r>
          </a:p>
        </p:txBody>
      </p:sp>
      <p:sp>
        <p:nvSpPr>
          <p:cNvPr id="10" name="AutoShape 8" descr="Grammarly Logo PNG Vector - BrandLogo">
            <a:extLst>
              <a:ext uri="{FF2B5EF4-FFF2-40B4-BE49-F238E27FC236}">
                <a16:creationId xmlns:a16="http://schemas.microsoft.com/office/drawing/2014/main" id="{F1202644-FE9B-8709-D16D-73D8DB5F983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3B2C4F76-E73B-F8EC-BAC9-54B7A40F0042}"/>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DA46112E-578B-ECF6-4E2A-93EBE3B9A209}"/>
              </a:ext>
            </a:extLst>
          </p:cNvPr>
          <p:cNvSpPr txBox="1"/>
          <p:nvPr/>
        </p:nvSpPr>
        <p:spPr>
          <a:xfrm>
            <a:off x="463773" y="2055128"/>
            <a:ext cx="16953563" cy="3647152"/>
          </a:xfrm>
          <a:prstGeom prst="rect">
            <a:avLst/>
          </a:prstGeom>
          <a:noFill/>
        </p:spPr>
        <p:txBody>
          <a:bodyPr wrap="square">
            <a:spAutoFit/>
          </a:bodyPr>
          <a:lstStyle/>
          <a:p>
            <a:pPr algn="just"/>
            <a:r>
              <a:rPr lang="en-US" sz="3300" b="1" dirty="0">
                <a:latin typeface="Consolas" panose="020B0609020204030204" pitchFamily="49" charset="0"/>
              </a:rPr>
              <a:t>Task:</a:t>
            </a:r>
          </a:p>
          <a:p>
            <a:pPr algn="just"/>
            <a:r>
              <a:rPr lang="en-US" sz="3300" dirty="0">
                <a:latin typeface="Consolas" panose="020B0609020204030204" pitchFamily="49" charset="0"/>
              </a:rPr>
              <a:t>Ask the user for their birthday and compute:</a:t>
            </a:r>
          </a:p>
          <a:p>
            <a:pPr marL="914400" lvl="1" indent="-457200" algn="just">
              <a:buFont typeface="Wingdings" panose="05000000000000000000" pitchFamily="2" charset="2"/>
              <a:buChar char="ü"/>
            </a:pPr>
            <a:r>
              <a:rPr lang="en-US" sz="3300" dirty="0">
                <a:latin typeface="Consolas" panose="020B0609020204030204" pitchFamily="49" charset="0"/>
              </a:rPr>
              <a:t>Their age in years</a:t>
            </a:r>
          </a:p>
          <a:p>
            <a:pPr marL="914400" lvl="1" indent="-457200" algn="just">
              <a:buFont typeface="Wingdings" panose="05000000000000000000" pitchFamily="2" charset="2"/>
              <a:buChar char="ü"/>
            </a:pPr>
            <a:r>
              <a:rPr lang="en-US" sz="3300" dirty="0">
                <a:latin typeface="Consolas" panose="020B0609020204030204" pitchFamily="49" charset="0"/>
              </a:rPr>
              <a:t>Total days since they were born</a:t>
            </a:r>
          </a:p>
          <a:p>
            <a:pPr marL="914400" lvl="1" indent="-457200" algn="just">
              <a:buFont typeface="Wingdings" panose="05000000000000000000" pitchFamily="2" charset="2"/>
              <a:buChar char="ü"/>
            </a:pPr>
            <a:r>
              <a:rPr lang="en-US" sz="3300" dirty="0">
                <a:latin typeface="Consolas" panose="020B0609020204030204" pitchFamily="49" charset="0"/>
              </a:rPr>
              <a:t>What day of the week they were born</a:t>
            </a:r>
          </a:p>
          <a:p>
            <a:pPr algn="just"/>
            <a:endParaRPr lang="en-US" sz="3300" dirty="0">
              <a:latin typeface="Consolas" panose="020B0609020204030204" pitchFamily="49" charset="0"/>
            </a:endParaRPr>
          </a:p>
          <a:p>
            <a:pPr algn="just"/>
            <a:r>
              <a:rPr lang="en-US" sz="3300" dirty="0">
                <a:latin typeface="Consolas" panose="020B0609020204030204" pitchFamily="49" charset="0"/>
              </a:rPr>
              <a:t>Challenge: Display the output in this format: Monday, January 1, 2020.</a:t>
            </a:r>
            <a:endParaRPr lang="en-US" sz="3300" b="1" dirty="0">
              <a:latin typeface="Consolas" panose="020B0609020204030204" pitchFamily="49" charset="0"/>
            </a:endParaRPr>
          </a:p>
        </p:txBody>
      </p:sp>
    </p:spTree>
    <p:extLst>
      <p:ext uri="{BB962C8B-B14F-4D97-AF65-F5344CB8AC3E}">
        <p14:creationId xmlns:p14="http://schemas.microsoft.com/office/powerpoint/2010/main" val="1405235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FD9FE-8A19-46A9-F804-769EB0DFB70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F6EA038-2ABD-EAF1-83F5-B3ABCE8DC834}"/>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1AD30E8-2D32-EAED-3E57-DBC0C943E1C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A989C789-CEA4-7DB5-AE2E-A784486D483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0EBF3F75-8F5A-7EB7-40FA-5574019504D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798DD83B-EF7F-7094-93CB-B99347348AA3}"/>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DB251E6-1EF0-3AE1-EED0-15C922C9BA62}"/>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A09217B8-8131-7AFB-8162-94BA076D3E14}"/>
              </a:ext>
            </a:extLst>
          </p:cNvPr>
          <p:cNvSpPr txBox="1"/>
          <p:nvPr/>
        </p:nvSpPr>
        <p:spPr>
          <a:xfrm>
            <a:off x="381001" y="2391508"/>
            <a:ext cx="17526000" cy="4031873"/>
          </a:xfrm>
          <a:prstGeom prst="rect">
            <a:avLst/>
          </a:prstGeom>
          <a:noFill/>
        </p:spPr>
        <p:txBody>
          <a:bodyPr wrap="square">
            <a:spAutoFit/>
          </a:bodyPr>
          <a:lstStyle/>
          <a:p>
            <a:pPr algn="just"/>
            <a:r>
              <a:rPr lang="en-US" sz="3200" b="1" dirty="0">
                <a:latin typeface="Consolas" panose="020B0609020204030204" pitchFamily="49" charset="0"/>
              </a:rPr>
              <a:t>Common Functions</a:t>
            </a:r>
          </a:p>
          <a:p>
            <a:pPr algn="just"/>
            <a:r>
              <a:rPr lang="en-US" sz="3200" b="1" dirty="0">
                <a:latin typeface="Consolas" panose="020B0609020204030204" pitchFamily="49" charset="0"/>
              </a:rPr>
              <a:t>3. random module </a:t>
            </a:r>
            <a:r>
              <a:rPr lang="en-US" sz="3200" dirty="0">
                <a:latin typeface="Consolas" panose="020B0609020204030204" pitchFamily="49" charset="0"/>
              </a:rPr>
              <a:t>- The random module generates pseudo-random numbers.</a:t>
            </a:r>
          </a:p>
          <a:p>
            <a:pPr algn="just"/>
            <a:endParaRPr lang="en-US" sz="3200" dirty="0">
              <a:latin typeface="Consolas" panose="020B0609020204030204" pitchFamily="49" charset="0"/>
            </a:endParaRPr>
          </a:p>
          <a:p>
            <a:pPr algn="just"/>
            <a:r>
              <a:rPr lang="en-US" sz="3200" dirty="0">
                <a:latin typeface="Consolas" panose="020B0609020204030204" pitchFamily="49" charset="0"/>
              </a:rPr>
              <a:t>Useful for:</a:t>
            </a:r>
          </a:p>
          <a:p>
            <a:pPr marL="914400" lvl="1" indent="-457200" algn="just">
              <a:buFont typeface="Wingdings" panose="05000000000000000000" pitchFamily="2" charset="2"/>
              <a:buChar char="ü"/>
            </a:pPr>
            <a:r>
              <a:rPr lang="en-US" sz="3200" dirty="0">
                <a:latin typeface="Consolas" panose="020B0609020204030204" pitchFamily="49" charset="0"/>
              </a:rPr>
              <a:t>Games</a:t>
            </a:r>
          </a:p>
          <a:p>
            <a:pPr marL="914400" lvl="1" indent="-457200" algn="just">
              <a:buFont typeface="Wingdings" panose="05000000000000000000" pitchFamily="2" charset="2"/>
              <a:buChar char="ü"/>
            </a:pPr>
            <a:r>
              <a:rPr lang="en-US" sz="3200" dirty="0">
                <a:latin typeface="Consolas" panose="020B0609020204030204" pitchFamily="49" charset="0"/>
              </a:rPr>
              <a:t>Shuffling cards</a:t>
            </a:r>
          </a:p>
          <a:p>
            <a:pPr marL="914400" lvl="1" indent="-457200" algn="just">
              <a:buFont typeface="Wingdings" panose="05000000000000000000" pitchFamily="2" charset="2"/>
              <a:buChar char="ü"/>
            </a:pPr>
            <a:r>
              <a:rPr lang="en-US" sz="3200" dirty="0">
                <a:latin typeface="Consolas" panose="020B0609020204030204" pitchFamily="49" charset="0"/>
              </a:rPr>
              <a:t>Lottery simulations</a:t>
            </a:r>
          </a:p>
          <a:p>
            <a:pPr marL="914400" lvl="1" indent="-457200" algn="just">
              <a:buFont typeface="Wingdings" panose="05000000000000000000" pitchFamily="2" charset="2"/>
              <a:buChar char="ü"/>
            </a:pPr>
            <a:r>
              <a:rPr lang="en-US" sz="3200" dirty="0">
                <a:latin typeface="Consolas" panose="020B0609020204030204" pitchFamily="49" charset="0"/>
              </a:rPr>
              <a:t>Random data generation</a:t>
            </a:r>
          </a:p>
        </p:txBody>
      </p:sp>
      <p:sp>
        <p:nvSpPr>
          <p:cNvPr id="6" name="TextBox 28">
            <a:extLst>
              <a:ext uri="{FF2B5EF4-FFF2-40B4-BE49-F238E27FC236}">
                <a16:creationId xmlns:a16="http://schemas.microsoft.com/office/drawing/2014/main" id="{C5605281-EE46-0E5C-AFAE-557BAF23D23C}"/>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random Module</a:t>
            </a:r>
          </a:p>
        </p:txBody>
      </p:sp>
    </p:spTree>
    <p:extLst>
      <p:ext uri="{BB962C8B-B14F-4D97-AF65-F5344CB8AC3E}">
        <p14:creationId xmlns:p14="http://schemas.microsoft.com/office/powerpoint/2010/main" val="3203708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E8A74-BD64-8082-2209-D653ED559D9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5E17E2C-1259-58A2-E4BD-C0A6700A889F}"/>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DBE3A159-7265-FC43-60DA-FE645E95EE9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698DDB4B-3BE6-9A41-A9C4-4841F0CD2C9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418EF62D-74CF-9A59-3296-205A6A725BF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79685477-AFF5-6FE6-7035-145622CB418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2974CD58-7F2B-4A11-D467-0DE05000B2BE}"/>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786009F8-80A5-D8CF-88A6-E355587E6B47}"/>
              </a:ext>
            </a:extLst>
          </p:cNvPr>
          <p:cNvSpPr txBox="1"/>
          <p:nvPr/>
        </p:nvSpPr>
        <p:spPr>
          <a:xfrm>
            <a:off x="381001" y="2391508"/>
            <a:ext cx="17526000" cy="5509200"/>
          </a:xfrm>
          <a:prstGeom prst="rect">
            <a:avLst/>
          </a:prstGeom>
          <a:noFill/>
        </p:spPr>
        <p:txBody>
          <a:bodyPr wrap="square">
            <a:spAutoFit/>
          </a:bodyPr>
          <a:lstStyle/>
          <a:p>
            <a:pPr algn="just"/>
            <a:r>
              <a:rPr lang="en-US" sz="3200" b="1" dirty="0">
                <a:latin typeface="Consolas" panose="020B0609020204030204" pitchFamily="49" charset="0"/>
              </a:rPr>
              <a:t>Common Functions</a:t>
            </a:r>
          </a:p>
          <a:p>
            <a:pPr algn="just"/>
            <a:r>
              <a:rPr lang="en-US" sz="3200" b="1" dirty="0">
                <a:latin typeface="Consolas" panose="020B0609020204030204" pitchFamily="49" charset="0"/>
              </a:rPr>
              <a:t>3.1. </a:t>
            </a:r>
            <a:r>
              <a:rPr lang="en-US" sz="3200" b="1" dirty="0" err="1">
                <a:latin typeface="Consolas" panose="020B0609020204030204" pitchFamily="49" charset="0"/>
              </a:rPr>
              <a:t>random.random</a:t>
            </a:r>
            <a:r>
              <a:rPr lang="en-US" sz="3200" b="1" dirty="0">
                <a:latin typeface="Consolas" panose="020B0609020204030204" pitchFamily="49" charset="0"/>
              </a:rPr>
              <a:t>() </a:t>
            </a:r>
            <a:r>
              <a:rPr lang="en-US" sz="3200" dirty="0">
                <a:latin typeface="Consolas" panose="020B0609020204030204" pitchFamily="49" charset="0"/>
              </a:rPr>
              <a:t>– Returns a random float between 0 - 1. </a:t>
            </a: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import random</a:t>
            </a:r>
          </a:p>
          <a:p>
            <a:pPr algn="just"/>
            <a:endParaRPr lang="en-US" sz="3200" dirty="0">
              <a:latin typeface="Consolas" panose="020B0609020204030204" pitchFamily="49" charset="0"/>
            </a:endParaRPr>
          </a:p>
          <a:p>
            <a:pPr algn="just"/>
            <a:r>
              <a:rPr lang="en-US" sz="3200" dirty="0">
                <a:latin typeface="Consolas" panose="020B0609020204030204" pitchFamily="49" charset="0"/>
              </a:rPr>
              <a:t>x = </a:t>
            </a:r>
            <a:r>
              <a:rPr lang="en-US" sz="3200" dirty="0" err="1">
                <a:latin typeface="Consolas" panose="020B0609020204030204" pitchFamily="49" charset="0"/>
              </a:rPr>
              <a:t>random.random</a:t>
            </a:r>
            <a:r>
              <a:rPr lang="en-US" sz="3200" dirty="0">
                <a:latin typeface="Consolas" panose="020B0609020204030204" pitchFamily="49" charset="0"/>
              </a:rPr>
              <a:t>()</a:t>
            </a:r>
          </a:p>
          <a:p>
            <a:pPr algn="just"/>
            <a:r>
              <a:rPr lang="en-US" sz="3200" dirty="0">
                <a:latin typeface="Consolas" panose="020B0609020204030204" pitchFamily="49" charset="0"/>
              </a:rPr>
              <a:t>print("Your random number is:", x)</a:t>
            </a:r>
          </a:p>
          <a:p>
            <a:pPr algn="just"/>
            <a:endParaRPr lang="en-US" sz="3200" dirty="0">
              <a:latin typeface="Consolas" panose="020B0609020204030204" pitchFamily="49" charset="0"/>
            </a:endParaRPr>
          </a:p>
          <a:p>
            <a:pPr algn="just"/>
            <a:r>
              <a:rPr lang="en-US" sz="3200" b="1" dirty="0">
                <a:latin typeface="Consolas" panose="020B0609020204030204" pitchFamily="49" charset="0"/>
              </a:rPr>
              <a:t>Output:</a:t>
            </a:r>
          </a:p>
          <a:p>
            <a:pPr algn="just"/>
            <a:r>
              <a:rPr lang="en-US" sz="3200" dirty="0">
                <a:latin typeface="Consolas" panose="020B0609020204030204" pitchFamily="49" charset="0"/>
              </a:rPr>
              <a:t>Your random number is: 0.1629663738454964</a:t>
            </a:r>
          </a:p>
        </p:txBody>
      </p:sp>
      <p:sp>
        <p:nvSpPr>
          <p:cNvPr id="6" name="TextBox 28">
            <a:extLst>
              <a:ext uri="{FF2B5EF4-FFF2-40B4-BE49-F238E27FC236}">
                <a16:creationId xmlns:a16="http://schemas.microsoft.com/office/drawing/2014/main" id="{9AB0C173-906C-3A84-622A-C8E8A8B0A527}"/>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random Module</a:t>
            </a:r>
          </a:p>
        </p:txBody>
      </p:sp>
    </p:spTree>
    <p:extLst>
      <p:ext uri="{BB962C8B-B14F-4D97-AF65-F5344CB8AC3E}">
        <p14:creationId xmlns:p14="http://schemas.microsoft.com/office/powerpoint/2010/main" val="1208959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E11A6-3E1A-614A-0312-A16AB9B6F05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CE2FD36-EAAC-3195-BC84-3B0FAC48C4DA}"/>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82C8EB11-72FA-D3E1-CB48-DBD6E9C6EBA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6214C2F-7353-B8D0-A951-E5556F4E6B8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CDC7832A-BDF3-A683-A37F-10E6D92F9D0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2870DCC8-0C5D-4E0C-D854-F917B0B5BB33}"/>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3CD60DE3-DCB7-229D-177A-6D2F7316708E}"/>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A1CE3C06-16A0-80B1-0B52-99CE2B6D1354}"/>
              </a:ext>
            </a:extLst>
          </p:cNvPr>
          <p:cNvSpPr txBox="1"/>
          <p:nvPr/>
        </p:nvSpPr>
        <p:spPr>
          <a:xfrm>
            <a:off x="381001" y="2391508"/>
            <a:ext cx="17526000" cy="6001643"/>
          </a:xfrm>
          <a:prstGeom prst="rect">
            <a:avLst/>
          </a:prstGeom>
          <a:noFill/>
        </p:spPr>
        <p:txBody>
          <a:bodyPr wrap="square">
            <a:spAutoFit/>
          </a:bodyPr>
          <a:lstStyle/>
          <a:p>
            <a:pPr algn="just"/>
            <a:r>
              <a:rPr lang="en-US" sz="3200" b="1" dirty="0">
                <a:latin typeface="Consolas" panose="020B0609020204030204" pitchFamily="49" charset="0"/>
              </a:rPr>
              <a:t>Common Functions</a:t>
            </a:r>
          </a:p>
          <a:p>
            <a:pPr algn="just"/>
            <a:r>
              <a:rPr lang="en-US" sz="3200" b="1" dirty="0">
                <a:latin typeface="Consolas" panose="020B0609020204030204" pitchFamily="49" charset="0"/>
              </a:rPr>
              <a:t>3.2. </a:t>
            </a:r>
            <a:r>
              <a:rPr lang="en-US" sz="3200" b="1" dirty="0" err="1">
                <a:latin typeface="Consolas" panose="020B0609020204030204" pitchFamily="49" charset="0"/>
              </a:rPr>
              <a:t>random.randint</a:t>
            </a:r>
            <a:r>
              <a:rPr lang="en-US" sz="3200" b="1" dirty="0">
                <a:latin typeface="Consolas" panose="020B0609020204030204" pitchFamily="49" charset="0"/>
              </a:rPr>
              <a:t>() </a:t>
            </a:r>
            <a:r>
              <a:rPr lang="en-US" sz="3200" dirty="0">
                <a:latin typeface="Consolas" panose="020B0609020204030204" pitchFamily="49" charset="0"/>
              </a:rPr>
              <a:t>– Returns a random integer from </a:t>
            </a:r>
            <a:r>
              <a:rPr lang="en-US" sz="3200" i="1" dirty="0">
                <a:latin typeface="Consolas" panose="020B0609020204030204" pitchFamily="49" charset="0"/>
              </a:rPr>
              <a:t>a</a:t>
            </a:r>
            <a:r>
              <a:rPr lang="en-US" sz="3200" dirty="0">
                <a:latin typeface="Consolas" panose="020B0609020204030204" pitchFamily="49" charset="0"/>
              </a:rPr>
              <a:t> to </a:t>
            </a:r>
            <a:r>
              <a:rPr lang="en-US" sz="3200" i="1" dirty="0">
                <a:latin typeface="Consolas" panose="020B0609020204030204" pitchFamily="49" charset="0"/>
              </a:rPr>
              <a:t>b</a:t>
            </a:r>
            <a:r>
              <a:rPr lang="en-US" sz="3200" dirty="0">
                <a:latin typeface="Consolas" panose="020B0609020204030204" pitchFamily="49" charset="0"/>
              </a:rPr>
              <a:t>. </a:t>
            </a: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Syntax: </a:t>
            </a:r>
            <a:r>
              <a:rPr lang="en-US" sz="3200" dirty="0" err="1">
                <a:latin typeface="Consolas" panose="020B0609020204030204" pitchFamily="49" charset="0"/>
              </a:rPr>
              <a:t>random.randint</a:t>
            </a:r>
            <a:r>
              <a:rPr lang="en-US" sz="3200" dirty="0">
                <a:latin typeface="Consolas" panose="020B0609020204030204" pitchFamily="49" charset="0"/>
              </a:rPr>
              <a:t>(a, b) </a:t>
            </a: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import random</a:t>
            </a:r>
          </a:p>
          <a:p>
            <a:pPr algn="just"/>
            <a:endParaRPr lang="en-US" sz="3200" dirty="0">
              <a:latin typeface="Consolas" panose="020B0609020204030204" pitchFamily="49" charset="0"/>
            </a:endParaRPr>
          </a:p>
          <a:p>
            <a:pPr algn="just"/>
            <a:r>
              <a:rPr lang="en-US" sz="3200" dirty="0">
                <a:latin typeface="Consolas" panose="020B0609020204030204" pitchFamily="49" charset="0"/>
              </a:rPr>
              <a:t>x = </a:t>
            </a:r>
            <a:r>
              <a:rPr lang="en-US" sz="3200" dirty="0" err="1">
                <a:latin typeface="Consolas" panose="020B0609020204030204" pitchFamily="49" charset="0"/>
              </a:rPr>
              <a:t>random.randint</a:t>
            </a:r>
            <a:r>
              <a:rPr lang="en-US" sz="3200" dirty="0">
                <a:latin typeface="Consolas" panose="020B0609020204030204" pitchFamily="49" charset="0"/>
              </a:rPr>
              <a:t>(1,6)</a:t>
            </a:r>
          </a:p>
          <a:p>
            <a:pPr algn="just"/>
            <a:r>
              <a:rPr lang="en-US" sz="3200" dirty="0">
                <a:latin typeface="Consolas" panose="020B0609020204030204" pitchFamily="49" charset="0"/>
              </a:rPr>
              <a:t>print("Your random number is:", x)</a:t>
            </a:r>
          </a:p>
          <a:p>
            <a:pPr algn="just"/>
            <a:endParaRPr lang="en-US" sz="3200" dirty="0">
              <a:latin typeface="Consolas" panose="020B0609020204030204" pitchFamily="49" charset="0"/>
            </a:endParaRPr>
          </a:p>
          <a:p>
            <a:pPr algn="just"/>
            <a:r>
              <a:rPr lang="en-US" sz="3200" b="1" dirty="0">
                <a:latin typeface="Consolas" panose="020B0609020204030204" pitchFamily="49" charset="0"/>
              </a:rPr>
              <a:t>Output:</a:t>
            </a:r>
          </a:p>
          <a:p>
            <a:pPr algn="just"/>
            <a:r>
              <a:rPr lang="en-US" sz="3200" dirty="0">
                <a:latin typeface="Consolas" panose="020B0609020204030204" pitchFamily="49" charset="0"/>
              </a:rPr>
              <a:t>Your random number is: 6</a:t>
            </a:r>
          </a:p>
        </p:txBody>
      </p:sp>
      <p:sp>
        <p:nvSpPr>
          <p:cNvPr id="6" name="TextBox 28">
            <a:extLst>
              <a:ext uri="{FF2B5EF4-FFF2-40B4-BE49-F238E27FC236}">
                <a16:creationId xmlns:a16="http://schemas.microsoft.com/office/drawing/2014/main" id="{A741ED8A-D45C-C0E3-A87A-C3C59B65A89E}"/>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random Module</a:t>
            </a:r>
          </a:p>
        </p:txBody>
      </p:sp>
    </p:spTree>
    <p:extLst>
      <p:ext uri="{BB962C8B-B14F-4D97-AF65-F5344CB8AC3E}">
        <p14:creationId xmlns:p14="http://schemas.microsoft.com/office/powerpoint/2010/main" val="3746074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48AE5-2A11-085F-EC3E-49E98A1E10E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8BAE445-65B5-EF43-2D9E-9CC88946909C}"/>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76E8B9F-F0F2-5DE1-0EF3-5413C008D37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FEF069A6-E1FE-9829-2AD6-39D7698D929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186357A0-ED89-FB4B-A1FF-F712BAD2F69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D7B94FD-8D5A-3591-57E0-0DF6C74BD6B2}"/>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D1D29AF4-104A-9355-AD2F-0FCB5797058E}"/>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AC38D94F-82B5-0805-1F0F-CA7C6EA5ECCA}"/>
              </a:ext>
            </a:extLst>
          </p:cNvPr>
          <p:cNvSpPr txBox="1"/>
          <p:nvPr/>
        </p:nvSpPr>
        <p:spPr>
          <a:xfrm>
            <a:off x="381001" y="2391508"/>
            <a:ext cx="17526000" cy="6494085"/>
          </a:xfrm>
          <a:prstGeom prst="rect">
            <a:avLst/>
          </a:prstGeom>
          <a:noFill/>
        </p:spPr>
        <p:txBody>
          <a:bodyPr wrap="square">
            <a:spAutoFit/>
          </a:bodyPr>
          <a:lstStyle/>
          <a:p>
            <a:pPr algn="just"/>
            <a:r>
              <a:rPr lang="en-US" sz="3200" b="1" dirty="0">
                <a:latin typeface="Consolas" panose="020B0609020204030204" pitchFamily="49" charset="0"/>
              </a:rPr>
              <a:t>Common Functions</a:t>
            </a:r>
          </a:p>
          <a:p>
            <a:pPr algn="just"/>
            <a:r>
              <a:rPr lang="en-US" sz="3200" b="1" dirty="0">
                <a:latin typeface="Consolas" panose="020B0609020204030204" pitchFamily="49" charset="0"/>
              </a:rPr>
              <a:t>3.3. </a:t>
            </a:r>
            <a:r>
              <a:rPr lang="en-US" sz="3200" b="1" dirty="0" err="1">
                <a:latin typeface="Consolas" panose="020B0609020204030204" pitchFamily="49" charset="0"/>
              </a:rPr>
              <a:t>random.choice</a:t>
            </a:r>
            <a:r>
              <a:rPr lang="en-US" sz="3200" b="1" dirty="0">
                <a:latin typeface="Consolas" panose="020B0609020204030204" pitchFamily="49" charset="0"/>
              </a:rPr>
              <a:t>() </a:t>
            </a:r>
            <a:r>
              <a:rPr lang="en-US" sz="3200" dirty="0">
                <a:latin typeface="Consolas" panose="020B0609020204030204" pitchFamily="49" charset="0"/>
              </a:rPr>
              <a:t>– Returns a random integer from </a:t>
            </a:r>
            <a:r>
              <a:rPr lang="en-US" sz="3200" i="1" dirty="0">
                <a:latin typeface="Consolas" panose="020B0609020204030204" pitchFamily="49" charset="0"/>
              </a:rPr>
              <a:t>a</a:t>
            </a:r>
            <a:r>
              <a:rPr lang="en-US" sz="3200" dirty="0">
                <a:latin typeface="Consolas" panose="020B0609020204030204" pitchFamily="49" charset="0"/>
              </a:rPr>
              <a:t> to </a:t>
            </a:r>
            <a:r>
              <a:rPr lang="en-US" sz="3200" i="1" dirty="0">
                <a:latin typeface="Consolas" panose="020B0609020204030204" pitchFamily="49" charset="0"/>
              </a:rPr>
              <a:t>b</a:t>
            </a:r>
            <a:r>
              <a:rPr lang="en-US" sz="3200" dirty="0">
                <a:latin typeface="Consolas" panose="020B0609020204030204" pitchFamily="49" charset="0"/>
              </a:rPr>
              <a:t>. </a:t>
            </a: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Syntax: </a:t>
            </a:r>
            <a:r>
              <a:rPr lang="en-US" sz="3200" dirty="0" err="1">
                <a:latin typeface="Consolas" panose="020B0609020204030204" pitchFamily="49" charset="0"/>
              </a:rPr>
              <a:t>random.choice</a:t>
            </a:r>
            <a:r>
              <a:rPr lang="en-US" sz="3200" dirty="0">
                <a:latin typeface="Consolas" panose="020B0609020204030204" pitchFamily="49" charset="0"/>
              </a:rPr>
              <a:t>(list) </a:t>
            </a: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import random</a:t>
            </a:r>
          </a:p>
          <a:p>
            <a:pPr algn="just"/>
            <a:endParaRPr lang="en-US" sz="3200" dirty="0">
              <a:latin typeface="Consolas" panose="020B0609020204030204" pitchFamily="49" charset="0"/>
            </a:endParaRPr>
          </a:p>
          <a:p>
            <a:pPr algn="just"/>
            <a:r>
              <a:rPr lang="en-US" sz="3200" dirty="0">
                <a:latin typeface="Consolas" panose="020B0609020204030204" pitchFamily="49" charset="0"/>
              </a:rPr>
              <a:t>choices = ["rock", "paper", "scissor"]</a:t>
            </a:r>
          </a:p>
          <a:p>
            <a:pPr algn="just"/>
            <a:r>
              <a:rPr lang="en-US" sz="3200" dirty="0">
                <a:latin typeface="Consolas" panose="020B0609020204030204" pitchFamily="49" charset="0"/>
              </a:rPr>
              <a:t>x = </a:t>
            </a:r>
            <a:r>
              <a:rPr lang="en-US" sz="3200" dirty="0" err="1">
                <a:latin typeface="Consolas" panose="020B0609020204030204" pitchFamily="49" charset="0"/>
              </a:rPr>
              <a:t>random.choice</a:t>
            </a:r>
            <a:r>
              <a:rPr lang="en-US" sz="3200" dirty="0">
                <a:latin typeface="Consolas" panose="020B0609020204030204" pitchFamily="49" charset="0"/>
              </a:rPr>
              <a:t>(choices)</a:t>
            </a:r>
          </a:p>
          <a:p>
            <a:pPr algn="just"/>
            <a:r>
              <a:rPr lang="en-US" sz="3200" dirty="0">
                <a:latin typeface="Consolas" panose="020B0609020204030204" pitchFamily="49" charset="0"/>
              </a:rPr>
              <a:t>print("Your random values is:", x)</a:t>
            </a:r>
          </a:p>
          <a:p>
            <a:pPr algn="just"/>
            <a:endParaRPr lang="en-US" sz="3200" dirty="0">
              <a:latin typeface="Consolas" panose="020B0609020204030204" pitchFamily="49" charset="0"/>
            </a:endParaRPr>
          </a:p>
          <a:p>
            <a:pPr algn="just"/>
            <a:r>
              <a:rPr lang="en-US" sz="3200" b="1" dirty="0">
                <a:latin typeface="Consolas" panose="020B0609020204030204" pitchFamily="49" charset="0"/>
              </a:rPr>
              <a:t>Output:</a:t>
            </a:r>
          </a:p>
          <a:p>
            <a:pPr algn="just"/>
            <a:r>
              <a:rPr lang="en-US" sz="3200" dirty="0">
                <a:latin typeface="Consolas" panose="020B0609020204030204" pitchFamily="49" charset="0"/>
              </a:rPr>
              <a:t>Your random values is: paper</a:t>
            </a:r>
          </a:p>
        </p:txBody>
      </p:sp>
      <p:sp>
        <p:nvSpPr>
          <p:cNvPr id="6" name="TextBox 28">
            <a:extLst>
              <a:ext uri="{FF2B5EF4-FFF2-40B4-BE49-F238E27FC236}">
                <a16:creationId xmlns:a16="http://schemas.microsoft.com/office/drawing/2014/main" id="{E5FC2C22-764F-C49F-78BE-C375D1CDADEE}"/>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random Module</a:t>
            </a:r>
          </a:p>
        </p:txBody>
      </p:sp>
    </p:spTree>
    <p:extLst>
      <p:ext uri="{BB962C8B-B14F-4D97-AF65-F5344CB8AC3E}">
        <p14:creationId xmlns:p14="http://schemas.microsoft.com/office/powerpoint/2010/main" val="2508120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EB3C0-52AD-9E65-A898-9148AED061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08A2222-8DB9-3403-6B55-A579A77344FE}"/>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C9AD8CE-9E9D-BFBD-B6FB-B1230A10F6F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5C601862-3D97-0D86-C0DA-6D15B470145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61A5EF7-4DCB-F536-8099-EC72D898EEC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19CE10E9-21F3-5BAF-3D5D-87621D3D8B78}"/>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F00BAF55-1DA0-E803-5FA5-AA11C2C4FD8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0DB75640-1789-A0ED-DCC9-A273F3519C53}"/>
              </a:ext>
            </a:extLst>
          </p:cNvPr>
          <p:cNvSpPr txBox="1"/>
          <p:nvPr/>
        </p:nvSpPr>
        <p:spPr>
          <a:xfrm>
            <a:off x="381001" y="2391508"/>
            <a:ext cx="17526000" cy="6494085"/>
          </a:xfrm>
          <a:prstGeom prst="rect">
            <a:avLst/>
          </a:prstGeom>
          <a:noFill/>
        </p:spPr>
        <p:txBody>
          <a:bodyPr wrap="square">
            <a:spAutoFit/>
          </a:bodyPr>
          <a:lstStyle/>
          <a:p>
            <a:pPr algn="just"/>
            <a:r>
              <a:rPr lang="en-US" sz="3200" b="1" dirty="0">
                <a:latin typeface="Consolas" panose="020B0609020204030204" pitchFamily="49" charset="0"/>
              </a:rPr>
              <a:t>Common Functions</a:t>
            </a:r>
          </a:p>
          <a:p>
            <a:pPr algn="just"/>
            <a:r>
              <a:rPr lang="en-US" sz="3200" b="1" dirty="0">
                <a:latin typeface="Consolas" panose="020B0609020204030204" pitchFamily="49" charset="0"/>
              </a:rPr>
              <a:t>3.4. </a:t>
            </a:r>
            <a:r>
              <a:rPr lang="en-US" sz="3200" b="1" dirty="0" err="1">
                <a:latin typeface="Consolas" panose="020B0609020204030204" pitchFamily="49" charset="0"/>
              </a:rPr>
              <a:t>random.shuffle</a:t>
            </a:r>
            <a:r>
              <a:rPr lang="en-US" sz="3200" b="1" dirty="0">
                <a:latin typeface="Consolas" panose="020B0609020204030204" pitchFamily="49" charset="0"/>
              </a:rPr>
              <a:t>() </a:t>
            </a:r>
            <a:r>
              <a:rPr lang="en-US" sz="3200" dirty="0">
                <a:latin typeface="Consolas" panose="020B0609020204030204" pitchFamily="49" charset="0"/>
              </a:rPr>
              <a:t>– Shuffle list in place. </a:t>
            </a: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Syntax: </a:t>
            </a:r>
            <a:r>
              <a:rPr lang="en-US" sz="3200" dirty="0" err="1">
                <a:latin typeface="Consolas" panose="020B0609020204030204" pitchFamily="49" charset="0"/>
              </a:rPr>
              <a:t>random.shuffle</a:t>
            </a:r>
            <a:r>
              <a:rPr lang="en-US" sz="3200" dirty="0">
                <a:latin typeface="Consolas" panose="020B0609020204030204" pitchFamily="49" charset="0"/>
              </a:rPr>
              <a:t>(list) </a:t>
            </a: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import random</a:t>
            </a:r>
          </a:p>
          <a:p>
            <a:pPr algn="just"/>
            <a:endParaRPr lang="en-US" sz="3200" dirty="0">
              <a:latin typeface="Consolas" panose="020B0609020204030204" pitchFamily="49" charset="0"/>
            </a:endParaRPr>
          </a:p>
          <a:p>
            <a:pPr algn="just"/>
            <a:r>
              <a:rPr lang="en-US" sz="3200" dirty="0">
                <a:latin typeface="Consolas" panose="020B0609020204030204" pitchFamily="49" charset="0"/>
              </a:rPr>
              <a:t>choices = ["rock", "paper", "scissor"]</a:t>
            </a:r>
          </a:p>
          <a:p>
            <a:pPr algn="just"/>
            <a:r>
              <a:rPr lang="en-US" sz="3200" dirty="0" err="1">
                <a:latin typeface="Consolas" panose="020B0609020204030204" pitchFamily="49" charset="0"/>
              </a:rPr>
              <a:t>random.shuffle</a:t>
            </a:r>
            <a:r>
              <a:rPr lang="en-US" sz="3200" dirty="0">
                <a:latin typeface="Consolas" panose="020B0609020204030204" pitchFamily="49" charset="0"/>
              </a:rPr>
              <a:t>(choices)</a:t>
            </a:r>
          </a:p>
          <a:p>
            <a:pPr algn="just"/>
            <a:r>
              <a:rPr lang="en-US" sz="3200" dirty="0">
                <a:latin typeface="Consolas" panose="020B0609020204030204" pitchFamily="49" charset="0"/>
              </a:rPr>
              <a:t>print(choices)</a:t>
            </a:r>
          </a:p>
          <a:p>
            <a:pPr algn="just"/>
            <a:endParaRPr lang="en-US" sz="3200" dirty="0">
              <a:latin typeface="Consolas" panose="020B0609020204030204" pitchFamily="49" charset="0"/>
            </a:endParaRPr>
          </a:p>
          <a:p>
            <a:pPr algn="just"/>
            <a:r>
              <a:rPr lang="en-US" sz="3200" b="1" dirty="0">
                <a:latin typeface="Consolas" panose="020B0609020204030204" pitchFamily="49" charset="0"/>
              </a:rPr>
              <a:t>Output:</a:t>
            </a:r>
          </a:p>
          <a:p>
            <a:pPr algn="just"/>
            <a:r>
              <a:rPr lang="en-US" sz="3200" dirty="0">
                <a:latin typeface="Consolas" panose="020B0609020204030204" pitchFamily="49" charset="0"/>
              </a:rPr>
              <a:t>['paper', 'scissor', 'rock']</a:t>
            </a:r>
          </a:p>
        </p:txBody>
      </p:sp>
      <p:sp>
        <p:nvSpPr>
          <p:cNvPr id="6" name="TextBox 28">
            <a:extLst>
              <a:ext uri="{FF2B5EF4-FFF2-40B4-BE49-F238E27FC236}">
                <a16:creationId xmlns:a16="http://schemas.microsoft.com/office/drawing/2014/main" id="{E931C1FE-1195-858F-9174-26499DE7F824}"/>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random Module</a:t>
            </a:r>
          </a:p>
        </p:txBody>
      </p:sp>
    </p:spTree>
    <p:extLst>
      <p:ext uri="{BB962C8B-B14F-4D97-AF65-F5344CB8AC3E}">
        <p14:creationId xmlns:p14="http://schemas.microsoft.com/office/powerpoint/2010/main" val="2838947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FA059-935C-FEE3-3677-66ABE2028AE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FF4703-AA84-2C21-B499-5E84FE599027}"/>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FB38F211-BC58-323C-3037-FE1CBF274F9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17655AA1-CC54-B288-3835-B403589DE79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BB4BA9B8-F49A-4B74-0C7E-118D62D98B4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73B03240-2817-47A0-C81D-3C1FBEBE019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62BD1BE-F700-9277-A454-7C98E046BCF8}"/>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793C405D-9926-7008-69F4-EBA3DD4ACAB9}"/>
              </a:ext>
            </a:extLst>
          </p:cNvPr>
          <p:cNvSpPr txBox="1"/>
          <p:nvPr/>
        </p:nvSpPr>
        <p:spPr>
          <a:xfrm>
            <a:off x="381001" y="2391508"/>
            <a:ext cx="17526000" cy="6494085"/>
          </a:xfrm>
          <a:prstGeom prst="rect">
            <a:avLst/>
          </a:prstGeom>
          <a:noFill/>
        </p:spPr>
        <p:txBody>
          <a:bodyPr wrap="square">
            <a:spAutoFit/>
          </a:bodyPr>
          <a:lstStyle/>
          <a:p>
            <a:pPr algn="just"/>
            <a:r>
              <a:rPr lang="en-US" sz="3200" b="1" dirty="0">
                <a:latin typeface="Consolas" panose="020B0609020204030204" pitchFamily="49" charset="0"/>
              </a:rPr>
              <a:t>Common Functions</a:t>
            </a:r>
          </a:p>
          <a:p>
            <a:pPr algn="just"/>
            <a:r>
              <a:rPr lang="en-US" sz="3200" b="1" dirty="0">
                <a:latin typeface="Consolas" panose="020B0609020204030204" pitchFamily="49" charset="0"/>
              </a:rPr>
              <a:t>3.4. </a:t>
            </a:r>
            <a:r>
              <a:rPr lang="en-US" sz="3200" b="1" dirty="0" err="1">
                <a:latin typeface="Consolas" panose="020B0609020204030204" pitchFamily="49" charset="0"/>
              </a:rPr>
              <a:t>random.shuffle</a:t>
            </a:r>
            <a:r>
              <a:rPr lang="en-US" sz="3200" b="1" dirty="0">
                <a:latin typeface="Consolas" panose="020B0609020204030204" pitchFamily="49" charset="0"/>
              </a:rPr>
              <a:t>() </a:t>
            </a:r>
            <a:r>
              <a:rPr lang="en-US" sz="3200" dirty="0">
                <a:latin typeface="Consolas" panose="020B0609020204030204" pitchFamily="49" charset="0"/>
              </a:rPr>
              <a:t>– Shuffle list in place. </a:t>
            </a: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Syntax: </a:t>
            </a:r>
            <a:r>
              <a:rPr lang="en-US" sz="3200" dirty="0" err="1">
                <a:latin typeface="Consolas" panose="020B0609020204030204" pitchFamily="49" charset="0"/>
              </a:rPr>
              <a:t>random.shuffle</a:t>
            </a:r>
            <a:r>
              <a:rPr lang="en-US" sz="3200" dirty="0">
                <a:latin typeface="Consolas" panose="020B0609020204030204" pitchFamily="49" charset="0"/>
              </a:rPr>
              <a:t>(list) </a:t>
            </a: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import random</a:t>
            </a:r>
          </a:p>
          <a:p>
            <a:pPr algn="just"/>
            <a:endParaRPr lang="en-US" sz="3200" dirty="0">
              <a:latin typeface="Consolas" panose="020B0609020204030204" pitchFamily="49" charset="0"/>
            </a:endParaRPr>
          </a:p>
          <a:p>
            <a:pPr algn="just"/>
            <a:r>
              <a:rPr lang="en-US" sz="3200" dirty="0">
                <a:latin typeface="Consolas" panose="020B0609020204030204" pitchFamily="49" charset="0"/>
              </a:rPr>
              <a:t>choices = ["rock", "paper", "scissor"]</a:t>
            </a:r>
          </a:p>
          <a:p>
            <a:pPr algn="just"/>
            <a:r>
              <a:rPr lang="en-US" sz="3200" dirty="0" err="1">
                <a:latin typeface="Consolas" panose="020B0609020204030204" pitchFamily="49" charset="0"/>
              </a:rPr>
              <a:t>random.shuffle</a:t>
            </a:r>
            <a:r>
              <a:rPr lang="en-US" sz="3200" dirty="0">
                <a:latin typeface="Consolas" panose="020B0609020204030204" pitchFamily="49" charset="0"/>
              </a:rPr>
              <a:t>(choices)</a:t>
            </a:r>
          </a:p>
          <a:p>
            <a:pPr algn="just"/>
            <a:r>
              <a:rPr lang="en-US" sz="3200" dirty="0">
                <a:latin typeface="Consolas" panose="020B0609020204030204" pitchFamily="49" charset="0"/>
              </a:rPr>
              <a:t>print(choices)</a:t>
            </a:r>
          </a:p>
          <a:p>
            <a:pPr algn="just"/>
            <a:endParaRPr lang="en-US" sz="3200" dirty="0">
              <a:latin typeface="Consolas" panose="020B0609020204030204" pitchFamily="49" charset="0"/>
            </a:endParaRPr>
          </a:p>
          <a:p>
            <a:pPr algn="just"/>
            <a:r>
              <a:rPr lang="en-US" sz="3200" b="1" dirty="0">
                <a:latin typeface="Consolas" panose="020B0609020204030204" pitchFamily="49" charset="0"/>
              </a:rPr>
              <a:t>Output:</a:t>
            </a:r>
          </a:p>
          <a:p>
            <a:pPr algn="just"/>
            <a:r>
              <a:rPr lang="en-US" sz="3200" dirty="0">
                <a:latin typeface="Consolas" panose="020B0609020204030204" pitchFamily="49" charset="0"/>
              </a:rPr>
              <a:t>['paper', 'scissor', 'rock']</a:t>
            </a:r>
          </a:p>
        </p:txBody>
      </p:sp>
      <p:sp>
        <p:nvSpPr>
          <p:cNvPr id="6" name="TextBox 28">
            <a:extLst>
              <a:ext uri="{FF2B5EF4-FFF2-40B4-BE49-F238E27FC236}">
                <a16:creationId xmlns:a16="http://schemas.microsoft.com/office/drawing/2014/main" id="{12B5F2C2-CFE2-84DD-DA22-C6B8F651E14B}"/>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random Module</a:t>
            </a:r>
          </a:p>
        </p:txBody>
      </p:sp>
    </p:spTree>
    <p:extLst>
      <p:ext uri="{BB962C8B-B14F-4D97-AF65-F5344CB8AC3E}">
        <p14:creationId xmlns:p14="http://schemas.microsoft.com/office/powerpoint/2010/main" val="1412687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E9E36-F461-D6FB-B467-78BAFFF4DCF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8357B8C-9EC2-7E7C-AF85-D38B97796E48}"/>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418A994-31EB-C0B1-B846-84FAEF6EC11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ACAE77C-3DAB-3712-9CF8-D74C204CFB7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DE4DF122-E0B1-5EBE-D235-673A56B5129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72B55D1F-D1CC-DBC7-F2B0-C7089091985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1530C078-FCE0-0DF1-2D7A-F44ACAEDCAFB}"/>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17F092C0-CAB8-666F-9BFC-1D091B57DE64}"/>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 </a:t>
            </a:r>
          </a:p>
        </p:txBody>
      </p:sp>
      <p:sp>
        <p:nvSpPr>
          <p:cNvPr id="10" name="AutoShape 8" descr="Grammarly Logo PNG Vector - BrandLogo">
            <a:extLst>
              <a:ext uri="{FF2B5EF4-FFF2-40B4-BE49-F238E27FC236}">
                <a16:creationId xmlns:a16="http://schemas.microsoft.com/office/drawing/2014/main" id="{0FB3527A-01E5-2607-DDF6-73CDA091EC8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188CB160-0580-0689-85EC-2F75DD4FFAEB}"/>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855BCD9E-C501-9BB2-8D74-3CD9DEE880CD}"/>
              </a:ext>
            </a:extLst>
          </p:cNvPr>
          <p:cNvSpPr txBox="1"/>
          <p:nvPr/>
        </p:nvSpPr>
        <p:spPr>
          <a:xfrm>
            <a:off x="463773" y="2055128"/>
            <a:ext cx="16953563" cy="5678478"/>
          </a:xfrm>
          <a:prstGeom prst="rect">
            <a:avLst/>
          </a:prstGeom>
          <a:noFill/>
        </p:spPr>
        <p:txBody>
          <a:bodyPr wrap="square">
            <a:spAutoFit/>
          </a:bodyPr>
          <a:lstStyle/>
          <a:p>
            <a:pPr algn="just"/>
            <a:r>
              <a:rPr lang="en-US" sz="3300" b="1" dirty="0">
                <a:latin typeface="Consolas" panose="020B0609020204030204" pitchFamily="49" charset="0"/>
              </a:rPr>
              <a:t>Task:</a:t>
            </a:r>
          </a:p>
          <a:p>
            <a:pPr algn="just"/>
            <a:r>
              <a:rPr lang="en-US" sz="3300" dirty="0">
                <a:latin typeface="Consolas" panose="020B0609020204030204" pitchFamily="49" charset="0"/>
              </a:rPr>
              <a:t>Create a number guessing game:</a:t>
            </a:r>
          </a:p>
          <a:p>
            <a:pPr marL="914400" lvl="1" indent="-457200" algn="just">
              <a:buFont typeface="Wingdings" panose="05000000000000000000" pitchFamily="2" charset="2"/>
              <a:buChar char="ü"/>
            </a:pPr>
            <a:r>
              <a:rPr lang="en-US" sz="3300" dirty="0">
                <a:latin typeface="Consolas" panose="020B0609020204030204" pitchFamily="49" charset="0"/>
              </a:rPr>
              <a:t>Program generates a random number 1–20</a:t>
            </a:r>
          </a:p>
          <a:p>
            <a:pPr marL="914400" lvl="1" indent="-457200" algn="just">
              <a:buFont typeface="Wingdings" panose="05000000000000000000" pitchFamily="2" charset="2"/>
              <a:buChar char="ü"/>
            </a:pPr>
            <a:r>
              <a:rPr lang="en-US" sz="3300" dirty="0">
                <a:latin typeface="Consolas" panose="020B0609020204030204" pitchFamily="49" charset="0"/>
              </a:rPr>
              <a:t>User guesses</a:t>
            </a:r>
          </a:p>
          <a:p>
            <a:pPr marL="914400" lvl="1" indent="-457200" algn="just">
              <a:buFont typeface="Wingdings" panose="05000000000000000000" pitchFamily="2" charset="2"/>
              <a:buChar char="ü"/>
            </a:pPr>
            <a:r>
              <a:rPr lang="en-US" sz="3300" dirty="0">
                <a:latin typeface="Consolas" panose="020B0609020204030204" pitchFamily="49" charset="0"/>
              </a:rPr>
              <a:t>Program gives “Too high”, “Too low”, or “Correct!”</a:t>
            </a:r>
          </a:p>
          <a:p>
            <a:pPr algn="just"/>
            <a:endParaRPr lang="en-US" sz="3300" dirty="0">
              <a:latin typeface="Consolas" panose="020B0609020204030204" pitchFamily="49" charset="0"/>
            </a:endParaRPr>
          </a:p>
          <a:p>
            <a:pPr algn="just"/>
            <a:r>
              <a:rPr lang="en-US" sz="3300" dirty="0">
                <a:latin typeface="Consolas" panose="020B0609020204030204" pitchFamily="49" charset="0"/>
              </a:rPr>
              <a:t>Challenge: Count how many attempts the user made.</a:t>
            </a:r>
          </a:p>
          <a:p>
            <a:pPr algn="just"/>
            <a:endParaRPr lang="en-US" sz="3300" dirty="0">
              <a:latin typeface="Consolas" panose="020B0609020204030204" pitchFamily="49" charset="0"/>
            </a:endParaRPr>
          </a:p>
          <a:p>
            <a:pPr algn="just"/>
            <a:endParaRPr lang="en-US" sz="3300" dirty="0">
              <a:latin typeface="Consolas" panose="020B0609020204030204" pitchFamily="49" charset="0"/>
            </a:endParaRPr>
          </a:p>
          <a:p>
            <a:pPr algn="just"/>
            <a:r>
              <a:rPr lang="en-US" sz="3300" b="1" dirty="0">
                <a:latin typeface="Consolas" panose="020B0609020204030204" pitchFamily="49" charset="0"/>
              </a:rPr>
              <a:t>Extra activity:</a:t>
            </a:r>
            <a:endParaRPr lang="en-US" sz="3300" dirty="0">
              <a:latin typeface="Consolas" panose="020B0609020204030204" pitchFamily="49" charset="0"/>
            </a:endParaRPr>
          </a:p>
          <a:p>
            <a:pPr algn="just"/>
            <a:r>
              <a:rPr lang="en-US" sz="3300" dirty="0">
                <a:latin typeface="Consolas" panose="020B0609020204030204" pitchFamily="49" charset="0"/>
              </a:rPr>
              <a:t>Create a rock-paper-scissor game versus the computer.</a:t>
            </a:r>
          </a:p>
        </p:txBody>
      </p:sp>
    </p:spTree>
    <p:extLst>
      <p:ext uri="{BB962C8B-B14F-4D97-AF65-F5344CB8AC3E}">
        <p14:creationId xmlns:p14="http://schemas.microsoft.com/office/powerpoint/2010/main" val="2594515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D89EF-3AB4-A864-7697-D1F38AAA5BD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3BDB0D3-070C-59E3-43CB-E89FB4288332}"/>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1CEFD33D-655B-0FB8-838B-627804693B5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E56C484B-3772-D1E2-4C2F-351762CB841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1AB8213F-5B2E-028B-DAD1-A24B0E7E44B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85369D0F-E4B2-B241-B83C-3EDBB5D6EE46}"/>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62967FB1-7B9F-E80F-DD55-DEDF4A9BAE52}"/>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98F1F5E1-2992-9A9D-481B-628C99285991}"/>
              </a:ext>
            </a:extLst>
          </p:cNvPr>
          <p:cNvSpPr txBox="1"/>
          <p:nvPr/>
        </p:nvSpPr>
        <p:spPr>
          <a:xfrm>
            <a:off x="381001" y="2391508"/>
            <a:ext cx="17526000" cy="7478970"/>
          </a:xfrm>
          <a:prstGeom prst="rect">
            <a:avLst/>
          </a:prstGeom>
          <a:noFill/>
        </p:spPr>
        <p:txBody>
          <a:bodyPr wrap="square">
            <a:spAutoFit/>
          </a:bodyPr>
          <a:lstStyle/>
          <a:p>
            <a:pPr algn="just"/>
            <a:r>
              <a:rPr lang="en-US" sz="3200" b="1" dirty="0">
                <a:latin typeface="Consolas" panose="020B0609020204030204" pitchFamily="49" charset="0"/>
              </a:rPr>
              <a:t>4. time module </a:t>
            </a:r>
            <a:r>
              <a:rPr lang="en-US" sz="3200" dirty="0">
                <a:latin typeface="Consolas" panose="020B0609020204030204" pitchFamily="49" charset="0"/>
              </a:rPr>
              <a:t>– The time module provides functions related to:</a:t>
            </a:r>
          </a:p>
          <a:p>
            <a:pPr marL="1371600" lvl="2" indent="-457200" algn="just">
              <a:buFont typeface="Wingdings" panose="05000000000000000000" pitchFamily="2" charset="2"/>
              <a:buChar char="ü"/>
            </a:pPr>
            <a:r>
              <a:rPr lang="en-US" sz="3200" dirty="0">
                <a:latin typeface="Consolas" panose="020B0609020204030204" pitchFamily="49" charset="0"/>
              </a:rPr>
              <a:t>System time</a:t>
            </a:r>
          </a:p>
          <a:p>
            <a:pPr marL="1371600" lvl="2" indent="-457200" algn="just">
              <a:buFont typeface="Wingdings" panose="05000000000000000000" pitchFamily="2" charset="2"/>
              <a:buChar char="ü"/>
            </a:pPr>
            <a:r>
              <a:rPr lang="en-US" sz="3200" dirty="0">
                <a:latin typeface="Consolas" panose="020B0609020204030204" pitchFamily="49" charset="0"/>
              </a:rPr>
              <a:t>Sleep delays</a:t>
            </a:r>
          </a:p>
          <a:p>
            <a:pPr marL="1371600" lvl="2" indent="-457200" algn="just">
              <a:buFont typeface="Wingdings" panose="05000000000000000000" pitchFamily="2" charset="2"/>
              <a:buChar char="ü"/>
            </a:pPr>
            <a:r>
              <a:rPr lang="en-US" sz="3200" dirty="0">
                <a:latin typeface="Consolas" panose="020B0609020204030204" pitchFamily="49" charset="0"/>
              </a:rPr>
              <a:t>CPU process timing</a:t>
            </a:r>
          </a:p>
          <a:p>
            <a:pPr marL="1371600" lvl="2" indent="-457200" algn="just">
              <a:buFont typeface="Wingdings" panose="05000000000000000000" pitchFamily="2" charset="2"/>
              <a:buChar char="ü"/>
            </a:pPr>
            <a:r>
              <a:rPr lang="en-US" sz="3200" dirty="0">
                <a:latin typeface="Consolas" panose="020B0609020204030204" pitchFamily="49" charset="0"/>
              </a:rPr>
              <a:t>Stopwatch / timers</a:t>
            </a:r>
          </a:p>
          <a:p>
            <a:pPr marL="0" lvl="2" algn="just"/>
            <a:endParaRPr lang="en-US" sz="3200" dirty="0">
              <a:latin typeface="Consolas" panose="020B0609020204030204" pitchFamily="49" charset="0"/>
            </a:endParaRPr>
          </a:p>
          <a:p>
            <a:pPr marL="0" lvl="2" algn="just"/>
            <a:r>
              <a:rPr lang="en-US" sz="3200" b="1" dirty="0">
                <a:latin typeface="Consolas" panose="020B0609020204030204" pitchFamily="49" charset="0"/>
              </a:rPr>
              <a:t>Common Functions:</a:t>
            </a:r>
          </a:p>
          <a:p>
            <a:pPr marL="0" lvl="2" algn="just"/>
            <a:r>
              <a:rPr lang="en-US" sz="3200" b="1" dirty="0">
                <a:latin typeface="Consolas" panose="020B0609020204030204" pitchFamily="49" charset="0"/>
              </a:rPr>
              <a:t>4.1. </a:t>
            </a:r>
            <a:r>
              <a:rPr lang="en-US" sz="3200" b="1" dirty="0" err="1">
                <a:latin typeface="Consolas" panose="020B0609020204030204" pitchFamily="49" charset="0"/>
              </a:rPr>
              <a:t>time.time</a:t>
            </a:r>
            <a:r>
              <a:rPr lang="en-US" sz="3200" b="1" dirty="0">
                <a:latin typeface="Consolas" panose="020B0609020204030204" pitchFamily="49" charset="0"/>
              </a:rPr>
              <a:t>()</a:t>
            </a:r>
            <a:r>
              <a:rPr lang="en-US" sz="3200" dirty="0">
                <a:latin typeface="Consolas" panose="020B0609020204030204" pitchFamily="49" charset="0"/>
              </a:rPr>
              <a:t> – Returns the current time since epoch.</a:t>
            </a:r>
          </a:p>
          <a:p>
            <a:pPr marL="0" lvl="2" algn="just"/>
            <a:r>
              <a:rPr lang="en-US" sz="3200" b="1" dirty="0">
                <a:latin typeface="Consolas" panose="020B0609020204030204" pitchFamily="49" charset="0"/>
              </a:rPr>
              <a:t>Example:</a:t>
            </a:r>
          </a:p>
          <a:p>
            <a:pPr marL="0" lvl="2" algn="just"/>
            <a:r>
              <a:rPr lang="en-US" sz="3200" dirty="0">
                <a:latin typeface="Consolas" panose="020B0609020204030204" pitchFamily="49" charset="0"/>
              </a:rPr>
              <a:t>import time</a:t>
            </a:r>
          </a:p>
          <a:p>
            <a:pPr marL="0" lvl="2" algn="just"/>
            <a:endParaRPr lang="en-US" sz="3200" dirty="0">
              <a:latin typeface="Consolas" panose="020B0609020204030204" pitchFamily="49" charset="0"/>
            </a:endParaRPr>
          </a:p>
          <a:p>
            <a:pPr marL="0" lvl="2" algn="just"/>
            <a:r>
              <a:rPr lang="en-US" sz="3200" dirty="0">
                <a:latin typeface="Consolas" panose="020B0609020204030204" pitchFamily="49" charset="0"/>
              </a:rPr>
              <a:t>print(</a:t>
            </a:r>
            <a:r>
              <a:rPr lang="en-US" sz="3200" dirty="0" err="1">
                <a:latin typeface="Consolas" panose="020B0609020204030204" pitchFamily="49" charset="0"/>
              </a:rPr>
              <a:t>time.time</a:t>
            </a:r>
            <a:r>
              <a:rPr lang="en-US" sz="3200" dirty="0">
                <a:latin typeface="Consolas" panose="020B0609020204030204" pitchFamily="49" charset="0"/>
              </a:rPr>
              <a:t>())</a:t>
            </a:r>
          </a:p>
          <a:p>
            <a:pPr marL="0" lvl="2" algn="just"/>
            <a:endParaRPr lang="en-US" sz="3200" dirty="0">
              <a:latin typeface="Consolas" panose="020B0609020204030204" pitchFamily="49" charset="0"/>
            </a:endParaRPr>
          </a:p>
          <a:p>
            <a:pPr marL="0" lvl="2" algn="just"/>
            <a:r>
              <a:rPr lang="en-US" sz="3200" b="1" dirty="0">
                <a:latin typeface="Consolas" panose="020B0609020204030204" pitchFamily="49" charset="0"/>
              </a:rPr>
              <a:t>Output:</a:t>
            </a:r>
          </a:p>
          <a:p>
            <a:pPr marL="0" lvl="2" algn="just"/>
            <a:r>
              <a:rPr lang="en-US" sz="3200" dirty="0">
                <a:latin typeface="Consolas" panose="020B0609020204030204" pitchFamily="49" charset="0"/>
              </a:rPr>
              <a:t>1763392913.2262063</a:t>
            </a:r>
          </a:p>
        </p:txBody>
      </p:sp>
      <p:sp>
        <p:nvSpPr>
          <p:cNvPr id="6" name="TextBox 28">
            <a:extLst>
              <a:ext uri="{FF2B5EF4-FFF2-40B4-BE49-F238E27FC236}">
                <a16:creationId xmlns:a16="http://schemas.microsoft.com/office/drawing/2014/main" id="{025E3083-AAD5-1D05-EF38-52E0C80438E4}"/>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time Module</a:t>
            </a:r>
          </a:p>
        </p:txBody>
      </p:sp>
    </p:spTree>
    <p:extLst>
      <p:ext uri="{BB962C8B-B14F-4D97-AF65-F5344CB8AC3E}">
        <p14:creationId xmlns:p14="http://schemas.microsoft.com/office/powerpoint/2010/main" val="413826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77CF9-8F20-E489-9A2D-F0553E1BE8D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2625035-AE15-BE71-AEEF-FD0E9E50B75D}"/>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BBB75C65-9CC8-9F27-3EDC-06F174AEB60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CB98A5B2-4071-BACD-4078-0489245B95D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E687831-E7BF-AA4C-5414-BC6670312D3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3520BB1E-9A75-A43D-BB7B-243963984BE1}"/>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2A16380A-A318-18E3-3801-947C179FF98C}"/>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935B0070-D323-490E-E18C-E3C01D2028A9}"/>
              </a:ext>
            </a:extLst>
          </p:cNvPr>
          <p:cNvSpPr txBox="1"/>
          <p:nvPr/>
        </p:nvSpPr>
        <p:spPr>
          <a:xfrm>
            <a:off x="381001" y="2391508"/>
            <a:ext cx="17526000" cy="7478970"/>
          </a:xfrm>
          <a:prstGeom prst="rect">
            <a:avLst/>
          </a:prstGeom>
          <a:noFill/>
        </p:spPr>
        <p:txBody>
          <a:bodyPr wrap="square">
            <a:spAutoFit/>
          </a:bodyPr>
          <a:lstStyle/>
          <a:p>
            <a:pPr algn="just"/>
            <a:r>
              <a:rPr lang="en-US" sz="3200" b="1" dirty="0">
                <a:latin typeface="Consolas" panose="020B0609020204030204" pitchFamily="49" charset="0"/>
              </a:rPr>
              <a:t>4.2. </a:t>
            </a:r>
            <a:r>
              <a:rPr lang="en-US" sz="3200" b="1" dirty="0" err="1">
                <a:latin typeface="Consolas" panose="020B0609020204030204" pitchFamily="49" charset="0"/>
              </a:rPr>
              <a:t>time.sleep</a:t>
            </a:r>
            <a:r>
              <a:rPr lang="en-US" sz="3200" b="1" dirty="0">
                <a:latin typeface="Consolas" panose="020B0609020204030204" pitchFamily="49" charset="0"/>
              </a:rPr>
              <a:t>() </a:t>
            </a:r>
            <a:r>
              <a:rPr lang="en-US" sz="3200" dirty="0">
                <a:latin typeface="Consolas" panose="020B0609020204030204" pitchFamily="49" charset="0"/>
              </a:rPr>
              <a:t>- Pause execution</a:t>
            </a:r>
          </a:p>
          <a:p>
            <a:pPr algn="just"/>
            <a:endParaRPr lang="en-US" sz="3200" dirty="0">
              <a:latin typeface="Consolas" panose="020B0609020204030204" pitchFamily="49" charset="0"/>
            </a:endParaRPr>
          </a:p>
          <a:p>
            <a:pPr algn="just"/>
            <a:r>
              <a:rPr lang="en-US" sz="3200" b="1" dirty="0">
                <a:latin typeface="Consolas" panose="020B0609020204030204" pitchFamily="49" charset="0"/>
              </a:rPr>
              <a:t>Syntax: </a:t>
            </a:r>
            <a:r>
              <a:rPr lang="en-US" sz="3200" dirty="0" err="1">
                <a:latin typeface="Consolas" panose="020B0609020204030204" pitchFamily="49" charset="0"/>
              </a:rPr>
              <a:t>time.sleep</a:t>
            </a:r>
            <a:r>
              <a:rPr lang="en-US" sz="3200" dirty="0">
                <a:latin typeface="Consolas" panose="020B0609020204030204" pitchFamily="49" charset="0"/>
              </a:rPr>
              <a:t>(seconds)</a:t>
            </a: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import time</a:t>
            </a:r>
          </a:p>
          <a:p>
            <a:pPr algn="just"/>
            <a:endParaRPr lang="en-US" sz="3200" dirty="0">
              <a:latin typeface="Consolas" panose="020B0609020204030204" pitchFamily="49" charset="0"/>
            </a:endParaRPr>
          </a:p>
          <a:p>
            <a:pPr algn="just"/>
            <a:r>
              <a:rPr lang="en-US" sz="3200" dirty="0">
                <a:latin typeface="Consolas" panose="020B0609020204030204" pitchFamily="49" charset="0"/>
              </a:rPr>
              <a:t>print("Starting...")</a:t>
            </a:r>
          </a:p>
          <a:p>
            <a:pPr algn="just"/>
            <a:r>
              <a:rPr lang="en-US" sz="3200" dirty="0" err="1">
                <a:latin typeface="Consolas" panose="020B0609020204030204" pitchFamily="49" charset="0"/>
              </a:rPr>
              <a:t>time.sleep</a:t>
            </a:r>
            <a:r>
              <a:rPr lang="en-US" sz="3200" dirty="0">
                <a:latin typeface="Consolas" panose="020B0609020204030204" pitchFamily="49" charset="0"/>
              </a:rPr>
              <a:t>(2)</a:t>
            </a:r>
          </a:p>
          <a:p>
            <a:pPr algn="just"/>
            <a:r>
              <a:rPr lang="en-US" sz="3200" dirty="0">
                <a:latin typeface="Consolas" panose="020B0609020204030204" pitchFamily="49" charset="0"/>
              </a:rPr>
              <a:t>print("Finished after 2 seconds!")</a:t>
            </a:r>
          </a:p>
          <a:p>
            <a:pPr algn="just"/>
            <a:endParaRPr lang="en-US" sz="3200" dirty="0">
              <a:latin typeface="Consolas" panose="020B0609020204030204" pitchFamily="49" charset="0"/>
            </a:endParaRPr>
          </a:p>
          <a:p>
            <a:pPr algn="just"/>
            <a:r>
              <a:rPr lang="en-US" sz="3200" b="1" dirty="0">
                <a:latin typeface="Consolas" panose="020B0609020204030204" pitchFamily="49" charset="0"/>
              </a:rPr>
              <a:t>Output:</a:t>
            </a:r>
          </a:p>
          <a:p>
            <a:pPr algn="just"/>
            <a:r>
              <a:rPr lang="en-US" sz="3200" dirty="0">
                <a:latin typeface="Consolas" panose="020B0609020204030204" pitchFamily="49" charset="0"/>
              </a:rPr>
              <a:t>Starting...</a:t>
            </a:r>
          </a:p>
          <a:p>
            <a:pPr algn="just"/>
            <a:r>
              <a:rPr lang="en-US" sz="3200" dirty="0">
                <a:latin typeface="Consolas" panose="020B0609020204030204" pitchFamily="49" charset="0"/>
              </a:rPr>
              <a:t>&lt;paused&gt;</a:t>
            </a:r>
          </a:p>
          <a:p>
            <a:pPr algn="just"/>
            <a:r>
              <a:rPr lang="en-US" sz="3200" dirty="0">
                <a:latin typeface="Consolas" panose="020B0609020204030204" pitchFamily="49" charset="0"/>
              </a:rPr>
              <a:t>Finished after 2 seconds!</a:t>
            </a:r>
          </a:p>
        </p:txBody>
      </p:sp>
      <p:sp>
        <p:nvSpPr>
          <p:cNvPr id="6" name="TextBox 28">
            <a:extLst>
              <a:ext uri="{FF2B5EF4-FFF2-40B4-BE49-F238E27FC236}">
                <a16:creationId xmlns:a16="http://schemas.microsoft.com/office/drawing/2014/main" id="{5D000D18-7EAB-DEA3-5E3B-245CE124686B}"/>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time Module</a:t>
            </a:r>
          </a:p>
        </p:txBody>
      </p:sp>
    </p:spTree>
    <p:extLst>
      <p:ext uri="{BB962C8B-B14F-4D97-AF65-F5344CB8AC3E}">
        <p14:creationId xmlns:p14="http://schemas.microsoft.com/office/powerpoint/2010/main" val="4192762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ED344-F30A-FFBD-EED4-FF79A20B12D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688026F-CBDA-1BB9-C17B-62DA1E1BC739}"/>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5CF12AB2-39E3-C826-AF67-67C0BED4E62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538181CC-C2CB-EEED-3FBA-386BFE3C1E3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88BC7065-A9E6-93E2-F771-A45B413DEBF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9457C250-270A-CE45-22E6-C6B6DC03248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7A457C5-0851-6311-64D4-BA74B6D84F61}"/>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9007BAB8-DCF9-D3D2-D1CD-DB8FFD2FDF36}"/>
              </a:ext>
            </a:extLst>
          </p:cNvPr>
          <p:cNvSpPr txBox="1"/>
          <p:nvPr/>
        </p:nvSpPr>
        <p:spPr>
          <a:xfrm>
            <a:off x="381001" y="2391508"/>
            <a:ext cx="17526000" cy="4524315"/>
          </a:xfrm>
          <a:prstGeom prst="rect">
            <a:avLst/>
          </a:prstGeom>
          <a:noFill/>
        </p:spPr>
        <p:txBody>
          <a:bodyPr wrap="square">
            <a:spAutoFit/>
          </a:bodyPr>
          <a:lstStyle/>
          <a:p>
            <a:pPr algn="just"/>
            <a:r>
              <a:rPr lang="en-US" sz="3200" b="1" dirty="0">
                <a:latin typeface="Consolas" panose="020B0609020204030204" pitchFamily="49" charset="0"/>
              </a:rPr>
              <a:t>4.3. </a:t>
            </a:r>
            <a:r>
              <a:rPr lang="en-US" sz="3200" b="1" dirty="0" err="1">
                <a:latin typeface="Consolas" panose="020B0609020204030204" pitchFamily="49" charset="0"/>
              </a:rPr>
              <a:t>time.ctime</a:t>
            </a:r>
            <a:r>
              <a:rPr lang="en-US" sz="3200" b="1" dirty="0">
                <a:latin typeface="Consolas" panose="020B0609020204030204" pitchFamily="49" charset="0"/>
              </a:rPr>
              <a:t> </a:t>
            </a:r>
            <a:r>
              <a:rPr lang="en-US" sz="3200" dirty="0">
                <a:latin typeface="Consolas" panose="020B0609020204030204" pitchFamily="49" charset="0"/>
              </a:rPr>
              <a:t>– It returns a human-readable time</a:t>
            </a:r>
          </a:p>
          <a:p>
            <a:pPr algn="just"/>
            <a:endParaRPr lang="en-US" sz="3200" b="1" dirty="0">
              <a:latin typeface="Consolas" panose="020B0609020204030204" pitchFamily="49" charset="0"/>
            </a:endParaRP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import time</a:t>
            </a:r>
          </a:p>
          <a:p>
            <a:pPr algn="just"/>
            <a:endParaRPr lang="en-US" sz="3200" dirty="0">
              <a:latin typeface="Consolas" panose="020B0609020204030204" pitchFamily="49" charset="0"/>
            </a:endParaRPr>
          </a:p>
          <a:p>
            <a:pPr algn="just"/>
            <a:r>
              <a:rPr lang="en-US" sz="3200" dirty="0">
                <a:latin typeface="Consolas" panose="020B0609020204030204" pitchFamily="49" charset="0"/>
              </a:rPr>
              <a:t>print(</a:t>
            </a:r>
            <a:r>
              <a:rPr lang="en-US" sz="3200" dirty="0" err="1">
                <a:latin typeface="Consolas" panose="020B0609020204030204" pitchFamily="49" charset="0"/>
              </a:rPr>
              <a:t>time.ctime</a:t>
            </a:r>
            <a:r>
              <a:rPr lang="en-US" sz="3200" dirty="0">
                <a:latin typeface="Consolas" panose="020B0609020204030204" pitchFamily="49" charset="0"/>
              </a:rPr>
              <a:t>())</a:t>
            </a:r>
          </a:p>
          <a:p>
            <a:pPr algn="just"/>
            <a:endParaRPr lang="en-US" sz="3200" dirty="0">
              <a:latin typeface="Consolas" panose="020B0609020204030204" pitchFamily="49" charset="0"/>
            </a:endParaRPr>
          </a:p>
          <a:p>
            <a:pPr algn="just"/>
            <a:r>
              <a:rPr lang="en-US" sz="3200" b="1" dirty="0">
                <a:latin typeface="Consolas" panose="020B0609020204030204" pitchFamily="49" charset="0"/>
              </a:rPr>
              <a:t>Output:</a:t>
            </a:r>
          </a:p>
          <a:p>
            <a:pPr algn="just"/>
            <a:r>
              <a:rPr lang="en-US" sz="3200" dirty="0">
                <a:latin typeface="Consolas" panose="020B0609020204030204" pitchFamily="49" charset="0"/>
              </a:rPr>
              <a:t>Thu Nov 13 23:25:10 2025</a:t>
            </a:r>
          </a:p>
        </p:txBody>
      </p:sp>
      <p:sp>
        <p:nvSpPr>
          <p:cNvPr id="6" name="TextBox 28">
            <a:extLst>
              <a:ext uri="{FF2B5EF4-FFF2-40B4-BE49-F238E27FC236}">
                <a16:creationId xmlns:a16="http://schemas.microsoft.com/office/drawing/2014/main" id="{56A47B33-8D88-BECD-5824-2E6B15541617}"/>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time Module</a:t>
            </a:r>
          </a:p>
        </p:txBody>
      </p:sp>
    </p:spTree>
    <p:extLst>
      <p:ext uri="{BB962C8B-B14F-4D97-AF65-F5344CB8AC3E}">
        <p14:creationId xmlns:p14="http://schemas.microsoft.com/office/powerpoint/2010/main" val="586252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14F65-3B6C-1C0A-04B7-8CCC342A3D4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795F14A-CCB2-30A6-D22F-35A3369C8EA6}"/>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A1C3E97A-D992-D1DF-9B5A-F6B819CDC18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AE0AB14D-A00A-2AFF-F493-4A1A7C4D370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51DAF259-BD9E-5E47-CEA0-42AC8E048EA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CBDC0376-2865-2DBE-6565-258CF3480243}"/>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2090C508-3D4C-621B-40BA-30BBF06030D3}"/>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C8A2C1EB-23AB-2C32-B10C-313C1488F41A}"/>
              </a:ext>
            </a:extLst>
          </p:cNvPr>
          <p:cNvSpPr txBox="1"/>
          <p:nvPr/>
        </p:nvSpPr>
        <p:spPr>
          <a:xfrm>
            <a:off x="381001" y="2391508"/>
            <a:ext cx="17526000" cy="5078313"/>
          </a:xfrm>
          <a:prstGeom prst="rect">
            <a:avLst/>
          </a:prstGeom>
          <a:noFill/>
        </p:spPr>
        <p:txBody>
          <a:bodyPr wrap="square">
            <a:spAutoFit/>
          </a:bodyPr>
          <a:lstStyle/>
          <a:p>
            <a:pPr algn="just"/>
            <a:r>
              <a:rPr lang="en-US" sz="3600" dirty="0">
                <a:latin typeface="Consolas" panose="020B0609020204030204" pitchFamily="49" charset="0"/>
              </a:rPr>
              <a:t>If you want to list down all the defined names belonging to a module, use the </a:t>
            </a:r>
            <a:r>
              <a:rPr lang="en-US" sz="3600" dirty="0" err="1">
                <a:latin typeface="Consolas" panose="020B0609020204030204" pitchFamily="49" charset="0"/>
              </a:rPr>
              <a:t>dir</a:t>
            </a:r>
            <a:r>
              <a:rPr lang="en-US" sz="3600" dirty="0">
                <a:latin typeface="Consolas" panose="020B0609020204030204" pitchFamily="49" charset="0"/>
              </a:rPr>
              <a:t>() function. It can be used in all modules, including the ones you have created.</a:t>
            </a:r>
          </a:p>
          <a:p>
            <a:pPr algn="just"/>
            <a:endParaRPr lang="en-US" sz="3600" dirty="0">
              <a:latin typeface="Consolas" panose="020B0609020204030204" pitchFamily="49" charset="0"/>
            </a:endParaRP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import math</a:t>
            </a:r>
          </a:p>
          <a:p>
            <a:pPr algn="just"/>
            <a:endParaRPr lang="en-US" sz="3600" dirty="0">
              <a:latin typeface="Consolas" panose="020B0609020204030204" pitchFamily="49" charset="0"/>
            </a:endParaRPr>
          </a:p>
          <a:p>
            <a:pPr algn="just"/>
            <a:r>
              <a:rPr lang="en-US" sz="3600" dirty="0">
                <a:latin typeface="Consolas" panose="020B0609020204030204" pitchFamily="49" charset="0"/>
              </a:rPr>
              <a:t>x = </a:t>
            </a:r>
            <a:r>
              <a:rPr lang="en-US" sz="3600" dirty="0" err="1">
                <a:latin typeface="Consolas" panose="020B0609020204030204" pitchFamily="49" charset="0"/>
              </a:rPr>
              <a:t>dir</a:t>
            </a:r>
            <a:r>
              <a:rPr lang="en-US" sz="3600" dirty="0">
                <a:latin typeface="Consolas" panose="020B0609020204030204" pitchFamily="49" charset="0"/>
              </a:rPr>
              <a:t>(math)</a:t>
            </a:r>
          </a:p>
          <a:p>
            <a:pPr algn="just"/>
            <a:r>
              <a:rPr lang="en-US" sz="3600" dirty="0">
                <a:latin typeface="Consolas" panose="020B0609020204030204" pitchFamily="49" charset="0"/>
              </a:rPr>
              <a:t>print(x)</a:t>
            </a:r>
          </a:p>
        </p:txBody>
      </p:sp>
      <p:sp>
        <p:nvSpPr>
          <p:cNvPr id="6" name="TextBox 28">
            <a:extLst>
              <a:ext uri="{FF2B5EF4-FFF2-40B4-BE49-F238E27FC236}">
                <a16:creationId xmlns:a16="http://schemas.microsoft.com/office/drawing/2014/main" id="{E023B400-F99F-F11D-5734-96A1398C337A}"/>
              </a:ext>
            </a:extLst>
          </p:cNvPr>
          <p:cNvSpPr txBox="1"/>
          <p:nvPr/>
        </p:nvSpPr>
        <p:spPr>
          <a:xfrm>
            <a:off x="755855" y="609490"/>
            <a:ext cx="16381125" cy="1477328"/>
          </a:xfrm>
          <a:prstGeom prst="rect">
            <a:avLst/>
          </a:prstGeom>
        </p:spPr>
        <p:txBody>
          <a:bodyPr wrap="square" lIns="0" tIns="0" rIns="0" bIns="0" rtlCol="0" anchor="t">
            <a:spAutoFit/>
          </a:bodyPr>
          <a:lstStyle/>
          <a:p>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Built-in modules -&gt; Getting all function names or variable names</a:t>
            </a:r>
          </a:p>
        </p:txBody>
      </p:sp>
    </p:spTree>
    <p:extLst>
      <p:ext uri="{BB962C8B-B14F-4D97-AF65-F5344CB8AC3E}">
        <p14:creationId xmlns:p14="http://schemas.microsoft.com/office/powerpoint/2010/main" val="797801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DF010-2535-D829-6828-DD93405D0EB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106A947-2F53-66E8-AAD9-0F8AB7A5905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760ADBF9-A6DC-AFA7-BCCB-B31C4D617D9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E5F3961F-6E06-F26C-C785-06319E1C2A4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E6B31DB6-5277-330A-BD3D-95A5554EC09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C2F40613-DB43-C2B0-9740-F93B8EF2B728}"/>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0F425393-1ACD-32B3-88D3-468128FF0B4C}"/>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C2713BBC-56D9-FBFF-8296-92688D0C0236}"/>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 </a:t>
            </a:r>
          </a:p>
        </p:txBody>
      </p:sp>
      <p:sp>
        <p:nvSpPr>
          <p:cNvPr id="10" name="AutoShape 8" descr="Grammarly Logo PNG Vector - BrandLogo">
            <a:extLst>
              <a:ext uri="{FF2B5EF4-FFF2-40B4-BE49-F238E27FC236}">
                <a16:creationId xmlns:a16="http://schemas.microsoft.com/office/drawing/2014/main" id="{932292F2-638C-1C69-3B99-628F9B76372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A402AE50-41B2-06AD-3CDE-4BE50A857D6D}"/>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FE2A22DE-8275-B550-0A02-2857DFF3348F}"/>
              </a:ext>
            </a:extLst>
          </p:cNvPr>
          <p:cNvSpPr txBox="1"/>
          <p:nvPr/>
        </p:nvSpPr>
        <p:spPr>
          <a:xfrm>
            <a:off x="463773" y="2055128"/>
            <a:ext cx="16953563" cy="3139321"/>
          </a:xfrm>
          <a:prstGeom prst="rect">
            <a:avLst/>
          </a:prstGeom>
          <a:noFill/>
        </p:spPr>
        <p:txBody>
          <a:bodyPr wrap="square">
            <a:spAutoFit/>
          </a:bodyPr>
          <a:lstStyle/>
          <a:p>
            <a:pPr algn="just"/>
            <a:r>
              <a:rPr lang="en-US" sz="3300" b="1" dirty="0">
                <a:latin typeface="Consolas" panose="020B0609020204030204" pitchFamily="49" charset="0"/>
              </a:rPr>
              <a:t>Task:</a:t>
            </a:r>
          </a:p>
          <a:p>
            <a:pPr algn="just"/>
            <a:r>
              <a:rPr lang="en-US" sz="3300" dirty="0">
                <a:latin typeface="Consolas" panose="020B0609020204030204" pitchFamily="49" charset="0"/>
              </a:rPr>
              <a:t>Create a stopwatch application that:</a:t>
            </a:r>
          </a:p>
          <a:p>
            <a:pPr marL="1371600" lvl="2" indent="-457200" algn="just">
              <a:buFont typeface="Wingdings" panose="05000000000000000000" pitchFamily="2" charset="2"/>
              <a:buChar char="ü"/>
            </a:pPr>
            <a:r>
              <a:rPr lang="en-US" sz="3300" dirty="0">
                <a:latin typeface="Consolas" panose="020B0609020204030204" pitchFamily="49" charset="0"/>
              </a:rPr>
              <a:t>Presses enter to start</a:t>
            </a:r>
          </a:p>
          <a:p>
            <a:pPr marL="1371600" lvl="2" indent="-457200" algn="just">
              <a:buFont typeface="Wingdings" panose="05000000000000000000" pitchFamily="2" charset="2"/>
              <a:buChar char="ü"/>
            </a:pPr>
            <a:r>
              <a:rPr lang="en-US" sz="3300" dirty="0">
                <a:latin typeface="Consolas" panose="020B0609020204030204" pitchFamily="49" charset="0"/>
              </a:rPr>
              <a:t>Pause execution randomly between 1-5 seconds</a:t>
            </a:r>
          </a:p>
          <a:p>
            <a:pPr marL="1371600" lvl="2" indent="-457200" algn="just">
              <a:buFont typeface="Wingdings" panose="05000000000000000000" pitchFamily="2" charset="2"/>
              <a:buChar char="ü"/>
            </a:pPr>
            <a:r>
              <a:rPr lang="en-US" sz="3300" dirty="0">
                <a:latin typeface="Consolas" panose="020B0609020204030204" pitchFamily="49" charset="0"/>
              </a:rPr>
              <a:t>Send a go signal to press enter</a:t>
            </a:r>
          </a:p>
          <a:p>
            <a:pPr marL="1371600" lvl="2" indent="-457200" algn="just">
              <a:buFont typeface="Wingdings" panose="05000000000000000000" pitchFamily="2" charset="2"/>
              <a:buChar char="ü"/>
            </a:pPr>
            <a:r>
              <a:rPr lang="en-US" sz="3300" dirty="0">
                <a:latin typeface="Consolas" panose="020B0609020204030204" pitchFamily="49" charset="0"/>
              </a:rPr>
              <a:t>Display the reaction time when user pressed enter.</a:t>
            </a:r>
          </a:p>
        </p:txBody>
      </p:sp>
    </p:spTree>
    <p:extLst>
      <p:ext uri="{BB962C8B-B14F-4D97-AF65-F5344CB8AC3E}">
        <p14:creationId xmlns:p14="http://schemas.microsoft.com/office/powerpoint/2010/main" val="983137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4B8B-4A3E-B6FB-2A9E-E7CAA8C91FC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BB546E-FEE7-BBE8-263A-D71BB03DA831}"/>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B94660D-1CC7-456B-7A22-6CFC6ABBBFA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FEFE22D-2F33-3216-CC46-6681A264FAB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5D9F4B86-5A3C-C180-9AB3-1F784669AF2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D634028F-D740-EA25-987F-A50BBC018A19}"/>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8A0775A-BD2F-93B7-A7BE-D28E609D2D62}"/>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5529E63C-CB30-4359-3A5B-7B7A8BF644F8}"/>
              </a:ext>
            </a:extLst>
          </p:cNvPr>
          <p:cNvSpPr txBox="1"/>
          <p:nvPr/>
        </p:nvSpPr>
        <p:spPr>
          <a:xfrm>
            <a:off x="381001" y="2391508"/>
            <a:ext cx="17526000" cy="5632311"/>
          </a:xfrm>
          <a:prstGeom prst="rect">
            <a:avLst/>
          </a:prstGeom>
          <a:noFill/>
        </p:spPr>
        <p:txBody>
          <a:bodyPr wrap="square">
            <a:spAutoFit/>
          </a:bodyPr>
          <a:lstStyle/>
          <a:p>
            <a:pPr algn="just"/>
            <a:r>
              <a:rPr lang="en-US" sz="3600" dirty="0">
                <a:latin typeface="Consolas" panose="020B0609020204030204" pitchFamily="49" charset="0"/>
              </a:rPr>
              <a:t>A </a:t>
            </a:r>
            <a:r>
              <a:rPr lang="en-US" sz="3600" b="1" dirty="0">
                <a:latin typeface="Consolas" panose="020B0609020204030204" pitchFamily="49" charset="0"/>
              </a:rPr>
              <a:t>user-defined module</a:t>
            </a:r>
            <a:r>
              <a:rPr lang="en-US" sz="3600" dirty="0">
                <a:latin typeface="Consolas" panose="020B0609020204030204" pitchFamily="49" charset="0"/>
              </a:rPr>
              <a:t> is simply a </a:t>
            </a:r>
            <a:r>
              <a:rPr lang="en-US" sz="3600" b="1" dirty="0">
                <a:latin typeface="Consolas" panose="020B0609020204030204" pitchFamily="49" charset="0"/>
              </a:rPr>
              <a:t>Python file (.</a:t>
            </a:r>
            <a:r>
              <a:rPr lang="en-US" sz="3600" b="1" dirty="0" err="1">
                <a:latin typeface="Consolas" panose="020B0609020204030204" pitchFamily="49" charset="0"/>
              </a:rPr>
              <a:t>py</a:t>
            </a:r>
            <a:r>
              <a:rPr lang="en-US" sz="3600" b="1" dirty="0">
                <a:latin typeface="Consolas" panose="020B0609020204030204" pitchFamily="49" charset="0"/>
              </a:rPr>
              <a:t>)</a:t>
            </a:r>
            <a:r>
              <a:rPr lang="en-US" sz="3600" dirty="0">
                <a:latin typeface="Consolas" panose="020B0609020204030204" pitchFamily="49" charset="0"/>
              </a:rPr>
              <a:t> you create so you can </a:t>
            </a:r>
            <a:r>
              <a:rPr lang="en-US" sz="3600" b="1" dirty="0">
                <a:latin typeface="Consolas" panose="020B0609020204030204" pitchFamily="49" charset="0"/>
              </a:rPr>
              <a:t>organize your code</a:t>
            </a:r>
            <a:r>
              <a:rPr lang="en-US" sz="3600" dirty="0">
                <a:latin typeface="Consolas" panose="020B0609020204030204" pitchFamily="49" charset="0"/>
              </a:rPr>
              <a:t>, </a:t>
            </a:r>
            <a:r>
              <a:rPr lang="en-US" sz="3600" b="1" dirty="0">
                <a:latin typeface="Consolas" panose="020B0609020204030204" pitchFamily="49" charset="0"/>
              </a:rPr>
              <a:t>reuse functions</a:t>
            </a:r>
            <a:r>
              <a:rPr lang="en-US" sz="3600" dirty="0">
                <a:latin typeface="Consolas" panose="020B0609020204030204" pitchFamily="49" charset="0"/>
              </a:rPr>
              <a:t>, or </a:t>
            </a:r>
            <a:r>
              <a:rPr lang="en-US" sz="3600" b="1" dirty="0">
                <a:latin typeface="Consolas" panose="020B0609020204030204" pitchFamily="49" charset="0"/>
              </a:rPr>
              <a:t>separate logic into different files</a:t>
            </a:r>
            <a:r>
              <a:rPr lang="en-US" sz="3600" dirty="0">
                <a:latin typeface="Consolas" panose="020B0609020204030204" pitchFamily="49" charset="0"/>
              </a:rPr>
              <a:t>.</a:t>
            </a:r>
          </a:p>
          <a:p>
            <a:pPr algn="just"/>
            <a:endParaRPr lang="en-US" sz="3600" dirty="0">
              <a:latin typeface="Consolas" panose="020B0609020204030204" pitchFamily="49" charset="0"/>
            </a:endParaRPr>
          </a:p>
          <a:p>
            <a:pPr algn="just"/>
            <a:r>
              <a:rPr lang="en-US" sz="3600" dirty="0">
                <a:latin typeface="Consolas" panose="020B0609020204030204" pitchFamily="49" charset="0"/>
              </a:rPr>
              <a:t>You use them when you want to:</a:t>
            </a:r>
          </a:p>
          <a:p>
            <a:pPr marL="1485900" lvl="2" indent="-571500" algn="just">
              <a:buFont typeface="Wingdings" panose="05000000000000000000" pitchFamily="2" charset="2"/>
              <a:buChar char="ü"/>
            </a:pPr>
            <a:r>
              <a:rPr lang="en-US" sz="3600" dirty="0">
                <a:latin typeface="Consolas" panose="020B0609020204030204" pitchFamily="49" charset="0"/>
              </a:rPr>
              <a:t>Organize large projects</a:t>
            </a:r>
          </a:p>
          <a:p>
            <a:pPr marL="1485900" lvl="2" indent="-571500" algn="just">
              <a:buFont typeface="Wingdings" panose="05000000000000000000" pitchFamily="2" charset="2"/>
              <a:buChar char="ü"/>
            </a:pPr>
            <a:r>
              <a:rPr lang="en-US" sz="3600" dirty="0">
                <a:latin typeface="Consolas" panose="020B0609020204030204" pitchFamily="49" charset="0"/>
              </a:rPr>
              <a:t>Avoid repeating code</a:t>
            </a:r>
          </a:p>
          <a:p>
            <a:pPr marL="1485900" lvl="2" indent="-571500" algn="just">
              <a:buFont typeface="Wingdings" panose="05000000000000000000" pitchFamily="2" charset="2"/>
              <a:buChar char="ü"/>
            </a:pPr>
            <a:r>
              <a:rPr lang="en-US" sz="3600" dirty="0">
                <a:latin typeface="Consolas" panose="020B0609020204030204" pitchFamily="49" charset="0"/>
              </a:rPr>
              <a:t>Separate logic into meaningful parts</a:t>
            </a:r>
          </a:p>
          <a:p>
            <a:pPr marL="1485900" lvl="2" indent="-571500" algn="just">
              <a:buFont typeface="Wingdings" panose="05000000000000000000" pitchFamily="2" charset="2"/>
              <a:buChar char="ü"/>
            </a:pPr>
            <a:r>
              <a:rPr lang="en-US" sz="3600" dirty="0">
                <a:latin typeface="Consolas" panose="020B0609020204030204" pitchFamily="49" charset="0"/>
              </a:rPr>
              <a:t>Reuse functions across multiple files</a:t>
            </a:r>
          </a:p>
          <a:p>
            <a:pPr marL="1485900" lvl="2" indent="-571500" algn="just">
              <a:buFont typeface="Wingdings" panose="05000000000000000000" pitchFamily="2" charset="2"/>
              <a:buChar char="ü"/>
            </a:pPr>
            <a:r>
              <a:rPr lang="en-US" sz="3600" dirty="0">
                <a:latin typeface="Consolas" panose="020B0609020204030204" pitchFamily="49" charset="0"/>
              </a:rPr>
              <a:t>Make code easier to maintain</a:t>
            </a:r>
          </a:p>
        </p:txBody>
      </p:sp>
      <p:sp>
        <p:nvSpPr>
          <p:cNvPr id="6" name="TextBox 28">
            <a:extLst>
              <a:ext uri="{FF2B5EF4-FFF2-40B4-BE49-F238E27FC236}">
                <a16:creationId xmlns:a16="http://schemas.microsoft.com/office/drawing/2014/main" id="{DBBD768E-0430-9CD4-25E6-6A8AE0433D7A}"/>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User-defined modules</a:t>
            </a:r>
          </a:p>
        </p:txBody>
      </p:sp>
    </p:spTree>
    <p:extLst>
      <p:ext uri="{BB962C8B-B14F-4D97-AF65-F5344CB8AC3E}">
        <p14:creationId xmlns:p14="http://schemas.microsoft.com/office/powerpoint/2010/main" val="2433596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C4300-2FAB-5872-7E34-46500C52EC8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1C803D7-44DC-0A4B-EFB0-9C81D4819D82}"/>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313409E3-FF2E-178E-E2A8-35BA4DC0808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D66E6853-EE21-A3E3-45D5-DB41726C32E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096063E-9EB4-75DF-3651-2A0AA6B74DE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267E50B-4537-DFAC-1146-D2F27763598B}"/>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664124C-4D3A-9E04-C496-7692BFDB025A}"/>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799814D5-0A0B-F1D5-8D1A-C0A0ACFDD724}"/>
              </a:ext>
            </a:extLst>
          </p:cNvPr>
          <p:cNvSpPr txBox="1"/>
          <p:nvPr/>
        </p:nvSpPr>
        <p:spPr>
          <a:xfrm>
            <a:off x="381001" y="2391508"/>
            <a:ext cx="17526000" cy="7848302"/>
          </a:xfrm>
          <a:prstGeom prst="rect">
            <a:avLst/>
          </a:prstGeom>
          <a:noFill/>
        </p:spPr>
        <p:txBody>
          <a:bodyPr wrap="square">
            <a:spAutoFit/>
          </a:bodyPr>
          <a:lstStyle/>
          <a:p>
            <a:pPr algn="just"/>
            <a:r>
              <a:rPr lang="en-US" sz="3500" b="1" dirty="0">
                <a:latin typeface="Consolas" panose="020B0609020204030204" pitchFamily="49" charset="0"/>
              </a:rPr>
              <a:t>Example:</a:t>
            </a:r>
          </a:p>
          <a:p>
            <a:pPr algn="just"/>
            <a:r>
              <a:rPr lang="en-US" sz="3500" dirty="0">
                <a:latin typeface="Consolas" panose="020B0609020204030204" pitchFamily="49" charset="0"/>
              </a:rPr>
              <a:t>Create a file named mymath.py:</a:t>
            </a:r>
          </a:p>
          <a:p>
            <a:pPr algn="just"/>
            <a:endParaRPr lang="en-US" sz="3500" dirty="0">
              <a:latin typeface="Consolas" panose="020B0609020204030204" pitchFamily="49" charset="0"/>
            </a:endParaRPr>
          </a:p>
          <a:p>
            <a:pPr algn="just"/>
            <a:r>
              <a:rPr lang="en-US" sz="3500" dirty="0">
                <a:latin typeface="Consolas" panose="020B0609020204030204" pitchFamily="49" charset="0"/>
              </a:rPr>
              <a:t>def add(a, b):</a:t>
            </a:r>
          </a:p>
          <a:p>
            <a:pPr algn="just"/>
            <a:r>
              <a:rPr lang="en-US" sz="3500" dirty="0">
                <a:latin typeface="Consolas" panose="020B0609020204030204" pitchFamily="49" charset="0"/>
              </a:rPr>
              <a:t>    return a + b</a:t>
            </a:r>
          </a:p>
          <a:p>
            <a:pPr algn="just"/>
            <a:endParaRPr lang="en-US" sz="3500" dirty="0">
              <a:latin typeface="Consolas" panose="020B0609020204030204" pitchFamily="49" charset="0"/>
            </a:endParaRPr>
          </a:p>
          <a:p>
            <a:pPr algn="just"/>
            <a:r>
              <a:rPr lang="en-US" sz="3500" dirty="0">
                <a:latin typeface="Consolas" panose="020B0609020204030204" pitchFamily="49" charset="0"/>
              </a:rPr>
              <a:t>def subtract(a, b):</a:t>
            </a:r>
          </a:p>
          <a:p>
            <a:pPr algn="just"/>
            <a:r>
              <a:rPr lang="en-US" sz="3500" dirty="0">
                <a:latin typeface="Consolas" panose="020B0609020204030204" pitchFamily="49" charset="0"/>
              </a:rPr>
              <a:t>    return a - b</a:t>
            </a:r>
          </a:p>
          <a:p>
            <a:pPr algn="just"/>
            <a:endParaRPr lang="en-US" sz="3500" dirty="0">
              <a:latin typeface="Consolas" panose="020B0609020204030204" pitchFamily="49" charset="0"/>
            </a:endParaRPr>
          </a:p>
          <a:p>
            <a:pPr algn="just"/>
            <a:r>
              <a:rPr lang="en-US" sz="3500" dirty="0">
                <a:latin typeface="Consolas" panose="020B0609020204030204" pitchFamily="49" charset="0"/>
              </a:rPr>
              <a:t>def multiply(a, b):</a:t>
            </a:r>
          </a:p>
          <a:p>
            <a:pPr algn="just"/>
            <a:r>
              <a:rPr lang="en-US" sz="3500" dirty="0">
                <a:latin typeface="Consolas" panose="020B0609020204030204" pitchFamily="49" charset="0"/>
              </a:rPr>
              <a:t>    return a * b</a:t>
            </a:r>
          </a:p>
          <a:p>
            <a:pPr algn="just"/>
            <a:endParaRPr lang="en-US" sz="3500" dirty="0">
              <a:latin typeface="Consolas" panose="020B0609020204030204" pitchFamily="49" charset="0"/>
            </a:endParaRPr>
          </a:p>
          <a:p>
            <a:pPr algn="just"/>
            <a:r>
              <a:rPr lang="en-US" sz="3500" dirty="0">
                <a:latin typeface="Consolas" panose="020B0609020204030204" pitchFamily="49" charset="0"/>
              </a:rPr>
              <a:t>def greet(name):</a:t>
            </a:r>
          </a:p>
          <a:p>
            <a:pPr algn="just"/>
            <a:r>
              <a:rPr lang="en-US" sz="3500" dirty="0">
                <a:latin typeface="Consolas" panose="020B0609020204030204" pitchFamily="49" charset="0"/>
              </a:rPr>
              <a:t>    return </a:t>
            </a:r>
            <a:r>
              <a:rPr lang="en-US" sz="3500" dirty="0" err="1">
                <a:latin typeface="Consolas" panose="020B0609020204030204" pitchFamily="49" charset="0"/>
              </a:rPr>
              <a:t>f"Hello</a:t>
            </a:r>
            <a:r>
              <a:rPr lang="en-US" sz="3500" dirty="0">
                <a:latin typeface="Consolas" panose="020B0609020204030204" pitchFamily="49" charset="0"/>
              </a:rPr>
              <a:t>, {name}! Welcome to my custom module."</a:t>
            </a:r>
          </a:p>
        </p:txBody>
      </p:sp>
      <p:sp>
        <p:nvSpPr>
          <p:cNvPr id="6" name="TextBox 28">
            <a:extLst>
              <a:ext uri="{FF2B5EF4-FFF2-40B4-BE49-F238E27FC236}">
                <a16:creationId xmlns:a16="http://schemas.microsoft.com/office/drawing/2014/main" id="{A54FDE57-0E7E-796A-AEDD-E411A6ED6343}"/>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User-defined modules</a:t>
            </a:r>
          </a:p>
        </p:txBody>
      </p:sp>
    </p:spTree>
    <p:extLst>
      <p:ext uri="{BB962C8B-B14F-4D97-AF65-F5344CB8AC3E}">
        <p14:creationId xmlns:p14="http://schemas.microsoft.com/office/powerpoint/2010/main" val="1277933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604D1-B8D9-A036-988A-165E5ADA609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183427-56F3-B7F4-AEDA-D9D817A0E0BC}"/>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15524088-7E91-689A-38D5-C51B44D34A3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1CD10B8E-B812-C419-C848-3F690614373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13788D26-D676-8C94-F53D-0FE22321BD3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5D0BE940-C956-9A37-E957-5B5C4E7EAB92}"/>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EA661A83-69DE-AE98-6CEA-8FACD3466DC1}"/>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88750DA7-34F6-44B5-607C-C363CEFB3080}"/>
              </a:ext>
            </a:extLst>
          </p:cNvPr>
          <p:cNvSpPr txBox="1"/>
          <p:nvPr/>
        </p:nvSpPr>
        <p:spPr>
          <a:xfrm>
            <a:off x="381001" y="2391508"/>
            <a:ext cx="17526000" cy="4401205"/>
          </a:xfrm>
          <a:prstGeom prst="rect">
            <a:avLst/>
          </a:prstGeom>
          <a:noFill/>
        </p:spPr>
        <p:txBody>
          <a:bodyPr wrap="square">
            <a:spAutoFit/>
          </a:bodyPr>
          <a:lstStyle/>
          <a:p>
            <a:pPr algn="just"/>
            <a:r>
              <a:rPr lang="en-US" sz="3500" dirty="0">
                <a:latin typeface="Consolas" panose="020B0609020204030204" pitchFamily="49" charset="0"/>
              </a:rPr>
              <a:t>Create another file, main.py:</a:t>
            </a:r>
          </a:p>
          <a:p>
            <a:pPr algn="just"/>
            <a:endParaRPr lang="en-US" sz="3500" dirty="0">
              <a:latin typeface="Consolas" panose="020B0609020204030204" pitchFamily="49" charset="0"/>
            </a:endParaRPr>
          </a:p>
          <a:p>
            <a:pPr algn="just"/>
            <a:r>
              <a:rPr lang="en-US" sz="3500" dirty="0">
                <a:latin typeface="Consolas" panose="020B0609020204030204" pitchFamily="49" charset="0"/>
              </a:rPr>
              <a:t>import </a:t>
            </a:r>
            <a:r>
              <a:rPr lang="en-US" sz="3500" dirty="0" err="1">
                <a:latin typeface="Consolas" panose="020B0609020204030204" pitchFamily="49" charset="0"/>
              </a:rPr>
              <a:t>mymath</a:t>
            </a:r>
            <a:endParaRPr lang="en-US" sz="3500" dirty="0">
              <a:latin typeface="Consolas" panose="020B0609020204030204" pitchFamily="49" charset="0"/>
            </a:endParaRPr>
          </a:p>
          <a:p>
            <a:pPr algn="just"/>
            <a:endParaRPr lang="en-US" sz="3500" dirty="0">
              <a:latin typeface="Consolas" panose="020B0609020204030204" pitchFamily="49" charset="0"/>
            </a:endParaRPr>
          </a:p>
          <a:p>
            <a:pPr algn="just"/>
            <a:r>
              <a:rPr lang="en-US" sz="3500" dirty="0">
                <a:latin typeface="Consolas" panose="020B0609020204030204" pitchFamily="49" charset="0"/>
              </a:rPr>
              <a:t>print(</a:t>
            </a:r>
            <a:r>
              <a:rPr lang="en-US" sz="3500" dirty="0" err="1">
                <a:latin typeface="Consolas" panose="020B0609020204030204" pitchFamily="49" charset="0"/>
              </a:rPr>
              <a:t>mymath.add</a:t>
            </a:r>
            <a:r>
              <a:rPr lang="en-US" sz="3500" dirty="0">
                <a:latin typeface="Consolas" panose="020B0609020204030204" pitchFamily="49" charset="0"/>
              </a:rPr>
              <a:t>(10, 5))</a:t>
            </a:r>
          </a:p>
          <a:p>
            <a:pPr algn="just"/>
            <a:r>
              <a:rPr lang="en-US" sz="3500" dirty="0">
                <a:latin typeface="Consolas" panose="020B0609020204030204" pitchFamily="49" charset="0"/>
              </a:rPr>
              <a:t>print(</a:t>
            </a:r>
            <a:r>
              <a:rPr lang="en-US" sz="3500" dirty="0" err="1">
                <a:latin typeface="Consolas" panose="020B0609020204030204" pitchFamily="49" charset="0"/>
              </a:rPr>
              <a:t>mymath.subtract</a:t>
            </a:r>
            <a:r>
              <a:rPr lang="en-US" sz="3500" dirty="0">
                <a:latin typeface="Consolas" panose="020B0609020204030204" pitchFamily="49" charset="0"/>
              </a:rPr>
              <a:t>(20, 7))</a:t>
            </a:r>
          </a:p>
          <a:p>
            <a:pPr algn="just"/>
            <a:r>
              <a:rPr lang="en-US" sz="3500" dirty="0">
                <a:latin typeface="Consolas" panose="020B0609020204030204" pitchFamily="49" charset="0"/>
              </a:rPr>
              <a:t>print(</a:t>
            </a:r>
            <a:r>
              <a:rPr lang="en-US" sz="3500" dirty="0" err="1">
                <a:latin typeface="Consolas" panose="020B0609020204030204" pitchFamily="49" charset="0"/>
              </a:rPr>
              <a:t>mymath.multiply</a:t>
            </a:r>
            <a:r>
              <a:rPr lang="en-US" sz="3500" dirty="0">
                <a:latin typeface="Consolas" panose="020B0609020204030204" pitchFamily="49" charset="0"/>
              </a:rPr>
              <a:t>(4, 3))</a:t>
            </a:r>
          </a:p>
          <a:p>
            <a:pPr algn="just"/>
            <a:r>
              <a:rPr lang="en-US" sz="3500" dirty="0">
                <a:latin typeface="Consolas" panose="020B0609020204030204" pitchFamily="49" charset="0"/>
              </a:rPr>
              <a:t>print(</a:t>
            </a:r>
            <a:r>
              <a:rPr lang="en-US" sz="3500" dirty="0" err="1">
                <a:latin typeface="Consolas" panose="020B0609020204030204" pitchFamily="49" charset="0"/>
              </a:rPr>
              <a:t>mymath.greet</a:t>
            </a:r>
            <a:r>
              <a:rPr lang="en-US" sz="3500" dirty="0">
                <a:latin typeface="Consolas" panose="020B0609020204030204" pitchFamily="49" charset="0"/>
              </a:rPr>
              <a:t>("Denver"))</a:t>
            </a:r>
          </a:p>
        </p:txBody>
      </p:sp>
      <p:sp>
        <p:nvSpPr>
          <p:cNvPr id="6" name="TextBox 28">
            <a:extLst>
              <a:ext uri="{FF2B5EF4-FFF2-40B4-BE49-F238E27FC236}">
                <a16:creationId xmlns:a16="http://schemas.microsoft.com/office/drawing/2014/main" id="{9A044EC8-05F6-1699-5649-C336667FED61}"/>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User-defined modules</a:t>
            </a:r>
          </a:p>
        </p:txBody>
      </p:sp>
    </p:spTree>
    <p:extLst>
      <p:ext uri="{BB962C8B-B14F-4D97-AF65-F5344CB8AC3E}">
        <p14:creationId xmlns:p14="http://schemas.microsoft.com/office/powerpoint/2010/main" val="183671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53778-F8EC-9643-FB21-BBED40080CD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AD939ED-2F11-05E1-0F7D-F72E015C3E1A}"/>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DE6BD7BF-5AC8-CD51-44A1-964D8BE1BDE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98095E41-39F1-2EB5-8687-CB61F7EF754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61463D5D-0FDE-3C9D-F9E1-E5EC6575005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0B590F2D-D487-7BEC-12D6-57825787347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344A7374-5F23-32A7-42E1-C47ED0C91E9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B56E3F21-9268-56A0-F3FE-5553A6BD874D}"/>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 </a:t>
            </a:r>
          </a:p>
        </p:txBody>
      </p:sp>
      <p:sp>
        <p:nvSpPr>
          <p:cNvPr id="10" name="AutoShape 8" descr="Grammarly Logo PNG Vector - BrandLogo">
            <a:extLst>
              <a:ext uri="{FF2B5EF4-FFF2-40B4-BE49-F238E27FC236}">
                <a16:creationId xmlns:a16="http://schemas.microsoft.com/office/drawing/2014/main" id="{657E0FF1-6E86-84BF-1C6A-E78D96C5CEC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FE2AF0D0-1C10-1CA9-099F-752C92609D77}"/>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0AFDB6E6-4A7A-8242-056D-49DF73ADC3F2}"/>
              </a:ext>
            </a:extLst>
          </p:cNvPr>
          <p:cNvSpPr txBox="1"/>
          <p:nvPr/>
        </p:nvSpPr>
        <p:spPr>
          <a:xfrm>
            <a:off x="463773" y="2055128"/>
            <a:ext cx="16953563" cy="6186309"/>
          </a:xfrm>
          <a:prstGeom prst="rect">
            <a:avLst/>
          </a:prstGeom>
          <a:noFill/>
        </p:spPr>
        <p:txBody>
          <a:bodyPr wrap="square">
            <a:spAutoFit/>
          </a:bodyPr>
          <a:lstStyle/>
          <a:p>
            <a:pPr marL="514350" indent="-514350" algn="just">
              <a:buAutoNum type="arabicPeriod"/>
            </a:pPr>
            <a:r>
              <a:rPr lang="en-US" sz="3300" b="1" dirty="0">
                <a:latin typeface="Consolas" panose="020B0609020204030204" pitchFamily="49" charset="0"/>
              </a:rPr>
              <a:t>Create a file named string_utils.py</a:t>
            </a:r>
          </a:p>
          <a:p>
            <a:pPr algn="just"/>
            <a:r>
              <a:rPr lang="en-US" sz="3300" dirty="0">
                <a:latin typeface="Consolas" panose="020B0609020204030204" pitchFamily="49" charset="0"/>
              </a:rPr>
              <a:t>It should contain:</a:t>
            </a:r>
          </a:p>
          <a:p>
            <a:pPr marL="1371600" lvl="2" indent="-457200" algn="just">
              <a:buFont typeface="Wingdings" panose="05000000000000000000" pitchFamily="2" charset="2"/>
              <a:buChar char="ü"/>
            </a:pPr>
            <a:r>
              <a:rPr lang="en-US" sz="3300" dirty="0" err="1">
                <a:latin typeface="Consolas" panose="020B0609020204030204" pitchFamily="49" charset="0"/>
              </a:rPr>
              <a:t>reverse_string</a:t>
            </a:r>
            <a:r>
              <a:rPr lang="en-US" sz="3300" dirty="0">
                <a:latin typeface="Consolas" panose="020B0609020204030204" pitchFamily="49" charset="0"/>
              </a:rPr>
              <a:t>(text)</a:t>
            </a:r>
          </a:p>
          <a:p>
            <a:pPr marL="1371600" lvl="2" indent="-457200" algn="just">
              <a:buFont typeface="Wingdings" panose="05000000000000000000" pitchFamily="2" charset="2"/>
              <a:buChar char="ü"/>
            </a:pPr>
            <a:r>
              <a:rPr lang="en-US" sz="3300" dirty="0" err="1">
                <a:latin typeface="Consolas" panose="020B0609020204030204" pitchFamily="49" charset="0"/>
              </a:rPr>
              <a:t>count_vowels</a:t>
            </a:r>
            <a:r>
              <a:rPr lang="en-US" sz="3300" dirty="0">
                <a:latin typeface="Consolas" panose="020B0609020204030204" pitchFamily="49" charset="0"/>
              </a:rPr>
              <a:t>(text)</a:t>
            </a:r>
          </a:p>
          <a:p>
            <a:pPr marL="1371600" lvl="2" indent="-457200" algn="just">
              <a:buFont typeface="Wingdings" panose="05000000000000000000" pitchFamily="2" charset="2"/>
              <a:buChar char="ü"/>
            </a:pPr>
            <a:r>
              <a:rPr lang="en-US" sz="3300" dirty="0" err="1">
                <a:latin typeface="Consolas" panose="020B0609020204030204" pitchFamily="49" charset="0"/>
              </a:rPr>
              <a:t>is_palindrome</a:t>
            </a:r>
            <a:r>
              <a:rPr lang="en-US" sz="3300" dirty="0">
                <a:latin typeface="Consolas" panose="020B0609020204030204" pitchFamily="49" charset="0"/>
              </a:rPr>
              <a:t>(text)</a:t>
            </a:r>
          </a:p>
          <a:p>
            <a:pPr marL="1371600" lvl="2" indent="-457200" algn="just">
              <a:buFont typeface="Wingdings" panose="05000000000000000000" pitchFamily="2" charset="2"/>
              <a:buChar char="ü"/>
            </a:pPr>
            <a:endParaRPr lang="en-US" sz="3300" dirty="0">
              <a:latin typeface="Consolas" panose="020B0609020204030204" pitchFamily="49" charset="0"/>
            </a:endParaRPr>
          </a:p>
          <a:p>
            <a:pPr algn="just"/>
            <a:r>
              <a:rPr lang="en-US" sz="3300" b="1" dirty="0">
                <a:latin typeface="Consolas" panose="020B0609020204030204" pitchFamily="49" charset="0"/>
              </a:rPr>
              <a:t>2. Create another file named main.py</a:t>
            </a:r>
          </a:p>
          <a:p>
            <a:pPr algn="just"/>
            <a:r>
              <a:rPr lang="en-US" sz="3300" dirty="0">
                <a:latin typeface="Consolas" panose="020B0609020204030204" pitchFamily="49" charset="0"/>
              </a:rPr>
              <a:t>Import </a:t>
            </a:r>
            <a:r>
              <a:rPr lang="en-US" sz="3300" dirty="0" err="1">
                <a:latin typeface="Consolas" panose="020B0609020204030204" pitchFamily="49" charset="0"/>
              </a:rPr>
              <a:t>string_utils</a:t>
            </a:r>
            <a:r>
              <a:rPr lang="en-US" sz="3300" dirty="0">
                <a:latin typeface="Consolas" panose="020B0609020204030204" pitchFamily="49" charset="0"/>
              </a:rPr>
              <a:t> and do the following:</a:t>
            </a:r>
          </a:p>
          <a:p>
            <a:pPr marL="1371600" lvl="2" indent="-457200" algn="just">
              <a:buFont typeface="Wingdings" panose="05000000000000000000" pitchFamily="2" charset="2"/>
              <a:buChar char="ü"/>
            </a:pPr>
            <a:r>
              <a:rPr lang="en-US" sz="3300" dirty="0">
                <a:latin typeface="Consolas" panose="020B0609020204030204" pitchFamily="49" charset="0"/>
              </a:rPr>
              <a:t>Ask user for a word</a:t>
            </a:r>
          </a:p>
          <a:p>
            <a:pPr marL="1371600" lvl="2" indent="-457200" algn="just">
              <a:buFont typeface="Wingdings" panose="05000000000000000000" pitchFamily="2" charset="2"/>
              <a:buChar char="ü"/>
            </a:pPr>
            <a:r>
              <a:rPr lang="en-US" sz="3300" dirty="0">
                <a:latin typeface="Consolas" panose="020B0609020204030204" pitchFamily="49" charset="0"/>
              </a:rPr>
              <a:t>Display the reversed word</a:t>
            </a:r>
          </a:p>
          <a:p>
            <a:pPr marL="1371600" lvl="2" indent="-457200" algn="just">
              <a:buFont typeface="Wingdings" panose="05000000000000000000" pitchFamily="2" charset="2"/>
              <a:buChar char="ü"/>
            </a:pPr>
            <a:r>
              <a:rPr lang="en-US" sz="3300" dirty="0">
                <a:latin typeface="Consolas" panose="020B0609020204030204" pitchFamily="49" charset="0"/>
              </a:rPr>
              <a:t>Display number of vowels</a:t>
            </a:r>
          </a:p>
          <a:p>
            <a:pPr marL="1371600" lvl="2" indent="-457200" algn="just">
              <a:buFont typeface="Wingdings" panose="05000000000000000000" pitchFamily="2" charset="2"/>
              <a:buChar char="ü"/>
            </a:pPr>
            <a:r>
              <a:rPr lang="en-US" sz="3300" dirty="0">
                <a:latin typeface="Consolas" panose="020B0609020204030204" pitchFamily="49" charset="0"/>
              </a:rPr>
              <a:t>Display whether it is a palindrome</a:t>
            </a:r>
          </a:p>
        </p:txBody>
      </p:sp>
    </p:spTree>
    <p:extLst>
      <p:ext uri="{BB962C8B-B14F-4D97-AF65-F5344CB8AC3E}">
        <p14:creationId xmlns:p14="http://schemas.microsoft.com/office/powerpoint/2010/main" val="21679448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0E8E5-E260-A62F-5BE8-70021F9D3105}"/>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6535EFC0-E401-60D6-8510-236B230F645A}"/>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0" y="3093590"/>
            <a:ext cx="18287999" cy="4408536"/>
          </a:xfrm>
          <a:prstGeom prst="rect">
            <a:avLst/>
          </a:prstGeom>
        </p:spPr>
      </p:pic>
      <p:sp>
        <p:nvSpPr>
          <p:cNvPr id="20" name="Freeform 20">
            <a:extLst>
              <a:ext uri="{FF2B5EF4-FFF2-40B4-BE49-F238E27FC236}">
                <a16:creationId xmlns:a16="http://schemas.microsoft.com/office/drawing/2014/main" id="{FA15507F-2BD1-7400-65EE-8951609829FE}"/>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787AE72B-7D43-7E40-53EC-4966B075318D}"/>
              </a:ext>
            </a:extLst>
          </p:cNvPr>
          <p:cNvSpPr txBox="1"/>
          <p:nvPr/>
        </p:nvSpPr>
        <p:spPr>
          <a:xfrm>
            <a:off x="1138730" y="4391178"/>
            <a:ext cx="15998250" cy="1504643"/>
          </a:xfrm>
          <a:prstGeom prst="rect">
            <a:avLst/>
          </a:prstGeom>
        </p:spPr>
        <p:txBody>
          <a:bodyPr wrap="square" lIns="0" tIns="0" rIns="0" bIns="0" rtlCol="0" anchor="t">
            <a:spAutoFit/>
          </a:bodyPr>
          <a:lstStyle/>
          <a:p>
            <a:pPr algn="l">
              <a:lnSpc>
                <a:spcPts val="12857"/>
              </a:lnSpc>
            </a:pPr>
            <a:r>
              <a:rPr lang="en-US" sz="8000" spc="-360" dirty="0">
                <a:ln>
                  <a:solidFill>
                    <a:sysClr val="windowText" lastClr="000000"/>
                  </a:solidFill>
                </a:ln>
                <a:solidFill>
                  <a:schemeClr val="bg1"/>
                </a:solidFill>
                <a:latin typeface="Consolas" panose="020B0609020204030204" pitchFamily="49" charset="0"/>
              </a:rPr>
              <a:t>Lesson 5.2 Python Sets</a:t>
            </a:r>
          </a:p>
        </p:txBody>
      </p:sp>
      <p:grpSp>
        <p:nvGrpSpPr>
          <p:cNvPr id="34" name="Group 13">
            <a:extLst>
              <a:ext uri="{FF2B5EF4-FFF2-40B4-BE49-F238E27FC236}">
                <a16:creationId xmlns:a16="http://schemas.microsoft.com/office/drawing/2014/main" id="{9CCD4ABF-2BA3-D0A0-B978-ECA9A52B9862}"/>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C762A3BC-1047-CC45-E4C4-53EBD551E6CA}"/>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2EBE1AA1-6218-021D-B76F-131757C46F61}"/>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1BC64FFD-73CE-DC06-DF98-2B2CA73BB9BD}"/>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FB36798C-496E-3363-F928-4C0F8253D718}"/>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322F6D99-4D05-CE35-A785-15A70F4BD8F8}"/>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9E05CA30-9553-BED4-909F-712FBA7FDF56}"/>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4386AC77-D2CA-78CD-D159-EBF9B607C904}"/>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95F61AB8-B781-ADA9-3B28-9F893FDCD06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3918569A-8894-252F-2D26-1ACCD51CF76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48D2A8F2-190F-BA54-9924-618D31FD050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4047856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42C48-07B9-443A-48C3-91A22F5FE83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37E1E3D-3677-5A1A-CE35-21B9EDC6C913}"/>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A9DA580D-8FDB-3F3C-B9BE-57F946FB5AB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A003D671-A89C-173D-2DF9-379261A7DA0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09890399-781A-CCC1-8411-9AAC7077319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3CD231E2-58EC-8638-DB3B-5A979BF15629}"/>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CD7D27EC-167D-1E4A-06AC-6DC5B5C63486}"/>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554D0D45-8F9D-6DE0-A530-7AFA9A0C5007}"/>
              </a:ext>
            </a:extLst>
          </p:cNvPr>
          <p:cNvSpPr txBox="1"/>
          <p:nvPr/>
        </p:nvSpPr>
        <p:spPr>
          <a:xfrm>
            <a:off x="381001" y="2391508"/>
            <a:ext cx="17526000" cy="6186309"/>
          </a:xfrm>
          <a:prstGeom prst="rect">
            <a:avLst/>
          </a:prstGeom>
          <a:noFill/>
        </p:spPr>
        <p:txBody>
          <a:bodyPr wrap="square">
            <a:spAutoFit/>
          </a:bodyPr>
          <a:lstStyle/>
          <a:p>
            <a:pPr algn="just"/>
            <a:r>
              <a:rPr lang="en-US" sz="3600" dirty="0">
                <a:latin typeface="Consolas" panose="020B0609020204030204" pitchFamily="49" charset="0"/>
              </a:rPr>
              <a:t>A set in Python is a built-in data type for storing unique, unordered elements. </a:t>
            </a:r>
          </a:p>
          <a:p>
            <a:pPr algn="just"/>
            <a:endParaRPr lang="en-US" sz="3600" b="1" dirty="0">
              <a:latin typeface="Consolas" panose="020B0609020204030204" pitchFamily="49" charset="0"/>
            </a:endParaRPr>
          </a:p>
          <a:p>
            <a:pPr algn="just"/>
            <a:r>
              <a:rPr lang="en-US" sz="3600" b="1" dirty="0">
                <a:latin typeface="Consolas" panose="020B0609020204030204" pitchFamily="49" charset="0"/>
              </a:rPr>
              <a:t>Characteristics:</a:t>
            </a:r>
          </a:p>
          <a:p>
            <a:pPr marL="1028700" lvl="1" indent="-571500" algn="just">
              <a:lnSpc>
                <a:spcPct val="150000"/>
              </a:lnSpc>
              <a:buFont typeface="Wingdings" panose="05000000000000000000" pitchFamily="2" charset="2"/>
              <a:buChar char="ü"/>
            </a:pPr>
            <a:r>
              <a:rPr lang="en-US" sz="3600" dirty="0">
                <a:latin typeface="Consolas" panose="020B0609020204030204" pitchFamily="49" charset="0"/>
              </a:rPr>
              <a:t>Unordered -&gt; Set elements have no index; order is not guaranteed.</a:t>
            </a:r>
          </a:p>
          <a:p>
            <a:pPr marL="1028700" lvl="1" indent="-571500" algn="just">
              <a:lnSpc>
                <a:spcPct val="150000"/>
              </a:lnSpc>
              <a:buFont typeface="Wingdings" panose="05000000000000000000" pitchFamily="2" charset="2"/>
              <a:buChar char="ü"/>
            </a:pPr>
            <a:r>
              <a:rPr lang="en-US" sz="3600" dirty="0">
                <a:latin typeface="Consolas" panose="020B0609020204030204" pitchFamily="49" charset="0"/>
              </a:rPr>
              <a:t>Mutable -&gt; You can add or remove items.</a:t>
            </a:r>
          </a:p>
          <a:p>
            <a:pPr marL="1028700" lvl="1" indent="-571500" algn="just">
              <a:lnSpc>
                <a:spcPct val="150000"/>
              </a:lnSpc>
              <a:buFont typeface="Wingdings" panose="05000000000000000000" pitchFamily="2" charset="2"/>
              <a:buChar char="ü"/>
            </a:pPr>
            <a:r>
              <a:rPr lang="en-US" sz="3600" dirty="0">
                <a:latin typeface="Consolas" panose="020B0609020204030204" pitchFamily="49" charset="0"/>
              </a:rPr>
              <a:t>No duplicates -&gt; Automatically removes repeated elements.</a:t>
            </a:r>
          </a:p>
          <a:p>
            <a:pPr marL="1028700" lvl="1" indent="-571500" algn="just">
              <a:lnSpc>
                <a:spcPct val="150000"/>
              </a:lnSpc>
              <a:buFont typeface="Wingdings" panose="05000000000000000000" pitchFamily="2" charset="2"/>
              <a:buChar char="ü"/>
            </a:pPr>
            <a:r>
              <a:rPr lang="en-US" sz="3600" dirty="0" err="1">
                <a:latin typeface="Consolas" panose="020B0609020204030204" pitchFamily="49" charset="0"/>
              </a:rPr>
              <a:t>Iterable</a:t>
            </a:r>
            <a:r>
              <a:rPr lang="en-US" sz="3600" dirty="0">
                <a:latin typeface="Consolas" panose="020B0609020204030204" pitchFamily="49" charset="0"/>
              </a:rPr>
              <a:t> -&gt; You can loop through a set.</a:t>
            </a:r>
          </a:p>
          <a:p>
            <a:pPr algn="just"/>
            <a:endParaRPr lang="en-US" sz="3600" dirty="0">
              <a:latin typeface="Consolas" panose="020B0609020204030204" pitchFamily="49" charset="0"/>
            </a:endParaRPr>
          </a:p>
        </p:txBody>
      </p:sp>
      <p:sp>
        <p:nvSpPr>
          <p:cNvPr id="6" name="TextBox 28">
            <a:extLst>
              <a:ext uri="{FF2B5EF4-FFF2-40B4-BE49-F238E27FC236}">
                <a16:creationId xmlns:a16="http://schemas.microsoft.com/office/drawing/2014/main" id="{6D8FDB7C-7F35-FF1C-B5BB-72513BA4E711}"/>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Sets</a:t>
            </a:r>
          </a:p>
        </p:txBody>
      </p:sp>
    </p:spTree>
    <p:extLst>
      <p:ext uri="{BB962C8B-B14F-4D97-AF65-F5344CB8AC3E}">
        <p14:creationId xmlns:p14="http://schemas.microsoft.com/office/powerpoint/2010/main" val="12124449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6B62E-280A-E42A-48BB-AE05FD6FDCE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D8A4C22-9501-4F77-2C72-5429A7DBAE70}"/>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32782157-73E3-92FD-87C2-922792D72E9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0311E06-0C74-4953-C0A9-1167880CEA7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631E5ABB-9251-A54D-4710-D961E808841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864BEF5C-6FA6-A16E-590E-3C2E2454AD9D}"/>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45A28415-894A-8AC0-EF8F-618E50CCD4A6}"/>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D7A9A521-F94A-0F02-4075-D84DE89DBD11}"/>
              </a:ext>
            </a:extLst>
          </p:cNvPr>
          <p:cNvSpPr txBox="1"/>
          <p:nvPr/>
        </p:nvSpPr>
        <p:spPr>
          <a:xfrm>
            <a:off x="381001" y="2391508"/>
            <a:ext cx="17526000" cy="6986528"/>
          </a:xfrm>
          <a:prstGeom prst="rect">
            <a:avLst/>
          </a:prstGeom>
          <a:noFill/>
        </p:spPr>
        <p:txBody>
          <a:bodyPr wrap="square">
            <a:spAutoFit/>
          </a:bodyPr>
          <a:lstStyle/>
          <a:p>
            <a:pPr algn="just"/>
            <a:r>
              <a:rPr lang="en-US" sz="3200" dirty="0">
                <a:latin typeface="Consolas" panose="020B0609020204030204" pitchFamily="49" charset="0"/>
              </a:rPr>
              <a:t>1. Using curly {} braces</a:t>
            </a: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fruits = {"apple", "banana", "orange"}</a:t>
            </a:r>
          </a:p>
          <a:p>
            <a:pPr algn="just"/>
            <a:endParaRPr lang="en-US" sz="3200" dirty="0">
              <a:latin typeface="Consolas" panose="020B0609020204030204" pitchFamily="49" charset="0"/>
            </a:endParaRPr>
          </a:p>
          <a:p>
            <a:pPr algn="just"/>
            <a:r>
              <a:rPr lang="en-US" sz="3200" dirty="0">
                <a:latin typeface="Consolas" panose="020B0609020204030204" pitchFamily="49" charset="0"/>
              </a:rPr>
              <a:t>2. Using the set() constructor</a:t>
            </a: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numbers = set([1, 2, 3, 3, 2])</a:t>
            </a:r>
          </a:p>
          <a:p>
            <a:pPr algn="just"/>
            <a:r>
              <a:rPr lang="en-US" sz="3200" dirty="0">
                <a:latin typeface="Consolas" panose="020B0609020204030204" pitchFamily="49" charset="0"/>
              </a:rPr>
              <a:t>print(numbers)</a:t>
            </a:r>
          </a:p>
          <a:p>
            <a:pPr algn="just"/>
            <a:endParaRPr lang="en-US" sz="3200" dirty="0">
              <a:latin typeface="Consolas" panose="020B0609020204030204" pitchFamily="49" charset="0"/>
            </a:endParaRPr>
          </a:p>
          <a:p>
            <a:pPr algn="just"/>
            <a:r>
              <a:rPr lang="en-US" sz="3200" dirty="0">
                <a:latin typeface="Consolas" panose="020B0609020204030204" pitchFamily="49" charset="0"/>
              </a:rPr>
              <a:t>What will be the output?</a:t>
            </a:r>
          </a:p>
          <a:p>
            <a:pPr algn="just"/>
            <a:endParaRPr lang="en-US" sz="3200" dirty="0">
              <a:latin typeface="Consolas" panose="020B0609020204030204" pitchFamily="49" charset="0"/>
            </a:endParaRPr>
          </a:p>
          <a:p>
            <a:pPr algn="just"/>
            <a:r>
              <a:rPr lang="en-US" sz="3200" dirty="0">
                <a:latin typeface="Consolas" panose="020B0609020204030204" pitchFamily="49" charset="0"/>
              </a:rPr>
              <a:t>3. Empty set</a:t>
            </a:r>
          </a:p>
          <a:p>
            <a:pPr algn="just"/>
            <a:r>
              <a:rPr lang="en-US" sz="3200" b="1" dirty="0">
                <a:latin typeface="Consolas" panose="020B0609020204030204" pitchFamily="49" charset="0"/>
              </a:rPr>
              <a:t>Example:</a:t>
            </a:r>
          </a:p>
          <a:p>
            <a:pPr algn="just"/>
            <a:r>
              <a:rPr lang="en-US" sz="3200" dirty="0" err="1">
                <a:latin typeface="Consolas" panose="020B0609020204030204" pitchFamily="49" charset="0"/>
              </a:rPr>
              <a:t>empty_set</a:t>
            </a:r>
            <a:r>
              <a:rPr lang="en-US" sz="3200" dirty="0">
                <a:latin typeface="Consolas" panose="020B0609020204030204" pitchFamily="49" charset="0"/>
              </a:rPr>
              <a:t> = set()</a:t>
            </a:r>
          </a:p>
        </p:txBody>
      </p:sp>
      <p:sp>
        <p:nvSpPr>
          <p:cNvPr id="6" name="TextBox 28">
            <a:extLst>
              <a:ext uri="{FF2B5EF4-FFF2-40B4-BE49-F238E27FC236}">
                <a16:creationId xmlns:a16="http://schemas.microsoft.com/office/drawing/2014/main" id="{3286E0F1-E821-E828-D7F5-F393E68D00FD}"/>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Creating a set</a:t>
            </a:r>
          </a:p>
        </p:txBody>
      </p:sp>
    </p:spTree>
    <p:extLst>
      <p:ext uri="{BB962C8B-B14F-4D97-AF65-F5344CB8AC3E}">
        <p14:creationId xmlns:p14="http://schemas.microsoft.com/office/powerpoint/2010/main" val="13220115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26970-B5DF-240F-E913-525283B0D6A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D31813-E091-88E6-CCE8-419D4A048814}"/>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F03EAC3-C95D-52CA-ACEC-AAA0BCD68DB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40D12703-DD3E-B8E0-F708-14B6A3B6FC1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A5E1565D-4B34-F64E-3B35-A5E2DEC7DD9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FA98D7E3-63FE-F21D-C823-E9BEFE70D6D3}"/>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9431BD58-AE89-AE0A-EEAD-FDF679E683ED}"/>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AFFAB780-2B5B-A318-CAB3-2FCA3610521A}"/>
              </a:ext>
            </a:extLst>
          </p:cNvPr>
          <p:cNvSpPr txBox="1"/>
          <p:nvPr/>
        </p:nvSpPr>
        <p:spPr>
          <a:xfrm>
            <a:off x="381001" y="2391508"/>
            <a:ext cx="17526000" cy="4031873"/>
          </a:xfrm>
          <a:prstGeom prst="rect">
            <a:avLst/>
          </a:prstGeom>
          <a:noFill/>
        </p:spPr>
        <p:txBody>
          <a:bodyPr wrap="square">
            <a:spAutoFit/>
          </a:bodyPr>
          <a:lstStyle/>
          <a:p>
            <a:pPr algn="just"/>
            <a:r>
              <a:rPr lang="en-US" sz="3200" dirty="0">
                <a:latin typeface="Consolas" panose="020B0609020204030204" pitchFamily="49" charset="0"/>
              </a:rPr>
              <a:t>You can loop a set, but the arrangement of values is random for mixed values or strings and for numeric values, it returns it in ascending order.</a:t>
            </a:r>
          </a:p>
          <a:p>
            <a:pPr algn="just"/>
            <a:r>
              <a:rPr lang="en-US" sz="3200" b="1" dirty="0">
                <a:latin typeface="Consolas" panose="020B0609020204030204" pitchFamily="49" charset="0"/>
              </a:rPr>
              <a:t>Example:</a:t>
            </a:r>
          </a:p>
          <a:p>
            <a:pPr algn="just"/>
            <a:endParaRPr lang="en-US" sz="3200" b="1" dirty="0">
              <a:latin typeface="Consolas" panose="020B0609020204030204" pitchFamily="49" charset="0"/>
            </a:endParaRPr>
          </a:p>
          <a:p>
            <a:pPr algn="just"/>
            <a:r>
              <a:rPr lang="en-US" sz="3200" dirty="0" err="1">
                <a:latin typeface="Consolas" panose="020B0609020204030204" pitchFamily="49" charset="0"/>
              </a:rPr>
              <a:t>thisset</a:t>
            </a:r>
            <a:r>
              <a:rPr lang="en-US" sz="3200" dirty="0">
                <a:latin typeface="Consolas" panose="020B0609020204030204" pitchFamily="49" charset="0"/>
              </a:rPr>
              <a:t> = {"apple", "banana", "cherry"}</a:t>
            </a:r>
          </a:p>
          <a:p>
            <a:pPr algn="just"/>
            <a:endParaRPr lang="en-US" sz="3200" dirty="0">
              <a:latin typeface="Consolas" panose="020B0609020204030204" pitchFamily="49" charset="0"/>
            </a:endParaRPr>
          </a:p>
          <a:p>
            <a:pPr algn="just"/>
            <a:r>
              <a:rPr lang="en-US" sz="3200" dirty="0">
                <a:latin typeface="Consolas" panose="020B0609020204030204" pitchFamily="49" charset="0"/>
              </a:rPr>
              <a:t>for x in </a:t>
            </a:r>
            <a:r>
              <a:rPr lang="en-US" sz="3200" dirty="0" err="1">
                <a:latin typeface="Consolas" panose="020B0609020204030204" pitchFamily="49" charset="0"/>
              </a:rPr>
              <a:t>thisset</a:t>
            </a:r>
            <a:r>
              <a:rPr lang="en-US" sz="3200" dirty="0">
                <a:latin typeface="Consolas" panose="020B0609020204030204" pitchFamily="49" charset="0"/>
              </a:rPr>
              <a:t>:</a:t>
            </a:r>
          </a:p>
          <a:p>
            <a:pPr algn="just"/>
            <a:r>
              <a:rPr lang="en-US" sz="3200" dirty="0">
                <a:latin typeface="Consolas" panose="020B0609020204030204" pitchFamily="49" charset="0"/>
              </a:rPr>
              <a:t>  print(x)</a:t>
            </a:r>
          </a:p>
        </p:txBody>
      </p:sp>
      <p:sp>
        <p:nvSpPr>
          <p:cNvPr id="6" name="TextBox 28">
            <a:extLst>
              <a:ext uri="{FF2B5EF4-FFF2-40B4-BE49-F238E27FC236}">
                <a16:creationId xmlns:a16="http://schemas.microsoft.com/office/drawing/2014/main" id="{97CC4C15-2AF2-A1FB-07AB-D318D6C6ECAC}"/>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Looping a set</a:t>
            </a:r>
          </a:p>
        </p:txBody>
      </p:sp>
    </p:spTree>
    <p:extLst>
      <p:ext uri="{BB962C8B-B14F-4D97-AF65-F5344CB8AC3E}">
        <p14:creationId xmlns:p14="http://schemas.microsoft.com/office/powerpoint/2010/main" val="3706395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13EFA-F2CE-B6B3-3AE4-6BA2F7CED98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D0A4C9A-E8F3-E55D-1B37-5C0710E8064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88A0814-C395-8E67-861E-9DE7D089FAB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C37A73DB-4772-4930-7C21-3B1D5AA8419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BFF83BF0-E580-674B-7246-795696E732A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ABB0D57A-09E3-6E60-44F3-BA6048251447}"/>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A05B967D-62BF-D42D-2017-9FF6D1FF5C7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64144FA8-56B6-F3BB-AADD-6E06CFAE5669}"/>
              </a:ext>
            </a:extLst>
          </p:cNvPr>
          <p:cNvSpPr txBox="1"/>
          <p:nvPr/>
        </p:nvSpPr>
        <p:spPr>
          <a:xfrm>
            <a:off x="381001" y="2391508"/>
            <a:ext cx="17526000" cy="7294305"/>
          </a:xfrm>
          <a:prstGeom prst="rect">
            <a:avLst/>
          </a:prstGeom>
          <a:noFill/>
        </p:spPr>
        <p:txBody>
          <a:bodyPr wrap="square">
            <a:spAutoFit/>
          </a:bodyPr>
          <a:lstStyle/>
          <a:p>
            <a:pPr algn="just"/>
            <a:r>
              <a:rPr lang="en-US" sz="3600" dirty="0">
                <a:latin typeface="Consolas" panose="020B0609020204030204" pitchFamily="49" charset="0"/>
              </a:rPr>
              <a:t>There are two main ways to add items to a set.</a:t>
            </a:r>
          </a:p>
          <a:p>
            <a:pPr algn="just"/>
            <a:r>
              <a:rPr lang="en-US" sz="3600" dirty="0">
                <a:latin typeface="Consolas" panose="020B0609020204030204" pitchFamily="49" charset="0"/>
              </a:rPr>
              <a:t>1. Using </a:t>
            </a:r>
            <a:r>
              <a:rPr lang="en-US" sz="3600" b="1" dirty="0">
                <a:latin typeface="Consolas" panose="020B0609020204030204" pitchFamily="49" charset="0"/>
              </a:rPr>
              <a:t>add()</a:t>
            </a:r>
            <a:r>
              <a:rPr lang="en-US" sz="3600" dirty="0">
                <a:latin typeface="Consolas" panose="020B0609020204030204" pitchFamily="49" charset="0"/>
              </a:rPr>
              <a:t> – This method adds a single item at a time. If the element already exists, nothing changes.</a:t>
            </a:r>
          </a:p>
          <a:p>
            <a:pPr algn="just"/>
            <a:endParaRPr lang="en-US" sz="3600" dirty="0">
              <a:latin typeface="Consolas" panose="020B0609020204030204" pitchFamily="49" charset="0"/>
            </a:endParaRP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fruits = {"apple", "banana"}</a:t>
            </a:r>
          </a:p>
          <a:p>
            <a:pPr algn="just"/>
            <a:endParaRPr lang="en-US" sz="3600" dirty="0">
              <a:latin typeface="Consolas" panose="020B0609020204030204" pitchFamily="49" charset="0"/>
            </a:endParaRPr>
          </a:p>
          <a:p>
            <a:pPr algn="just"/>
            <a:r>
              <a:rPr lang="en-US" sz="3600" dirty="0" err="1">
                <a:latin typeface="Consolas" panose="020B0609020204030204" pitchFamily="49" charset="0"/>
              </a:rPr>
              <a:t>fruits.add</a:t>
            </a:r>
            <a:r>
              <a:rPr lang="en-US" sz="3600" dirty="0">
                <a:latin typeface="Consolas" panose="020B0609020204030204" pitchFamily="49" charset="0"/>
              </a:rPr>
              <a:t>("orange")</a:t>
            </a:r>
          </a:p>
          <a:p>
            <a:pPr algn="just"/>
            <a:r>
              <a:rPr lang="en-US" sz="3600" dirty="0">
                <a:latin typeface="Consolas" panose="020B0609020204030204" pitchFamily="49" charset="0"/>
              </a:rPr>
              <a:t>print(fruits)</a:t>
            </a:r>
          </a:p>
          <a:p>
            <a:pPr algn="just"/>
            <a:endParaRPr lang="en-US" sz="3600" dirty="0">
              <a:latin typeface="Consolas" panose="020B0609020204030204" pitchFamily="49" charset="0"/>
            </a:endParaRPr>
          </a:p>
          <a:p>
            <a:pPr algn="just"/>
            <a:r>
              <a:rPr lang="en-US" sz="3600" b="1" dirty="0">
                <a:latin typeface="Consolas" panose="020B0609020204030204" pitchFamily="49" charset="0"/>
              </a:rPr>
              <a:t>Note: </a:t>
            </a:r>
            <a:r>
              <a:rPr lang="en-US" sz="3600" dirty="0">
                <a:latin typeface="Consolas" panose="020B0609020204030204" pitchFamily="49" charset="0"/>
              </a:rPr>
              <a:t>Since sets are unordered, the output arrangement may vary (for strings or mixed sets), and for numeric values, it will be arranged in ascending order.</a:t>
            </a:r>
            <a:endParaRPr lang="en-US" sz="3600" b="1" dirty="0">
              <a:latin typeface="Consolas" panose="020B0609020204030204" pitchFamily="49" charset="0"/>
            </a:endParaRPr>
          </a:p>
        </p:txBody>
      </p:sp>
      <p:sp>
        <p:nvSpPr>
          <p:cNvPr id="6" name="TextBox 28">
            <a:extLst>
              <a:ext uri="{FF2B5EF4-FFF2-40B4-BE49-F238E27FC236}">
                <a16:creationId xmlns:a16="http://schemas.microsoft.com/office/drawing/2014/main" id="{65E5C9B9-013E-4430-5806-0BC01CE5EB79}"/>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Adding item to a set</a:t>
            </a:r>
          </a:p>
        </p:txBody>
      </p:sp>
    </p:spTree>
    <p:extLst>
      <p:ext uri="{BB962C8B-B14F-4D97-AF65-F5344CB8AC3E}">
        <p14:creationId xmlns:p14="http://schemas.microsoft.com/office/powerpoint/2010/main" val="3571893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9AA12-5E5A-748E-10CC-9849326A84C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F0577B-2AAE-68BA-B449-958A07D737BF}"/>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D0BB4465-F44E-D8ED-FAF9-7F23F6861FB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CD3C5C9B-D247-105C-FC5A-1361D4A3E71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6E7657BE-9A29-D703-9BA0-3EF596B1495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3A4D9739-370A-F76C-BE8C-C341ED9587B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D99208D9-F7FC-5E19-76DC-89E9C3F7679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1DAF36B7-48A2-F8B9-0F18-EA57AAA3BA17}"/>
              </a:ext>
            </a:extLst>
          </p:cNvPr>
          <p:cNvSpPr txBox="1"/>
          <p:nvPr/>
        </p:nvSpPr>
        <p:spPr>
          <a:xfrm>
            <a:off x="381001" y="2391508"/>
            <a:ext cx="17526000" cy="7848302"/>
          </a:xfrm>
          <a:prstGeom prst="rect">
            <a:avLst/>
          </a:prstGeom>
          <a:noFill/>
        </p:spPr>
        <p:txBody>
          <a:bodyPr wrap="square">
            <a:spAutoFit/>
          </a:bodyPr>
          <a:lstStyle/>
          <a:p>
            <a:pPr algn="just"/>
            <a:r>
              <a:rPr lang="en-US" sz="3600" dirty="0">
                <a:latin typeface="Consolas" panose="020B0609020204030204" pitchFamily="49" charset="0"/>
              </a:rPr>
              <a:t>2. Using </a:t>
            </a:r>
            <a:r>
              <a:rPr lang="en-US" sz="3600" b="1" dirty="0">
                <a:latin typeface="Consolas" panose="020B0609020204030204" pitchFamily="49" charset="0"/>
              </a:rPr>
              <a:t>update()</a:t>
            </a:r>
            <a:r>
              <a:rPr lang="en-US" sz="3600" dirty="0">
                <a:latin typeface="Consolas" panose="020B0609020204030204" pitchFamily="49" charset="0"/>
              </a:rPr>
              <a:t> – This method adds multiple items at a time. It can accept any </a:t>
            </a:r>
            <a:r>
              <a:rPr lang="en-US" sz="3600" dirty="0" err="1">
                <a:latin typeface="Consolas" panose="020B0609020204030204" pitchFamily="49" charset="0"/>
              </a:rPr>
              <a:t>iterable</a:t>
            </a:r>
            <a:r>
              <a:rPr lang="en-US" sz="3600" dirty="0">
                <a:latin typeface="Consolas" panose="020B0609020204030204" pitchFamily="49" charset="0"/>
              </a:rPr>
              <a:t>. </a:t>
            </a:r>
          </a:p>
          <a:p>
            <a:pPr algn="just"/>
            <a:r>
              <a:rPr lang="en-US" sz="3600" b="1" dirty="0">
                <a:latin typeface="Consolas" panose="020B0609020204030204" pitchFamily="49" charset="0"/>
              </a:rPr>
              <a:t>Example 1:</a:t>
            </a:r>
          </a:p>
          <a:p>
            <a:pPr algn="just"/>
            <a:r>
              <a:rPr lang="en-US" sz="3600" dirty="0">
                <a:latin typeface="Consolas" panose="020B0609020204030204" pitchFamily="49" charset="0"/>
              </a:rPr>
              <a:t>numbers = {2, 3, 1}</a:t>
            </a:r>
          </a:p>
          <a:p>
            <a:pPr algn="just"/>
            <a:endParaRPr lang="en-US" sz="3600" dirty="0">
              <a:latin typeface="Consolas" panose="020B0609020204030204" pitchFamily="49" charset="0"/>
            </a:endParaRPr>
          </a:p>
          <a:p>
            <a:pPr algn="just"/>
            <a:r>
              <a:rPr lang="en-US" sz="3600" dirty="0" err="1">
                <a:latin typeface="Consolas" panose="020B0609020204030204" pitchFamily="49" charset="0"/>
              </a:rPr>
              <a:t>numbers.update</a:t>
            </a:r>
            <a:r>
              <a:rPr lang="en-US" sz="3600" dirty="0">
                <a:latin typeface="Consolas" panose="020B0609020204030204" pitchFamily="49" charset="0"/>
              </a:rPr>
              <a:t>([4, 5, 6])</a:t>
            </a:r>
          </a:p>
          <a:p>
            <a:pPr algn="just"/>
            <a:r>
              <a:rPr lang="en-US" sz="3600" dirty="0">
                <a:latin typeface="Consolas" panose="020B0609020204030204" pitchFamily="49" charset="0"/>
              </a:rPr>
              <a:t>print(numbers)</a:t>
            </a:r>
          </a:p>
          <a:p>
            <a:pPr algn="just"/>
            <a:endParaRPr lang="en-US" dirty="0">
              <a:latin typeface="Consolas" panose="020B0609020204030204" pitchFamily="49" charset="0"/>
            </a:endParaRPr>
          </a:p>
          <a:p>
            <a:pPr algn="just"/>
            <a:r>
              <a:rPr lang="en-US" sz="3600" b="1" dirty="0">
                <a:latin typeface="Consolas" panose="020B0609020204030204" pitchFamily="49" charset="0"/>
              </a:rPr>
              <a:t>Example 2:</a:t>
            </a:r>
          </a:p>
          <a:p>
            <a:pPr algn="just"/>
            <a:r>
              <a:rPr lang="en-US" sz="3600" dirty="0" err="1">
                <a:latin typeface="Consolas" panose="020B0609020204030204" pitchFamily="49" charset="0"/>
              </a:rPr>
              <a:t>setA</a:t>
            </a:r>
            <a:r>
              <a:rPr lang="en-US" sz="3600" dirty="0">
                <a:latin typeface="Consolas" panose="020B0609020204030204" pitchFamily="49" charset="0"/>
              </a:rPr>
              <a:t> = {10, 20}</a:t>
            </a:r>
          </a:p>
          <a:p>
            <a:pPr algn="just"/>
            <a:r>
              <a:rPr lang="en-US" sz="3600" dirty="0" err="1">
                <a:latin typeface="Consolas" panose="020B0609020204030204" pitchFamily="49" charset="0"/>
              </a:rPr>
              <a:t>setB</a:t>
            </a:r>
            <a:r>
              <a:rPr lang="en-US" sz="3600" dirty="0">
                <a:latin typeface="Consolas" panose="020B0609020204030204" pitchFamily="49" charset="0"/>
              </a:rPr>
              <a:t> = {30, 40}</a:t>
            </a:r>
          </a:p>
          <a:p>
            <a:pPr algn="just"/>
            <a:endParaRPr lang="en-US" sz="3600" dirty="0">
              <a:latin typeface="Consolas" panose="020B0609020204030204" pitchFamily="49" charset="0"/>
            </a:endParaRPr>
          </a:p>
          <a:p>
            <a:pPr algn="just"/>
            <a:r>
              <a:rPr lang="en-US" sz="3600" dirty="0" err="1">
                <a:latin typeface="Consolas" panose="020B0609020204030204" pitchFamily="49" charset="0"/>
              </a:rPr>
              <a:t>setA.update</a:t>
            </a:r>
            <a:r>
              <a:rPr lang="en-US" sz="3600" dirty="0">
                <a:latin typeface="Consolas" panose="020B0609020204030204" pitchFamily="49" charset="0"/>
              </a:rPr>
              <a:t>(</a:t>
            </a:r>
            <a:r>
              <a:rPr lang="en-US" sz="3600" dirty="0" err="1">
                <a:latin typeface="Consolas" panose="020B0609020204030204" pitchFamily="49" charset="0"/>
              </a:rPr>
              <a:t>setB</a:t>
            </a:r>
            <a:r>
              <a:rPr lang="en-US" sz="3600" dirty="0">
                <a:latin typeface="Consolas" panose="020B0609020204030204" pitchFamily="49" charset="0"/>
              </a:rPr>
              <a:t>)</a:t>
            </a:r>
          </a:p>
          <a:p>
            <a:pPr algn="just"/>
            <a:r>
              <a:rPr lang="en-US" sz="3600" dirty="0">
                <a:latin typeface="Consolas" panose="020B0609020204030204" pitchFamily="49" charset="0"/>
              </a:rPr>
              <a:t>print(</a:t>
            </a:r>
            <a:r>
              <a:rPr lang="en-US" sz="3600" dirty="0" err="1">
                <a:latin typeface="Consolas" panose="020B0609020204030204" pitchFamily="49" charset="0"/>
              </a:rPr>
              <a:t>setA</a:t>
            </a:r>
            <a:r>
              <a:rPr lang="en-US" sz="3600" dirty="0">
                <a:latin typeface="Consolas" panose="020B0609020204030204" pitchFamily="49" charset="0"/>
              </a:rPr>
              <a:t>)</a:t>
            </a:r>
          </a:p>
        </p:txBody>
      </p:sp>
      <p:sp>
        <p:nvSpPr>
          <p:cNvPr id="6" name="TextBox 28">
            <a:extLst>
              <a:ext uri="{FF2B5EF4-FFF2-40B4-BE49-F238E27FC236}">
                <a16:creationId xmlns:a16="http://schemas.microsoft.com/office/drawing/2014/main" id="{926B2A6A-1A88-0B4D-F086-4749EBBAAFAB}"/>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Adding item to a set</a:t>
            </a:r>
          </a:p>
        </p:txBody>
      </p:sp>
    </p:spTree>
    <p:extLst>
      <p:ext uri="{BB962C8B-B14F-4D97-AF65-F5344CB8AC3E}">
        <p14:creationId xmlns:p14="http://schemas.microsoft.com/office/powerpoint/2010/main" val="17534717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4BE77-61E2-0E69-8799-0F8E6DE1D14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A87CC6A-5155-3D4E-EAE9-2F97B3BBBE37}"/>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CD80214-C302-D466-DB16-5F226CE23AD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4127904-B6DD-C79D-7817-A378A6378FF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CA1F17C6-F15F-6579-2B44-579077BE9F6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7A459825-0AD9-EF1F-E7E3-7C5F388502D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30AD2E41-C197-7466-47D4-C82A514574A5}"/>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D5D4E00B-8864-B26A-EBDA-99CC05927D99}"/>
              </a:ext>
            </a:extLst>
          </p:cNvPr>
          <p:cNvSpPr txBox="1"/>
          <p:nvPr/>
        </p:nvSpPr>
        <p:spPr>
          <a:xfrm>
            <a:off x="381001" y="2391508"/>
            <a:ext cx="17526000" cy="7848302"/>
          </a:xfrm>
          <a:prstGeom prst="rect">
            <a:avLst/>
          </a:prstGeom>
          <a:noFill/>
        </p:spPr>
        <p:txBody>
          <a:bodyPr wrap="square">
            <a:spAutoFit/>
          </a:bodyPr>
          <a:lstStyle/>
          <a:p>
            <a:pPr algn="just"/>
            <a:r>
              <a:rPr lang="en-US" sz="3600" dirty="0">
                <a:latin typeface="Consolas" panose="020B0609020204030204" pitchFamily="49" charset="0"/>
              </a:rPr>
              <a:t>2. Using </a:t>
            </a:r>
            <a:r>
              <a:rPr lang="en-US" sz="3600" b="1" dirty="0">
                <a:latin typeface="Consolas" panose="020B0609020204030204" pitchFamily="49" charset="0"/>
              </a:rPr>
              <a:t>update()</a:t>
            </a:r>
            <a:r>
              <a:rPr lang="en-US" sz="3600" dirty="0">
                <a:latin typeface="Consolas" panose="020B0609020204030204" pitchFamily="49" charset="0"/>
              </a:rPr>
              <a:t> – This method adds multiple items at a time. It can accept any </a:t>
            </a:r>
            <a:r>
              <a:rPr lang="en-US" sz="3600" dirty="0" err="1">
                <a:latin typeface="Consolas" panose="020B0609020204030204" pitchFamily="49" charset="0"/>
              </a:rPr>
              <a:t>iterable</a:t>
            </a:r>
            <a:r>
              <a:rPr lang="en-US" sz="3600" dirty="0">
                <a:latin typeface="Consolas" panose="020B0609020204030204" pitchFamily="49" charset="0"/>
              </a:rPr>
              <a:t>. </a:t>
            </a:r>
          </a:p>
          <a:p>
            <a:pPr algn="just"/>
            <a:r>
              <a:rPr lang="en-US" sz="3600" b="1" dirty="0">
                <a:latin typeface="Consolas" panose="020B0609020204030204" pitchFamily="49" charset="0"/>
              </a:rPr>
              <a:t>Example 1:</a:t>
            </a:r>
          </a:p>
          <a:p>
            <a:pPr algn="just"/>
            <a:r>
              <a:rPr lang="en-US" sz="3600" dirty="0">
                <a:latin typeface="Consolas" panose="020B0609020204030204" pitchFamily="49" charset="0"/>
              </a:rPr>
              <a:t>numbers = {2, 3, 1}</a:t>
            </a:r>
          </a:p>
          <a:p>
            <a:pPr algn="just"/>
            <a:endParaRPr lang="en-US" sz="3600" dirty="0">
              <a:latin typeface="Consolas" panose="020B0609020204030204" pitchFamily="49" charset="0"/>
            </a:endParaRPr>
          </a:p>
          <a:p>
            <a:pPr algn="just"/>
            <a:r>
              <a:rPr lang="en-US" sz="3600" dirty="0" err="1">
                <a:latin typeface="Consolas" panose="020B0609020204030204" pitchFamily="49" charset="0"/>
              </a:rPr>
              <a:t>numbers.update</a:t>
            </a:r>
            <a:r>
              <a:rPr lang="en-US" sz="3600" dirty="0">
                <a:latin typeface="Consolas" panose="020B0609020204030204" pitchFamily="49" charset="0"/>
              </a:rPr>
              <a:t>([4, 5, 6])</a:t>
            </a:r>
          </a:p>
          <a:p>
            <a:pPr algn="just"/>
            <a:r>
              <a:rPr lang="en-US" sz="3600" dirty="0">
                <a:latin typeface="Consolas" panose="020B0609020204030204" pitchFamily="49" charset="0"/>
              </a:rPr>
              <a:t>print(numbers)</a:t>
            </a:r>
          </a:p>
          <a:p>
            <a:pPr algn="just"/>
            <a:endParaRPr lang="en-US" dirty="0">
              <a:latin typeface="Consolas" panose="020B0609020204030204" pitchFamily="49" charset="0"/>
            </a:endParaRPr>
          </a:p>
          <a:p>
            <a:pPr algn="just"/>
            <a:r>
              <a:rPr lang="en-US" sz="3600" b="1" dirty="0">
                <a:latin typeface="Consolas" panose="020B0609020204030204" pitchFamily="49" charset="0"/>
              </a:rPr>
              <a:t>Example 2:</a:t>
            </a:r>
          </a:p>
          <a:p>
            <a:pPr algn="just"/>
            <a:r>
              <a:rPr lang="en-US" sz="3600" dirty="0" err="1">
                <a:latin typeface="Consolas" panose="020B0609020204030204" pitchFamily="49" charset="0"/>
              </a:rPr>
              <a:t>setA</a:t>
            </a:r>
            <a:r>
              <a:rPr lang="en-US" sz="3600" dirty="0">
                <a:latin typeface="Consolas" panose="020B0609020204030204" pitchFamily="49" charset="0"/>
              </a:rPr>
              <a:t> = {10, 20}</a:t>
            </a:r>
          </a:p>
          <a:p>
            <a:pPr algn="just"/>
            <a:r>
              <a:rPr lang="en-US" sz="3600" dirty="0" err="1">
                <a:latin typeface="Consolas" panose="020B0609020204030204" pitchFamily="49" charset="0"/>
              </a:rPr>
              <a:t>setB</a:t>
            </a:r>
            <a:r>
              <a:rPr lang="en-US" sz="3600" dirty="0">
                <a:latin typeface="Consolas" panose="020B0609020204030204" pitchFamily="49" charset="0"/>
              </a:rPr>
              <a:t> = {30, 40}</a:t>
            </a:r>
          </a:p>
          <a:p>
            <a:pPr algn="just"/>
            <a:endParaRPr lang="en-US" sz="3600" dirty="0">
              <a:latin typeface="Consolas" panose="020B0609020204030204" pitchFamily="49" charset="0"/>
            </a:endParaRPr>
          </a:p>
          <a:p>
            <a:pPr algn="just"/>
            <a:r>
              <a:rPr lang="en-US" sz="3600" dirty="0" err="1">
                <a:latin typeface="Consolas" panose="020B0609020204030204" pitchFamily="49" charset="0"/>
              </a:rPr>
              <a:t>setA.update</a:t>
            </a:r>
            <a:r>
              <a:rPr lang="en-US" sz="3600" dirty="0">
                <a:latin typeface="Consolas" panose="020B0609020204030204" pitchFamily="49" charset="0"/>
              </a:rPr>
              <a:t>(</a:t>
            </a:r>
            <a:r>
              <a:rPr lang="en-US" sz="3600" dirty="0" err="1">
                <a:latin typeface="Consolas" panose="020B0609020204030204" pitchFamily="49" charset="0"/>
              </a:rPr>
              <a:t>setB</a:t>
            </a:r>
            <a:r>
              <a:rPr lang="en-US" sz="3600" dirty="0">
                <a:latin typeface="Consolas" panose="020B0609020204030204" pitchFamily="49" charset="0"/>
              </a:rPr>
              <a:t>)</a:t>
            </a:r>
          </a:p>
          <a:p>
            <a:pPr algn="just"/>
            <a:r>
              <a:rPr lang="en-US" sz="3600" dirty="0">
                <a:latin typeface="Consolas" panose="020B0609020204030204" pitchFamily="49" charset="0"/>
              </a:rPr>
              <a:t>print(</a:t>
            </a:r>
            <a:r>
              <a:rPr lang="en-US" sz="3600" dirty="0" err="1">
                <a:latin typeface="Consolas" panose="020B0609020204030204" pitchFamily="49" charset="0"/>
              </a:rPr>
              <a:t>setA</a:t>
            </a:r>
            <a:r>
              <a:rPr lang="en-US" sz="3600" dirty="0">
                <a:latin typeface="Consolas" panose="020B0609020204030204" pitchFamily="49" charset="0"/>
              </a:rPr>
              <a:t>)</a:t>
            </a:r>
          </a:p>
        </p:txBody>
      </p:sp>
      <p:sp>
        <p:nvSpPr>
          <p:cNvPr id="6" name="TextBox 28">
            <a:extLst>
              <a:ext uri="{FF2B5EF4-FFF2-40B4-BE49-F238E27FC236}">
                <a16:creationId xmlns:a16="http://schemas.microsoft.com/office/drawing/2014/main" id="{C2802F9B-955A-A0B6-2E75-FB49EEBF28E5}"/>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Adding item to a set</a:t>
            </a:r>
          </a:p>
        </p:txBody>
      </p:sp>
    </p:spTree>
    <p:extLst>
      <p:ext uri="{BB962C8B-B14F-4D97-AF65-F5344CB8AC3E}">
        <p14:creationId xmlns:p14="http://schemas.microsoft.com/office/powerpoint/2010/main" val="19549186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374FE-DA0F-EA90-2676-691E72E2709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95D34D2-02C5-74AD-BCED-D2AF45A903E0}"/>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A0CAB7DB-72E9-0C14-4D5F-89B0AABC12E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9E533A4-52B7-193F-86A8-DFDB1F1D769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1B532386-FA22-4384-D0DA-D0EA4385FFE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566C5BB-42F8-71A5-A66B-94D762A04A04}"/>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705FB73C-747D-3B4F-670B-09AD365CFF8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96740885-E186-C23A-5C94-BCB2B17626C7}"/>
              </a:ext>
            </a:extLst>
          </p:cNvPr>
          <p:cNvSpPr txBox="1"/>
          <p:nvPr/>
        </p:nvSpPr>
        <p:spPr>
          <a:xfrm>
            <a:off x="381001" y="2391508"/>
            <a:ext cx="17526000" cy="7848302"/>
          </a:xfrm>
          <a:prstGeom prst="rect">
            <a:avLst/>
          </a:prstGeom>
          <a:noFill/>
        </p:spPr>
        <p:txBody>
          <a:bodyPr wrap="square">
            <a:spAutoFit/>
          </a:bodyPr>
          <a:lstStyle/>
          <a:p>
            <a:pPr algn="just"/>
            <a:r>
              <a:rPr lang="en-US" sz="3600" dirty="0">
                <a:latin typeface="Consolas" panose="020B0609020204030204" pitchFamily="49" charset="0"/>
              </a:rPr>
              <a:t>Python sets allow you to remove items in several ways. Each method behaves differently, so choosing the correct one matters depending on whether you want to avoid errors or need a specific removal behavior.</a:t>
            </a:r>
          </a:p>
          <a:p>
            <a:pPr algn="just"/>
            <a:endParaRPr lang="en-US" sz="3600" dirty="0">
              <a:latin typeface="Consolas" panose="020B0609020204030204" pitchFamily="49" charset="0"/>
            </a:endParaRPr>
          </a:p>
          <a:p>
            <a:pPr algn="just"/>
            <a:r>
              <a:rPr lang="en-US" sz="3600" dirty="0">
                <a:latin typeface="Consolas" panose="020B0609020204030204" pitchFamily="49" charset="0"/>
              </a:rPr>
              <a:t>1. remove() – It removes a specific item at a time, but it raises an error (</a:t>
            </a:r>
            <a:r>
              <a:rPr lang="en-US" sz="3600" dirty="0" err="1">
                <a:latin typeface="Consolas" panose="020B0609020204030204" pitchFamily="49" charset="0"/>
              </a:rPr>
              <a:t>KeyError</a:t>
            </a:r>
            <a:r>
              <a:rPr lang="en-US" sz="3600" dirty="0">
                <a:latin typeface="Consolas" panose="020B0609020204030204" pitchFamily="49" charset="0"/>
              </a:rPr>
              <a:t>) if the item is not found. Use this method when you are sure that the item exists in the set. The removed item cannot be stored in a variable.</a:t>
            </a:r>
          </a:p>
          <a:p>
            <a:pPr algn="just"/>
            <a:endParaRPr lang="en-US" sz="2000" dirty="0">
              <a:latin typeface="Consolas" panose="020B0609020204030204" pitchFamily="49" charset="0"/>
            </a:endParaRP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fruits = {"apple", "banana", "orange"}</a:t>
            </a:r>
          </a:p>
          <a:p>
            <a:pPr algn="just"/>
            <a:endParaRPr lang="en-US" sz="3600" dirty="0">
              <a:latin typeface="Consolas" panose="020B0609020204030204" pitchFamily="49" charset="0"/>
            </a:endParaRPr>
          </a:p>
          <a:p>
            <a:pPr algn="just"/>
            <a:r>
              <a:rPr lang="en-US" sz="3600" dirty="0" err="1">
                <a:latin typeface="Consolas" panose="020B0609020204030204" pitchFamily="49" charset="0"/>
              </a:rPr>
              <a:t>fruits.remove</a:t>
            </a:r>
            <a:r>
              <a:rPr lang="en-US" sz="3600" dirty="0">
                <a:latin typeface="Consolas" panose="020B0609020204030204" pitchFamily="49" charset="0"/>
              </a:rPr>
              <a:t>("banana")</a:t>
            </a:r>
          </a:p>
          <a:p>
            <a:pPr algn="just"/>
            <a:r>
              <a:rPr lang="en-US" sz="3600" dirty="0">
                <a:latin typeface="Consolas" panose="020B0609020204030204" pitchFamily="49" charset="0"/>
              </a:rPr>
              <a:t>print(fruits)</a:t>
            </a:r>
          </a:p>
        </p:txBody>
      </p:sp>
      <p:sp>
        <p:nvSpPr>
          <p:cNvPr id="6" name="TextBox 28">
            <a:extLst>
              <a:ext uri="{FF2B5EF4-FFF2-40B4-BE49-F238E27FC236}">
                <a16:creationId xmlns:a16="http://schemas.microsoft.com/office/drawing/2014/main" id="{81F1C411-4D0B-3790-0CC4-DF74D95A3AD7}"/>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Removing item from a set</a:t>
            </a:r>
          </a:p>
        </p:txBody>
      </p:sp>
    </p:spTree>
    <p:extLst>
      <p:ext uri="{BB962C8B-B14F-4D97-AF65-F5344CB8AC3E}">
        <p14:creationId xmlns:p14="http://schemas.microsoft.com/office/powerpoint/2010/main" val="29759541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619FB-2F43-0ADF-1ACE-F1702A68DF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896443B-928D-3C3D-13D9-7EB41BBCDB12}"/>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1CF9011-B2CE-EE9F-10B9-658A5233227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015C7FCA-AD81-4347-1841-2ED0BDC05BB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C7A47AF-0933-F9E6-3649-A5893FFDD3D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DD048A6D-A525-7C48-F31B-4DCBA9966A5E}"/>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788CBB42-EAED-4440-108F-A96284BF3511}"/>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03ED93E1-3D17-8B52-9937-EFF760F9CD3C}"/>
              </a:ext>
            </a:extLst>
          </p:cNvPr>
          <p:cNvSpPr txBox="1"/>
          <p:nvPr/>
        </p:nvSpPr>
        <p:spPr>
          <a:xfrm>
            <a:off x="381001" y="2391508"/>
            <a:ext cx="17526000" cy="5632311"/>
          </a:xfrm>
          <a:prstGeom prst="rect">
            <a:avLst/>
          </a:prstGeom>
          <a:noFill/>
        </p:spPr>
        <p:txBody>
          <a:bodyPr wrap="square">
            <a:spAutoFit/>
          </a:bodyPr>
          <a:lstStyle/>
          <a:p>
            <a:pPr algn="just"/>
            <a:r>
              <a:rPr lang="en-US" sz="3600" dirty="0">
                <a:latin typeface="Consolas" panose="020B0609020204030204" pitchFamily="49" charset="0"/>
              </a:rPr>
              <a:t>2. discard() – It removes a specific item but does not raise any error even if the item does not exist in the set. The removed item cannot be stored in a variable.</a:t>
            </a:r>
          </a:p>
          <a:p>
            <a:pPr algn="just"/>
            <a:endParaRPr lang="en-US" sz="3600" dirty="0">
              <a:latin typeface="Consolas" panose="020B0609020204030204" pitchFamily="49" charset="0"/>
            </a:endParaRPr>
          </a:p>
          <a:p>
            <a:pPr algn="just"/>
            <a:endParaRPr lang="en-US" sz="3600" dirty="0">
              <a:latin typeface="Consolas" panose="020B0609020204030204" pitchFamily="49" charset="0"/>
            </a:endParaRP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numbers = {1, 2, 3}</a:t>
            </a:r>
          </a:p>
          <a:p>
            <a:pPr algn="just"/>
            <a:endParaRPr lang="en-US" sz="3600" dirty="0">
              <a:latin typeface="Consolas" panose="020B0609020204030204" pitchFamily="49" charset="0"/>
            </a:endParaRPr>
          </a:p>
          <a:p>
            <a:pPr algn="just"/>
            <a:r>
              <a:rPr lang="en-US" sz="3600" dirty="0" err="1">
                <a:latin typeface="Consolas" panose="020B0609020204030204" pitchFamily="49" charset="0"/>
              </a:rPr>
              <a:t>numbers.discard</a:t>
            </a:r>
            <a:r>
              <a:rPr lang="en-US" sz="3600" dirty="0">
                <a:latin typeface="Consolas" panose="020B0609020204030204" pitchFamily="49" charset="0"/>
              </a:rPr>
              <a:t>(2)</a:t>
            </a:r>
          </a:p>
          <a:p>
            <a:pPr algn="just"/>
            <a:r>
              <a:rPr lang="en-US" sz="3600" dirty="0">
                <a:latin typeface="Consolas" panose="020B0609020204030204" pitchFamily="49" charset="0"/>
              </a:rPr>
              <a:t>print(numbers)</a:t>
            </a:r>
          </a:p>
        </p:txBody>
      </p:sp>
      <p:sp>
        <p:nvSpPr>
          <p:cNvPr id="6" name="TextBox 28">
            <a:extLst>
              <a:ext uri="{FF2B5EF4-FFF2-40B4-BE49-F238E27FC236}">
                <a16:creationId xmlns:a16="http://schemas.microsoft.com/office/drawing/2014/main" id="{61606411-1B65-39C3-5499-B58732479A6B}"/>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Removing item from a set</a:t>
            </a:r>
          </a:p>
        </p:txBody>
      </p:sp>
    </p:spTree>
    <p:extLst>
      <p:ext uri="{BB962C8B-B14F-4D97-AF65-F5344CB8AC3E}">
        <p14:creationId xmlns:p14="http://schemas.microsoft.com/office/powerpoint/2010/main" val="23547102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ED260-87ED-F581-F93C-A8028E14BAF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523B448-197A-F10A-F3EC-15D741162B75}"/>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6D45DDAE-C743-D73C-1D19-0E271E3746F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7FB1282F-E016-414A-0C6A-D215041986B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6C1C9A4B-C0FE-0575-12C7-40CEC9420A7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A164097F-20F2-40F6-0639-1F4DD6E3D98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B8BDF6E7-8AF2-088B-C75B-0A1A8EDFE10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C607370C-4459-6C50-BA43-9B642B1C4497}"/>
              </a:ext>
            </a:extLst>
          </p:cNvPr>
          <p:cNvSpPr txBox="1"/>
          <p:nvPr/>
        </p:nvSpPr>
        <p:spPr>
          <a:xfrm>
            <a:off x="381001" y="2391508"/>
            <a:ext cx="17526000" cy="7571303"/>
          </a:xfrm>
          <a:prstGeom prst="rect">
            <a:avLst/>
          </a:prstGeom>
          <a:noFill/>
        </p:spPr>
        <p:txBody>
          <a:bodyPr wrap="square">
            <a:spAutoFit/>
          </a:bodyPr>
          <a:lstStyle/>
          <a:p>
            <a:pPr algn="just"/>
            <a:r>
              <a:rPr lang="en-US" sz="3600" dirty="0">
                <a:latin typeface="Consolas" panose="020B0609020204030204" pitchFamily="49" charset="0"/>
              </a:rPr>
              <a:t>3. pop() – Since sets are unordered, it removes and returns an arbitrary value from the set. Removed value can be stored in a variable. </a:t>
            </a:r>
          </a:p>
          <a:p>
            <a:pPr algn="just"/>
            <a:endParaRPr lang="en-US" dirty="0">
              <a:latin typeface="Consolas" panose="020B0609020204030204" pitchFamily="49" charset="0"/>
            </a:endParaRP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numbers = {2, 3, 1}</a:t>
            </a:r>
          </a:p>
          <a:p>
            <a:pPr algn="just"/>
            <a:endParaRPr lang="en-US" sz="3600" dirty="0">
              <a:latin typeface="Consolas" panose="020B0609020204030204" pitchFamily="49" charset="0"/>
            </a:endParaRPr>
          </a:p>
          <a:p>
            <a:pPr algn="just"/>
            <a:r>
              <a:rPr lang="en-US" sz="3600" dirty="0">
                <a:latin typeface="Consolas" panose="020B0609020204030204" pitchFamily="49" charset="0"/>
              </a:rPr>
              <a:t>removed = </a:t>
            </a:r>
            <a:r>
              <a:rPr lang="en-US" sz="3600" dirty="0" err="1">
                <a:latin typeface="Consolas" panose="020B0609020204030204" pitchFamily="49" charset="0"/>
              </a:rPr>
              <a:t>numbers.pop</a:t>
            </a:r>
            <a:r>
              <a:rPr lang="en-US" sz="3600" dirty="0">
                <a:latin typeface="Consolas" panose="020B0609020204030204" pitchFamily="49" charset="0"/>
              </a:rPr>
              <a:t>()</a:t>
            </a:r>
          </a:p>
          <a:p>
            <a:pPr algn="just"/>
            <a:r>
              <a:rPr lang="en-US" sz="3600" dirty="0">
                <a:latin typeface="Consolas" panose="020B0609020204030204" pitchFamily="49" charset="0"/>
              </a:rPr>
              <a:t>print(removed)</a:t>
            </a:r>
          </a:p>
          <a:p>
            <a:pPr algn="just"/>
            <a:endParaRPr lang="en-US" sz="3600" dirty="0">
              <a:latin typeface="Consolas" panose="020B0609020204030204" pitchFamily="49" charset="0"/>
            </a:endParaRPr>
          </a:p>
          <a:p>
            <a:pPr algn="just"/>
            <a:r>
              <a:rPr lang="en-US" sz="3600" b="1" dirty="0">
                <a:latin typeface="Consolas" panose="020B0609020204030204" pitchFamily="49" charset="0"/>
              </a:rPr>
              <a:t>Note:</a:t>
            </a:r>
            <a:r>
              <a:rPr lang="en-US" sz="3600" dirty="0">
                <a:latin typeface="Consolas" panose="020B0609020204030204" pitchFamily="49" charset="0"/>
              </a:rPr>
              <a:t> For strings and mixed sets, it removes a random element, but for numeric values, it removes the smallest value.</a:t>
            </a:r>
          </a:p>
          <a:p>
            <a:pPr algn="just"/>
            <a:endParaRPr lang="en-US" sz="3600" b="1" dirty="0">
              <a:latin typeface="Consolas" panose="020B0609020204030204" pitchFamily="49" charset="0"/>
            </a:endParaRPr>
          </a:p>
          <a:p>
            <a:pPr algn="just"/>
            <a:r>
              <a:rPr lang="en-US" sz="3600" dirty="0">
                <a:latin typeface="Consolas" panose="020B0609020204030204" pitchFamily="49" charset="0"/>
              </a:rPr>
              <a:t>4. clear() – it empties the set.</a:t>
            </a:r>
            <a:endParaRPr lang="en-US" sz="3600" b="1" dirty="0">
              <a:latin typeface="Consolas" panose="020B0609020204030204" pitchFamily="49" charset="0"/>
            </a:endParaRPr>
          </a:p>
        </p:txBody>
      </p:sp>
      <p:sp>
        <p:nvSpPr>
          <p:cNvPr id="6" name="TextBox 28">
            <a:extLst>
              <a:ext uri="{FF2B5EF4-FFF2-40B4-BE49-F238E27FC236}">
                <a16:creationId xmlns:a16="http://schemas.microsoft.com/office/drawing/2014/main" id="{31B9090F-6DDD-0FBC-8113-3DBD8329DC12}"/>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Removing item from a set</a:t>
            </a:r>
          </a:p>
        </p:txBody>
      </p:sp>
    </p:spTree>
    <p:extLst>
      <p:ext uri="{BB962C8B-B14F-4D97-AF65-F5344CB8AC3E}">
        <p14:creationId xmlns:p14="http://schemas.microsoft.com/office/powerpoint/2010/main" val="4536134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35711-FA72-B692-01D7-CC62F61AB34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1DADFB3-9B94-AC53-A3DC-5B5E3BC4D436}"/>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370D307-65B3-EFD5-8416-9EADFAF16B5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A2E07F56-6F3A-FD23-0BD7-BCE6F01BAFF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6BDA736-3A55-FD52-171A-A2E172882DE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318680F0-0041-CC0C-951E-3BBC6E0E0423}"/>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E7E9C1A8-2CBA-5CCE-9FE9-0D6736996EA2}"/>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6" name="TextBox 28">
            <a:extLst>
              <a:ext uri="{FF2B5EF4-FFF2-40B4-BE49-F238E27FC236}">
                <a16:creationId xmlns:a16="http://schemas.microsoft.com/office/drawing/2014/main" id="{28A9A9DD-554C-92C7-2990-779692EC6057}"/>
              </a:ext>
            </a:extLst>
          </p:cNvPr>
          <p:cNvSpPr txBox="1"/>
          <p:nvPr/>
        </p:nvSpPr>
        <p:spPr>
          <a:xfrm>
            <a:off x="755855" y="23926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Set Operations</a:t>
            </a:r>
          </a:p>
        </p:txBody>
      </p:sp>
      <p:sp>
        <p:nvSpPr>
          <p:cNvPr id="7" name="TextBox 6">
            <a:extLst>
              <a:ext uri="{FF2B5EF4-FFF2-40B4-BE49-F238E27FC236}">
                <a16:creationId xmlns:a16="http://schemas.microsoft.com/office/drawing/2014/main" id="{019C2597-EDEA-D62A-DAF5-26D78FA2499A}"/>
              </a:ext>
            </a:extLst>
          </p:cNvPr>
          <p:cNvSpPr txBox="1"/>
          <p:nvPr/>
        </p:nvSpPr>
        <p:spPr>
          <a:xfrm>
            <a:off x="381001" y="2391508"/>
            <a:ext cx="17526000" cy="6186309"/>
          </a:xfrm>
          <a:prstGeom prst="rect">
            <a:avLst/>
          </a:prstGeom>
          <a:noFill/>
        </p:spPr>
        <p:txBody>
          <a:bodyPr wrap="square">
            <a:spAutoFit/>
          </a:bodyPr>
          <a:lstStyle/>
          <a:p>
            <a:pPr algn="just"/>
            <a:r>
              <a:rPr lang="en-US" sz="3600" dirty="0">
                <a:latin typeface="Consolas" panose="020B0609020204030204" pitchFamily="49" charset="0"/>
              </a:rPr>
              <a:t>1. Union - elements in A or B. The result is a new set containing every element from both sets. </a:t>
            </a:r>
          </a:p>
          <a:p>
            <a:pPr algn="just"/>
            <a:r>
              <a:rPr lang="en-US" sz="3600" b="1" dirty="0">
                <a:latin typeface="Consolas" panose="020B0609020204030204" pitchFamily="49" charset="0"/>
              </a:rPr>
              <a:t>Operator: </a:t>
            </a:r>
            <a:r>
              <a:rPr lang="en-US" sz="3600" dirty="0">
                <a:latin typeface="Consolas" panose="020B0609020204030204" pitchFamily="49" charset="0"/>
              </a:rPr>
              <a:t>A | B</a:t>
            </a:r>
          </a:p>
          <a:p>
            <a:pPr algn="just"/>
            <a:r>
              <a:rPr lang="en-US" sz="3600" b="1" dirty="0">
                <a:latin typeface="Consolas" panose="020B0609020204030204" pitchFamily="49" charset="0"/>
              </a:rPr>
              <a:t>Method: </a:t>
            </a:r>
            <a:r>
              <a:rPr lang="en-US" sz="3600" dirty="0" err="1">
                <a:latin typeface="Consolas" panose="020B0609020204030204" pitchFamily="49" charset="0"/>
              </a:rPr>
              <a:t>A.union</a:t>
            </a:r>
            <a:r>
              <a:rPr lang="en-US" sz="3600" dirty="0">
                <a:latin typeface="Consolas" panose="020B0609020204030204" pitchFamily="49" charset="0"/>
              </a:rPr>
              <a:t>(B)</a:t>
            </a:r>
          </a:p>
          <a:p>
            <a:pPr algn="just"/>
            <a:endParaRPr lang="en-US" sz="3600" b="1" dirty="0">
              <a:latin typeface="Consolas" panose="020B0609020204030204" pitchFamily="49" charset="0"/>
            </a:endParaRPr>
          </a:p>
          <a:p>
            <a:pPr algn="just"/>
            <a:r>
              <a:rPr lang="en-US" sz="3600" b="1" dirty="0">
                <a:latin typeface="Consolas" panose="020B0609020204030204" pitchFamily="49" charset="0"/>
              </a:rPr>
              <a:t>Example:</a:t>
            </a:r>
          </a:p>
          <a:p>
            <a:pPr algn="just"/>
            <a:r>
              <a:rPr lang="pt-BR" sz="3600" dirty="0">
                <a:latin typeface="Consolas" panose="020B0609020204030204" pitchFamily="49" charset="0"/>
              </a:rPr>
              <a:t>A = {1, 2, 3, 4}</a:t>
            </a:r>
          </a:p>
          <a:p>
            <a:pPr algn="just"/>
            <a:r>
              <a:rPr lang="pt-BR" sz="3600" dirty="0">
                <a:latin typeface="Consolas" panose="020B0609020204030204" pitchFamily="49" charset="0"/>
              </a:rPr>
              <a:t>B = {3, 4, 5, 6}</a:t>
            </a:r>
          </a:p>
          <a:p>
            <a:pPr algn="just"/>
            <a:endParaRPr lang="pt-BR" sz="3600" dirty="0">
              <a:latin typeface="Consolas" panose="020B0609020204030204" pitchFamily="49" charset="0"/>
            </a:endParaRPr>
          </a:p>
          <a:p>
            <a:pPr algn="just"/>
            <a:r>
              <a:rPr lang="en-US" sz="3600" dirty="0">
                <a:latin typeface="Consolas" panose="020B0609020204030204" pitchFamily="49" charset="0"/>
              </a:rPr>
              <a:t>print(A | B)</a:t>
            </a:r>
          </a:p>
          <a:p>
            <a:pPr algn="just"/>
            <a:r>
              <a:rPr lang="en-US" sz="3600" dirty="0">
                <a:latin typeface="Consolas" panose="020B0609020204030204" pitchFamily="49" charset="0"/>
              </a:rPr>
              <a:t>print(</a:t>
            </a:r>
            <a:r>
              <a:rPr lang="en-US" sz="3600" dirty="0" err="1">
                <a:latin typeface="Consolas" panose="020B0609020204030204" pitchFamily="49" charset="0"/>
              </a:rPr>
              <a:t>A.union</a:t>
            </a:r>
            <a:r>
              <a:rPr lang="en-US" sz="3600" dirty="0">
                <a:latin typeface="Consolas" panose="020B0609020204030204" pitchFamily="49" charset="0"/>
              </a:rPr>
              <a:t>(B)) </a:t>
            </a:r>
          </a:p>
        </p:txBody>
      </p:sp>
    </p:spTree>
    <p:extLst>
      <p:ext uri="{BB962C8B-B14F-4D97-AF65-F5344CB8AC3E}">
        <p14:creationId xmlns:p14="http://schemas.microsoft.com/office/powerpoint/2010/main" val="14348037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C3960-6C54-78DF-863D-C38F780243C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23B05BB-2036-6C4B-A691-B7FEB9DED53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DE76D99B-DA1E-37C8-2E3D-36ED9F8D240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F2270251-19EF-10AD-F464-2FF318C7342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DA130B52-5FDE-6DD3-862B-F8BC9A88A3F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EAFB88C0-CF41-9545-7866-D0D135E9751A}"/>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3BF638B6-30EE-55D2-B325-E586DBD4658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6" name="TextBox 28">
            <a:extLst>
              <a:ext uri="{FF2B5EF4-FFF2-40B4-BE49-F238E27FC236}">
                <a16:creationId xmlns:a16="http://schemas.microsoft.com/office/drawing/2014/main" id="{C61CCDE1-4F49-B81F-3C72-2964B5688BED}"/>
              </a:ext>
            </a:extLst>
          </p:cNvPr>
          <p:cNvSpPr txBox="1"/>
          <p:nvPr/>
        </p:nvSpPr>
        <p:spPr>
          <a:xfrm>
            <a:off x="755855" y="23926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Set Operations</a:t>
            </a:r>
          </a:p>
        </p:txBody>
      </p:sp>
      <p:sp>
        <p:nvSpPr>
          <p:cNvPr id="7" name="TextBox 6">
            <a:extLst>
              <a:ext uri="{FF2B5EF4-FFF2-40B4-BE49-F238E27FC236}">
                <a16:creationId xmlns:a16="http://schemas.microsoft.com/office/drawing/2014/main" id="{80A67330-4271-0397-0A9D-4FB6D3A5BA1E}"/>
              </a:ext>
            </a:extLst>
          </p:cNvPr>
          <p:cNvSpPr txBox="1"/>
          <p:nvPr/>
        </p:nvSpPr>
        <p:spPr>
          <a:xfrm>
            <a:off x="381001" y="2391508"/>
            <a:ext cx="17526000" cy="6186309"/>
          </a:xfrm>
          <a:prstGeom prst="rect">
            <a:avLst/>
          </a:prstGeom>
          <a:noFill/>
        </p:spPr>
        <p:txBody>
          <a:bodyPr wrap="square">
            <a:spAutoFit/>
          </a:bodyPr>
          <a:lstStyle/>
          <a:p>
            <a:pPr algn="just"/>
            <a:r>
              <a:rPr lang="en-US" sz="3600" dirty="0">
                <a:latin typeface="Consolas" panose="020B0609020204030204" pitchFamily="49" charset="0"/>
              </a:rPr>
              <a:t>2. Intersection - elements in A and B. The result is a new set containing elements common to both.</a:t>
            </a:r>
          </a:p>
          <a:p>
            <a:pPr algn="just"/>
            <a:r>
              <a:rPr lang="en-US" sz="3600" b="1" dirty="0">
                <a:latin typeface="Consolas" panose="020B0609020204030204" pitchFamily="49" charset="0"/>
              </a:rPr>
              <a:t>Operator: </a:t>
            </a:r>
            <a:r>
              <a:rPr lang="en-US" sz="3600" dirty="0">
                <a:latin typeface="Consolas" panose="020B0609020204030204" pitchFamily="49" charset="0"/>
              </a:rPr>
              <a:t>A &amp; B</a:t>
            </a:r>
          </a:p>
          <a:p>
            <a:pPr algn="just"/>
            <a:r>
              <a:rPr lang="en-US" sz="3600" b="1" dirty="0">
                <a:latin typeface="Consolas" panose="020B0609020204030204" pitchFamily="49" charset="0"/>
              </a:rPr>
              <a:t>Method: </a:t>
            </a:r>
            <a:r>
              <a:rPr lang="en-US" sz="3600" dirty="0" err="1">
                <a:latin typeface="Consolas" panose="020B0609020204030204" pitchFamily="49" charset="0"/>
              </a:rPr>
              <a:t>A.intersection</a:t>
            </a:r>
            <a:r>
              <a:rPr lang="en-US" sz="3600" dirty="0">
                <a:latin typeface="Consolas" panose="020B0609020204030204" pitchFamily="49" charset="0"/>
              </a:rPr>
              <a:t>(B)</a:t>
            </a:r>
          </a:p>
          <a:p>
            <a:pPr algn="just"/>
            <a:endParaRPr lang="en-US" sz="3600" b="1" dirty="0">
              <a:latin typeface="Consolas" panose="020B0609020204030204" pitchFamily="49" charset="0"/>
            </a:endParaRPr>
          </a:p>
          <a:p>
            <a:pPr algn="just"/>
            <a:r>
              <a:rPr lang="en-US" sz="3600" b="1" dirty="0">
                <a:latin typeface="Consolas" panose="020B0609020204030204" pitchFamily="49" charset="0"/>
              </a:rPr>
              <a:t>Example:</a:t>
            </a:r>
          </a:p>
          <a:p>
            <a:pPr algn="just"/>
            <a:r>
              <a:rPr lang="pt-BR" sz="3600" dirty="0">
                <a:latin typeface="Consolas" panose="020B0609020204030204" pitchFamily="49" charset="0"/>
              </a:rPr>
              <a:t>A = {1, 2, 3, 4}</a:t>
            </a:r>
          </a:p>
          <a:p>
            <a:pPr algn="just"/>
            <a:r>
              <a:rPr lang="pt-BR" sz="3600" dirty="0">
                <a:latin typeface="Consolas" panose="020B0609020204030204" pitchFamily="49" charset="0"/>
              </a:rPr>
              <a:t>B = {3, 4, 5, 6}</a:t>
            </a:r>
          </a:p>
          <a:p>
            <a:pPr algn="just"/>
            <a:endParaRPr lang="pt-BR" sz="3600" dirty="0">
              <a:latin typeface="Consolas" panose="020B0609020204030204" pitchFamily="49" charset="0"/>
            </a:endParaRPr>
          </a:p>
          <a:p>
            <a:pPr algn="just"/>
            <a:r>
              <a:rPr lang="en-US" sz="3600" dirty="0">
                <a:latin typeface="Consolas" panose="020B0609020204030204" pitchFamily="49" charset="0"/>
              </a:rPr>
              <a:t>print(A &amp; B)</a:t>
            </a:r>
          </a:p>
          <a:p>
            <a:pPr algn="just"/>
            <a:r>
              <a:rPr lang="en-US" sz="3600" dirty="0">
                <a:latin typeface="Consolas" panose="020B0609020204030204" pitchFamily="49" charset="0"/>
              </a:rPr>
              <a:t>print(</a:t>
            </a:r>
            <a:r>
              <a:rPr lang="en-US" sz="3600" dirty="0" err="1">
                <a:latin typeface="Consolas" panose="020B0609020204030204" pitchFamily="49" charset="0"/>
              </a:rPr>
              <a:t>A.intersection</a:t>
            </a:r>
            <a:r>
              <a:rPr lang="en-US" sz="3600" dirty="0">
                <a:latin typeface="Consolas" panose="020B0609020204030204" pitchFamily="49" charset="0"/>
              </a:rPr>
              <a:t>(B)) </a:t>
            </a:r>
          </a:p>
        </p:txBody>
      </p:sp>
    </p:spTree>
    <p:extLst>
      <p:ext uri="{BB962C8B-B14F-4D97-AF65-F5344CB8AC3E}">
        <p14:creationId xmlns:p14="http://schemas.microsoft.com/office/powerpoint/2010/main" val="3807862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68ABA-3CFB-420F-5C28-27F56D3E4C4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330108C-736B-1669-8CDB-E7EA0A2A4910}"/>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37924AD-E171-575C-168B-B8F072B92CB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DB97A7A8-13C0-869E-686F-5BCCF3B712E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E06CF8D0-8032-AB7A-4C06-6B50955C3AD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5D9A2F54-5A4B-6CCE-8E6B-5EA30E7F3F71}"/>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C08D96B3-951E-48F4-2C40-F20243728BF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6" name="TextBox 28">
            <a:extLst>
              <a:ext uri="{FF2B5EF4-FFF2-40B4-BE49-F238E27FC236}">
                <a16:creationId xmlns:a16="http://schemas.microsoft.com/office/drawing/2014/main" id="{FAC453E4-18E3-D994-EBE8-8D42888E5D45}"/>
              </a:ext>
            </a:extLst>
          </p:cNvPr>
          <p:cNvSpPr txBox="1"/>
          <p:nvPr/>
        </p:nvSpPr>
        <p:spPr>
          <a:xfrm>
            <a:off x="755855" y="23926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Set Operations</a:t>
            </a:r>
          </a:p>
        </p:txBody>
      </p:sp>
      <p:sp>
        <p:nvSpPr>
          <p:cNvPr id="7" name="TextBox 6">
            <a:extLst>
              <a:ext uri="{FF2B5EF4-FFF2-40B4-BE49-F238E27FC236}">
                <a16:creationId xmlns:a16="http://schemas.microsoft.com/office/drawing/2014/main" id="{4B7E6A7B-1D3F-1B77-B49B-8924750FEB62}"/>
              </a:ext>
            </a:extLst>
          </p:cNvPr>
          <p:cNvSpPr txBox="1"/>
          <p:nvPr/>
        </p:nvSpPr>
        <p:spPr>
          <a:xfrm>
            <a:off x="381001" y="2391508"/>
            <a:ext cx="17526000" cy="6186309"/>
          </a:xfrm>
          <a:prstGeom prst="rect">
            <a:avLst/>
          </a:prstGeom>
          <a:noFill/>
        </p:spPr>
        <p:txBody>
          <a:bodyPr wrap="square">
            <a:spAutoFit/>
          </a:bodyPr>
          <a:lstStyle/>
          <a:p>
            <a:pPr algn="just"/>
            <a:r>
              <a:rPr lang="en-US" sz="3600" dirty="0">
                <a:latin typeface="Consolas" panose="020B0609020204030204" pitchFamily="49" charset="0"/>
              </a:rPr>
              <a:t>3. Difference - elements in A but not in B. The result is a new set containing elements from A that are not present in B.</a:t>
            </a:r>
          </a:p>
          <a:p>
            <a:pPr algn="just"/>
            <a:r>
              <a:rPr lang="en-US" sz="3600" b="1" dirty="0">
                <a:latin typeface="Consolas" panose="020B0609020204030204" pitchFamily="49" charset="0"/>
              </a:rPr>
              <a:t>Operator: </a:t>
            </a:r>
            <a:r>
              <a:rPr lang="en-US" sz="3600" dirty="0">
                <a:latin typeface="Consolas" panose="020B0609020204030204" pitchFamily="49" charset="0"/>
              </a:rPr>
              <a:t>A - B</a:t>
            </a:r>
          </a:p>
          <a:p>
            <a:pPr algn="just"/>
            <a:r>
              <a:rPr lang="en-US" sz="3600" b="1" dirty="0">
                <a:latin typeface="Consolas" panose="020B0609020204030204" pitchFamily="49" charset="0"/>
              </a:rPr>
              <a:t>Method: </a:t>
            </a:r>
            <a:r>
              <a:rPr lang="en-US" sz="3600" dirty="0" err="1">
                <a:latin typeface="Consolas" panose="020B0609020204030204" pitchFamily="49" charset="0"/>
              </a:rPr>
              <a:t>A.difference</a:t>
            </a:r>
            <a:r>
              <a:rPr lang="en-US" sz="3600" dirty="0">
                <a:latin typeface="Consolas" panose="020B0609020204030204" pitchFamily="49" charset="0"/>
              </a:rPr>
              <a:t>(B)</a:t>
            </a:r>
          </a:p>
          <a:p>
            <a:pPr algn="just"/>
            <a:endParaRPr lang="en-US" sz="3600" b="1" dirty="0">
              <a:latin typeface="Consolas" panose="020B0609020204030204" pitchFamily="49" charset="0"/>
            </a:endParaRPr>
          </a:p>
          <a:p>
            <a:pPr algn="just"/>
            <a:r>
              <a:rPr lang="en-US" sz="3600" b="1" dirty="0">
                <a:latin typeface="Consolas" panose="020B0609020204030204" pitchFamily="49" charset="0"/>
              </a:rPr>
              <a:t>Example:</a:t>
            </a:r>
          </a:p>
          <a:p>
            <a:pPr algn="just"/>
            <a:r>
              <a:rPr lang="pt-BR" sz="3600" dirty="0">
                <a:latin typeface="Consolas" panose="020B0609020204030204" pitchFamily="49" charset="0"/>
              </a:rPr>
              <a:t>A = {1, 2, 3, 4}</a:t>
            </a:r>
          </a:p>
          <a:p>
            <a:pPr algn="just"/>
            <a:r>
              <a:rPr lang="pt-BR" sz="3600" dirty="0">
                <a:latin typeface="Consolas" panose="020B0609020204030204" pitchFamily="49" charset="0"/>
              </a:rPr>
              <a:t>B = {3, 4, 5, 6}</a:t>
            </a:r>
          </a:p>
          <a:p>
            <a:pPr algn="just"/>
            <a:endParaRPr lang="pt-BR" sz="3600" dirty="0">
              <a:latin typeface="Consolas" panose="020B0609020204030204" pitchFamily="49" charset="0"/>
            </a:endParaRPr>
          </a:p>
          <a:p>
            <a:pPr algn="just"/>
            <a:r>
              <a:rPr lang="en-US" sz="3600" dirty="0">
                <a:latin typeface="Consolas" panose="020B0609020204030204" pitchFamily="49" charset="0"/>
              </a:rPr>
              <a:t>print(A - B)</a:t>
            </a:r>
          </a:p>
          <a:p>
            <a:pPr algn="just"/>
            <a:r>
              <a:rPr lang="en-US" sz="3600" dirty="0">
                <a:latin typeface="Consolas" panose="020B0609020204030204" pitchFamily="49" charset="0"/>
              </a:rPr>
              <a:t>print(</a:t>
            </a:r>
            <a:r>
              <a:rPr lang="en-US" sz="3600" dirty="0" err="1">
                <a:latin typeface="Consolas" panose="020B0609020204030204" pitchFamily="49" charset="0"/>
              </a:rPr>
              <a:t>A.difference</a:t>
            </a:r>
            <a:r>
              <a:rPr lang="en-US" sz="3600" dirty="0">
                <a:latin typeface="Consolas" panose="020B0609020204030204" pitchFamily="49" charset="0"/>
              </a:rPr>
              <a:t>(B)) </a:t>
            </a:r>
          </a:p>
        </p:txBody>
      </p:sp>
    </p:spTree>
    <p:extLst>
      <p:ext uri="{BB962C8B-B14F-4D97-AF65-F5344CB8AC3E}">
        <p14:creationId xmlns:p14="http://schemas.microsoft.com/office/powerpoint/2010/main" val="14394196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7C0A3-EB75-1584-91F4-D814BE0CBD6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3735F29-195D-C15D-2B33-46978B553CFE}"/>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22DD7C4-6D2A-9B13-7BDE-16539195877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D489B6A-85E8-6715-6AB2-0FBEF395A23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51981524-CC60-BE12-05FE-F46632A3C36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00FCC05-4C1F-A5F7-6431-971AD97A3558}"/>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DCC83595-33A7-FB03-0F2C-12F0FA5B97B1}"/>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6" name="TextBox 28">
            <a:extLst>
              <a:ext uri="{FF2B5EF4-FFF2-40B4-BE49-F238E27FC236}">
                <a16:creationId xmlns:a16="http://schemas.microsoft.com/office/drawing/2014/main" id="{0154F0B1-6152-FAA7-8DE6-C9F0F52EA93A}"/>
              </a:ext>
            </a:extLst>
          </p:cNvPr>
          <p:cNvSpPr txBox="1"/>
          <p:nvPr/>
        </p:nvSpPr>
        <p:spPr>
          <a:xfrm>
            <a:off x="755855" y="23926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Set Operations</a:t>
            </a:r>
          </a:p>
        </p:txBody>
      </p:sp>
      <p:sp>
        <p:nvSpPr>
          <p:cNvPr id="7" name="TextBox 6">
            <a:extLst>
              <a:ext uri="{FF2B5EF4-FFF2-40B4-BE49-F238E27FC236}">
                <a16:creationId xmlns:a16="http://schemas.microsoft.com/office/drawing/2014/main" id="{7C723791-D74F-2F6D-7576-D48717AD47E1}"/>
              </a:ext>
            </a:extLst>
          </p:cNvPr>
          <p:cNvSpPr txBox="1"/>
          <p:nvPr/>
        </p:nvSpPr>
        <p:spPr>
          <a:xfrm>
            <a:off x="381001" y="2391508"/>
            <a:ext cx="17526000" cy="6740307"/>
          </a:xfrm>
          <a:prstGeom prst="rect">
            <a:avLst/>
          </a:prstGeom>
          <a:noFill/>
        </p:spPr>
        <p:txBody>
          <a:bodyPr wrap="square">
            <a:spAutoFit/>
          </a:bodyPr>
          <a:lstStyle/>
          <a:p>
            <a:pPr algn="just"/>
            <a:r>
              <a:rPr lang="en-US" sz="3600" dirty="0">
                <a:latin typeface="Consolas" panose="020B0609020204030204" pitchFamily="49" charset="0"/>
              </a:rPr>
              <a:t>4. Symmetric Difference - elements in A or B but not both (exclusive OR). The result is a new set containing elements from A that are not present in B.</a:t>
            </a:r>
          </a:p>
          <a:p>
            <a:pPr algn="just"/>
            <a:r>
              <a:rPr lang="en-US" sz="3600" b="1" dirty="0">
                <a:latin typeface="Consolas" panose="020B0609020204030204" pitchFamily="49" charset="0"/>
              </a:rPr>
              <a:t>Operator: </a:t>
            </a:r>
            <a:r>
              <a:rPr lang="en-US" sz="3600" dirty="0">
                <a:latin typeface="Consolas" panose="020B0609020204030204" pitchFamily="49" charset="0"/>
              </a:rPr>
              <a:t>A ^ B</a:t>
            </a:r>
          </a:p>
          <a:p>
            <a:pPr algn="just"/>
            <a:r>
              <a:rPr lang="en-US" sz="3600" b="1" dirty="0">
                <a:latin typeface="Consolas" panose="020B0609020204030204" pitchFamily="49" charset="0"/>
              </a:rPr>
              <a:t>Method: </a:t>
            </a:r>
            <a:r>
              <a:rPr lang="en-US" sz="3600" dirty="0" err="1">
                <a:latin typeface="Consolas" panose="020B0609020204030204" pitchFamily="49" charset="0"/>
              </a:rPr>
              <a:t>A.symmetric_difference</a:t>
            </a:r>
            <a:r>
              <a:rPr lang="en-US" sz="3600" dirty="0">
                <a:latin typeface="Consolas" panose="020B0609020204030204" pitchFamily="49" charset="0"/>
              </a:rPr>
              <a:t>(B)</a:t>
            </a:r>
          </a:p>
          <a:p>
            <a:pPr algn="just"/>
            <a:endParaRPr lang="en-US" sz="3600" b="1" dirty="0">
              <a:latin typeface="Consolas" panose="020B0609020204030204" pitchFamily="49" charset="0"/>
            </a:endParaRPr>
          </a:p>
          <a:p>
            <a:pPr algn="just"/>
            <a:r>
              <a:rPr lang="en-US" sz="3600" b="1" dirty="0">
                <a:latin typeface="Consolas" panose="020B0609020204030204" pitchFamily="49" charset="0"/>
              </a:rPr>
              <a:t>Example:</a:t>
            </a:r>
          </a:p>
          <a:p>
            <a:pPr algn="just"/>
            <a:r>
              <a:rPr lang="pt-BR" sz="3600" dirty="0">
                <a:latin typeface="Consolas" panose="020B0609020204030204" pitchFamily="49" charset="0"/>
              </a:rPr>
              <a:t>A = {1, 2, 3, 4}</a:t>
            </a:r>
          </a:p>
          <a:p>
            <a:pPr algn="just"/>
            <a:r>
              <a:rPr lang="pt-BR" sz="3600" dirty="0">
                <a:latin typeface="Consolas" panose="020B0609020204030204" pitchFamily="49" charset="0"/>
              </a:rPr>
              <a:t>B = {3, 4, 5, 6}</a:t>
            </a:r>
          </a:p>
          <a:p>
            <a:pPr algn="just"/>
            <a:endParaRPr lang="pt-BR" sz="3600" dirty="0">
              <a:latin typeface="Consolas" panose="020B0609020204030204" pitchFamily="49" charset="0"/>
            </a:endParaRPr>
          </a:p>
          <a:p>
            <a:pPr algn="just"/>
            <a:r>
              <a:rPr lang="en-US" sz="3600" dirty="0">
                <a:latin typeface="Consolas" panose="020B0609020204030204" pitchFamily="49" charset="0"/>
              </a:rPr>
              <a:t>print(A ^ B)</a:t>
            </a:r>
          </a:p>
          <a:p>
            <a:pPr algn="just"/>
            <a:r>
              <a:rPr lang="en-US" sz="3600" dirty="0">
                <a:latin typeface="Consolas" panose="020B0609020204030204" pitchFamily="49" charset="0"/>
              </a:rPr>
              <a:t>print(</a:t>
            </a:r>
            <a:r>
              <a:rPr lang="en-US" sz="3600" dirty="0" err="1">
                <a:latin typeface="Consolas" panose="020B0609020204030204" pitchFamily="49" charset="0"/>
              </a:rPr>
              <a:t>A.symmetric_difference</a:t>
            </a:r>
            <a:r>
              <a:rPr lang="en-US" sz="3600" dirty="0">
                <a:latin typeface="Consolas" panose="020B0609020204030204" pitchFamily="49" charset="0"/>
              </a:rPr>
              <a:t>(B)) </a:t>
            </a:r>
          </a:p>
        </p:txBody>
      </p:sp>
    </p:spTree>
    <p:extLst>
      <p:ext uri="{BB962C8B-B14F-4D97-AF65-F5344CB8AC3E}">
        <p14:creationId xmlns:p14="http://schemas.microsoft.com/office/powerpoint/2010/main" val="12746209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8310A-8994-49A5-837C-D8B515BED25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D56BB36-AD94-8501-B0DB-D4F76992977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CAD7A25-FBC9-9C75-5E7A-29717D5A31A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D814CBF0-70FB-65B8-BB1F-73A9162CF29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0FA3AE8D-1DBD-3E36-351E-842629B2859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2E2F487B-8CA2-55B8-CFD5-73DF1D2303D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B0E55E1C-4E63-4047-5BE1-904BA401F85B}"/>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6" name="TextBox 28">
            <a:extLst>
              <a:ext uri="{FF2B5EF4-FFF2-40B4-BE49-F238E27FC236}">
                <a16:creationId xmlns:a16="http://schemas.microsoft.com/office/drawing/2014/main" id="{2353604A-54D4-3995-E3CF-F5B4C2532292}"/>
              </a:ext>
            </a:extLst>
          </p:cNvPr>
          <p:cNvSpPr txBox="1"/>
          <p:nvPr/>
        </p:nvSpPr>
        <p:spPr>
          <a:xfrm>
            <a:off x="755855" y="23926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Subset / Superset / Disjoint tests</a:t>
            </a:r>
          </a:p>
        </p:txBody>
      </p:sp>
      <p:sp>
        <p:nvSpPr>
          <p:cNvPr id="7" name="TextBox 6">
            <a:extLst>
              <a:ext uri="{FF2B5EF4-FFF2-40B4-BE49-F238E27FC236}">
                <a16:creationId xmlns:a16="http://schemas.microsoft.com/office/drawing/2014/main" id="{2B440841-9051-5B08-829C-2875A5CA012F}"/>
              </a:ext>
            </a:extLst>
          </p:cNvPr>
          <p:cNvSpPr txBox="1"/>
          <p:nvPr/>
        </p:nvSpPr>
        <p:spPr>
          <a:xfrm>
            <a:off x="381001" y="2391508"/>
            <a:ext cx="17526000" cy="7294305"/>
          </a:xfrm>
          <a:prstGeom prst="rect">
            <a:avLst/>
          </a:prstGeom>
          <a:noFill/>
        </p:spPr>
        <p:txBody>
          <a:bodyPr wrap="square">
            <a:spAutoFit/>
          </a:bodyPr>
          <a:lstStyle/>
          <a:p>
            <a:pPr marL="571500" indent="-571500" algn="just">
              <a:buFont typeface="Wingdings" panose="05000000000000000000" pitchFamily="2" charset="2"/>
              <a:buChar char="ü"/>
            </a:pPr>
            <a:r>
              <a:rPr lang="en-US" sz="3600" dirty="0" err="1">
                <a:latin typeface="Consolas" panose="020B0609020204030204" pitchFamily="49" charset="0"/>
              </a:rPr>
              <a:t>A.issubset</a:t>
            </a:r>
            <a:r>
              <a:rPr lang="en-US" sz="3600" dirty="0">
                <a:latin typeface="Consolas" panose="020B0609020204030204" pitchFamily="49" charset="0"/>
              </a:rPr>
              <a:t>(B) or A &lt;= B — every element of A is in B.</a:t>
            </a:r>
          </a:p>
          <a:p>
            <a:pPr marL="571500" indent="-571500" algn="just">
              <a:buFont typeface="Wingdings" panose="05000000000000000000" pitchFamily="2" charset="2"/>
              <a:buChar char="ü"/>
            </a:pPr>
            <a:r>
              <a:rPr lang="en-US" sz="3600" dirty="0" err="1">
                <a:latin typeface="Consolas" panose="020B0609020204030204" pitchFamily="49" charset="0"/>
              </a:rPr>
              <a:t>A.issuperset</a:t>
            </a:r>
            <a:r>
              <a:rPr lang="en-US" sz="3600" dirty="0">
                <a:latin typeface="Consolas" panose="020B0609020204030204" pitchFamily="49" charset="0"/>
              </a:rPr>
              <a:t>(B) or A &gt;= B — every element of B is in A.</a:t>
            </a:r>
          </a:p>
          <a:p>
            <a:pPr marL="571500" indent="-571500" algn="just">
              <a:buFont typeface="Wingdings" panose="05000000000000000000" pitchFamily="2" charset="2"/>
              <a:buChar char="ü"/>
            </a:pPr>
            <a:r>
              <a:rPr lang="en-US" sz="3600" dirty="0" err="1">
                <a:latin typeface="Consolas" panose="020B0609020204030204" pitchFamily="49" charset="0"/>
              </a:rPr>
              <a:t>A.isdisjoint</a:t>
            </a:r>
            <a:r>
              <a:rPr lang="en-US" sz="3600" dirty="0">
                <a:latin typeface="Consolas" panose="020B0609020204030204" pitchFamily="49" charset="0"/>
              </a:rPr>
              <a:t>(B) — returns True if A and B have no elements in common.</a:t>
            </a:r>
          </a:p>
          <a:p>
            <a:pPr marL="571500" indent="-571500" algn="just">
              <a:buFont typeface="Wingdings" panose="05000000000000000000" pitchFamily="2" charset="2"/>
              <a:buChar char="ü"/>
            </a:pPr>
            <a:endParaRPr lang="en-US" sz="3600" dirty="0">
              <a:latin typeface="Consolas" panose="020B0609020204030204" pitchFamily="49" charset="0"/>
            </a:endParaRPr>
          </a:p>
          <a:p>
            <a:pPr algn="just"/>
            <a:r>
              <a:rPr lang="en-US" sz="3600" b="1" dirty="0">
                <a:latin typeface="Consolas" panose="020B0609020204030204" pitchFamily="49" charset="0"/>
              </a:rPr>
              <a:t>Example:</a:t>
            </a:r>
          </a:p>
          <a:p>
            <a:pPr algn="just"/>
            <a:endParaRPr lang="en-US" sz="3600" b="1" dirty="0">
              <a:latin typeface="Consolas" panose="020B0609020204030204" pitchFamily="49" charset="0"/>
            </a:endParaRPr>
          </a:p>
          <a:p>
            <a:pPr algn="just"/>
            <a:r>
              <a:rPr lang="en-US" sz="3600" dirty="0">
                <a:latin typeface="Consolas" panose="020B0609020204030204" pitchFamily="49" charset="0"/>
              </a:rPr>
              <a:t>X = {1,2}</a:t>
            </a:r>
          </a:p>
          <a:p>
            <a:pPr algn="just"/>
            <a:r>
              <a:rPr lang="en-US" sz="3600" dirty="0">
                <a:latin typeface="Consolas" panose="020B0609020204030204" pitchFamily="49" charset="0"/>
              </a:rPr>
              <a:t>Y = {1,2,3}</a:t>
            </a:r>
          </a:p>
          <a:p>
            <a:pPr algn="just"/>
            <a:r>
              <a:rPr lang="en-US" sz="3600" dirty="0">
                <a:latin typeface="Consolas" panose="020B0609020204030204" pitchFamily="49" charset="0"/>
              </a:rPr>
              <a:t>print(</a:t>
            </a:r>
            <a:r>
              <a:rPr lang="en-US" sz="3600" dirty="0" err="1">
                <a:latin typeface="Consolas" panose="020B0609020204030204" pitchFamily="49" charset="0"/>
              </a:rPr>
              <a:t>X.issubset</a:t>
            </a:r>
            <a:r>
              <a:rPr lang="en-US" sz="3600" dirty="0">
                <a:latin typeface="Consolas" panose="020B0609020204030204" pitchFamily="49" charset="0"/>
              </a:rPr>
              <a:t>(Y))</a:t>
            </a:r>
          </a:p>
          <a:p>
            <a:pPr algn="just"/>
            <a:r>
              <a:rPr lang="en-US" sz="3600" dirty="0">
                <a:latin typeface="Consolas" panose="020B0609020204030204" pitchFamily="49" charset="0"/>
              </a:rPr>
              <a:t>print(</a:t>
            </a:r>
            <a:r>
              <a:rPr lang="en-US" sz="3600" dirty="0" err="1">
                <a:latin typeface="Consolas" panose="020B0609020204030204" pitchFamily="49" charset="0"/>
              </a:rPr>
              <a:t>Y.issuperset</a:t>
            </a:r>
            <a:r>
              <a:rPr lang="en-US" sz="3600" dirty="0">
                <a:latin typeface="Consolas" panose="020B0609020204030204" pitchFamily="49" charset="0"/>
              </a:rPr>
              <a:t>(X))</a:t>
            </a:r>
          </a:p>
          <a:p>
            <a:pPr algn="just"/>
            <a:r>
              <a:rPr lang="en-US" sz="3600" dirty="0">
                <a:latin typeface="Consolas" panose="020B0609020204030204" pitchFamily="49" charset="0"/>
              </a:rPr>
              <a:t>print(</a:t>
            </a:r>
            <a:r>
              <a:rPr lang="en-US" sz="3600" dirty="0" err="1">
                <a:latin typeface="Consolas" panose="020B0609020204030204" pitchFamily="49" charset="0"/>
              </a:rPr>
              <a:t>X.isdisjoint</a:t>
            </a:r>
            <a:r>
              <a:rPr lang="en-US" sz="3600" dirty="0">
                <a:latin typeface="Consolas" panose="020B0609020204030204" pitchFamily="49" charset="0"/>
              </a:rPr>
              <a:t>(Y))</a:t>
            </a:r>
          </a:p>
          <a:p>
            <a:pPr algn="just"/>
            <a:endParaRPr lang="en-US" sz="3600" b="1" dirty="0">
              <a:latin typeface="Consolas" panose="020B0609020204030204" pitchFamily="49" charset="0"/>
            </a:endParaRPr>
          </a:p>
        </p:txBody>
      </p:sp>
    </p:spTree>
    <p:extLst>
      <p:ext uri="{BB962C8B-B14F-4D97-AF65-F5344CB8AC3E}">
        <p14:creationId xmlns:p14="http://schemas.microsoft.com/office/powerpoint/2010/main" val="1323418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5665</TotalTime>
  <Words>3156</Words>
  <Application>Microsoft Office PowerPoint</Application>
  <PresentationFormat>Custom</PresentationFormat>
  <Paragraphs>624</Paragraphs>
  <Slides>50</Slides>
  <Notes>50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Consolas</vt:lpstr>
      <vt:lpstr>Wingdings</vt:lpstr>
      <vt:lpstr>Calibri</vt:lpstr>
      <vt:lpstr>Aptos</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 4 - Lesson 5</dc:title>
  <dc:creator>DENVER</dc:creator>
  <cp:lastModifiedBy>Mark Denver Adora</cp:lastModifiedBy>
  <cp:revision>235</cp:revision>
  <dcterms:created xsi:type="dcterms:W3CDTF">2006-08-16T00:00:00Z</dcterms:created>
  <dcterms:modified xsi:type="dcterms:W3CDTF">2025-11-27T02:27:39Z</dcterms:modified>
  <dc:identifier>DAGH1tVytZk</dc:identifier>
</cp:coreProperties>
</file>