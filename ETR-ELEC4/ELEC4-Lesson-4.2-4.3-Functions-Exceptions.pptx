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4"/>
  </p:notesMasterIdLst>
  <p:handoutMasterIdLst>
    <p:handoutMasterId r:id="rId55"/>
  </p:handoutMasterIdLst>
  <p:sldIdLst>
    <p:sldId id="256" r:id="rId2"/>
    <p:sldId id="494" r:id="rId3"/>
    <p:sldId id="426" r:id="rId4"/>
    <p:sldId id="495" r:id="rId5"/>
    <p:sldId id="524" r:id="rId6"/>
    <p:sldId id="525" r:id="rId7"/>
    <p:sldId id="496" r:id="rId8"/>
    <p:sldId id="497" r:id="rId9"/>
    <p:sldId id="498" r:id="rId10"/>
    <p:sldId id="500" r:id="rId11"/>
    <p:sldId id="542" r:id="rId12"/>
    <p:sldId id="499" r:id="rId13"/>
    <p:sldId id="492" r:id="rId14"/>
    <p:sldId id="501" r:id="rId15"/>
    <p:sldId id="503" r:id="rId16"/>
    <p:sldId id="519" r:id="rId17"/>
    <p:sldId id="504" r:id="rId18"/>
    <p:sldId id="520" r:id="rId19"/>
    <p:sldId id="505" r:id="rId20"/>
    <p:sldId id="506" r:id="rId21"/>
    <p:sldId id="521" r:id="rId22"/>
    <p:sldId id="507" r:id="rId23"/>
    <p:sldId id="508" r:id="rId24"/>
    <p:sldId id="509" r:id="rId25"/>
    <p:sldId id="511" r:id="rId26"/>
    <p:sldId id="513" r:id="rId27"/>
    <p:sldId id="514" r:id="rId28"/>
    <p:sldId id="510" r:id="rId29"/>
    <p:sldId id="512" r:id="rId30"/>
    <p:sldId id="515" r:id="rId31"/>
    <p:sldId id="522" r:id="rId32"/>
    <p:sldId id="516" r:id="rId33"/>
    <p:sldId id="517" r:id="rId34"/>
    <p:sldId id="518" r:id="rId35"/>
    <p:sldId id="523" r:id="rId36"/>
    <p:sldId id="468" r:id="rId37"/>
    <p:sldId id="526" r:id="rId38"/>
    <p:sldId id="527" r:id="rId39"/>
    <p:sldId id="528" r:id="rId40"/>
    <p:sldId id="529" r:id="rId41"/>
    <p:sldId id="530" r:id="rId42"/>
    <p:sldId id="531" r:id="rId43"/>
    <p:sldId id="534" r:id="rId44"/>
    <p:sldId id="533" r:id="rId45"/>
    <p:sldId id="532" r:id="rId46"/>
    <p:sldId id="535" r:id="rId47"/>
    <p:sldId id="536" r:id="rId48"/>
    <p:sldId id="537" r:id="rId49"/>
    <p:sldId id="538" r:id="rId50"/>
    <p:sldId id="539" r:id="rId51"/>
    <p:sldId id="540" r:id="rId52"/>
    <p:sldId id="541" r:id="rId53"/>
  </p:sldIdLst>
  <p:sldSz cx="18288000" cy="10287000"/>
  <p:notesSz cx="6858000" cy="9144000"/>
  <p:embeddedFontLst>
    <p:embeddedFont>
      <p:font typeface="Consolas" panose="020B0609020204030204" pitchFamily="49" charset="0"/>
      <p:regular r:id="rId56"/>
      <p:bold r:id="rId57"/>
      <p:italic r:id="rId58"/>
      <p:boldItalic r:id="rId5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1D1"/>
    <a:srgbClr val="4D4D4D"/>
    <a:srgbClr val="33FB63"/>
    <a:srgbClr val="F49210"/>
    <a:srgbClr val="2A2A43"/>
    <a:srgbClr val="F1FEA0"/>
    <a:srgbClr val="FF993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56" autoAdjust="0"/>
    <p:restoredTop sz="84052" autoAdjust="0"/>
  </p:normalViewPr>
  <p:slideViewPr>
    <p:cSldViewPr>
      <p:cViewPr varScale="1">
        <p:scale>
          <a:sx n="44" d="100"/>
          <a:sy n="44" d="100"/>
        </p:scale>
        <p:origin x="87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E22CC0-1243-338F-5CAD-E7A5B1EE0E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A8E39-795D-D837-9A04-090F9A1419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5907F-8ED1-4449-8AB2-425B109C6DAB}" type="datetimeFigureOut">
              <a:rPr lang="en-PH" smtClean="0"/>
              <a:t>07/10/2025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079AC-EB4A-C6F4-35A4-C5166122BE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FEE0C-CAF7-534F-B1B6-7CB0184B27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C40E73-B33C-482E-B21A-1E3DE061AD4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482812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C21506-B2BE-43BC-8C27-BC2C4DAF9131}" type="datetimeFigureOut">
              <a:rPr lang="en-PH" smtClean="0"/>
              <a:t>07/10/2025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38AF-BC93-4612-8619-54F4BB1E39A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54664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41104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19CC6-E514-6E98-A138-C34C837F2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955E1-ED26-4658-4620-CD47BFC31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DD6E4-A260-40CA-8511-7A25BAEBC9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AAD71-6992-9676-A54B-BC76A61F33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19717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7AC63-5DA0-56A2-565D-C09D6D3BD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A7945-44BD-D014-28D4-C24FFE25D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CE4E3-22BE-120F-6AD5-9170C9EE4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57C04-8F42-5B55-2C7E-5AC8FB3ED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9891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0CEFB-11C5-19FF-4C51-069806547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23DFF6-C1AD-A16B-F8ED-A814F5C54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AA29F-644A-BC19-892B-FDA35E3F1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23BBF-E14F-3CE3-512F-B5CA6C47E7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5395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6C0F0-019E-D79D-44E5-FF52BDFD7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A472C1-8C08-FFD3-98D2-4C3CEAF45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13D0A7-10E5-ADE8-986F-49C259A00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C1315-E2B6-2F59-D4A7-8065D1557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0104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FFCE3-E007-997A-0A6F-FFBB40217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349DF4-F550-A86C-E1C0-EBB7CAC3D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B77B0-011C-6323-3927-FCF1DF3F0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07BEF-61C4-911C-342C-BC0F7853A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26935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E1981-4479-5FE6-B896-1994CD5BE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9116B-1C12-6537-A2C7-A3482A9C5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A0962-B15A-AF3C-39C4-73ADE60A3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3E392-AF42-CC91-2A9B-CA0E96E9C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34282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89A5C-97B7-4CB9-BC50-7DBEF0F72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278109-B262-E67C-CBE7-3652B4BCE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CC8991-FFB7-7C53-228C-44B150A40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DF4C3-A6D5-637D-7BB4-5958B98BA3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80544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80233-8B59-AA4D-05C7-0B0D78811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F5F05-5139-F832-C4CD-D3AB3103F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EF1D51-255C-7C0B-CE4C-873A6E06C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1123E-C253-FCAF-211C-5CAAFFAFC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871161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FBF4E-B413-E8CD-5E38-46F0AAFC5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634268-1944-022B-76E3-B99646376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645FCD-453D-2A65-4615-4856935D6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CF020-798A-8ECF-1929-69CAF3B3EE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24574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9B731-57B6-E586-B376-CA4CC77F4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E7258-F3DC-4D8E-F62F-0BBA8D44C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D246F-91C0-E6A6-B187-DB26E4E17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B92E0-4A93-6DEB-800E-5B3FE15BBA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4250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B019B-D36F-9411-2348-89282B59F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65E986-C698-167D-2369-BD66491B5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44AC00-B52E-3A93-EA2D-597CA2378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09707-82FC-02F6-8E3C-2787CEB88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322562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D5C53-27D5-1B23-8A89-749810D5F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66D1CC-B5CD-444F-EC93-C36896195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CF48B4-6C96-97A4-8478-BE43AE5C6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600" dirty="0"/>
              <a:t>scores  = {}</a:t>
            </a:r>
          </a:p>
          <a:p>
            <a:pPr algn="l"/>
            <a:r>
              <a:rPr lang="en-US" sz="1600" dirty="0"/>
              <a:t>count = 0</a:t>
            </a:r>
          </a:p>
          <a:p>
            <a:pPr algn="l"/>
            <a:r>
              <a:rPr lang="en-US" sz="1600" dirty="0"/>
              <a:t>while True:</a:t>
            </a:r>
          </a:p>
          <a:p>
            <a:pPr algn="l"/>
            <a:r>
              <a:rPr lang="en-US" sz="1600" dirty="0"/>
              <a:t>    score = input("Enter score: ").strip()</a:t>
            </a:r>
          </a:p>
          <a:p>
            <a:pPr algn="l"/>
            <a:r>
              <a:rPr lang="en-US" sz="1600" dirty="0"/>
              <a:t>    if </a:t>
            </a:r>
            <a:r>
              <a:rPr lang="en-US" sz="1600" dirty="0" err="1"/>
              <a:t>score.isnumeric</a:t>
            </a:r>
            <a:r>
              <a:rPr lang="en-US" sz="1600" dirty="0"/>
              <a:t>():</a:t>
            </a:r>
          </a:p>
          <a:p>
            <a:pPr algn="l"/>
            <a:r>
              <a:rPr lang="en-US" sz="1600" dirty="0"/>
              <a:t>        </a:t>
            </a:r>
            <a:r>
              <a:rPr lang="en-US" sz="1600" dirty="0" err="1"/>
              <a:t>scores.update</a:t>
            </a:r>
            <a:r>
              <a:rPr lang="en-US" sz="1600" dirty="0"/>
              <a:t>({count : int(score)})</a:t>
            </a:r>
          </a:p>
          <a:p>
            <a:pPr algn="l"/>
            <a:r>
              <a:rPr lang="en-US" sz="1600" dirty="0"/>
              <a:t>        count += 1</a:t>
            </a:r>
          </a:p>
          <a:p>
            <a:pPr algn="l"/>
            <a:r>
              <a:rPr lang="en-US" sz="1600" dirty="0"/>
              <a:t>    else:</a:t>
            </a:r>
          </a:p>
          <a:p>
            <a:pPr algn="l"/>
            <a:r>
              <a:rPr lang="en-US" sz="1600" dirty="0"/>
              <a:t>        if score == "-1":</a:t>
            </a:r>
          </a:p>
          <a:p>
            <a:pPr algn="l"/>
            <a:r>
              <a:rPr lang="en-US" sz="1600" dirty="0"/>
              <a:t>            break</a:t>
            </a:r>
          </a:p>
          <a:p>
            <a:pPr algn="l"/>
            <a:r>
              <a:rPr lang="en-US" sz="1600" dirty="0"/>
              <a:t>        print("Invalid score")</a:t>
            </a:r>
          </a:p>
          <a:p>
            <a:pPr algn="l"/>
            <a:r>
              <a:rPr lang="en-US" sz="1600" dirty="0"/>
              <a:t>total = 0</a:t>
            </a:r>
          </a:p>
          <a:p>
            <a:pPr algn="l"/>
            <a:r>
              <a:rPr lang="en-US" sz="1600" dirty="0"/>
              <a:t>for index, score in enumerate(</a:t>
            </a:r>
            <a:r>
              <a:rPr lang="en-US" sz="1600" dirty="0" err="1"/>
              <a:t>scores.values</a:t>
            </a:r>
            <a:r>
              <a:rPr lang="en-US" sz="1600" dirty="0"/>
              <a:t>(), start =1):</a:t>
            </a:r>
          </a:p>
          <a:p>
            <a:pPr algn="l"/>
            <a:r>
              <a:rPr lang="en-US" sz="1600" dirty="0"/>
              <a:t>    print(f"{index}. {score}")</a:t>
            </a:r>
          </a:p>
          <a:p>
            <a:pPr algn="l"/>
            <a:r>
              <a:rPr lang="en-US" sz="1600" dirty="0"/>
              <a:t>    total += score</a:t>
            </a:r>
          </a:p>
          <a:p>
            <a:pPr algn="l"/>
            <a:r>
              <a:rPr lang="en-US" sz="1600" dirty="0"/>
              <a:t>if </a:t>
            </a:r>
            <a:r>
              <a:rPr lang="en-US" sz="1600" dirty="0" err="1"/>
              <a:t>len</a:t>
            </a:r>
            <a:r>
              <a:rPr lang="en-US" sz="1600" dirty="0"/>
              <a:t>(scores) != 0:</a:t>
            </a:r>
          </a:p>
          <a:p>
            <a:pPr algn="l"/>
            <a:r>
              <a:rPr lang="en-US" sz="1600" dirty="0"/>
              <a:t>    print(</a:t>
            </a:r>
            <a:r>
              <a:rPr lang="en-US" sz="1600" dirty="0" err="1"/>
              <a:t>f"Highest</a:t>
            </a:r>
            <a:r>
              <a:rPr lang="en-US" sz="1600" dirty="0"/>
              <a:t> Score: {max(</a:t>
            </a:r>
            <a:r>
              <a:rPr lang="en-US" sz="1600" dirty="0" err="1"/>
              <a:t>scores.values</a:t>
            </a:r>
            <a:r>
              <a:rPr lang="en-US" sz="1600" dirty="0"/>
              <a:t>())}")</a:t>
            </a:r>
          </a:p>
          <a:p>
            <a:pPr algn="l"/>
            <a:r>
              <a:rPr lang="en-US" sz="1600" dirty="0"/>
              <a:t>    print(</a:t>
            </a:r>
            <a:r>
              <a:rPr lang="en-US" sz="1600" dirty="0" err="1"/>
              <a:t>f"Lowest</a:t>
            </a:r>
            <a:r>
              <a:rPr lang="en-US" sz="1600" dirty="0"/>
              <a:t> Score: {min(</a:t>
            </a:r>
            <a:r>
              <a:rPr lang="en-US" sz="1600" dirty="0" err="1"/>
              <a:t>scores.values</a:t>
            </a:r>
            <a:r>
              <a:rPr lang="en-US" sz="1600" dirty="0"/>
              <a:t>())}")</a:t>
            </a:r>
          </a:p>
          <a:p>
            <a:pPr algn="l"/>
            <a:r>
              <a:rPr lang="en-US" sz="1600" dirty="0"/>
              <a:t>    print(</a:t>
            </a:r>
            <a:r>
              <a:rPr lang="en-US" sz="1600" dirty="0" err="1"/>
              <a:t>f"Average</a:t>
            </a:r>
            <a:r>
              <a:rPr lang="en-US" sz="1600" dirty="0"/>
              <a:t>: {round(total/count,2)}")</a:t>
            </a:r>
          </a:p>
          <a:p>
            <a:pPr algn="l"/>
            <a:r>
              <a:rPr lang="en-US" sz="1600" dirty="0"/>
              <a:t>else:</a:t>
            </a:r>
          </a:p>
          <a:p>
            <a:pPr algn="l"/>
            <a:r>
              <a:rPr lang="en-US" sz="1600" dirty="0"/>
              <a:t>    print(</a:t>
            </a:r>
            <a:r>
              <a:rPr lang="en-US" sz="1600" dirty="0" err="1"/>
              <a:t>f"Highest</a:t>
            </a:r>
            <a:r>
              <a:rPr lang="en-US" sz="1600" dirty="0"/>
              <a:t> Score: 0")</a:t>
            </a:r>
          </a:p>
          <a:p>
            <a:pPr algn="l"/>
            <a:r>
              <a:rPr lang="en-US" sz="1600" dirty="0"/>
              <a:t>    print(</a:t>
            </a:r>
            <a:r>
              <a:rPr lang="en-US" sz="1600" dirty="0" err="1"/>
              <a:t>f"Lowest</a:t>
            </a:r>
            <a:r>
              <a:rPr lang="en-US" sz="1600" dirty="0"/>
              <a:t> Score: 0")</a:t>
            </a:r>
          </a:p>
          <a:p>
            <a:pPr algn="l"/>
            <a:r>
              <a:rPr lang="en-US" sz="1600" dirty="0"/>
              <a:t>    print(</a:t>
            </a:r>
            <a:r>
              <a:rPr lang="en-US" sz="1600" dirty="0" err="1"/>
              <a:t>f"Average</a:t>
            </a:r>
            <a:r>
              <a:rPr lang="en-US" sz="1600" dirty="0"/>
              <a:t>: 0")</a:t>
            </a:r>
          </a:p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6BFE0-9826-3398-C933-7856AED2A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874347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A7959-DE63-8D13-DBC3-B387404EE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12BA3-4939-9468-8631-359BD6037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16A7A1-A301-B9F0-172F-102B77B56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C2E08-E26D-5F47-53EA-CFE582F3F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495319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039A4-FB9C-CE47-A4CF-24CC091AD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CB5602-9D0F-F549-333C-9555F1F34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435A8A-0BE0-B98B-887A-60CD241ED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F8138-BFD4-F5AB-BA58-9D004CB1B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692600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47489-4D0B-8928-E9CA-8A7DF5D54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A30621-9901-FF79-6AEE-31954C313E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8236B-9D19-4CF3-424D-93CF16427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FC099-8D6F-ECE8-23F3-6D0D73E964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110302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BA430-60F9-885F-EED7-2A62A990F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8D2A8-A3FD-7390-4543-E701D84B4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FD8AF5-CD8E-8C56-5426-628E66E95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20D59-84A9-5F44-AB26-D7FA4F43E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92468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3096B-7283-E48C-FA14-BD29781C6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2F166F-38DF-1F2C-89B1-8D176788A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901169-E32D-6F0B-2C42-4BF02369F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600" dirty="0"/>
              <a:t>IT4A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def </a:t>
            </a:r>
            <a:r>
              <a:rPr lang="en-US" sz="1600" dirty="0" err="1"/>
              <a:t>calculate_discount</a:t>
            </a:r>
            <a:r>
              <a:rPr lang="en-US" sz="1600" dirty="0"/>
              <a:t>(price, discount):</a:t>
            </a:r>
          </a:p>
          <a:p>
            <a:pPr algn="l"/>
            <a:r>
              <a:rPr lang="en-US" sz="1600" dirty="0"/>
              <a:t>    print(</a:t>
            </a:r>
            <a:r>
              <a:rPr lang="en-US" sz="1600" dirty="0" err="1"/>
              <a:t>f"Original</a:t>
            </a:r>
            <a:r>
              <a:rPr lang="en-US" sz="1600" dirty="0"/>
              <a:t> price: {price}")</a:t>
            </a:r>
          </a:p>
          <a:p>
            <a:pPr algn="l"/>
            <a:r>
              <a:rPr lang="en-US" sz="1600" dirty="0"/>
              <a:t>    print(</a:t>
            </a:r>
            <a:r>
              <a:rPr lang="en-US" sz="1600" dirty="0" err="1"/>
              <a:t>f"Discounted</a:t>
            </a:r>
            <a:r>
              <a:rPr lang="en-US" sz="1600" dirty="0"/>
              <a:t> price: {price - (price * (discount/100))}")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r>
              <a:rPr lang="en-US" sz="1600" dirty="0"/>
              <a:t>while True:</a:t>
            </a:r>
          </a:p>
          <a:p>
            <a:pPr algn="l"/>
            <a:r>
              <a:rPr lang="en-US" sz="1600" dirty="0"/>
              <a:t>    price = input("Enter price: ").strip()</a:t>
            </a:r>
          </a:p>
          <a:p>
            <a:pPr algn="l"/>
            <a:r>
              <a:rPr lang="en-US" sz="1600" dirty="0"/>
              <a:t>    discount = input("Enter discount: ").strip()</a:t>
            </a:r>
          </a:p>
          <a:p>
            <a:pPr algn="l"/>
            <a:endParaRPr lang="en-US" sz="1600" dirty="0"/>
          </a:p>
          <a:p>
            <a:pPr algn="l"/>
            <a:r>
              <a:rPr lang="en-US" sz="1600" dirty="0"/>
              <a:t>    if </a:t>
            </a:r>
            <a:r>
              <a:rPr lang="en-US" sz="1600" dirty="0" err="1"/>
              <a:t>price.isnumeric</a:t>
            </a:r>
            <a:r>
              <a:rPr lang="en-US" sz="1600" dirty="0"/>
              <a:t>() and </a:t>
            </a:r>
            <a:r>
              <a:rPr lang="en-US" sz="1600" dirty="0" err="1"/>
              <a:t>discount.isnumeric</a:t>
            </a:r>
            <a:r>
              <a:rPr lang="en-US" sz="1600" dirty="0"/>
              <a:t>():</a:t>
            </a:r>
          </a:p>
          <a:p>
            <a:pPr algn="l"/>
            <a:r>
              <a:rPr lang="en-US" sz="1600" dirty="0"/>
              <a:t>        </a:t>
            </a:r>
            <a:r>
              <a:rPr lang="en-US" sz="1600" dirty="0" err="1"/>
              <a:t>calculate_discount</a:t>
            </a:r>
            <a:r>
              <a:rPr lang="en-US" sz="1600" dirty="0"/>
              <a:t>(int(price), int(discount))</a:t>
            </a:r>
          </a:p>
          <a:p>
            <a:pPr algn="l"/>
            <a:r>
              <a:rPr lang="en-US" sz="1600" dirty="0"/>
              <a:t>        break</a:t>
            </a:r>
          </a:p>
          <a:p>
            <a:pPr algn="l"/>
            <a:r>
              <a:rPr lang="en-US" sz="1600" dirty="0"/>
              <a:t>    else:</a:t>
            </a:r>
          </a:p>
          <a:p>
            <a:pPr algn="l"/>
            <a:r>
              <a:rPr lang="en-US" sz="1600" dirty="0"/>
              <a:t>        print("Invalid amounts.")</a:t>
            </a:r>
          </a:p>
          <a:p>
            <a:pPr algn="l"/>
            <a:r>
              <a:rPr lang="en-US" sz="16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313B6-C2C4-4FA4-71BC-64AC87E9C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736206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73D08-8EE9-1243-24B0-511EDDCB8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8CA4B-BDA7-B03A-48DB-B9916A755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464EA-92A8-A545-BB2D-7D0192006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99D72-DEE0-01D8-7024-46B019665F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930635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D2CAA-719A-0092-F94C-7B9257D0D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522F09-E42C-8874-16E0-69F03581F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421F1D-E2F3-4B43-FE89-A336C952A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6D45F-5EF4-B80F-D45C-B442EBB1AA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827180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E69C5-B570-142C-1757-E44DDC323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AFDD6-13A4-4A3E-7293-5F9BFE40E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49EEB-5B66-459D-E20A-375250090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600" dirty="0"/>
              <a:t>def </a:t>
            </a:r>
            <a:r>
              <a:rPr lang="en-US" sz="1600" dirty="0" err="1"/>
              <a:t>get_min_max</a:t>
            </a:r>
            <a:r>
              <a:rPr lang="en-US" sz="1600" dirty="0"/>
              <a:t>(</a:t>
            </a:r>
            <a:r>
              <a:rPr lang="en-US" sz="1600" dirty="0" err="1"/>
              <a:t>studList</a:t>
            </a:r>
            <a:r>
              <a:rPr lang="en-US" sz="1600" dirty="0"/>
              <a:t>):</a:t>
            </a:r>
          </a:p>
          <a:p>
            <a:pPr algn="l"/>
            <a:r>
              <a:rPr lang="en-US" sz="1600" dirty="0"/>
              <a:t>    return max(</a:t>
            </a:r>
            <a:r>
              <a:rPr lang="en-US" sz="1600" dirty="0" err="1"/>
              <a:t>studList.values</a:t>
            </a:r>
            <a:r>
              <a:rPr lang="en-US" sz="1600" dirty="0"/>
              <a:t>()), min(</a:t>
            </a:r>
            <a:r>
              <a:rPr lang="en-US" sz="1600" dirty="0" err="1"/>
              <a:t>studList.values</a:t>
            </a:r>
            <a:r>
              <a:rPr lang="en-US" sz="1600" dirty="0"/>
              <a:t>())</a:t>
            </a:r>
          </a:p>
          <a:p>
            <a:pPr algn="l"/>
            <a:endParaRPr lang="en-US" sz="1600" dirty="0"/>
          </a:p>
          <a:p>
            <a:pPr algn="l"/>
            <a:r>
              <a:rPr lang="en-US" sz="1600" dirty="0"/>
              <a:t>grades = {}</a:t>
            </a:r>
          </a:p>
          <a:p>
            <a:pPr algn="l"/>
            <a:r>
              <a:rPr lang="en-US" sz="1600" dirty="0"/>
              <a:t>while True:</a:t>
            </a:r>
          </a:p>
          <a:p>
            <a:pPr algn="l"/>
            <a:r>
              <a:rPr lang="en-US" sz="1600" dirty="0"/>
              <a:t>    name = input("Enter your name: ").lower().strip()</a:t>
            </a:r>
          </a:p>
          <a:p>
            <a:pPr algn="l"/>
            <a:r>
              <a:rPr lang="en-US" sz="1600" dirty="0"/>
              <a:t>    if name == "stop":</a:t>
            </a:r>
          </a:p>
          <a:p>
            <a:pPr algn="l"/>
            <a:r>
              <a:rPr lang="en-US" sz="1600" dirty="0"/>
              <a:t>        break</a:t>
            </a:r>
          </a:p>
          <a:p>
            <a:pPr algn="l"/>
            <a:r>
              <a:rPr lang="en-US" sz="1600" dirty="0"/>
              <a:t>    </a:t>
            </a:r>
            <a:r>
              <a:rPr lang="en-US" sz="1600" dirty="0" err="1"/>
              <a:t>elif</a:t>
            </a:r>
            <a:r>
              <a:rPr lang="en-US" sz="1600" dirty="0"/>
              <a:t> name in grades:</a:t>
            </a:r>
          </a:p>
          <a:p>
            <a:pPr algn="l"/>
            <a:r>
              <a:rPr lang="en-US" sz="1600" dirty="0"/>
              <a:t>        print(f"{name} already exists.")</a:t>
            </a:r>
          </a:p>
          <a:p>
            <a:pPr algn="l"/>
            <a:r>
              <a:rPr lang="en-US" sz="1600" dirty="0"/>
              <a:t>    </a:t>
            </a:r>
            <a:r>
              <a:rPr lang="en-US" sz="1600" dirty="0" err="1"/>
              <a:t>elif</a:t>
            </a:r>
            <a:r>
              <a:rPr lang="en-US" sz="1600" dirty="0"/>
              <a:t> </a:t>
            </a:r>
            <a:r>
              <a:rPr lang="en-US" sz="1600" dirty="0" err="1"/>
              <a:t>name.isalpha</a:t>
            </a:r>
            <a:r>
              <a:rPr lang="en-US" sz="1600" dirty="0"/>
              <a:t>():</a:t>
            </a:r>
          </a:p>
          <a:p>
            <a:pPr algn="l"/>
            <a:r>
              <a:rPr lang="en-US" sz="1600" dirty="0"/>
              <a:t>        while True:</a:t>
            </a:r>
          </a:p>
          <a:p>
            <a:pPr algn="l"/>
            <a:r>
              <a:rPr lang="en-US" sz="1600" dirty="0"/>
              <a:t>            score  = input(</a:t>
            </a:r>
            <a:r>
              <a:rPr lang="en-US" sz="1600" dirty="0" err="1"/>
              <a:t>f"Enter</a:t>
            </a:r>
            <a:r>
              <a:rPr lang="en-US" sz="1600" dirty="0"/>
              <a:t> {name}'s score: ")</a:t>
            </a:r>
          </a:p>
          <a:p>
            <a:pPr algn="l"/>
            <a:r>
              <a:rPr lang="en-US" sz="1600" dirty="0"/>
              <a:t>            </a:t>
            </a:r>
            <a:r>
              <a:rPr lang="en-US" sz="1600" dirty="0" err="1"/>
              <a:t>fscore</a:t>
            </a:r>
            <a:r>
              <a:rPr lang="en-US" sz="1600" dirty="0"/>
              <a:t> = </a:t>
            </a:r>
            <a:r>
              <a:rPr lang="en-US" sz="1600" dirty="0" err="1"/>
              <a:t>score.replace</a:t>
            </a:r>
            <a:r>
              <a:rPr lang="en-US" sz="1600" dirty="0"/>
              <a:t>(".", "")</a:t>
            </a:r>
          </a:p>
          <a:p>
            <a:pPr algn="l"/>
            <a:r>
              <a:rPr lang="en-US" sz="1600" dirty="0"/>
              <a:t>            if </a:t>
            </a:r>
            <a:r>
              <a:rPr lang="en-US" sz="1600" dirty="0" err="1"/>
              <a:t>fscore.isnumeric</a:t>
            </a:r>
            <a:r>
              <a:rPr lang="en-US" sz="1600" dirty="0"/>
              <a:t>():</a:t>
            </a:r>
          </a:p>
          <a:p>
            <a:pPr algn="l"/>
            <a:r>
              <a:rPr lang="en-US" sz="1600" dirty="0"/>
              <a:t>                </a:t>
            </a:r>
            <a:r>
              <a:rPr lang="en-US" sz="1600" dirty="0" err="1"/>
              <a:t>grades.update</a:t>
            </a:r>
            <a:r>
              <a:rPr lang="en-US" sz="1600" dirty="0"/>
              <a:t>({name : float(score)})</a:t>
            </a:r>
          </a:p>
          <a:p>
            <a:pPr algn="l"/>
            <a:r>
              <a:rPr lang="en-US" sz="1600" dirty="0"/>
              <a:t>                break</a:t>
            </a:r>
          </a:p>
          <a:p>
            <a:pPr algn="l"/>
            <a:r>
              <a:rPr lang="en-US" sz="1600" dirty="0"/>
              <a:t>            else:</a:t>
            </a:r>
          </a:p>
          <a:p>
            <a:pPr algn="l"/>
            <a:r>
              <a:rPr lang="en-US" sz="1600" dirty="0"/>
              <a:t>                print(f"{score} is invalid.")</a:t>
            </a:r>
          </a:p>
          <a:p>
            <a:pPr algn="l"/>
            <a:r>
              <a:rPr lang="en-US" sz="1600" dirty="0"/>
              <a:t>    else:</a:t>
            </a:r>
          </a:p>
          <a:p>
            <a:pPr algn="l"/>
            <a:r>
              <a:rPr lang="en-US" sz="1600" dirty="0"/>
              <a:t>        print(f"{name} is invalid.")</a:t>
            </a:r>
          </a:p>
          <a:p>
            <a:pPr algn="l"/>
            <a:r>
              <a:rPr lang="en-US" sz="1600" dirty="0"/>
              <a:t>    </a:t>
            </a:r>
          </a:p>
          <a:p>
            <a:pPr algn="l"/>
            <a:r>
              <a:rPr lang="en-US" sz="1600" dirty="0"/>
              <a:t>if </a:t>
            </a:r>
            <a:r>
              <a:rPr lang="en-US" sz="1600" dirty="0" err="1"/>
              <a:t>len</a:t>
            </a:r>
            <a:r>
              <a:rPr lang="en-US" sz="1600" dirty="0"/>
              <a:t>(grades) &gt; 0 :</a:t>
            </a:r>
          </a:p>
          <a:p>
            <a:pPr algn="l"/>
            <a:r>
              <a:rPr lang="en-US" sz="1600" dirty="0"/>
              <a:t>    high, low = </a:t>
            </a:r>
            <a:r>
              <a:rPr lang="en-US" sz="1600" dirty="0" err="1"/>
              <a:t>get_min_max</a:t>
            </a:r>
            <a:r>
              <a:rPr lang="en-US" sz="1600" dirty="0"/>
              <a:t>(grades)</a:t>
            </a:r>
          </a:p>
          <a:p>
            <a:pPr algn="l"/>
            <a:r>
              <a:rPr lang="en-US" sz="1600" dirty="0"/>
              <a:t>    print("Highest scores: ")</a:t>
            </a:r>
          </a:p>
          <a:p>
            <a:pPr algn="l"/>
            <a:r>
              <a:rPr lang="en-US" sz="1600" dirty="0"/>
              <a:t>    for key, </a:t>
            </a:r>
            <a:r>
              <a:rPr lang="en-US" sz="1600" dirty="0" err="1"/>
              <a:t>val</a:t>
            </a:r>
            <a:r>
              <a:rPr lang="en-US" sz="1600" dirty="0"/>
              <a:t> in </a:t>
            </a:r>
            <a:r>
              <a:rPr lang="en-US" sz="1600" dirty="0" err="1"/>
              <a:t>grades.items</a:t>
            </a:r>
            <a:r>
              <a:rPr lang="en-US" sz="1600" dirty="0"/>
              <a:t>():</a:t>
            </a:r>
          </a:p>
          <a:p>
            <a:pPr algn="l"/>
            <a:r>
              <a:rPr lang="en-US" sz="1600" dirty="0"/>
              <a:t>        if </a:t>
            </a:r>
            <a:r>
              <a:rPr lang="en-US" sz="1600" dirty="0" err="1"/>
              <a:t>val</a:t>
            </a:r>
            <a:r>
              <a:rPr lang="en-US" sz="1600" dirty="0"/>
              <a:t> == high:</a:t>
            </a:r>
          </a:p>
          <a:p>
            <a:pPr algn="l"/>
            <a:r>
              <a:rPr lang="en-US" sz="1600" dirty="0"/>
              <a:t>            print(f"{key} : {</a:t>
            </a:r>
            <a:r>
              <a:rPr lang="en-US" sz="1600" dirty="0" err="1"/>
              <a:t>val</a:t>
            </a:r>
            <a:r>
              <a:rPr lang="en-US" sz="1600" dirty="0"/>
              <a:t>}")</a:t>
            </a:r>
          </a:p>
          <a:p>
            <a:pPr algn="l"/>
            <a:r>
              <a:rPr lang="en-US" sz="1600" dirty="0"/>
              <a:t>    print("Lowest scores: ")</a:t>
            </a:r>
          </a:p>
          <a:p>
            <a:pPr algn="l"/>
            <a:r>
              <a:rPr lang="en-US" sz="1600" dirty="0"/>
              <a:t>    for key, </a:t>
            </a:r>
            <a:r>
              <a:rPr lang="en-US" sz="1600" dirty="0" err="1"/>
              <a:t>val</a:t>
            </a:r>
            <a:r>
              <a:rPr lang="en-US" sz="1600" dirty="0"/>
              <a:t> in </a:t>
            </a:r>
            <a:r>
              <a:rPr lang="en-US" sz="1600" dirty="0" err="1"/>
              <a:t>grades.items</a:t>
            </a:r>
            <a:r>
              <a:rPr lang="en-US" sz="1600" dirty="0"/>
              <a:t>():</a:t>
            </a:r>
          </a:p>
          <a:p>
            <a:pPr algn="l"/>
            <a:r>
              <a:rPr lang="en-US" sz="1600" dirty="0"/>
              <a:t>        if </a:t>
            </a:r>
            <a:r>
              <a:rPr lang="en-US" sz="1600" dirty="0" err="1"/>
              <a:t>val</a:t>
            </a:r>
            <a:r>
              <a:rPr lang="en-US" sz="1600" dirty="0"/>
              <a:t> == low:</a:t>
            </a:r>
          </a:p>
          <a:p>
            <a:pPr algn="l"/>
            <a:r>
              <a:rPr lang="en-US" sz="1600" dirty="0"/>
              <a:t>            print(f"{key} : {</a:t>
            </a:r>
            <a:r>
              <a:rPr lang="en-US" sz="1600" dirty="0" err="1"/>
              <a:t>val</a:t>
            </a:r>
            <a:r>
              <a:rPr lang="en-US" sz="1600" dirty="0"/>
              <a:t>}")</a:t>
            </a:r>
          </a:p>
          <a:p>
            <a:pPr algn="l"/>
            <a:r>
              <a:rPr lang="en-US" sz="1600" dirty="0"/>
              <a:t>else:</a:t>
            </a:r>
          </a:p>
          <a:p>
            <a:pPr algn="l"/>
            <a:r>
              <a:rPr lang="en-US" sz="1600" dirty="0"/>
              <a:t>    print("Highest scores: None")</a:t>
            </a:r>
          </a:p>
          <a:p>
            <a:pPr algn="l"/>
            <a:r>
              <a:rPr lang="en-US" sz="1600" dirty="0"/>
              <a:t>    print("Lowest scores: None")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62076-F97C-6F1B-1DE0-87DAB5DB6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267877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98618-5971-5E8B-BB6D-83ECBCA94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35F29-3BB1-E77D-CEFC-A812F44DB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E32835-E7C1-4C9F-9C00-622C192B9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32349-BC23-9222-FDDF-80DBD6999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701198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D8A3A-2732-4DEF-4826-D3394C953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7EB4D-62A6-89E2-8C85-1CADFAB8A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1EF11-DC0D-8A2E-C0DA-16CAEB4B3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415E2-ECB1-B78A-086E-2030C0679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927186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57026-369E-325B-681E-D02BAC5F7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70DE65-8764-367D-A761-15861D157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E2C3E8-7BE7-C4C4-41B7-79A2EDD1F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34F01-26D9-29D3-3066-E5F900CFA4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289965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4BBCD-F239-82DB-177D-3D61554ED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54F805-E091-25C9-4CA0-CA91D9980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B9D5DA-120D-6492-08E6-6D68D2F2F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5433F-6B88-987E-00D1-E1245B959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88419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7DAA7-41A4-6A06-2E79-5521F5EC5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5A06B-409E-E61A-3A15-7D447FDC7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04ED4-57F3-4281-9560-B60296178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D01A1-66FC-6B70-533F-93E80F68B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16949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B000D-C3C2-5CEA-53B9-3F5441D82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D33746-BCBB-E3F7-313E-185363C7C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42A94-723F-20A7-0EE2-BC636364E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D1DD3-5A73-E207-A3ED-A68D40D16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244804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BBEF9-F93E-25AD-FAC4-6729AAFA7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6D4A8-23EE-2824-C1BF-1971D8857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FB1632-079F-BAB9-3F0D-431908B52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FC546-1B07-A5EC-0B7E-61043C333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260089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1E2D4-ED1E-7262-36B8-95FD30860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71B2C-DF27-FC10-85E9-CBB8F7174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77904F-A73C-F61C-0269-623842D53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D3630-0EF0-8F1E-18F6-ACBBC3304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464981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6A91C-5257-76CB-CDCD-1BBEEFB43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5331F-92C6-F243-41EF-1C0711F47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8A918-EF2E-11F7-6F45-BDA348A22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F54CF-735A-077B-F1F6-E35752F86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81392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60B5E-9D49-FD4E-6E5A-8A790C45B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0CB71-AC6C-E27A-F8E3-A38BAB133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470240-17CB-49FD-419E-F6E104178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600" dirty="0"/>
              <a:t>number = int(input("Enter a number: "))</a:t>
            </a:r>
          </a:p>
          <a:p>
            <a:pPr algn="l"/>
            <a:endParaRPr lang="en-US" sz="1600" dirty="0"/>
          </a:p>
          <a:p>
            <a:pPr algn="l"/>
            <a:r>
              <a:rPr lang="en-US" sz="1600" dirty="0"/>
              <a:t>result = lambda num: "even" if num % 2 == 0 else "odd"</a:t>
            </a:r>
          </a:p>
          <a:p>
            <a:pPr algn="l"/>
            <a:endParaRPr lang="en-US" sz="1600" dirty="0"/>
          </a:p>
          <a:p>
            <a:pPr algn="l"/>
            <a:r>
              <a:rPr lang="en-US" sz="1600" dirty="0"/>
              <a:t>##def total(num1, num2):</a:t>
            </a:r>
          </a:p>
          <a:p>
            <a:pPr algn="l"/>
            <a:r>
              <a:rPr lang="en-US" sz="1600" dirty="0"/>
              <a:t>##    return num1 + num2</a:t>
            </a:r>
          </a:p>
          <a:p>
            <a:pPr algn="l"/>
            <a:endParaRPr lang="en-US" sz="1600" dirty="0"/>
          </a:p>
          <a:p>
            <a:pPr algn="l"/>
            <a:r>
              <a:rPr lang="en-US" sz="1600" dirty="0"/>
              <a:t>print(result(number))</a:t>
            </a:r>
          </a:p>
          <a:p>
            <a:pPr algn="l"/>
            <a:br>
              <a:rPr lang="en-US" sz="1600" dirty="0"/>
            </a:br>
            <a:br>
              <a:rPr lang="en-US" sz="1600" dirty="0"/>
            </a:b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BFBE3-0977-F30D-820C-336F021DD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553040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B30B9-3AA8-7FA2-7A1A-C3496D80C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6D29BA-DAF0-B1CD-7FA6-93BA04237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3D786-E29A-604B-9A38-4CBBFD46B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96E6C-7837-64C2-8629-3BB2F16BE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86630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2BA99-5E26-A07A-9579-6D29B1DD1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EEC847-F009-BC15-882A-CAD97E033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FD9794-F174-0C74-50B1-5E34DC152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66A70-DFCE-D6F4-D77E-F5743C320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586510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1C91B-4583-F4F7-E296-F66E1EFA6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8F9E4E-DDB7-93DF-CE8A-546FEB4CA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812B34-E886-46D4-9F09-ECE4DB203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C6C8B-DDC2-738A-9B7B-D2F694C258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327133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544B3-1EB9-7DAE-F0B7-62379D4F7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00FA73-A6B6-1548-82BF-F83232EFA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5CF0E5-2329-9FAB-C1EC-8B5CE4407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EA5DB-C953-3977-BDBE-66B6883241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59088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656E4-EAB2-A6A2-793A-A5D18A59D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E62CE-83F0-ADDF-5CD2-9E467A544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F2ACB-1FE1-1204-A200-F37FB776C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8D779-B9F8-5DF3-27F4-2AD02E4E8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589896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75F83-AE33-B54D-3AF0-0FCEC83F2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45BBCA-D0D7-3B71-23A8-1D1657E74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96787F-5E68-9F60-0615-1EA526DC3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132D6-0168-6D6E-25C2-C12AF2DBB5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92682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CD1A3-87DC-1850-F4BA-5EE6B4936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120DA0-671B-9D47-2870-C801AF217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E5F786-A9CC-AF31-18D0-914B7DAAB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0C07E-1841-A90A-8814-C0808D628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18124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6EF25-1D83-CD43-5EAF-3627F4D3C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09FF5-D7F7-CB0C-9881-352FB0BAB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84FD2C-29EE-A477-7C8A-08F6C63E5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18C44-5DE4-989A-BFB9-0EADEF938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6074576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1AB02-D0F0-3125-1EC1-D4190808E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60F8EF-43E0-09F8-C0D7-0C471D2C5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748A23-68B3-2C10-70DA-B78342262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C4B02-C06D-7ED8-1506-B93BE70D8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127984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964E9-CE68-3292-C8B9-6AEEC971A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D2DBB-C725-3C57-194A-CFBD8CB26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79709D-B08F-0123-CC0B-AA8FF67EF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5856B-6A57-1348-37DF-31078649D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4451860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DEE24-23A9-41C3-6F99-F9EC6883C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4440A3-4370-93DF-C5EA-177460A85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5C03CB-E2E0-2688-7E11-1458187D0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91EAE-CDCA-1EC8-2331-1FA00DC29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9030284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39DE8-8E57-800E-86FC-E0C02C579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CB889-72EF-0143-8289-35F7F2ABA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7D741-34C2-B393-D950-5AF26B49E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96810-299D-DC65-B480-29CD87749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1369498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5B322-A888-F962-2DFF-CA6C733D8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696FB2-9C52-A897-D8D4-2E9A1D652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99384-75BD-5B6F-7D38-680DF154E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5D426-634B-C359-A368-62D63B5DA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911818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B33BA-CBAC-2A20-7A5D-8DCBDF98B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00F27-DEE7-29BB-CF28-B4B2094F5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69B5E5-718D-D234-B561-F799A7221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E789D-3DA7-D88D-4BBC-93671AF535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5633051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B6A31-9FBA-565C-C638-339390DC5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A294F3-F17B-3469-25A4-F02D74F14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0CEB03-2673-D8FE-780A-138945195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E4811-6973-DBB3-AC79-52003011CE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4225951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E5016-C181-6992-FA9E-E9B331C28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655D5-2885-3246-4CA1-F2EBBC22B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5C89A6-72C3-EF2C-CB66-0F8CB76D0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29F94-C929-EF61-816E-4BF026F3D3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5489920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297E4-C0AA-7615-86D7-256E2FDFA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D01AA-1620-C55C-0E06-6926BFD8D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0AF24-D94E-2685-DC21-42B78CD06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1002B-368A-9D2B-5549-BE7F463CA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128576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F6D0-CFEF-70AB-FBE4-6A7AC082D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917F3-070E-A9A7-9EB1-03489B126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27CE68-8066-71E8-7311-92108C062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F37C4-C704-1478-1444-AD13EADE9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2271544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2844D-590A-A0AE-D3F5-561787A8A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08D7A1-3A08-C9CC-FF1F-246136727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E9518-2BD5-9F77-597D-9DF394378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3E87D-BCDA-C9FB-48E9-122444747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8374107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FB962-A8B1-4BA1-509A-E6CA3FA8E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F683C8-2CE2-0E0B-2CE9-6B3310DAF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912054-30DE-AEFE-8BB4-E7DEA180D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0B9C4-115C-7E05-45E9-12E4FE859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9859328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9EADC-C30E-330D-D996-7811CB240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D11FD-8DCB-B5FD-1647-D2C827C14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FBD273-BCEC-A7A6-442C-F5DF0526F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B4697-8F40-1D72-D34F-E907140505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29097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D81C3-E2DA-4793-BDA0-1375955C19F0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925800" y="973879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466280C9-FBB2-A5C5-B32E-B1F32E20A7CA}"/>
              </a:ext>
            </a:extLst>
          </p:cNvPr>
          <p:cNvSpPr txBox="1">
            <a:spLocks/>
          </p:cNvSpPr>
          <p:nvPr userDrawn="1"/>
        </p:nvSpPr>
        <p:spPr>
          <a:xfrm>
            <a:off x="76200" y="9799686"/>
            <a:ext cx="6248400" cy="36512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ELEC 4 – Elective 4 (Special Topics on Web and Mobile 2)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70D90189-04C8-86AF-B9A8-6A8CA9F302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0" y="3062493"/>
            <a:ext cx="18287999" cy="4408536"/>
          </a:xfrm>
          <a:prstGeom prst="rect">
            <a:avLst/>
          </a:prstGeom>
        </p:spPr>
      </p:pic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8" name="TextBox 28"/>
          <p:cNvSpPr txBox="1"/>
          <p:nvPr/>
        </p:nvSpPr>
        <p:spPr>
          <a:xfrm>
            <a:off x="1138730" y="3587144"/>
            <a:ext cx="15998250" cy="14584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66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Chapter 4: Intermediate Elements 1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03BEDA6F-F03E-338A-E884-B57BB6E88A2C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774B46A4-1A07-1B6E-041F-F6905CFA41E7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E1DF7690-B553-61D6-9179-CCFD49C98B9E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7D4F7B43-6DF2-1438-AF14-A92B65A0B7B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737FF48A-1343-407F-1EA2-017E5834A286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5844878D-4F08-5CB8-2978-838AA8A84A59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6B102466-B83F-E478-304D-B9605AC9EA8F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A4BE5-8EE2-8317-7323-FF0E1E07C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1A2640EB-F821-4F40-32B3-F1BF2F52A4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1" y="2939231"/>
            <a:ext cx="18287999" cy="4408536"/>
          </a:xfrm>
          <a:prstGeom prst="rect">
            <a:avLst/>
          </a:prstGeom>
        </p:spPr>
      </p:pic>
      <p:sp>
        <p:nvSpPr>
          <p:cNvPr id="20" name="Freeform 20">
            <a:extLst>
              <a:ext uri="{FF2B5EF4-FFF2-40B4-BE49-F238E27FC236}">
                <a16:creationId xmlns:a16="http://schemas.microsoft.com/office/drawing/2014/main" id="{D1B253CA-3335-DB86-11BB-2B9A288A53B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1418ECE8-D069-2E3B-6F17-F1659ACDA1C1}"/>
              </a:ext>
            </a:extLst>
          </p:cNvPr>
          <p:cNvSpPr txBox="1"/>
          <p:nvPr/>
        </p:nvSpPr>
        <p:spPr>
          <a:xfrm>
            <a:off x="1144875" y="4404386"/>
            <a:ext cx="15998250" cy="147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72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Lesson 4.2: Python Functions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2EF9C9B1-2AC3-AF8A-FA14-F11D95F27E75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AD964D24-B817-35B9-41F9-6CD6B8EDDC3D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474D3ED7-A0ED-D6BE-178F-430D984269FE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006A0E06-31E7-5A6D-A746-4959FA9D577B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F00CA0EF-209A-EA0A-E641-BC60187F1D4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A0E0BEB2-0367-E3CB-F1AE-F589C2401C47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6F91B123-3BD0-D650-EEAB-A935F262908B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39B8D45E-6032-8A21-865B-577C83CC07E5}"/>
              </a:ext>
            </a:extLst>
          </p:cNvPr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77D65B1-7B13-E53B-A4E9-AC2CC8EA334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9246ADF-C16D-2241-D4DB-A4CB7EAA92C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D1C62C7-922C-320C-9FE7-321226BD65D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946410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FB354-B01C-02B2-2DEF-10A33803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4BF6A6E-4C0A-8069-00A1-6DB404C3CAB0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1194FCD-FC69-12DB-DCED-E8B029E7D2C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17654DB-6975-675B-CBE4-88299C098E5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16ADBC3-58F8-936D-376A-C719734FF5A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BE8CDB3-11FC-5F52-C5A5-A552237C467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82B3713-C643-1B74-9AD3-F356485A879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4FEB6154-B889-FCEB-F520-3866CA8518F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90BC46-C5A1-A710-F86C-70717C3426BC}"/>
              </a:ext>
            </a:extLst>
          </p:cNvPr>
          <p:cNvSpPr txBox="1"/>
          <p:nvPr/>
        </p:nvSpPr>
        <p:spPr>
          <a:xfrm>
            <a:off x="637059" y="2277070"/>
            <a:ext cx="1695356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500" dirty="0">
                <a:latin typeface="Consolas" panose="020B0609020204030204" pitchFamily="49" charset="0"/>
              </a:rPr>
              <a:t>A function is a block of reusable code that performs a specific task. It makes code modular, reusable, and easier to debug.</a:t>
            </a:r>
          </a:p>
          <a:p>
            <a:pPr algn="just"/>
            <a:endParaRPr lang="en-US" sz="4500" dirty="0">
              <a:latin typeface="Consolas" panose="020B0609020204030204" pitchFamily="49" charset="0"/>
            </a:endParaRPr>
          </a:p>
          <a:p>
            <a:pPr marL="742950" indent="-742950" algn="just">
              <a:buAutoNum type="arabicPeriod"/>
            </a:pPr>
            <a:r>
              <a:rPr lang="en-US" sz="4500" b="1" dirty="0">
                <a:latin typeface="Consolas" panose="020B0609020204030204" pitchFamily="49" charset="0"/>
              </a:rPr>
              <a:t>Built-in functions </a:t>
            </a:r>
            <a:r>
              <a:rPr lang="en-US" sz="4500" dirty="0">
                <a:latin typeface="Consolas" panose="020B0609020204030204" pitchFamily="49" charset="0"/>
              </a:rPr>
              <a:t> - These are pre-defined codes in Python.</a:t>
            </a:r>
          </a:p>
          <a:p>
            <a:pPr marL="742950" indent="-742950" algn="just">
              <a:buAutoNum type="arabicPeriod"/>
            </a:pPr>
            <a:r>
              <a:rPr lang="en-US" sz="4500" b="1" dirty="0">
                <a:latin typeface="Consolas" panose="020B0609020204030204" pitchFamily="49" charset="0"/>
              </a:rPr>
              <a:t>User-defined functions</a:t>
            </a:r>
            <a:r>
              <a:rPr lang="en-US" sz="4500" dirty="0">
                <a:latin typeface="Consolas" panose="020B0609020204030204" pitchFamily="49" charset="0"/>
              </a:rPr>
              <a:t> - Created by the programmer using the def keyword.</a:t>
            </a:r>
            <a:endParaRPr lang="en-US" sz="45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222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E6F05-344C-5B1D-56CC-444C3888E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259B48A-F095-4C23-F1F3-3E30C969752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4A2BEB5-AD72-0C9A-A088-AC26717FA4A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BEB8C27-FF69-75C6-89EE-89D9199FA35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7EC282E-0323-BA98-2488-D319D95DB1C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DEFD4584-1FD7-ED64-2E45-3B15BE93BFBF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67C83D3-AAAF-16B0-0E64-7DB7031967D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3134D6A-32B5-AAD6-D0C4-FD0435D524D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built-in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3F6AC3-DF31-73D5-1257-6C5CC7ACD49C}"/>
              </a:ext>
            </a:extLst>
          </p:cNvPr>
          <p:cNvSpPr txBox="1"/>
          <p:nvPr/>
        </p:nvSpPr>
        <p:spPr>
          <a:xfrm>
            <a:off x="637059" y="2277070"/>
            <a:ext cx="1695356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1. eval()</a:t>
            </a:r>
            <a:r>
              <a:rPr lang="en-US" sz="4000" b="1" dirty="0">
                <a:latin typeface="Consolas" panose="020B0609020204030204" pitchFamily="49" charset="0"/>
              </a:rPr>
              <a:t> - </a:t>
            </a:r>
            <a:r>
              <a:rPr lang="en-US" sz="4000" dirty="0">
                <a:latin typeface="Consolas" panose="020B0609020204030204" pitchFamily="49" charset="0"/>
              </a:rPr>
              <a:t>Evaluates a string as a Python expression. Also works with user input (string only).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Syntax: </a:t>
            </a:r>
            <a:r>
              <a:rPr lang="en-US" sz="4000" dirty="0">
                <a:latin typeface="Consolas" panose="020B0609020204030204" pitchFamily="49" charset="0"/>
              </a:rPr>
              <a:t>eval(expression) </a:t>
            </a:r>
          </a:p>
          <a:p>
            <a:pPr marL="2857500" lvl="5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-&gt; expression : str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CF86A5-13CB-F408-1340-208D8638FF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5372100"/>
            <a:ext cx="16700432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46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A61C4-6FEE-EDD9-55E8-890E749F7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7F63D03-9472-630E-CD33-649086CB5FC0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C844598-A363-FCD9-8637-086357D6E0C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2C2076C-AC51-648E-AF93-9214113E6C2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26A563D-D452-597D-A1E3-EBF701CB1D6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FD8236B8-AF21-4128-A265-90957DF2EA93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0D40E1A1-927A-B8B9-025B-568D2E04195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2CC6A68B-DCF2-5886-8BE8-1D98063D0949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built-in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EE59DD-3237-A7B1-429A-D43CA65FF9B9}"/>
              </a:ext>
            </a:extLst>
          </p:cNvPr>
          <p:cNvSpPr txBox="1"/>
          <p:nvPr/>
        </p:nvSpPr>
        <p:spPr>
          <a:xfrm>
            <a:off x="637059" y="2277070"/>
            <a:ext cx="1695356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2. exec()</a:t>
            </a:r>
            <a:r>
              <a:rPr lang="en-US" sz="4000" b="1" dirty="0">
                <a:latin typeface="Consolas" panose="020B0609020204030204" pitchFamily="49" charset="0"/>
              </a:rPr>
              <a:t> - </a:t>
            </a:r>
            <a:r>
              <a:rPr lang="en-US" sz="4000" dirty="0">
                <a:latin typeface="Consolas" panose="020B0609020204030204" pitchFamily="49" charset="0"/>
              </a:rPr>
              <a:t>The exec() function in Python allows you to dynamically execute Python code (as a string or object).  This means you can create and run Python code at runtime. </a:t>
            </a:r>
            <a:r>
              <a:rPr lang="en-US" sz="4000" b="1" dirty="0">
                <a:latin typeface="Consolas" panose="020B0609020204030204" pitchFamily="49" charset="0"/>
              </a:rPr>
              <a:t>Syntax: </a:t>
            </a:r>
            <a:r>
              <a:rPr lang="en-US" sz="4000" dirty="0">
                <a:latin typeface="Consolas" panose="020B0609020204030204" pitchFamily="49" charset="0"/>
              </a:rPr>
              <a:t>eval(object)</a:t>
            </a:r>
          </a:p>
          <a:p>
            <a:pPr marL="2857500" lvl="5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object -&gt; The string or code object you want to execute. 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 1: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F4150E-4332-7A17-D3EF-72539B2548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2" y="6656133"/>
            <a:ext cx="16700400" cy="210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632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59865-C303-65CA-44C8-5148ED9CF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5FC5492-889A-4602-C3EA-A6858759CB04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CB8BD3D-8F60-22D0-10A8-B1C1DBF64CD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DC2409C-A169-8715-5537-E86CBE2A65D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BE271DF-F401-767A-3B02-D30D7A8C0C0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6D9A4D7-945A-5FE5-CC31-3F02043ECDD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94F9361D-E991-E3F3-A512-332FAAC2C3A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2095999D-8A71-55AB-F059-97B0126C782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built-in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EEF0F0-17F6-C270-0195-5B3793A19802}"/>
              </a:ext>
            </a:extLst>
          </p:cNvPr>
          <p:cNvSpPr txBox="1"/>
          <p:nvPr/>
        </p:nvSpPr>
        <p:spPr>
          <a:xfrm>
            <a:off x="637059" y="2277070"/>
            <a:ext cx="1695356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2. exec()</a:t>
            </a:r>
            <a:r>
              <a:rPr lang="en-US" sz="4000" b="1" dirty="0">
                <a:latin typeface="Consolas" panose="020B0609020204030204" pitchFamily="49" charset="0"/>
              </a:rPr>
              <a:t> - </a:t>
            </a:r>
            <a:r>
              <a:rPr lang="en-US" sz="4000" dirty="0">
                <a:latin typeface="Consolas" panose="020B0609020204030204" pitchFamily="49" charset="0"/>
              </a:rPr>
              <a:t>The exec() function in Python allows you to dynamically execute Python code (as a string or object).  This means you can create and run Python code at runtime. </a:t>
            </a:r>
            <a:r>
              <a:rPr lang="en-US" sz="4000" b="1" dirty="0">
                <a:latin typeface="Consolas" panose="020B0609020204030204" pitchFamily="49" charset="0"/>
              </a:rPr>
              <a:t>Syntax: </a:t>
            </a:r>
            <a:r>
              <a:rPr lang="en-US" sz="4000" dirty="0">
                <a:latin typeface="Consolas" panose="020B0609020204030204" pitchFamily="49" charset="0"/>
              </a:rPr>
              <a:t>eval(object)</a:t>
            </a:r>
          </a:p>
          <a:p>
            <a:pPr marL="2857500" lvl="5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object -&gt; The string or code object you want to execute. 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 2: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1C9B7B-7D95-384F-C9D3-DD65C29A4A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6781534"/>
            <a:ext cx="16700400" cy="243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407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C2546-0349-32CE-1CC0-6BA623438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0C73BD5-B8D8-88AF-2D2C-A1A1CB16D503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78E8036-1103-B277-4F29-E5823E60B9B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624F797-7E1E-AEC7-760E-21FF770F7FD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F3967C0-E452-4CC1-A291-171169B4FDE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C26DB62-351A-F69F-B80A-34038AF519DB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FFBD35C-F612-B45A-0FE7-0E9C0AD402D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865F7ECA-2D8F-85F5-2E2D-0C584D6E059C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built-in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101E3B-CD12-53E3-EA6F-948D5B3171BF}"/>
              </a:ext>
            </a:extLst>
          </p:cNvPr>
          <p:cNvSpPr txBox="1"/>
          <p:nvPr/>
        </p:nvSpPr>
        <p:spPr>
          <a:xfrm>
            <a:off x="637059" y="2277070"/>
            <a:ext cx="1695356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3. enumerate()</a:t>
            </a:r>
            <a:r>
              <a:rPr lang="en-US" sz="4000" b="1" dirty="0">
                <a:latin typeface="Consolas" panose="020B0609020204030204" pitchFamily="49" charset="0"/>
              </a:rPr>
              <a:t> - </a:t>
            </a:r>
            <a:r>
              <a:rPr lang="en-US" sz="4000" dirty="0">
                <a:latin typeface="Consolas" panose="020B0609020204030204" pitchFamily="49" charset="0"/>
              </a:rPr>
              <a:t>Adds a counter (index) to an </a:t>
            </a:r>
            <a:r>
              <a:rPr lang="en-US" sz="4000" dirty="0" err="1">
                <a:latin typeface="Consolas" panose="020B0609020204030204" pitchFamily="49" charset="0"/>
              </a:rPr>
              <a:t>iterable</a:t>
            </a:r>
            <a:r>
              <a:rPr lang="en-US" sz="4000" dirty="0">
                <a:latin typeface="Consolas" panose="020B0609020204030204" pitchFamily="49" charset="0"/>
              </a:rPr>
              <a:t>.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Syntax: </a:t>
            </a:r>
            <a:r>
              <a:rPr lang="en-US" sz="4000" dirty="0">
                <a:latin typeface="Consolas" panose="020B0609020204030204" pitchFamily="49" charset="0"/>
              </a:rPr>
              <a:t>enumerate(</a:t>
            </a:r>
            <a:r>
              <a:rPr lang="en-US" sz="4000" dirty="0" err="1">
                <a:latin typeface="Consolas" panose="020B0609020204030204" pitchFamily="49" charset="0"/>
              </a:rPr>
              <a:t>iterable</a:t>
            </a:r>
            <a:r>
              <a:rPr lang="en-US" sz="4000" dirty="0">
                <a:latin typeface="Consolas" panose="020B0609020204030204" pitchFamily="49" charset="0"/>
              </a:rPr>
              <a:t>, start = 0)</a:t>
            </a:r>
          </a:p>
          <a:p>
            <a:pPr marL="2857500" lvl="5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start :int -&gt; index start value (default = 0) optional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AAD707-0941-1A6C-F11D-1C0A0A3DF9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5447169"/>
            <a:ext cx="16700400" cy="28608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B71386-C0DA-43B7-0F10-F491AE8CFC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993" y="5474652"/>
            <a:ext cx="16700400" cy="280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664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C6211-2380-F714-EB9A-C1F4C6E27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9934BC1-CE49-0CC1-7493-48D15DFD1000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7D6564C-8FA0-4CF5-0E7F-F65B4ACBC07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62FA8DC-6EDA-F1DF-0BD1-6372BBB196F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E40D45C-DAA6-D272-3CB1-882389E488F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280B15DA-AC32-9C30-0DC6-64655079A60E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A348521C-2F56-6B19-BCA5-A395DB7F511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BDDBAE95-E486-1D28-5BBA-0384BFA267F4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built-in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910AAB-5F45-EF63-85B7-2FD9F8B339B0}"/>
              </a:ext>
            </a:extLst>
          </p:cNvPr>
          <p:cNvSpPr txBox="1"/>
          <p:nvPr/>
        </p:nvSpPr>
        <p:spPr>
          <a:xfrm>
            <a:off x="637059" y="2277070"/>
            <a:ext cx="1695356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4. max()</a:t>
            </a:r>
            <a:r>
              <a:rPr lang="en-US" sz="4000" b="1" dirty="0">
                <a:latin typeface="Consolas" panose="020B0609020204030204" pitchFamily="49" charset="0"/>
              </a:rPr>
              <a:t> - </a:t>
            </a:r>
            <a:r>
              <a:rPr lang="en-US" sz="4000" dirty="0">
                <a:latin typeface="Consolas" panose="020B0609020204030204" pitchFamily="49" charset="0"/>
              </a:rPr>
              <a:t>Returns the largest value.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Syntax: </a:t>
            </a:r>
            <a:r>
              <a:rPr lang="en-US" sz="4000" dirty="0">
                <a:latin typeface="Consolas" panose="020B0609020204030204" pitchFamily="49" charset="0"/>
              </a:rPr>
              <a:t>max(</a:t>
            </a:r>
            <a:r>
              <a:rPr lang="en-US" sz="4000" dirty="0" err="1">
                <a:latin typeface="Consolas" panose="020B0609020204030204" pitchFamily="49" charset="0"/>
              </a:rPr>
              <a:t>iterable</a:t>
            </a:r>
            <a:r>
              <a:rPr lang="en-US" sz="4000" dirty="0">
                <a:latin typeface="Consolas" panose="020B0609020204030204" pitchFamily="49" charset="0"/>
              </a:rPr>
              <a:t>) or max(</a:t>
            </a:r>
            <a:r>
              <a:rPr lang="en-US" sz="4000" i="1" dirty="0">
                <a:latin typeface="Consolas" panose="020B0609020204030204" pitchFamily="49" charset="0"/>
              </a:rPr>
              <a:t>n1, n2, n3</a:t>
            </a:r>
            <a:r>
              <a:rPr lang="en-US" sz="4000" dirty="0">
                <a:latin typeface="Consolas" panose="020B0609020204030204" pitchFamily="49" charset="0"/>
              </a:rPr>
              <a:t>)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EB1251-7A85-2BAD-482D-27133A9B54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397632"/>
            <a:ext cx="16700400" cy="278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999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251F0-EC8D-899E-E0B4-E7C1FADA5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D122446-9158-1637-7AC1-EEDAE9CDC69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A8A4329-20DE-D259-4414-CA82C2507E0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0255659-DDB6-63B2-3737-E91EC3826FF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9BB9AD0-FE3B-3AEB-52F4-6BD1D923071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BCB268F-B23C-792A-39EC-8EDB0B3877FC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7366E258-2867-1292-EF1F-1EFEE5E23DA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E527B6BF-D73C-DDFF-E47A-2EB0F054B4E7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built-in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E49C44-E1A3-91D6-0B4F-3AF747AA182C}"/>
              </a:ext>
            </a:extLst>
          </p:cNvPr>
          <p:cNvSpPr txBox="1"/>
          <p:nvPr/>
        </p:nvSpPr>
        <p:spPr>
          <a:xfrm>
            <a:off x="637059" y="2277070"/>
            <a:ext cx="1695356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5. min()</a:t>
            </a:r>
            <a:r>
              <a:rPr lang="en-US" sz="4000" b="1" dirty="0">
                <a:latin typeface="Consolas" panose="020B0609020204030204" pitchFamily="49" charset="0"/>
              </a:rPr>
              <a:t> - </a:t>
            </a:r>
            <a:r>
              <a:rPr lang="en-US" sz="4000" dirty="0">
                <a:latin typeface="Consolas" panose="020B0609020204030204" pitchFamily="49" charset="0"/>
              </a:rPr>
              <a:t>Returns the smallest value.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Syntax: </a:t>
            </a:r>
            <a:r>
              <a:rPr lang="en-US" sz="4000" dirty="0">
                <a:latin typeface="Consolas" panose="020B0609020204030204" pitchFamily="49" charset="0"/>
              </a:rPr>
              <a:t>min(</a:t>
            </a:r>
            <a:r>
              <a:rPr lang="en-US" sz="4000" dirty="0" err="1">
                <a:latin typeface="Consolas" panose="020B0609020204030204" pitchFamily="49" charset="0"/>
              </a:rPr>
              <a:t>iterable</a:t>
            </a:r>
            <a:r>
              <a:rPr lang="en-US" sz="4000" dirty="0">
                <a:latin typeface="Consolas" panose="020B0609020204030204" pitchFamily="49" charset="0"/>
              </a:rPr>
              <a:t>) or min(</a:t>
            </a:r>
            <a:r>
              <a:rPr lang="en-US" sz="4000" i="1" dirty="0">
                <a:latin typeface="Consolas" panose="020B0609020204030204" pitchFamily="49" charset="0"/>
              </a:rPr>
              <a:t>n1, n2, n3</a:t>
            </a:r>
            <a:r>
              <a:rPr lang="en-US" sz="4000" dirty="0">
                <a:latin typeface="Consolas" panose="020B0609020204030204" pitchFamily="49" charset="0"/>
              </a:rPr>
              <a:t>)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DCE2F1-1101-B5A2-33B2-49CC6486B8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397632"/>
            <a:ext cx="16700400" cy="283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22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3FEC6-E427-C97D-33A4-E973F7412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F893496-D757-0435-E1A3-92CAD521DAD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5D07173-BFCD-72D1-A2BD-88CF1A7ECC9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48E50D3-AE28-A80D-CF2F-73654E52CCB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78ECDEC-A57F-476B-0F99-CAB51CE0FBE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CCA5F479-5688-1801-01BA-CD9AC23B7478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357ADEA0-0B74-334D-B42A-F8B5BFFA77B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817E398-DFB0-E44B-B2C1-2E455A45B73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built-in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CFE21B-F323-2D00-535D-52D88E463D26}"/>
              </a:ext>
            </a:extLst>
          </p:cNvPr>
          <p:cNvSpPr txBox="1"/>
          <p:nvPr/>
        </p:nvSpPr>
        <p:spPr>
          <a:xfrm>
            <a:off x="637059" y="2277070"/>
            <a:ext cx="1695356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6. pow()</a:t>
            </a:r>
            <a:r>
              <a:rPr lang="en-US" sz="4000" b="1" dirty="0">
                <a:latin typeface="Consolas" panose="020B0609020204030204" pitchFamily="49" charset="0"/>
              </a:rPr>
              <a:t> - </a:t>
            </a:r>
            <a:r>
              <a:rPr lang="en-US" sz="4000" dirty="0">
                <a:latin typeface="Consolas" panose="020B0609020204030204" pitchFamily="49" charset="0"/>
              </a:rPr>
              <a:t>Raises a number to a power.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Syntax: </a:t>
            </a:r>
            <a:r>
              <a:rPr lang="en-US" sz="4000" dirty="0">
                <a:latin typeface="Consolas" panose="020B0609020204030204" pitchFamily="49" charset="0"/>
              </a:rPr>
              <a:t>pow(base, exponent)</a:t>
            </a:r>
          </a:p>
          <a:p>
            <a:pPr marL="2857500" lvl="5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base :int</a:t>
            </a:r>
          </a:p>
          <a:p>
            <a:pPr marL="2857500" lvl="5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exponent : int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98C93D-933B-C6FC-D23C-740D0A18B2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2" y="5819593"/>
            <a:ext cx="16700400" cy="16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62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FB901-0633-D44C-B1C2-BDF7BA1DD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24F3436-34E0-5D46-4924-2AAD2C920D8A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1F8629B-5B30-FC22-B138-23CD1F11664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095BF8D-3799-22EC-C964-A3BEA5B589F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107A5C3-A177-BB68-EC00-A6B6CE4AD54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2C9828E0-B1A1-D595-A2AE-F352FDEC92EE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56C005AC-8AD2-507E-E38C-DB50547ECCB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30AEA587-1AD3-1F47-DC6D-16921290B923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built-in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72F8C2-0B3E-FBC4-94C1-4846CD6C3E97}"/>
              </a:ext>
            </a:extLst>
          </p:cNvPr>
          <p:cNvSpPr txBox="1"/>
          <p:nvPr/>
        </p:nvSpPr>
        <p:spPr>
          <a:xfrm>
            <a:off x="637059" y="2277070"/>
            <a:ext cx="16953563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7. sum()</a:t>
            </a:r>
            <a:r>
              <a:rPr lang="en-US" sz="4000" b="1" dirty="0">
                <a:latin typeface="Consolas" panose="020B0609020204030204" pitchFamily="49" charset="0"/>
              </a:rPr>
              <a:t> – </a:t>
            </a:r>
            <a:r>
              <a:rPr lang="en-US" sz="4000" dirty="0">
                <a:latin typeface="Consolas" panose="020B0609020204030204" pitchFamily="49" charset="0"/>
              </a:rPr>
              <a:t>The sum() function returns a number, the sum of all items in an </a:t>
            </a:r>
            <a:r>
              <a:rPr lang="en-US" sz="4000" dirty="0" err="1">
                <a:latin typeface="Consolas" panose="020B0609020204030204" pitchFamily="49" charset="0"/>
              </a:rPr>
              <a:t>iterable</a:t>
            </a:r>
            <a:r>
              <a:rPr lang="en-US" sz="4000" dirty="0">
                <a:latin typeface="Consolas" panose="020B0609020204030204" pitchFamily="49" charset="0"/>
              </a:rPr>
              <a:t>.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Syntax: </a:t>
            </a:r>
            <a:r>
              <a:rPr lang="en-US" sz="4000" dirty="0">
                <a:latin typeface="Consolas" panose="020B0609020204030204" pitchFamily="49" charset="0"/>
              </a:rPr>
              <a:t>sum(</a:t>
            </a:r>
            <a:r>
              <a:rPr lang="en-US" sz="4000" dirty="0" err="1">
                <a:latin typeface="Consolas" panose="020B0609020204030204" pitchFamily="49" charset="0"/>
              </a:rPr>
              <a:t>iterable</a:t>
            </a:r>
            <a:r>
              <a:rPr lang="en-US" sz="4000" dirty="0">
                <a:latin typeface="Consolas" panose="020B0609020204030204" pitchFamily="49" charset="0"/>
              </a:rPr>
              <a:t>, start)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start : float -&gt; A value that is added to the return value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 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2000" b="1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23BBB9-A2AB-732C-5B32-C104928723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6181345"/>
            <a:ext cx="16700400" cy="245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94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DCF18-7D31-2B34-176E-D576F2944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6E7104C-DDA9-0B99-4D9F-AFBCF6563E02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D9E5F94-AD75-78F1-3781-FE06DF5A2A0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0E20F06-736C-06B9-5A04-56D179D326D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6413450-5C8E-593C-F6C2-1707A4CBED0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4BF096F9-97A7-DEE9-8C72-88982A02D5EA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FDAA6F26-55F9-27DD-90EE-7297AD432E4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11A6CB7-7D74-5B71-8F51-CA82FACECAE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built-in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437897-FF9C-99E4-C4A6-0B48DFC6F377}"/>
              </a:ext>
            </a:extLst>
          </p:cNvPr>
          <p:cNvSpPr txBox="1"/>
          <p:nvPr/>
        </p:nvSpPr>
        <p:spPr>
          <a:xfrm>
            <a:off x="637059" y="2277070"/>
            <a:ext cx="16953563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8. round()</a:t>
            </a:r>
            <a:r>
              <a:rPr lang="en-US" sz="4000" b="1" dirty="0">
                <a:latin typeface="Consolas" panose="020B0609020204030204" pitchFamily="49" charset="0"/>
              </a:rPr>
              <a:t> - </a:t>
            </a:r>
            <a:r>
              <a:rPr lang="en-US" sz="4000" dirty="0">
                <a:latin typeface="Consolas" panose="020B0609020204030204" pitchFamily="49" charset="0"/>
              </a:rPr>
              <a:t>Rounds a number to nearest integer or given decimals.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Syntax: </a:t>
            </a:r>
            <a:r>
              <a:rPr lang="en-US" sz="4000" dirty="0">
                <a:latin typeface="Consolas" panose="020B0609020204030204" pitchFamily="49" charset="0"/>
              </a:rPr>
              <a:t>round(number, </a:t>
            </a:r>
            <a:r>
              <a:rPr lang="en-US" sz="4000" dirty="0" err="1">
                <a:latin typeface="Consolas" panose="020B0609020204030204" pitchFamily="49" charset="0"/>
              </a:rPr>
              <a:t>ndigits</a:t>
            </a:r>
            <a:r>
              <a:rPr lang="en-US" sz="4000" dirty="0">
                <a:latin typeface="Consolas" panose="020B0609020204030204" pitchFamily="49" charset="0"/>
              </a:rPr>
              <a:t>)</a:t>
            </a:r>
          </a:p>
          <a:p>
            <a:pPr marL="2857500" lvl="5" indent="-571500" algn="just">
              <a:buFont typeface="Wingdings" panose="05000000000000000000" pitchFamily="2" charset="2"/>
              <a:buChar char="ü"/>
            </a:pPr>
            <a:r>
              <a:rPr lang="en-US" sz="4000" dirty="0" err="1">
                <a:latin typeface="Consolas" panose="020B0609020204030204" pitchFamily="49" charset="0"/>
              </a:rPr>
              <a:t>ndigits</a:t>
            </a:r>
            <a:r>
              <a:rPr lang="en-US" sz="4000" dirty="0">
                <a:latin typeface="Consolas" panose="020B0609020204030204" pitchFamily="49" charset="0"/>
              </a:rPr>
              <a:t> : int -&gt; number of decimal places (optional)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 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2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Other built-in methods: str(), int(), float(), complex(),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list(), tuple(), </a:t>
            </a:r>
            <a:r>
              <a:rPr lang="en-US" sz="4000" dirty="0" err="1">
                <a:latin typeface="Consolas" panose="020B0609020204030204" pitchFamily="49" charset="0"/>
              </a:rPr>
              <a:t>dict</a:t>
            </a:r>
            <a:r>
              <a:rPr lang="en-US" sz="4000" dirty="0">
                <a:latin typeface="Consolas" panose="020B0609020204030204" pitchFamily="49" charset="0"/>
              </a:rPr>
              <a:t>(), set() bool(), print(), input(), type(), </a:t>
            </a:r>
            <a:r>
              <a:rPr lang="en-US" sz="4000" dirty="0" err="1">
                <a:latin typeface="Consolas" panose="020B0609020204030204" pitchFamily="49" charset="0"/>
              </a:rPr>
              <a:t>len</a:t>
            </a:r>
            <a:r>
              <a:rPr lang="en-US" sz="4000" dirty="0"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02030-5467-8449-8AEB-9E3D1A7BD6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2" y="6062722"/>
            <a:ext cx="16700400" cy="193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783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EE48C-5B59-6A9C-A3D9-51A309783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54272EF-CFFD-8114-E535-4D6FF543C73B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91B720D-CDE8-CBB6-CEDA-68EE8C59BFF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81629BC-042E-9612-C5CE-485D72B9D65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7320A00-122F-81B9-3080-1D0834D5EBE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8104C82F-7F50-D085-1F44-F5B45F63CB7F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E3A2FF1-10C5-C84E-918D-594DF2A2142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E09DEDB9-87DC-74C0-559E-7B5D86A03B1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Activity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B401AFF9-5AA1-2019-1D40-413BE72708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8ECC30E3-A6B6-554F-3497-7EBB0CF950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562857-18E4-1592-DCFC-7723307FB01E}"/>
              </a:ext>
            </a:extLst>
          </p:cNvPr>
          <p:cNvSpPr txBox="1"/>
          <p:nvPr/>
        </p:nvSpPr>
        <p:spPr>
          <a:xfrm>
            <a:off x="463773" y="2159217"/>
            <a:ext cx="1695356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300" dirty="0">
                <a:latin typeface="Consolas" panose="020B0609020204030204" pitchFamily="49" charset="0"/>
              </a:rPr>
              <a:t>Write a program that: 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300" dirty="0">
                <a:latin typeface="Consolas" panose="020B0609020204030204" pitchFamily="49" charset="0"/>
              </a:rPr>
              <a:t>Asks the teacher to input multiple student scores (loop until -1 is entered) and stores all scores in a dictionary.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300" dirty="0">
                <a:latin typeface="Consolas" panose="020B0609020204030204" pitchFamily="49" charset="0"/>
              </a:rPr>
              <a:t>Display the maximum, minimum score, rounded average(2 decimal places)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300" dirty="0">
                <a:latin typeface="Consolas" panose="020B0609020204030204" pitchFamily="49" charset="0"/>
              </a:rPr>
              <a:t>Displays all scores with their index numbers.</a:t>
            </a:r>
          </a:p>
          <a:p>
            <a:pPr algn="just"/>
            <a:r>
              <a:rPr lang="en-US" sz="3300" b="1" dirty="0">
                <a:latin typeface="Consolas" panose="020B0609020204030204" pitchFamily="49" charset="0"/>
              </a:rPr>
              <a:t>Sample output: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52E209-3EE2-0723-C80E-6B2633AD01D6}"/>
              </a:ext>
            </a:extLst>
          </p:cNvPr>
          <p:cNvSpPr txBox="1"/>
          <p:nvPr/>
        </p:nvSpPr>
        <p:spPr>
          <a:xfrm>
            <a:off x="463773" y="5324155"/>
            <a:ext cx="7765828" cy="4662815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algn="just"/>
            <a:r>
              <a:rPr lang="en-US" sz="3300" dirty="0">
                <a:latin typeface="Consolas" panose="020B0609020204030204" pitchFamily="49" charset="0"/>
              </a:rPr>
              <a:t>Enter score (-1 to stop): 80</a:t>
            </a: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Enter score (-1 to stop): 90</a:t>
            </a: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Enter score (-1 to stop): 75</a:t>
            </a: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Enter score (-1 to stop): -1</a:t>
            </a: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Scores entered:</a:t>
            </a: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1. 80</a:t>
            </a: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2. 90</a:t>
            </a: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3. 75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18286F-4D7E-B8BC-24AF-797BD155E1E1}"/>
              </a:ext>
            </a:extLst>
          </p:cNvPr>
          <p:cNvSpPr txBox="1"/>
          <p:nvPr/>
        </p:nvSpPr>
        <p:spPr>
          <a:xfrm>
            <a:off x="8241324" y="5297778"/>
            <a:ext cx="7765828" cy="1615827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algn="just"/>
            <a:r>
              <a:rPr lang="en-US" sz="3300" dirty="0">
                <a:latin typeface="Consolas" panose="020B0609020204030204" pitchFamily="49" charset="0"/>
              </a:rPr>
              <a:t>Highest Score: 90</a:t>
            </a: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Lowest Score: 75</a:t>
            </a: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Average (rounded): 82</a:t>
            </a:r>
          </a:p>
        </p:txBody>
      </p:sp>
    </p:spTree>
    <p:extLst>
      <p:ext uri="{BB962C8B-B14F-4D97-AF65-F5344CB8AC3E}">
        <p14:creationId xmlns:p14="http://schemas.microsoft.com/office/powerpoint/2010/main" val="802692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6858D-5A63-E3EE-EDFF-D47BCFDB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CAB989D-9829-4EA5-280D-DB420CEBFFB5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AB3FAAF-86CD-868A-25FE-E4CF0D74819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0D38A18-9B46-BDB4-1259-AAADB464B78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1913FA7-6713-DC27-FF9E-9FDB650E75E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3A601935-8977-0023-6DD2-3004362EF70C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C097A931-5F44-D018-8C9E-B706B4BBB9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834AF982-8553-7F32-A6A0-B64F57E369A1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user-defined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5E87E4-67CC-A75C-19EC-B829860F2B10}"/>
              </a:ext>
            </a:extLst>
          </p:cNvPr>
          <p:cNvSpPr txBox="1"/>
          <p:nvPr/>
        </p:nvSpPr>
        <p:spPr>
          <a:xfrm>
            <a:off x="637059" y="2277070"/>
            <a:ext cx="1695356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b="1" dirty="0">
                <a:latin typeface="Consolas" panose="020B0609020204030204" pitchFamily="49" charset="0"/>
              </a:rPr>
              <a:t>Syntax</a:t>
            </a:r>
            <a:r>
              <a:rPr lang="en-US" sz="40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def </a:t>
            </a:r>
            <a:r>
              <a:rPr lang="en-US" sz="4000" dirty="0" err="1">
                <a:latin typeface="Consolas" panose="020B0609020204030204" pitchFamily="49" charset="0"/>
              </a:rPr>
              <a:t>function_name</a:t>
            </a:r>
            <a:r>
              <a:rPr lang="en-US" sz="4000" dirty="0">
                <a:latin typeface="Consolas" panose="020B0609020204030204" pitchFamily="49" charset="0"/>
              </a:rPr>
              <a:t>(parameters):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	return value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def -&gt; keyword to define a function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 err="1">
                <a:latin typeface="Consolas" panose="020B0609020204030204" pitchFamily="49" charset="0"/>
              </a:rPr>
              <a:t>function_name</a:t>
            </a:r>
            <a:r>
              <a:rPr lang="en-US" sz="4000" dirty="0">
                <a:latin typeface="Consolas" panose="020B0609020204030204" pitchFamily="49" charset="0"/>
              </a:rPr>
              <a:t> -&gt; name of the function 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parameters -&gt; inputs (optional)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return -&gt; sends value back to caller (optional)</a:t>
            </a:r>
          </a:p>
        </p:txBody>
      </p:sp>
    </p:spTree>
    <p:extLst>
      <p:ext uri="{BB962C8B-B14F-4D97-AF65-F5344CB8AC3E}">
        <p14:creationId xmlns:p14="http://schemas.microsoft.com/office/powerpoint/2010/main" val="3221667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914E2-4686-26B2-3E4F-452CE42E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F20BC71-0A23-CA5C-E98C-81660DD8654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4ECD518-DA5C-7837-7BD6-8ACAD7E58A5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69461B2-E9B8-E82D-5C19-7312AD770F8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0F23797-6C66-49D1-361E-78F5EB8CCD2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F7C65C65-0AA1-1C48-27FD-C2F4C125A5C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5EE75C73-AC40-864D-BD97-92DCA53EDA3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79F4BFDE-9956-8958-558A-0360950585F1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user-defined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22D70E-BDEF-81BD-3CE6-27B71CA65642}"/>
              </a:ext>
            </a:extLst>
          </p:cNvPr>
          <p:cNvSpPr txBox="1"/>
          <p:nvPr/>
        </p:nvSpPr>
        <p:spPr>
          <a:xfrm>
            <a:off x="637059" y="2277070"/>
            <a:ext cx="1695356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1. Function without parameters &amp; without return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4FBA0C-5531-66D2-ADB8-FA72A18E6B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253692"/>
            <a:ext cx="1626315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600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313C3-28D2-224A-6D2B-2F0F2C36E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1BC8344-80E1-99D8-520B-816298B9D186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3D8F5-D937-7D83-20B0-8F134C86449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D9FE0A6-4A00-FB3F-6CF1-9FB2A6AED3B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016CC45-183D-00B5-143F-88CD5A8AE04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2B12159-F9DC-8FF6-CDF9-D8A2D3D0692E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D6A97A1-E6DB-35DA-764D-D4EC39BD11E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3DDA9402-A987-9C0B-EF79-1BA5AD1EF910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Task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1B548E3F-5A7B-FCEB-1900-4D464076E8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48A15590-EC91-2219-EA66-5EE1893DE3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9778F1-8DF1-6C65-B74C-004008DCA13C}"/>
              </a:ext>
            </a:extLst>
          </p:cNvPr>
          <p:cNvSpPr txBox="1"/>
          <p:nvPr/>
        </p:nvSpPr>
        <p:spPr>
          <a:xfrm>
            <a:off x="463773" y="2159217"/>
            <a:ext cx="1695356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5400" dirty="0">
                <a:latin typeface="Consolas" panose="020B0609020204030204" pitchFamily="49" charset="0"/>
              </a:rPr>
              <a:t>Write a function </a:t>
            </a:r>
            <a:r>
              <a:rPr lang="en-US" sz="5400" dirty="0" err="1">
                <a:latin typeface="Consolas" panose="020B0609020204030204" pitchFamily="49" charset="0"/>
              </a:rPr>
              <a:t>print_greeting</a:t>
            </a:r>
            <a:r>
              <a:rPr lang="en-US" sz="5400" dirty="0">
                <a:latin typeface="Consolas" panose="020B0609020204030204" pitchFamily="49" charset="0"/>
              </a:rPr>
              <a:t>() that displays: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Welcome to Python Functions!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211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0B143-8799-D7A2-FE38-83095CAEF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BC11CB0-79BC-C4BA-1CE8-FEB6BF6D20F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3EAB9CD-0F1A-5E63-F71E-0B85F8AC419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173B752-626F-78E0-C30C-2560B789D9B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2571F1F-A0AE-0825-F676-5D2CBFB6EE8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231BF12B-737B-5BDE-852E-B10A724DB684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C89EC71E-E76C-A6A6-D0FF-237DA6A1265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EE4541A8-70FD-B8D3-39D8-6BBB437A8FD4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user-defined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EB322E-14CF-7A52-FE2E-B69607A07215}"/>
              </a:ext>
            </a:extLst>
          </p:cNvPr>
          <p:cNvSpPr txBox="1"/>
          <p:nvPr/>
        </p:nvSpPr>
        <p:spPr>
          <a:xfrm>
            <a:off x="637059" y="2277070"/>
            <a:ext cx="1695356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2. Function with 1 or more parameters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3F3697-0A94-A8FE-CE4C-FEC98A2BD629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2" y="4382977"/>
            <a:ext cx="16264800" cy="323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462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75760-475D-7700-643E-397B4395B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CC56DFA-F90F-E676-6616-D7509962FD8C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51A5A0F-77D9-3BB7-A3D2-BA5EF60ED66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3176CCB-0181-95CD-C2A7-767C66BF21A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14C0BF6-032B-D72F-C8E5-AD39147A555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992DF74-DA43-1D95-621E-D8E9F3EC547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039027D2-7976-F035-6D7D-CFBF650EBB2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4B959028-7EF0-8B85-9C4B-0AFBBF657F4F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Task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2ADA7C90-5E7C-B7A7-2456-7894A459D7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5B1F0F3C-3010-96EF-AF8D-E0DF219D33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137340-2731-E300-918D-8C8111BA719B}"/>
              </a:ext>
            </a:extLst>
          </p:cNvPr>
          <p:cNvSpPr txBox="1"/>
          <p:nvPr/>
        </p:nvSpPr>
        <p:spPr>
          <a:xfrm>
            <a:off x="463773" y="2159217"/>
            <a:ext cx="1695356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5400" dirty="0">
                <a:latin typeface="Consolas" panose="020B0609020204030204" pitchFamily="49" charset="0"/>
              </a:rPr>
              <a:t>Write a function </a:t>
            </a:r>
            <a:r>
              <a:rPr lang="en-US" sz="5400" dirty="0" err="1">
                <a:latin typeface="Consolas" panose="020B0609020204030204" pitchFamily="49" charset="0"/>
              </a:rPr>
              <a:t>calculate_area</a:t>
            </a:r>
            <a:r>
              <a:rPr lang="en-US" sz="5400" dirty="0">
                <a:latin typeface="Consolas" panose="020B0609020204030204" pitchFamily="49" charset="0"/>
              </a:rPr>
              <a:t>(length, width) that takes two parameters and prints the area of a rectangle.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endParaRPr lang="en-US" sz="5400" dirty="0">
              <a:latin typeface="Consolas" panose="020B0609020204030204" pitchFamily="49" charset="0"/>
            </a:endParaRP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5400" dirty="0">
                <a:latin typeface="Consolas" panose="020B0609020204030204" pitchFamily="49" charset="0"/>
              </a:rPr>
              <a:t>Write a function </a:t>
            </a:r>
            <a:r>
              <a:rPr lang="en-US" sz="5400" dirty="0" err="1">
                <a:latin typeface="Consolas" panose="020B0609020204030204" pitchFamily="49" charset="0"/>
              </a:rPr>
              <a:t>calculate_discount</a:t>
            </a:r>
            <a:r>
              <a:rPr lang="en-US" sz="5400" dirty="0">
                <a:latin typeface="Consolas" panose="020B0609020204030204" pitchFamily="49" charset="0"/>
              </a:rPr>
              <a:t>(price, discount) that takes an item’s price and a discount percentage, then prints the final price after applying the discount.</a:t>
            </a:r>
          </a:p>
        </p:txBody>
      </p:sp>
    </p:spTree>
    <p:extLst>
      <p:ext uri="{BB962C8B-B14F-4D97-AF65-F5344CB8AC3E}">
        <p14:creationId xmlns:p14="http://schemas.microsoft.com/office/powerpoint/2010/main" val="2235649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12359-C0B1-0A68-4E13-285A90E06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2532479-0064-9DE7-7058-8F08271683E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8CD46BE-9FCE-1705-C056-ABDC63EEA0A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634C8C2-140A-C87D-A567-523337598D7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9A74A50-E36B-44F0-5CFE-89C468D560C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3CC01422-4A7F-4049-1F4B-3EB4B31710C0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11E9A1F-A16D-CEFA-20B2-3490C0E4554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BEB41753-693D-62E5-A6D9-3A46ED2D9824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user-defined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2C99AD-3AED-6669-8DB0-B2D235A6A4D8}"/>
              </a:ext>
            </a:extLst>
          </p:cNvPr>
          <p:cNvSpPr txBox="1"/>
          <p:nvPr/>
        </p:nvSpPr>
        <p:spPr>
          <a:xfrm>
            <a:off x="637059" y="2277070"/>
            <a:ext cx="1695356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3. Function with 1 or more return value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 1: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EA900B-8890-C90C-2ABF-199AA9C51B03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755855" y="4543070"/>
            <a:ext cx="16700400" cy="323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35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05EE7-1820-5B5C-34A0-9B5F0A51F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4B65334-F61A-4871-2A46-115ED5ACA21D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DCA8465-C6F6-D0BF-29BD-19C6C0512F5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6DBE6FD-4C33-DD6C-126F-E6BAD15853A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013880C-6C5E-9B91-5467-79D310403E0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FD6AD18C-D88A-6275-2785-6D07A3E1F01E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72CCFAEE-6005-A47B-D1F8-46832C94950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2194301-E076-C79F-5CA2-90C71A6B8B62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user-defined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DC0F42-2840-A122-6E0D-0B010F542BA6}"/>
              </a:ext>
            </a:extLst>
          </p:cNvPr>
          <p:cNvSpPr txBox="1"/>
          <p:nvPr/>
        </p:nvSpPr>
        <p:spPr>
          <a:xfrm>
            <a:off x="637059" y="2277070"/>
            <a:ext cx="16953563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3. Function with 1 or more return value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 2: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Note</a:t>
            </a:r>
            <a:r>
              <a:rPr lang="en-US" sz="4000" dirty="0">
                <a:latin typeface="Consolas" panose="020B0609020204030204" pitchFamily="49" charset="0"/>
              </a:rPr>
              <a:t>: The number of return values should match the number of variables.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46C68F-49F9-38C2-76F2-7EA6FCE10EDA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533900"/>
            <a:ext cx="16700400" cy="323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847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62FD5-988F-0D56-63B7-285F657CD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906E7C9-BD36-240B-1E48-9511AD28C692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0D8039D-FAB6-6195-C0B0-26C1FD2E89C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92F8821-3FEE-003B-B562-5ACE6DD5846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B0C8DE6-C274-83D3-BCE6-8476DED5FC8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481A0AC1-7763-2650-ADED-25F357B89DC4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479041BE-FCDA-CBC4-9842-7A8CF37CC74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A305167D-3437-DBDB-2E2A-CC895D271072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Task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6A206AAE-8D09-CB26-26FF-4979AACDB4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4812619B-D04A-AE85-088B-0EDDEA16C4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465DB5-D3E2-F2B4-08A7-D13B1BEB7E24}"/>
              </a:ext>
            </a:extLst>
          </p:cNvPr>
          <p:cNvSpPr txBox="1"/>
          <p:nvPr/>
        </p:nvSpPr>
        <p:spPr>
          <a:xfrm>
            <a:off x="463773" y="2159217"/>
            <a:ext cx="16953563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Ask the user for student name and their score and store it on a dictionary terminated when the user input for the student's name is “stop”.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If a name already exist, notify the user that it is already exist then prompt the user to enter a new name. Provide sanitation for user inputs (extra spaces, case-insensitive, no inputs, etc.)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Create a function </a:t>
            </a:r>
            <a:r>
              <a:rPr lang="en-US" sz="4000" dirty="0" err="1">
                <a:latin typeface="Consolas" panose="020B0609020204030204" pitchFamily="49" charset="0"/>
              </a:rPr>
              <a:t>get_min_max</a:t>
            </a:r>
            <a:r>
              <a:rPr lang="en-US" sz="4000" dirty="0">
                <a:latin typeface="Consolas" panose="020B0609020204030204" pitchFamily="49" charset="0"/>
              </a:rPr>
              <a:t>(grades) that accepts a dictionary of student names as keys and student scores as values and returns both the lowest and highest score.</a:t>
            </a:r>
          </a:p>
        </p:txBody>
      </p:sp>
    </p:spTree>
    <p:extLst>
      <p:ext uri="{BB962C8B-B14F-4D97-AF65-F5344CB8AC3E}">
        <p14:creationId xmlns:p14="http://schemas.microsoft.com/office/powerpoint/2010/main" val="1468080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728BA-395A-07E6-B206-8DCEE895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15D6E59-B9FA-1F40-49D8-B11989ACED2E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2C548A5-3799-9D11-1AB2-42B3FAAF5D1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8BE8880-8CED-74C4-74C6-54F3E9C373A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EF4D93C-3F20-75B7-8B94-B5A4017A19D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4BF4298-DA06-97F4-E261-5026871D89A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1FEC050-9A09-6DE3-8494-A186073C6F2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E6B736D-F56A-4BC6-A7F8-55715E1297B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user-defined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751D98-D387-0B52-FE36-A96F36FD08A4}"/>
              </a:ext>
            </a:extLst>
          </p:cNvPr>
          <p:cNvSpPr txBox="1"/>
          <p:nvPr/>
        </p:nvSpPr>
        <p:spPr>
          <a:xfrm>
            <a:off x="637059" y="2277070"/>
            <a:ext cx="16953563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4. Function with default parameter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Note: </a:t>
            </a:r>
            <a:r>
              <a:rPr lang="en-US" sz="4000" dirty="0">
                <a:latin typeface="Consolas" panose="020B0609020204030204" pitchFamily="49" charset="0"/>
              </a:rPr>
              <a:t>If function has multiple parameters, the one with default values should be at the last or else you get a</a:t>
            </a:r>
          </a:p>
          <a:p>
            <a:pPr algn="just"/>
            <a:r>
              <a:rPr lang="en-US" sz="4000" b="1" dirty="0" err="1">
                <a:latin typeface="Consolas" panose="020B0609020204030204" pitchFamily="49" charset="0"/>
              </a:rPr>
              <a:t>SyntaxError</a:t>
            </a:r>
            <a:r>
              <a:rPr lang="en-US" sz="4000" b="1" dirty="0">
                <a:latin typeface="Consolas" panose="020B0609020204030204" pitchFamily="49" charset="0"/>
              </a:rPr>
              <a:t>: non-default argument follows default argument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A225F4-9A4B-2D59-B96A-34C859C28CBC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457700"/>
            <a:ext cx="16700400" cy="323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7748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E4DDC-EFCD-ED51-719D-5D75527B9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A3EC01A-E892-46D5-5C72-A251527BF78B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F96F1F0-6380-21BF-21C5-93DF39B48BE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625CD8E-C463-4B96-EA37-57CA8B04CBD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94AC71B-D1B6-C1D6-680C-F9FF971CAE6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4AB8583F-9251-605E-3536-E1DFD73317F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954B10-1307-B245-9356-BC32535469C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3D5BA5A1-7A3B-758A-08F9-E7D46875FB59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user-defined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9DE88B-13BC-C2CA-C9A5-BBF33EE59129}"/>
              </a:ext>
            </a:extLst>
          </p:cNvPr>
          <p:cNvSpPr txBox="1"/>
          <p:nvPr/>
        </p:nvSpPr>
        <p:spPr>
          <a:xfrm>
            <a:off x="637059" y="2277070"/>
            <a:ext cx="1695356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5. Function with data type hints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 1: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702EEA-365B-1E09-66FC-8951B664714D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2" y="3695699"/>
            <a:ext cx="16700400" cy="323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4073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C3BC5-8133-D485-2005-4164D20AD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C90A2C9-5BE6-73A1-E362-05509B7ED3F9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50EC7A1-7CD8-ECA5-DC86-BD3009E4E79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3B172AE-D9CA-9CB7-2918-45AAA1F5E11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90EBF7D-8DBF-AC16-EA1C-F37C5A2DE04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D9573AF4-6EA5-A720-BCEF-B6559ABD996C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7D676287-E801-7F2E-7EAE-FB6D44FB501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522B5C8F-A7F6-86D3-C575-249EC453556A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user-defined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0A14BC-DEA5-A233-84BB-FC2CD2C99555}"/>
              </a:ext>
            </a:extLst>
          </p:cNvPr>
          <p:cNvSpPr txBox="1"/>
          <p:nvPr/>
        </p:nvSpPr>
        <p:spPr>
          <a:xfrm>
            <a:off x="637059" y="2277070"/>
            <a:ext cx="1695356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5. Function with data type hints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 2: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B82B3F-1E45-0FAC-D88B-1F242BA0EAB2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2" y="3695699"/>
            <a:ext cx="16700400" cy="323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2146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FC07A-F7AE-8FC7-B8FD-0A117AB96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E0C7551-5664-432B-CBDB-6DF4996089D5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C6BD631-7592-BECB-DDED-5C4B96F8BA4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AF33B33-8F6D-974D-49D1-F1324F427EC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F55C4C0-6677-794F-E78F-4647FC627E2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576BA1B-BB5E-DA5D-8BBA-57FE83BBC44B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D1B23F31-2EBE-DCAD-DFF4-C1BFA335607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23BEF5FD-96EB-FE91-D471-7378AE51315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user-defined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90699F-A83A-05BF-49A6-8A5F6007A684}"/>
              </a:ext>
            </a:extLst>
          </p:cNvPr>
          <p:cNvSpPr txBox="1"/>
          <p:nvPr/>
        </p:nvSpPr>
        <p:spPr>
          <a:xfrm>
            <a:off x="637059" y="2277070"/>
            <a:ext cx="16953563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6. Function Keyword Arguments - You can also send arguments with the key = value syntax. This way the order of the arguments does not matter.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1CC56E-1CD8-CFFB-25B4-EF03BA0C32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059" y="5656549"/>
            <a:ext cx="16700400" cy="283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5852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623F2-E584-6ECA-F6D2-B27889A7C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5FB2092-86CC-39D3-A075-C274F6E4D3AA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7146E86-4E94-7C37-5429-CA09D6CAD20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0BA22FF-665A-80FC-08F0-072BFD19848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B07079B-DD37-06F0-3527-35C785DD15A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D22E50D0-E40A-71D6-9714-1AFF04B3050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C544953A-092B-A4DB-9544-F6385808244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9AA7F7B2-D5FF-8A14-01F8-842D2DA1EE47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user-defined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BBD486-C7F4-EB64-786B-230900E372FF}"/>
              </a:ext>
            </a:extLst>
          </p:cNvPr>
          <p:cNvSpPr txBox="1"/>
          <p:nvPr/>
        </p:nvSpPr>
        <p:spPr>
          <a:xfrm>
            <a:off x="637059" y="2277070"/>
            <a:ext cx="16953563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7. Function with variable number of keyword arguments (**</a:t>
            </a:r>
            <a:r>
              <a:rPr lang="en-US" sz="4000" dirty="0" err="1">
                <a:latin typeface="Consolas" panose="020B0609020204030204" pitchFamily="49" charset="0"/>
              </a:rPr>
              <a:t>kwargs</a:t>
            </a:r>
            <a:r>
              <a:rPr lang="en-US" sz="4000" dirty="0">
                <a:latin typeface="Consolas" panose="020B0609020204030204" pitchFamily="49" charset="0"/>
              </a:rPr>
              <a:t>)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- It allows multiple keyword arguments. If the number of keyword arguments is unknown, add a ** before the parameter name. This way the function will receive a dictionary of arguments and can access the items accordingly.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 1: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AB82C8-3A1E-7413-700F-29E353B1E2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6843357"/>
            <a:ext cx="16700400" cy="284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0868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E2785-3AD9-A534-6280-B36309905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53B3A25-A209-5458-A9CC-FC3A1764B4F3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CE14B21-6697-808A-E119-212F7871CF1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BBA6B69-9057-690B-2CAA-65FEA406277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CB44670-3BE8-332B-F7FE-B54DFEFD3E6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06B19CA-5A35-1054-F820-2DDF5070843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74B1A675-537C-B2E9-08CF-DEB51A6EAF0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E3E71F8-9D19-CD4C-E0D9-199E198E707B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user-defined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47FBE1-AD6E-71A9-EF09-17610595FDEC}"/>
              </a:ext>
            </a:extLst>
          </p:cNvPr>
          <p:cNvSpPr txBox="1"/>
          <p:nvPr/>
        </p:nvSpPr>
        <p:spPr>
          <a:xfrm>
            <a:off x="637059" y="2277070"/>
            <a:ext cx="16953563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7. Function with variable number of keyword arguments (**</a:t>
            </a:r>
            <a:r>
              <a:rPr lang="en-US" sz="4000" dirty="0" err="1">
                <a:latin typeface="Consolas" panose="020B0609020204030204" pitchFamily="49" charset="0"/>
              </a:rPr>
              <a:t>kwargs</a:t>
            </a:r>
            <a:r>
              <a:rPr lang="en-US" sz="4000" dirty="0">
                <a:latin typeface="Consolas" panose="020B0609020204030204" pitchFamily="49" charset="0"/>
              </a:rPr>
              <a:t>)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- It allows multiple keyword arguments. If the number of keyword arguments is unknown, add a ** before the parameter name. This way the function will receive a dictionary of arguments and can access the items accordingly.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 2: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008230-E8C9-5F16-793C-C64177960C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6630273"/>
            <a:ext cx="16700400" cy="288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393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63250-44A4-8861-437F-9D6F9BD50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A990D1E-54AD-D1EB-D534-F14543DA050C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5C1FAA1-C62C-7B9D-F222-26D5B039D8C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D3A8E6A-14F6-2881-6081-493C10C1A7B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A4B77EB-D943-3A06-5FF8-82003A49CF9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F82DB7E-8E32-E3E9-32BE-14649CCE2393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BC958E97-66EA-7144-30AD-39A8FA28715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E1F0211-D01A-85C5-96A3-3A15503AAE09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user-defined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76DF57-173B-604B-C24A-EF9069F613F1}"/>
              </a:ext>
            </a:extLst>
          </p:cNvPr>
          <p:cNvSpPr txBox="1"/>
          <p:nvPr/>
        </p:nvSpPr>
        <p:spPr>
          <a:xfrm>
            <a:off x="637059" y="2277070"/>
            <a:ext cx="16953563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8. Function with variable number of arguments (*</a:t>
            </a:r>
            <a:r>
              <a:rPr lang="en-US" sz="4000" dirty="0" err="1">
                <a:latin typeface="Consolas" panose="020B0609020204030204" pitchFamily="49" charset="0"/>
              </a:rPr>
              <a:t>args</a:t>
            </a:r>
            <a:r>
              <a:rPr lang="en-US" sz="4000" dirty="0">
                <a:latin typeface="Consolas" panose="020B0609020204030204" pitchFamily="49" charset="0"/>
              </a:rPr>
              <a:t>)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- It allows multiple positional arguments. If the number of arguments is unknown, add a * before the parameter name. This way the function will receive a tuple of arguments and can access the items accordingly.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 1: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03A3D5-55A4-6EFD-A79A-FBDC828BD806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6667500"/>
            <a:ext cx="16700400" cy="323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7031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865BC-449F-6199-7C45-8F5CEF42C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A89FADD-3886-A32A-70AE-99D505883603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E735C64-CC7D-B5FD-854F-84AC47FFC84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025D786-367E-4912-F3A2-418E8EC7C83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477991A-98CF-FC1E-2BDE-E01334DB756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43B7FEF-EFEB-7C3C-1D7E-C9D9B9238864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385FFC37-47C5-4E91-6BA0-1F06E3AF730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87B2DBC-9024-9540-7C5A-2ABEB88DC790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user-defined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EB2B8A-8E17-F999-8E10-1598213F8589}"/>
              </a:ext>
            </a:extLst>
          </p:cNvPr>
          <p:cNvSpPr txBox="1"/>
          <p:nvPr/>
        </p:nvSpPr>
        <p:spPr>
          <a:xfrm>
            <a:off x="637059" y="2277070"/>
            <a:ext cx="16953563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8. Function with variable number of arguments (*</a:t>
            </a:r>
            <a:r>
              <a:rPr lang="en-US" sz="4000" dirty="0" err="1">
                <a:latin typeface="Consolas" panose="020B0609020204030204" pitchFamily="49" charset="0"/>
              </a:rPr>
              <a:t>args</a:t>
            </a:r>
            <a:r>
              <a:rPr lang="en-US" sz="4000" dirty="0">
                <a:latin typeface="Consolas" panose="020B0609020204030204" pitchFamily="49" charset="0"/>
              </a:rPr>
              <a:t>)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- It allows multiple positional arguments. If the number of arguments is unknown, add a * before the parameter name. This way the function will receive a tuple of arguments and can access the items accordingly.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 2: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F7C62E-A905-708C-2D9F-D109616F56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6644433"/>
            <a:ext cx="16700400" cy="290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389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DC6E6-D11B-A3FE-C071-D5A56FA8F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600D498-BB45-5C3C-DEA4-C54C1C9C2162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221053D-125C-2572-0467-172F30A7BEC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37F9097-2450-7C9D-457E-1CA3E2E25C1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F57366F-E974-B942-FA03-6BC0B130B73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FE2109B-248E-ACCB-AF5F-8A5BD9A09D0E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662E965-5D94-452E-38B9-67F51FD8162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5D41B8E2-CA4F-05FF-8C54-D9B24452B948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user-defined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EB4812-668E-D225-888F-9EBBEB6BFAF2}"/>
              </a:ext>
            </a:extLst>
          </p:cNvPr>
          <p:cNvSpPr txBox="1"/>
          <p:nvPr/>
        </p:nvSpPr>
        <p:spPr>
          <a:xfrm>
            <a:off x="637059" y="2277070"/>
            <a:ext cx="16953563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9. Lambda Functions (Anonymous Functions)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- A lambda function is a small anonymous function. A lambda function can take any number of arguments but can only have one expression. 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Syntax: </a:t>
            </a:r>
            <a:r>
              <a:rPr lang="en-US" sz="4000" dirty="0">
                <a:latin typeface="Consolas" panose="020B0609020204030204" pitchFamily="49" charset="0"/>
              </a:rPr>
              <a:t>lambda </a:t>
            </a:r>
            <a:r>
              <a:rPr lang="en-US" sz="4000" i="1" dirty="0">
                <a:latin typeface="Consolas" panose="020B0609020204030204" pitchFamily="49" charset="0"/>
              </a:rPr>
              <a:t>arguments</a:t>
            </a:r>
            <a:r>
              <a:rPr lang="en-US" sz="4000" dirty="0">
                <a:latin typeface="Consolas" panose="020B0609020204030204" pitchFamily="49" charset="0"/>
              </a:rPr>
              <a:t> : </a:t>
            </a:r>
            <a:r>
              <a:rPr lang="en-US" sz="4000" i="1" dirty="0">
                <a:latin typeface="Consolas" panose="020B0609020204030204" pitchFamily="49" charset="0"/>
              </a:rPr>
              <a:t>expression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AA5221-3D42-90F9-F99E-7453B5CF6D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6134100"/>
            <a:ext cx="16700400" cy="283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559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0C0C8-FF62-0B20-C54B-DA4790425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F7722C1-5FE4-1C88-7E59-529453BCF4F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FFFAC28-78E2-9CEB-923D-651B5EA723A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D827A22-96DE-B41E-D761-18C82ECF603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F38FFAF-CC1D-2130-18C4-AC949CEF15B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D0301198-418A-162D-C1C9-29548E92034A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2B14E32C-DC58-2459-25AF-B927A5EDC8B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834BFD9B-8D95-105A-30A0-5EA3871643E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Task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DFBCCD07-2182-D48B-54E7-2DC57362D8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9C006A51-04DF-9BCC-A377-62FB1F28C1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6A284F-2FE7-62E8-6732-E5CE19FA3456}"/>
              </a:ext>
            </a:extLst>
          </p:cNvPr>
          <p:cNvSpPr txBox="1"/>
          <p:nvPr/>
        </p:nvSpPr>
        <p:spPr>
          <a:xfrm>
            <a:off x="463773" y="2159217"/>
            <a:ext cx="1695356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Write a program that asks the user for a number and uses a lambda function to return whether it is even or odd.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endParaRPr lang="en-US" sz="4000" dirty="0">
              <a:latin typeface="Consolas" panose="020B0609020204030204" pitchFamily="49" charset="0"/>
            </a:endParaRP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Write a program that asks the user for a 1-word string then use a lambda function to return whether it is a palindrome or not.</a:t>
            </a:r>
          </a:p>
        </p:txBody>
      </p:sp>
    </p:spTree>
    <p:extLst>
      <p:ext uri="{BB962C8B-B14F-4D97-AF65-F5344CB8AC3E}">
        <p14:creationId xmlns:p14="http://schemas.microsoft.com/office/powerpoint/2010/main" val="13106048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BCE65-6771-B50B-87A7-5D4DFE818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DBCA9CF-9184-0D5B-285A-3EE1E85D4EF5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4C1D202-7191-82DB-19B9-0F7BBCD4469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C8F5B7F-8CE7-03D9-91DE-D9BAC21775F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0FF41A9-85A3-6FCB-BDC0-3D0B287E84F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80B8898-9BF0-E617-C93E-BD13BD067FE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0D063133-517D-0059-335B-A15CC9AE590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E7CD2D4E-2B9C-CF39-287A-4FB465D71B7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user-defined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A8F888-330F-2296-1E3F-202A79D6952B}"/>
              </a:ext>
            </a:extLst>
          </p:cNvPr>
          <p:cNvSpPr txBox="1"/>
          <p:nvPr/>
        </p:nvSpPr>
        <p:spPr>
          <a:xfrm>
            <a:off x="637059" y="2277070"/>
            <a:ext cx="1695356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10. Recursive function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- Recursion is a programming technique where a function calls itself to solve a problem. It is typically used for problems that can be broken down into smaller, similar sub-problems. A recursive function must have: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Base Case: A condition that stops the recursion.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Recursive Case: The part of the function where it calls itself to continue the process.</a:t>
            </a:r>
            <a:endParaRPr lang="en-US" sz="4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1211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53B08-412B-D181-52C5-EBBC89D2D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86E5A03-C988-6674-68A0-3AA8C1A32B1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092002E-95B5-2B4F-D8CE-C0C837DEDCB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348BA15-0CFF-C84F-AFBE-7348F30F8BA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4EE5ED0-8540-4D22-6816-053B29BEC51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46F8182-1B6E-538C-C0F2-EE675B9E2A31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AC77806E-4F38-6888-3CFA-53BAF9CCFA1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B445CE3B-3104-4C54-CEFE-F38421EF5D1C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user-defined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B86F2F-957E-051C-04DF-25A4CF3D0729}"/>
              </a:ext>
            </a:extLst>
          </p:cNvPr>
          <p:cNvSpPr txBox="1"/>
          <p:nvPr/>
        </p:nvSpPr>
        <p:spPr>
          <a:xfrm>
            <a:off x="637059" y="2277070"/>
            <a:ext cx="16953563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10. Recursive function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How it works?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Each function call is placed on the call stack, which keeps track of its execution context. The call stack is a data structure that tracks function calls in a program.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The base case ensures the recursion terminates, preventing infinite loops. It acts as the "exit condition" for the recursive function.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As the function unwinds, the results of smaller sub-problems are combined to solve the original problem.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7316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C48BF-55D4-8B88-34D8-912C7F06D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7A277BC-48A3-0F1D-97D5-DE4B6BECD14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941B6B9-590D-A8BE-9FB9-74BC9FC2ABD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0353303-DF49-B38B-F2A0-909EEF3D98A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0BDE0CA-4344-D151-E470-EA16BCCEAE0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9FA5CFF3-43E7-DB8F-FC44-F5D3EC4E86F9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D17C9D8-4DFE-38F4-10D7-85F3B2944C2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057B923-C197-2EF3-DA58-C65D92927D09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user-defined functions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843915-8172-C529-A135-57878FD0E8DC}"/>
              </a:ext>
            </a:extLst>
          </p:cNvPr>
          <p:cNvSpPr txBox="1"/>
          <p:nvPr/>
        </p:nvSpPr>
        <p:spPr>
          <a:xfrm>
            <a:off x="637059" y="2277070"/>
            <a:ext cx="1695356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10. Recursive function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 1: </a:t>
            </a:r>
            <a:r>
              <a:rPr lang="en-US" sz="4000" dirty="0">
                <a:latin typeface="Consolas" panose="020B0609020204030204" pitchFamily="49" charset="0"/>
              </a:rPr>
              <a:t>The factorial of a number n is defined as: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n! = n×(n−1)! 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Base case: 0! = 1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860E14-064A-2144-7733-2018183833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059" y="5163302"/>
            <a:ext cx="16700400" cy="356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0037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3C8A-FEE1-4468-779E-08470F7D6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9A27361-A85D-09EE-8BEA-526C8EC9D799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4A2E40E-A690-D40B-1D56-45E3D5FF1E9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02717FF-E646-1E2B-1396-68EDE34AFC5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BED6732-4D70-9F9C-C5A9-1CBC6202DE0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3723F963-BE1C-4EB3-9472-946CB62EF44B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3974A146-8497-6AAE-97DD-0C7322AA64B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06E62BDC-06D9-15DB-3723-BA015799BA2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Task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DB79DFD4-9E10-4938-D0F6-31D37DA74D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38D9EC7A-C2F5-B771-2F81-D781B05143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908B1E-09FF-1090-5CB8-6F86F8CEDA3D}"/>
              </a:ext>
            </a:extLst>
          </p:cNvPr>
          <p:cNvSpPr txBox="1"/>
          <p:nvPr/>
        </p:nvSpPr>
        <p:spPr>
          <a:xfrm>
            <a:off x="463773" y="2159217"/>
            <a:ext cx="1695356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Write a Python program to get the sum of a non-negative integer using recursion.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Sample Output: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Enter a number: 345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The sum is 12.</a:t>
            </a:r>
          </a:p>
        </p:txBody>
      </p:sp>
    </p:spTree>
    <p:extLst>
      <p:ext uri="{BB962C8B-B14F-4D97-AF65-F5344CB8AC3E}">
        <p14:creationId xmlns:p14="http://schemas.microsoft.com/office/powerpoint/2010/main" val="34165814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D55DC-0C2D-F13F-60A3-05192A8F0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4F563D3-C76A-6ED5-3FFF-14D39FAD03E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AB5DF81-79E2-9A8D-779C-CB3CBD5D89A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0988ED3-3A5C-DFFA-8EF8-2477CFBEFCD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2C03088-AA5C-B42C-495E-86E07C5584E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F75BD575-72C0-1244-1ABC-C6957E0330A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2815140B-ED46-BEEE-07B6-646B803D2C2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7668F909-B2D6-45A9-5CC6-2AA5CD629C4A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Assessment 1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DC366353-BF5E-7B5C-38D3-38BA12E1AB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C068AD42-BBEC-F198-7510-8402D5F096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21B01C-696A-523C-EF33-CA36DB52277C}"/>
              </a:ext>
            </a:extLst>
          </p:cNvPr>
          <p:cNvSpPr txBox="1"/>
          <p:nvPr/>
        </p:nvSpPr>
        <p:spPr>
          <a:xfrm>
            <a:off x="463773" y="2159217"/>
            <a:ext cx="16953563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You are given an integer n. You have  to print all numbers from 1 to n.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Note: You must use recursion only and print all numbers from 1 to n in a single line, separated by spaces.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Input: n = 10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Output: 1 2 3 4 5 6 7 8 9 10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Input: n = 1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Output: 1</a:t>
            </a:r>
          </a:p>
        </p:txBody>
      </p:sp>
    </p:spTree>
    <p:extLst>
      <p:ext uri="{BB962C8B-B14F-4D97-AF65-F5344CB8AC3E}">
        <p14:creationId xmlns:p14="http://schemas.microsoft.com/office/powerpoint/2010/main" val="34292493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03621-9664-F5C7-418F-7EC886F29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C55011A-2EB4-9D20-023F-A95BE8C60DD3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82ED000-DA10-C417-E782-3C55613C195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71DA39C-7444-D467-D950-07019D3256B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65BC71B-A00D-F545-C1C7-FC3C55D7D67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EC66DEF-5037-B7B3-E447-E8A0AD82E639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5E7C9D8B-79AE-4780-0EFE-5EEF0CB5596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35E2E268-707A-B21B-FF9B-6D5ED48259AA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Assessment 2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E4A082B3-4118-7A22-C0BD-0CD18237AA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18085666-E343-9A00-7FF2-F4DCAC6451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5A8753-41C5-C469-93D9-FB2147A49E80}"/>
              </a:ext>
            </a:extLst>
          </p:cNvPr>
          <p:cNvSpPr txBox="1"/>
          <p:nvPr/>
        </p:nvSpPr>
        <p:spPr>
          <a:xfrm>
            <a:off x="463773" y="2159217"/>
            <a:ext cx="16953563" cy="7940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400" dirty="0">
                <a:latin typeface="Consolas" panose="020B0609020204030204" pitchFamily="49" charset="0"/>
              </a:rPr>
              <a:t>Program Requirements:</a:t>
            </a:r>
          </a:p>
          <a:p>
            <a:pPr marL="742950" indent="-742950" algn="just">
              <a:buAutoNum type="arabicPeriod"/>
            </a:pPr>
            <a:r>
              <a:rPr lang="en-US" sz="3400" b="1" dirty="0">
                <a:latin typeface="Consolas" panose="020B0609020204030204" pitchFamily="49" charset="0"/>
              </a:rPr>
              <a:t>Add Student Record </a:t>
            </a:r>
            <a:r>
              <a:rPr lang="en-US" sz="3400" dirty="0">
                <a:latin typeface="Consolas" panose="020B0609020204030204" pitchFamily="49" charset="0"/>
              </a:rPr>
              <a:t>- Create a function adds a student’s name as the key and their grade as the value in the dictionary. If the name already exists (case-insensitive), notify the user then ask again.</a:t>
            </a:r>
          </a:p>
          <a:p>
            <a:pPr marL="742950" indent="-742950" algn="just">
              <a:buFontTx/>
              <a:buAutoNum type="arabicPeriod"/>
            </a:pPr>
            <a:r>
              <a:rPr lang="en-PH" sz="3400" b="1" dirty="0">
                <a:latin typeface="Consolas" panose="020B0609020204030204" pitchFamily="49" charset="0"/>
              </a:rPr>
              <a:t>Update Student Grade - </a:t>
            </a:r>
            <a:r>
              <a:rPr lang="en-US" sz="3400" dirty="0">
                <a:latin typeface="Consolas" panose="020B0609020204030204" pitchFamily="49" charset="0"/>
              </a:rPr>
              <a:t>Create a function to update the grade of an existing student. Ask for a name to search (case-insensitive) then, if exist, ask for the new grade, otherwise, notify the user that name not found.</a:t>
            </a:r>
          </a:p>
          <a:p>
            <a:pPr marL="742950" indent="-742950" algn="just">
              <a:buFontTx/>
              <a:buAutoNum type="arabicPeriod"/>
            </a:pPr>
            <a:r>
              <a:rPr lang="en-US" sz="3400" b="1" dirty="0">
                <a:latin typeface="Consolas" panose="020B0609020204030204" pitchFamily="49" charset="0"/>
              </a:rPr>
              <a:t>Compute Class Statistics -  </a:t>
            </a:r>
            <a:r>
              <a:rPr lang="en-US" sz="3400" dirty="0">
                <a:latin typeface="Consolas" panose="020B0609020204030204" pitchFamily="49" charset="0"/>
              </a:rPr>
              <a:t>Create a function that returns the average, highest &amp; lowest grade with their name.</a:t>
            </a:r>
          </a:p>
          <a:p>
            <a:pPr marL="742950" indent="-742950" algn="just">
              <a:buFontTx/>
              <a:buAutoNum type="arabicPeriod"/>
            </a:pPr>
            <a:r>
              <a:rPr lang="en-US" sz="3400" b="1" dirty="0">
                <a:latin typeface="Consolas" panose="020B0609020204030204" pitchFamily="49" charset="0"/>
              </a:rPr>
              <a:t>Display all records – </a:t>
            </a:r>
            <a:r>
              <a:rPr lang="en-US" sz="3400" dirty="0">
                <a:latin typeface="Consolas" panose="020B0609020204030204" pitchFamily="49" charset="0"/>
              </a:rPr>
              <a:t>Create a function that prints all student names and grades in a clean format.</a:t>
            </a:r>
          </a:p>
          <a:p>
            <a:pPr marL="742950" indent="-742950" algn="just">
              <a:buFontTx/>
              <a:buAutoNum type="arabicPeriod"/>
            </a:pPr>
            <a:r>
              <a:rPr lang="en-US" sz="3400" b="1" dirty="0">
                <a:latin typeface="Consolas" panose="020B0609020204030204" pitchFamily="49" charset="0"/>
              </a:rPr>
              <a:t>Create a loop that allows users to choose: </a:t>
            </a:r>
            <a:r>
              <a:rPr lang="en-US" sz="3400" dirty="0">
                <a:latin typeface="Consolas" panose="020B0609020204030204" pitchFamily="49" charset="0"/>
              </a:rPr>
              <a:t>add student, update student, show class statistics, display </a:t>
            </a:r>
            <a:r>
              <a:rPr lang="en-US" sz="3400">
                <a:latin typeface="Consolas" panose="020B0609020204030204" pitchFamily="49" charset="0"/>
              </a:rPr>
              <a:t>all records</a:t>
            </a:r>
            <a:r>
              <a:rPr lang="en-US" sz="3400" dirty="0">
                <a:latin typeface="Consolas" panose="020B0609020204030204" pitchFamily="49" charset="0"/>
              </a:rPr>
              <a:t>, exit</a:t>
            </a:r>
            <a:endParaRPr lang="en-PH" sz="3400" dirty="0">
              <a:latin typeface="Consolas" panose="020B0609020204030204" pitchFamily="49" charset="0"/>
            </a:endParaRPr>
          </a:p>
          <a:p>
            <a:pPr marL="742950" indent="-742950" algn="just">
              <a:buAutoNum type="arabicPeriod"/>
            </a:pPr>
            <a:endParaRPr lang="en-US" sz="3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1692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B2925-A282-B222-FA6B-B33856ADA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99785819-4192-C8AA-C50C-49F8CDD64E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1" y="2939231"/>
            <a:ext cx="18287999" cy="4408536"/>
          </a:xfrm>
          <a:prstGeom prst="rect">
            <a:avLst/>
          </a:prstGeom>
        </p:spPr>
      </p:pic>
      <p:sp>
        <p:nvSpPr>
          <p:cNvPr id="20" name="Freeform 20">
            <a:extLst>
              <a:ext uri="{FF2B5EF4-FFF2-40B4-BE49-F238E27FC236}">
                <a16:creationId xmlns:a16="http://schemas.microsoft.com/office/drawing/2014/main" id="{22C764C3-1FD9-0976-D357-D00C3F8E7D0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38243CB3-F6A1-8BA5-0176-9ECB60CABE98}"/>
              </a:ext>
            </a:extLst>
          </p:cNvPr>
          <p:cNvSpPr txBox="1"/>
          <p:nvPr/>
        </p:nvSpPr>
        <p:spPr>
          <a:xfrm>
            <a:off x="1144875" y="4404386"/>
            <a:ext cx="15998250" cy="147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72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Lesson 4.3: Python Exceptions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5A1552AF-EE53-DC18-1426-0A8D785C06D2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BC7AEF3B-9A36-2E21-3DE1-76258C0C1C73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E34BA991-1E6A-FB59-0C8C-1E06517DDB1B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ADB1147A-3B41-BBE9-2DBA-C6A1A5127113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0F593B17-D971-2D14-B5FA-7928162937B2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8001886E-5E41-5B74-4149-EE69C8373831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35F6D1A8-90F0-5EA1-D665-9EA9FB1DA25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9D663B28-3168-35A6-03D9-B138488223C0}"/>
              </a:ext>
            </a:extLst>
          </p:cNvPr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0083226-BB79-F47E-B0D0-0AA6EF8358A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6A1209C-FABE-D148-EA70-6F8DFB7DEF4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47460EC-8FB4-D7FA-C545-31846E39DA2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16895894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990B7-1FA7-5B86-196B-A15E5B1FA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77019E3-0F4A-1A65-338B-DBDF6D9A53D4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2F290EB-10E5-64C3-F3E8-87E40E614C3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1D98AC9-F9E8-8E3F-EF5C-EF8BA9D95ED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458A2B4-5D32-5326-DCB1-A9CBD3E13D4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2A06F839-0833-3D1F-9E51-677237F1713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A7A53A94-2929-6B04-6D1E-B8F02FFDBF2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A8A69F6B-66F2-2DC7-B993-BD6C6A3E1FF6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Exceptions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92FED53A-C200-B900-E0DE-D93D3A6A81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20A4B81D-5695-86F5-7B8F-9A62B4C7F6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D187D0-A708-FFBA-1E6C-8D9520928A61}"/>
              </a:ext>
            </a:extLst>
          </p:cNvPr>
          <p:cNvSpPr txBox="1"/>
          <p:nvPr/>
        </p:nvSpPr>
        <p:spPr>
          <a:xfrm>
            <a:off x="463773" y="2159217"/>
            <a:ext cx="16953563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400" dirty="0">
                <a:latin typeface="Consolas" panose="020B0609020204030204" pitchFamily="49" charset="0"/>
              </a:rPr>
              <a:t>An exception is an error that occurs while a program is running. If not handled, it stops the program.  Exceptions are different from syntax errors (which occur before running). </a:t>
            </a:r>
          </a:p>
          <a:p>
            <a:pPr algn="just"/>
            <a:endParaRPr lang="en-US" sz="4400" b="1" dirty="0">
              <a:latin typeface="Consolas" panose="020B0609020204030204" pitchFamily="49" charset="0"/>
            </a:endParaRPr>
          </a:p>
          <a:p>
            <a:pPr algn="just"/>
            <a:r>
              <a:rPr lang="en-US" sz="44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try: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    # code that may raise error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except </a:t>
            </a:r>
            <a:r>
              <a:rPr lang="en-US" sz="4400" dirty="0" err="1">
                <a:latin typeface="Consolas" panose="020B0609020204030204" pitchFamily="49" charset="0"/>
              </a:rPr>
              <a:t>ExceptionType</a:t>
            </a:r>
            <a:r>
              <a:rPr lang="en-US" sz="44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    # code to handle the error</a:t>
            </a:r>
          </a:p>
        </p:txBody>
      </p:sp>
    </p:spTree>
    <p:extLst>
      <p:ext uri="{BB962C8B-B14F-4D97-AF65-F5344CB8AC3E}">
        <p14:creationId xmlns:p14="http://schemas.microsoft.com/office/powerpoint/2010/main" val="38569350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01979-7848-449B-C570-F82F78EA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2DB932F-43A4-63CD-70F6-AA0EEA4D501A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CCAB9DC-89A8-54A9-09D9-FE54CFE7921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A350BDE-F622-9F51-50AF-807843EAA8A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2B71A96-8245-F532-2D41-7F0C9ABE769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4275AC81-78CD-2B03-1C57-EC62491A8B21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347519CF-F034-691F-8106-E7BC9B3C895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508C8FDB-54BC-2A29-FA10-B80023E9920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Common Exceptions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3F4EA435-1CFE-7E72-6157-E7BF1EAFB5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1120BC27-CA8E-1F00-E5C3-87F484E6CD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678561-BF85-02F2-FB3A-779177297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873746"/>
              </p:ext>
            </p:extLst>
          </p:nvPr>
        </p:nvGraphicFramePr>
        <p:xfrm>
          <a:off x="726547" y="2209711"/>
          <a:ext cx="16381126" cy="7156733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574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6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92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Common Exception Classes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Definition</a:t>
                      </a:r>
                    </a:p>
                  </a:txBody>
                  <a:tcPr marL="1524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>
                          <a:effectLst/>
                          <a:latin typeface="Consolas" panose="020B0609020204030204" pitchFamily="49" charset="0"/>
                        </a:rPr>
                        <a:t>Exception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>
                          <a:effectLst/>
                          <a:latin typeface="Consolas" panose="020B0609020204030204" pitchFamily="49" charset="0"/>
                        </a:rPr>
                        <a:t>Base class for all exceptions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 err="1">
                          <a:effectLst/>
                          <a:latin typeface="Consolas" panose="020B0609020204030204" pitchFamily="49" charset="0"/>
                        </a:rPr>
                        <a:t>AttributeError</a:t>
                      </a:r>
                      <a:endParaRPr lang="en-US" sz="32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>
                          <a:effectLst/>
                          <a:latin typeface="Consolas" panose="020B0609020204030204" pitchFamily="49" charset="0"/>
                        </a:rPr>
                        <a:t>Raised when attribute reference or assignment fails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 err="1">
                          <a:effectLst/>
                          <a:latin typeface="Consolas" panose="020B0609020204030204" pitchFamily="49" charset="0"/>
                        </a:rPr>
                        <a:t>ImportError</a:t>
                      </a:r>
                      <a:endParaRPr lang="en-US" sz="32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>
                          <a:effectLst/>
                          <a:latin typeface="Consolas" panose="020B0609020204030204" pitchFamily="49" charset="0"/>
                        </a:rPr>
                        <a:t>Raised when an imported module does not exist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 err="1">
                          <a:effectLst/>
                          <a:latin typeface="Consolas" panose="020B0609020204030204" pitchFamily="49" charset="0"/>
                        </a:rPr>
                        <a:t>IndentationError</a:t>
                      </a:r>
                      <a:endParaRPr lang="en-US" sz="32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>
                          <a:effectLst/>
                          <a:latin typeface="Consolas" panose="020B0609020204030204" pitchFamily="49" charset="0"/>
                        </a:rPr>
                        <a:t>Raised when indentation is not correct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7816"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 err="1">
                          <a:effectLst/>
                          <a:latin typeface="Consolas" panose="020B0609020204030204" pitchFamily="49" charset="0"/>
                        </a:rPr>
                        <a:t>IndexError</a:t>
                      </a:r>
                      <a:endParaRPr lang="en-US" sz="32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>
                          <a:effectLst/>
                          <a:latin typeface="Consolas" panose="020B0609020204030204" pitchFamily="49" charset="0"/>
                        </a:rPr>
                        <a:t>Raised when an index of a sequence does not exist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7816"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 err="1">
                          <a:effectLst/>
                          <a:latin typeface="Consolas" panose="020B0609020204030204" pitchFamily="49" charset="0"/>
                        </a:rPr>
                        <a:t>KeyError</a:t>
                      </a:r>
                      <a:endParaRPr lang="en-US" sz="32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>
                          <a:effectLst/>
                          <a:latin typeface="Consolas" panose="020B0609020204030204" pitchFamily="49" charset="0"/>
                        </a:rPr>
                        <a:t>Raised when a key does not exist in a dictionary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4162571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55193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DD1BB-59D1-FED4-190F-C70F6A61C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124E5F8-3D96-08F1-A2EF-856BB61DA0D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D1F7F5F-BEF2-BC47-C3A8-E46A32464C5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7A09D31-F20C-4C65-4577-1C7984210B0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10D6D5B-66EF-4774-22CE-234FEEDDC0F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897E041F-31B7-B42B-E042-799868118B40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EC496075-861C-6ADD-DEBA-FD7F5E22FF8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8602AC88-B783-AD91-057F-9F59851CCAA6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Common Exceptions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FC9CE78D-F657-A8CA-1CC0-16E0E8C75D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123D9968-E268-B070-14E3-D518B12324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F63C11-6585-7D01-38B1-738A6FC1A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008315"/>
              </p:ext>
            </p:extLst>
          </p:nvPr>
        </p:nvGraphicFramePr>
        <p:xfrm>
          <a:off x="726547" y="2209711"/>
          <a:ext cx="16381126" cy="7156733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574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6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92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Common Exception Classes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Definition</a:t>
                      </a:r>
                    </a:p>
                  </a:txBody>
                  <a:tcPr marL="1524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 err="1">
                          <a:effectLst/>
                          <a:latin typeface="Consolas" panose="020B0609020204030204" pitchFamily="49" charset="0"/>
                        </a:rPr>
                        <a:t>NameError</a:t>
                      </a:r>
                      <a:endParaRPr lang="en-US" sz="32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>
                          <a:effectLst/>
                          <a:latin typeface="Consolas" panose="020B0609020204030204" pitchFamily="49" charset="0"/>
                        </a:rPr>
                        <a:t>Raised when a variable does not exist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 err="1">
                          <a:effectLst/>
                          <a:latin typeface="Consolas" panose="020B0609020204030204" pitchFamily="49" charset="0"/>
                        </a:rPr>
                        <a:t>StopIteration</a:t>
                      </a:r>
                      <a:endParaRPr lang="en-US" sz="32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>
                          <a:effectLst/>
                          <a:latin typeface="Consolas" panose="020B0609020204030204" pitchFamily="49" charset="0"/>
                        </a:rPr>
                        <a:t>Raised when the next() method of an iterator has no further values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 err="1">
                          <a:effectLst/>
                          <a:latin typeface="Consolas" panose="020B0609020204030204" pitchFamily="49" charset="0"/>
                        </a:rPr>
                        <a:t>SyntaxError</a:t>
                      </a:r>
                      <a:endParaRPr lang="en-US" sz="32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>
                          <a:effectLst/>
                          <a:latin typeface="Consolas" panose="020B0609020204030204" pitchFamily="49" charset="0"/>
                        </a:rPr>
                        <a:t>Raised when a syntax error occurs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 err="1">
                          <a:effectLst/>
                          <a:latin typeface="Consolas" panose="020B0609020204030204" pitchFamily="49" charset="0"/>
                        </a:rPr>
                        <a:t>TypeError</a:t>
                      </a:r>
                      <a:endParaRPr lang="en-US" sz="32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>
                          <a:effectLst/>
                          <a:latin typeface="Consolas" panose="020B0609020204030204" pitchFamily="49" charset="0"/>
                        </a:rPr>
                        <a:t>Raised when two different types are combined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7816"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 err="1">
                          <a:effectLst/>
                          <a:latin typeface="Consolas" panose="020B0609020204030204" pitchFamily="49" charset="0"/>
                        </a:rPr>
                        <a:t>ValueError</a:t>
                      </a:r>
                      <a:endParaRPr lang="en-US" sz="32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>
                          <a:effectLst/>
                          <a:latin typeface="Consolas" panose="020B0609020204030204" pitchFamily="49" charset="0"/>
                        </a:rPr>
                        <a:t>Raised when there is a wrong value in a specified data type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7816"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 err="1">
                          <a:effectLst/>
                          <a:latin typeface="Consolas" panose="020B0609020204030204" pitchFamily="49" charset="0"/>
                        </a:rPr>
                        <a:t>ZeroDivisionError</a:t>
                      </a:r>
                      <a:endParaRPr lang="en-US" sz="32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>
                          <a:effectLst/>
                          <a:latin typeface="Consolas" panose="020B0609020204030204" pitchFamily="49" charset="0"/>
                        </a:rPr>
                        <a:t>Raised when the second operator in a division is zero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4162571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10532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AE6E4-FE8B-E688-A34C-9DA515B01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ABCF657-B994-8D6B-39C6-E737F26B719D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B67B163-5400-B00D-A59E-ABA62E6A487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5A86343-FB39-E430-75E7-66BCDBE2616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D1AB9CC-3CF8-4746-6E12-49C7B4E0651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2B2A744-33FA-9F5D-15F9-5772279631C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293745D-2FC4-A76A-E76B-92CA2D7F4A2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1213F589-1EA0-AF7A-065F-2D3BE0DEBB02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Basic try-except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80D92CEE-520A-43A8-2705-C3B318D6E3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4CDB9594-A75E-E5C7-B05C-EE6680EE3F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8D4A05-E574-169C-8972-9825CBF93BBD}"/>
              </a:ext>
            </a:extLst>
          </p:cNvPr>
          <p:cNvSpPr txBox="1"/>
          <p:nvPr/>
        </p:nvSpPr>
        <p:spPr>
          <a:xfrm>
            <a:off x="463773" y="2159217"/>
            <a:ext cx="1695356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400" b="1" dirty="0">
                <a:latin typeface="Consolas" panose="020B0609020204030204" pitchFamily="49" charset="0"/>
              </a:rPr>
              <a:t>Example: </a:t>
            </a:r>
            <a:r>
              <a:rPr lang="en-US" sz="4400" dirty="0">
                <a:latin typeface="Consolas" panose="020B0609020204030204" pitchFamily="49" charset="0"/>
              </a:rPr>
              <a:t>Handling invalid integer input from a user.</a:t>
            </a:r>
          </a:p>
          <a:p>
            <a:pPr algn="just"/>
            <a:endParaRPr lang="en-US" sz="4400" dirty="0">
              <a:latin typeface="Consolas" panose="020B0609020204030204" pitchFamily="49" charset="0"/>
            </a:endParaRP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try: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    age = int(input("Enter your age: "))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    print("Your age is", age)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except </a:t>
            </a:r>
            <a:r>
              <a:rPr lang="en-US" sz="4400" dirty="0" err="1">
                <a:latin typeface="Consolas" panose="020B0609020204030204" pitchFamily="49" charset="0"/>
              </a:rPr>
              <a:t>ValueError</a:t>
            </a:r>
            <a:r>
              <a:rPr lang="en-US" sz="44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    print("Invalid input. Please enter a number.")</a:t>
            </a:r>
          </a:p>
        </p:txBody>
      </p:sp>
    </p:spTree>
    <p:extLst>
      <p:ext uri="{BB962C8B-B14F-4D97-AF65-F5344CB8AC3E}">
        <p14:creationId xmlns:p14="http://schemas.microsoft.com/office/powerpoint/2010/main" val="16622202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8F45D-D905-50F3-92EE-AAB75944B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2F11516-4188-AB60-E40C-9CF5DF9D803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DCB5D70-22C7-A4B1-3DAB-C51ABD7E4CD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DAE2C84-721F-C2EF-BE82-C250C6BDE7A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D30E087-4E5A-69A2-5B3A-562AB0155BD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9C4A078D-45B8-B999-42C2-60FF2707346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250EF757-AC97-F0A4-7280-47EAA2D899D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27D13A4-2229-281E-1724-9E85C563D98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Task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B032855A-9055-088F-2141-56F0E292B2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D7FD6087-B58A-60CE-7D16-D1D487D042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D97E9B-62AD-1B2B-5C7B-7C8593FBEF48}"/>
              </a:ext>
            </a:extLst>
          </p:cNvPr>
          <p:cNvSpPr txBox="1"/>
          <p:nvPr/>
        </p:nvSpPr>
        <p:spPr>
          <a:xfrm>
            <a:off x="463773" y="2159217"/>
            <a:ext cx="1695356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Write a program that ask for 2 integer values. If any input is invalid, catch the exception then ask again for a new values. 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endParaRPr lang="en-US" sz="4000" dirty="0">
              <a:latin typeface="Consolas" panose="020B0609020204030204" pitchFamily="49" charset="0"/>
            </a:endParaRP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If all inputs are valid, display the sum.</a:t>
            </a:r>
          </a:p>
        </p:txBody>
      </p:sp>
    </p:spTree>
    <p:extLst>
      <p:ext uri="{BB962C8B-B14F-4D97-AF65-F5344CB8AC3E}">
        <p14:creationId xmlns:p14="http://schemas.microsoft.com/office/powerpoint/2010/main" val="12791195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5FA6C-43D9-7436-3F16-93A0490C7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FE60F49-299D-EAB8-D900-C8DD0AA1776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B958615-3917-6E81-19E5-4F50A295077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004352C-FDFE-9E03-54FA-5B23FF4FB20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D35C74D-16CF-AFBB-8CF6-008DDDFC3A1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C6E56391-E42A-BCE3-23E5-C8C9A513DA2C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388C32C1-B8D4-7D21-9C70-CF9A3AB0CD0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0F0D9289-955D-AAAC-7A19-B53185C81F03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multiple except blocks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ED97AA8D-C6C0-3713-9EFC-B390C73B96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E3DF6B70-A59E-E840-ED88-89FE0BAD89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7F3C93-AAB2-9798-B610-AB2BBA735C2D}"/>
              </a:ext>
            </a:extLst>
          </p:cNvPr>
          <p:cNvSpPr txBox="1"/>
          <p:nvPr/>
        </p:nvSpPr>
        <p:spPr>
          <a:xfrm>
            <a:off x="463773" y="2159217"/>
            <a:ext cx="16953563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400" b="1" dirty="0">
                <a:latin typeface="Consolas" panose="020B0609020204030204" pitchFamily="49" charset="0"/>
              </a:rPr>
              <a:t>Example: </a:t>
            </a:r>
            <a:r>
              <a:rPr lang="en-US" sz="4400" dirty="0">
                <a:latin typeface="Consolas" panose="020B0609020204030204" pitchFamily="49" charset="0"/>
              </a:rPr>
              <a:t>Handling zero division error.</a:t>
            </a:r>
          </a:p>
          <a:p>
            <a:pPr algn="just"/>
            <a:endParaRPr lang="en-US" sz="4400" dirty="0">
              <a:latin typeface="Consolas" panose="020B0609020204030204" pitchFamily="49" charset="0"/>
            </a:endParaRP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try: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    num1 = int(input("Enter first number: "))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    num2 = int(input("Enter second number: "))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    print("Result:", num1 / num2)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except </a:t>
            </a:r>
            <a:r>
              <a:rPr lang="en-US" sz="4400" dirty="0" err="1">
                <a:latin typeface="Consolas" panose="020B0609020204030204" pitchFamily="49" charset="0"/>
              </a:rPr>
              <a:t>ValueError</a:t>
            </a:r>
            <a:r>
              <a:rPr lang="en-US" sz="44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    print("Error: Please enter valid integers.")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except </a:t>
            </a:r>
            <a:r>
              <a:rPr lang="en-US" sz="4400" dirty="0" err="1">
                <a:latin typeface="Consolas" panose="020B0609020204030204" pitchFamily="49" charset="0"/>
              </a:rPr>
              <a:t>ZeroDivisionError</a:t>
            </a:r>
            <a:r>
              <a:rPr lang="en-US" sz="44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    print("Error: Division by zero is not allowed.")</a:t>
            </a:r>
          </a:p>
        </p:txBody>
      </p:sp>
    </p:spTree>
    <p:extLst>
      <p:ext uri="{BB962C8B-B14F-4D97-AF65-F5344CB8AC3E}">
        <p14:creationId xmlns:p14="http://schemas.microsoft.com/office/powerpoint/2010/main" val="30095435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BA176-6F2B-7635-90E9-FA54B6ADA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D42450B-4487-AE8D-E9E6-4DCD965516B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01885FD-64A5-A305-6694-7D1B6156E41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1666B53-D6FE-7898-FCF2-D1E86D475D9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79B808F-2D06-8C79-7274-A383D4382BF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F2028F0-C1E8-832E-F72E-A805A55F0EC4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BB5C19F3-357F-6A83-71BB-5E955E74536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AB684F0A-46C6-753B-6785-85CF92EC4643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Task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AD05C2D7-5C02-CB85-D11D-48A6A0AABC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8C78ACC8-0C8B-3D6B-7F9C-7BCC1CD848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E3BA06-2156-2936-E36E-B75D497C930D}"/>
              </a:ext>
            </a:extLst>
          </p:cNvPr>
          <p:cNvSpPr txBox="1"/>
          <p:nvPr/>
        </p:nvSpPr>
        <p:spPr>
          <a:xfrm>
            <a:off x="463773" y="2159217"/>
            <a:ext cx="1695356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Write a program that ask for 2 integer values (dividend and divisor). If any input is invalid, catch the exception then ask again for a new values. 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If the divisor provided is zero, catch also the exception and ask again for new dividend and divisor.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If all inputs are valid, display the quotient.</a:t>
            </a:r>
          </a:p>
        </p:txBody>
      </p:sp>
    </p:spTree>
    <p:extLst>
      <p:ext uri="{BB962C8B-B14F-4D97-AF65-F5344CB8AC3E}">
        <p14:creationId xmlns:p14="http://schemas.microsoft.com/office/powerpoint/2010/main" val="29835370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7330-6A6E-1945-D008-8F65D476A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F2CBDA0-65EA-C048-1B6C-BCF1C9D1E3EA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6A718F4-5FD2-AE15-8A1B-E442369E735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97C1474-A931-1BAF-B448-7244EF98149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470DCB2-7C7A-C4B3-EBCF-4117CC9FB37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8573EFB-C5C6-D587-AFE3-09FCF2D87B6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9B06A47D-B0B1-99DC-B5F1-A78CB2D67F8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70338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57F0CCB-32AC-1970-6162-7BFA9D84F8BA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single except for multiple exceptions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400A83A3-F7CD-0C5C-BA49-A66596C985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480E556E-E20F-00A8-E243-67C490B49F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AA5BB1-689A-3A9F-DF3E-F821703BF2C0}"/>
              </a:ext>
            </a:extLst>
          </p:cNvPr>
          <p:cNvSpPr txBox="1"/>
          <p:nvPr/>
        </p:nvSpPr>
        <p:spPr>
          <a:xfrm>
            <a:off x="463773" y="2159217"/>
            <a:ext cx="16953563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400" b="1" dirty="0">
                <a:latin typeface="Consolas" panose="020B0609020204030204" pitchFamily="49" charset="0"/>
              </a:rPr>
              <a:t>Example: </a:t>
            </a:r>
            <a:r>
              <a:rPr lang="en-US" sz="4400" dirty="0">
                <a:latin typeface="Consolas" panose="020B0609020204030204" pitchFamily="49" charset="0"/>
              </a:rPr>
              <a:t>Convert string to integer and perform math</a:t>
            </a:r>
          </a:p>
          <a:p>
            <a:pPr algn="just"/>
            <a:endParaRPr lang="en-US" sz="4400" dirty="0">
              <a:latin typeface="Consolas" panose="020B0609020204030204" pitchFamily="49" charset="0"/>
            </a:endParaRP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try: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    data = input("Enter a number: ")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    result = int(data) + 5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    print("Result:", result)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except (</a:t>
            </a:r>
            <a:r>
              <a:rPr lang="en-US" sz="4400" dirty="0" err="1">
                <a:latin typeface="Consolas" panose="020B0609020204030204" pitchFamily="49" charset="0"/>
              </a:rPr>
              <a:t>ValueError</a:t>
            </a:r>
            <a:r>
              <a:rPr lang="en-US" sz="4400" dirty="0">
                <a:latin typeface="Consolas" panose="020B0609020204030204" pitchFamily="49" charset="0"/>
              </a:rPr>
              <a:t>, </a:t>
            </a:r>
            <a:r>
              <a:rPr lang="en-US" sz="4400" dirty="0" err="1">
                <a:latin typeface="Consolas" panose="020B0609020204030204" pitchFamily="49" charset="0"/>
              </a:rPr>
              <a:t>TypeError</a:t>
            </a:r>
            <a:r>
              <a:rPr lang="en-US" sz="4400" dirty="0">
                <a:latin typeface="Consolas" panose="020B0609020204030204" pitchFamily="49" charset="0"/>
              </a:rPr>
              <a:t>) as e: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    print("Error occurred:", e)</a:t>
            </a:r>
          </a:p>
          <a:p>
            <a:pPr algn="just"/>
            <a:endParaRPr lang="en-US" sz="4400" dirty="0">
              <a:latin typeface="Consolas" panose="020B0609020204030204" pitchFamily="49" charset="0"/>
            </a:endParaRP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-&gt; Try to enter letters on the input.</a:t>
            </a:r>
          </a:p>
        </p:txBody>
      </p:sp>
    </p:spTree>
    <p:extLst>
      <p:ext uri="{BB962C8B-B14F-4D97-AF65-F5344CB8AC3E}">
        <p14:creationId xmlns:p14="http://schemas.microsoft.com/office/powerpoint/2010/main" val="14097218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F2510-B5A7-D244-45FF-BEB5A6B5D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041F61B-BF64-8E14-81D7-E303D507C536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0B71E2A-74E8-212A-683A-2E5C04C5B4F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470BCFD-60C7-D50E-0E83-C5D5AC6FC4F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F90C13C-C097-20B9-BF6D-728F8569C68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8CF9BDD6-958E-452F-173E-EFFA13CC760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BD196C0D-793A-77A7-D42B-3F7CBB63BC6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70338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648A06C-BCB5-B3A1-A2C9-B49B4430D660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exception with else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537F97EE-C33D-DF78-75FD-ED23312B88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04FAF61E-2A13-EFD7-686C-68CD947EE0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BA6BDC-A9A5-545B-B2D9-8FBBD66DC74E}"/>
              </a:ext>
            </a:extLst>
          </p:cNvPr>
          <p:cNvSpPr txBox="1"/>
          <p:nvPr/>
        </p:nvSpPr>
        <p:spPr>
          <a:xfrm>
            <a:off x="463773" y="2159217"/>
            <a:ext cx="16953563" cy="754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400" b="1" dirty="0">
                <a:latin typeface="Consolas" panose="020B0609020204030204" pitchFamily="49" charset="0"/>
              </a:rPr>
              <a:t>Example: </a:t>
            </a:r>
            <a:r>
              <a:rPr lang="en-US" sz="4400" dirty="0">
                <a:latin typeface="Consolas" panose="020B0609020204030204" pitchFamily="49" charset="0"/>
              </a:rPr>
              <a:t>Square of a valid input</a:t>
            </a:r>
          </a:p>
          <a:p>
            <a:pPr algn="just"/>
            <a:endParaRPr lang="en-US" sz="4400" dirty="0">
              <a:latin typeface="Consolas" panose="020B0609020204030204" pitchFamily="49" charset="0"/>
            </a:endParaRP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try: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    x = int(input("Enter a number: "))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except </a:t>
            </a:r>
            <a:r>
              <a:rPr lang="en-US" sz="4400" dirty="0" err="1">
                <a:latin typeface="Consolas" panose="020B0609020204030204" pitchFamily="49" charset="0"/>
              </a:rPr>
              <a:t>ValueError</a:t>
            </a:r>
            <a:r>
              <a:rPr lang="en-US" sz="44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    print("Invalid number")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else: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    print("Square is", x * x)</a:t>
            </a:r>
          </a:p>
          <a:p>
            <a:pPr algn="just"/>
            <a:endParaRPr lang="en-US" sz="4400" dirty="0">
              <a:latin typeface="Consolas" panose="020B0609020204030204" pitchFamily="49" charset="0"/>
            </a:endParaRPr>
          </a:p>
          <a:p>
            <a:pPr algn="just"/>
            <a:r>
              <a:rPr lang="en-US" sz="4400" b="1" dirty="0">
                <a:latin typeface="Consolas" panose="020B0609020204030204" pitchFamily="49" charset="0"/>
              </a:rPr>
              <a:t>Note: </a:t>
            </a:r>
            <a:r>
              <a:rPr lang="en-US" sz="4400" dirty="0">
                <a:latin typeface="Consolas" panose="020B0609020204030204" pitchFamily="49" charset="0"/>
              </a:rPr>
              <a:t>The else block only runs if no exceptions occurred. </a:t>
            </a:r>
            <a:endParaRPr lang="en-US" sz="4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6409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28E48-FDF0-E480-1908-48C502370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31F98D2-7579-9D75-9659-5994D80B02B0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B148ADA-BB6B-36D6-BFBE-835CAD9F984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F6D69D0-65CE-09CB-295C-0F6121EF450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DBD0991-6552-5A0D-82FB-E744D8105D4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6A7B347-E942-C58D-8CA6-B26D77A60D0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96FA5DCA-06CA-EBEF-91F6-A541513A41C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70338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20E9F96-8612-C4C4-5565-34339D200D10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exception with finally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6BB7FEF1-1182-C1B6-790F-750E938310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B06E983B-4C3B-6AA7-FFF5-29B97A8A56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14E57E-FCB6-DD23-9E8C-4C287740041B}"/>
              </a:ext>
            </a:extLst>
          </p:cNvPr>
          <p:cNvSpPr txBox="1"/>
          <p:nvPr/>
        </p:nvSpPr>
        <p:spPr>
          <a:xfrm>
            <a:off x="463773" y="2159217"/>
            <a:ext cx="16953563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 </a:t>
            </a:r>
            <a:r>
              <a:rPr lang="en-US" sz="3600" dirty="0">
                <a:latin typeface="Consolas" panose="020B0609020204030204" pitchFamily="49" charset="0"/>
              </a:rPr>
              <a:t>Convert string to integer and perform math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try: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data = input("Enter a number: ")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result = int(data) + 5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except (</a:t>
            </a:r>
            <a:r>
              <a:rPr lang="en-US" sz="3600" dirty="0" err="1">
                <a:latin typeface="Consolas" panose="020B0609020204030204" pitchFamily="49" charset="0"/>
              </a:rPr>
              <a:t>ValueError</a:t>
            </a:r>
            <a:r>
              <a:rPr lang="en-US" sz="3600" dirty="0">
                <a:latin typeface="Consolas" panose="020B0609020204030204" pitchFamily="49" charset="0"/>
              </a:rPr>
              <a:t>, </a:t>
            </a:r>
            <a:r>
              <a:rPr lang="en-US" sz="3600" dirty="0" err="1">
                <a:latin typeface="Consolas" panose="020B0609020204030204" pitchFamily="49" charset="0"/>
              </a:rPr>
              <a:t>TypeError</a:t>
            </a:r>
            <a:r>
              <a:rPr lang="en-US" sz="3600" dirty="0">
                <a:latin typeface="Consolas" panose="020B0609020204030204" pitchFamily="49" charset="0"/>
              </a:rPr>
              <a:t>) as 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print("Error occurred:", e)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else: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print("Result:", result)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finally: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print("Done.")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Note: </a:t>
            </a:r>
            <a:r>
              <a:rPr lang="en-US" sz="3600" dirty="0">
                <a:latin typeface="Consolas" panose="020B0609020204030204" pitchFamily="49" charset="0"/>
              </a:rPr>
              <a:t>The finally block always run even if exception is occurred.</a:t>
            </a:r>
            <a:endParaRPr lang="en-US" sz="36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1537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1D85A-265C-A00C-C9A2-94C9D1141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7580E7F-6D7D-93F3-FA66-92B67017CFFD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F28CC82-378F-F8FF-C9DC-7C0583DD2DA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1A0F73C-A68F-645F-5035-9CE5E8B5319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F2E222E-16C0-0C58-8B44-318A001D85E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445FC78-4CAE-1FD8-EC69-3F18E17F880F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91750CBE-4AD2-52CC-75F4-F367AAEDCF4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70338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D29FB2E-AB6C-D84B-AAA5-72BE252B4B03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raising exceptions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691AF20C-8094-B495-336F-7293D7C99C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1C7D3B86-E412-2C13-1285-0C762FA02A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65E94F-C5EF-DA21-98A3-14DD92E7A026}"/>
              </a:ext>
            </a:extLst>
          </p:cNvPr>
          <p:cNvSpPr txBox="1"/>
          <p:nvPr/>
        </p:nvSpPr>
        <p:spPr>
          <a:xfrm>
            <a:off x="463773" y="2159217"/>
            <a:ext cx="16953563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It force an error to occur.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def withdraw(amount: float):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if amount &lt;= 0: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    raise </a:t>
            </a:r>
            <a:r>
              <a:rPr lang="en-US" sz="3600" dirty="0" err="1">
                <a:latin typeface="Consolas" panose="020B0609020204030204" pitchFamily="49" charset="0"/>
              </a:rPr>
              <a:t>ValueError</a:t>
            </a:r>
            <a:r>
              <a:rPr lang="en-US" sz="3600" dirty="0">
                <a:latin typeface="Consolas" panose="020B0609020204030204" pitchFamily="49" charset="0"/>
              </a:rPr>
              <a:t>("Withdrawal amount must be positive.")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print("Withdrawn:", amount)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try: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withdraw(-500)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except </a:t>
            </a:r>
            <a:r>
              <a:rPr lang="en-US" sz="3600" dirty="0" err="1">
                <a:latin typeface="Consolas" panose="020B0609020204030204" pitchFamily="49" charset="0"/>
              </a:rPr>
              <a:t>ValueError</a:t>
            </a:r>
            <a:r>
              <a:rPr lang="en-US" sz="3600" dirty="0">
                <a:latin typeface="Consolas" panose="020B0609020204030204" pitchFamily="49" charset="0"/>
              </a:rPr>
              <a:t> as 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print("Error:", e)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6574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0A37C-15B3-18CE-CAA7-F0F77FE7B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F41405D-9E0E-ABD4-FDEE-BBF38DEF8B43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2DE00A1-3BFF-08D1-1751-55E0A548988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34D3BAC-EB14-7539-3B18-9741E5476BD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E214784-EC89-85A1-1863-9DC33915BD6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F888B73D-C2AC-3D15-8D77-AE053D51033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7A11AFCC-0286-A103-A68B-25C39A86572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70338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2D365C4F-4551-9535-526C-24C02658ECE0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custom exceptions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8FD42410-23FF-D18A-AA77-74E1DF3256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17FF0B80-CE86-CB63-5250-66024B23C5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ACFA12-9D00-E01D-25BC-DCC784A9CA37}"/>
              </a:ext>
            </a:extLst>
          </p:cNvPr>
          <p:cNvSpPr txBox="1"/>
          <p:nvPr/>
        </p:nvSpPr>
        <p:spPr>
          <a:xfrm>
            <a:off x="463773" y="2159217"/>
            <a:ext cx="16953563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Consolas" panose="020B0609020204030204" pitchFamily="49" charset="0"/>
              </a:rPr>
              <a:t>We can define your own error type by creating a class. </a:t>
            </a:r>
          </a:p>
          <a:p>
            <a:pPr algn="just"/>
            <a:r>
              <a:rPr lang="en-US" sz="32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class </a:t>
            </a:r>
            <a:r>
              <a:rPr lang="en-US" sz="3200" dirty="0" err="1">
                <a:latin typeface="Consolas" panose="020B0609020204030204" pitchFamily="49" charset="0"/>
              </a:rPr>
              <a:t>NegativeNumberError</a:t>
            </a:r>
            <a:r>
              <a:rPr lang="en-US" sz="3200" dirty="0">
                <a:latin typeface="Consolas" panose="020B0609020204030204" pitchFamily="49" charset="0"/>
              </a:rPr>
              <a:t>(Exception):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pass</a:t>
            </a: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def </a:t>
            </a:r>
            <a:r>
              <a:rPr lang="en-US" sz="3200" dirty="0" err="1">
                <a:latin typeface="Consolas" panose="020B0609020204030204" pitchFamily="49" charset="0"/>
              </a:rPr>
              <a:t>compute_sum</a:t>
            </a:r>
            <a:r>
              <a:rPr lang="en-US" sz="3200" dirty="0">
                <a:latin typeface="Consolas" panose="020B0609020204030204" pitchFamily="49" charset="0"/>
              </a:rPr>
              <a:t>(numbers: list[int]) -&gt; int: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for n in numbers: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    if n &lt; 0: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        raise </a:t>
            </a:r>
            <a:r>
              <a:rPr lang="en-US" sz="3200" dirty="0" err="1">
                <a:latin typeface="Consolas" panose="020B0609020204030204" pitchFamily="49" charset="0"/>
              </a:rPr>
              <a:t>NegativeNumberError</a:t>
            </a:r>
            <a:r>
              <a:rPr lang="en-US" sz="3200" dirty="0">
                <a:latin typeface="Consolas" panose="020B0609020204030204" pitchFamily="49" charset="0"/>
              </a:rPr>
              <a:t>("Negative numbers not allowed.")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return sum(numbers)</a:t>
            </a:r>
          </a:p>
          <a:p>
            <a:pPr algn="just"/>
            <a:endParaRPr lang="en-US" sz="1400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try: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</a:t>
            </a:r>
            <a:r>
              <a:rPr lang="en-US" sz="3200" dirty="0" err="1">
                <a:latin typeface="Consolas" panose="020B0609020204030204" pitchFamily="49" charset="0"/>
              </a:rPr>
              <a:t>nums</a:t>
            </a:r>
            <a:r>
              <a:rPr lang="en-US" sz="3200" dirty="0">
                <a:latin typeface="Consolas" panose="020B0609020204030204" pitchFamily="49" charset="0"/>
              </a:rPr>
              <a:t> = [10, 20, -5, 30]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print("Sum =", </a:t>
            </a:r>
            <a:r>
              <a:rPr lang="en-US" sz="3200" dirty="0" err="1">
                <a:latin typeface="Consolas" panose="020B0609020204030204" pitchFamily="49" charset="0"/>
              </a:rPr>
              <a:t>compute_sum</a:t>
            </a:r>
            <a:r>
              <a:rPr lang="en-US" sz="3200" dirty="0">
                <a:latin typeface="Consolas" panose="020B0609020204030204" pitchFamily="49" charset="0"/>
              </a:rPr>
              <a:t>(</a:t>
            </a:r>
            <a:r>
              <a:rPr lang="en-US" sz="3200" dirty="0" err="1">
                <a:latin typeface="Consolas" panose="020B0609020204030204" pitchFamily="49" charset="0"/>
              </a:rPr>
              <a:t>nums</a:t>
            </a:r>
            <a:r>
              <a:rPr lang="en-US" sz="3200" dirty="0">
                <a:latin typeface="Consolas" panose="020B0609020204030204" pitchFamily="49" charset="0"/>
              </a:rPr>
              <a:t>))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except </a:t>
            </a:r>
            <a:r>
              <a:rPr lang="en-US" sz="3200" dirty="0" err="1">
                <a:latin typeface="Consolas" panose="020B0609020204030204" pitchFamily="49" charset="0"/>
              </a:rPr>
              <a:t>NegativeNumberError</a:t>
            </a:r>
            <a:r>
              <a:rPr lang="en-US" sz="3200" dirty="0">
                <a:latin typeface="Consolas" panose="020B0609020204030204" pitchFamily="49" charset="0"/>
              </a:rPr>
              <a:t> as e: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print("Custom Error:", e)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3A406AB-9162-DB42-AA5B-06C76A3167A4}"/>
              </a:ext>
            </a:extLst>
          </p:cNvPr>
          <p:cNvCxnSpPr>
            <a:cxnSpLocks/>
          </p:cNvCxnSpPr>
          <p:nvPr/>
        </p:nvCxnSpPr>
        <p:spPr>
          <a:xfrm flipH="1">
            <a:off x="8382000" y="3442965"/>
            <a:ext cx="250532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9F57E98-240D-CEF2-F2B3-C4139F165ECD}"/>
              </a:ext>
            </a:extLst>
          </p:cNvPr>
          <p:cNvSpPr txBox="1"/>
          <p:nvPr/>
        </p:nvSpPr>
        <p:spPr>
          <a:xfrm>
            <a:off x="10887322" y="3086100"/>
            <a:ext cx="708930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Consolas" panose="020B0609020204030204" pitchFamily="49" charset="0"/>
              </a:rPr>
              <a:t>You need to pass Exception as the parent class if you want to define a custom exception as it was the base class for  all built in exceptions.</a:t>
            </a:r>
          </a:p>
        </p:txBody>
      </p:sp>
    </p:spTree>
    <p:extLst>
      <p:ext uri="{BB962C8B-B14F-4D97-AF65-F5344CB8AC3E}">
        <p14:creationId xmlns:p14="http://schemas.microsoft.com/office/powerpoint/2010/main" val="23876151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88FD3-07EE-C1E4-7384-5A6B2CB36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BE86A69-54EB-9541-0F13-6A304A65B87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843BEE9-441A-250E-9029-33C199E3269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9D19BCE-8488-AEC5-9CFA-3498CD24361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1C1A205-505B-3A64-2A50-FBF6D66D7F0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2CF2D221-579D-AF5C-6E1C-57737087CBF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D65CB7D8-D06A-1A05-9CD3-E2E8D71A54A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02648B24-9813-6DF9-8BC9-C532F78A886C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Assessment 1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640EB7DA-C6FD-1E46-DCE9-BF59EBC5CE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2FFC5CDC-ADA4-D861-6251-7D0976581F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66AA80-E624-195D-0877-844B21F544EF}"/>
              </a:ext>
            </a:extLst>
          </p:cNvPr>
          <p:cNvSpPr txBox="1"/>
          <p:nvPr/>
        </p:nvSpPr>
        <p:spPr>
          <a:xfrm>
            <a:off x="463773" y="2159217"/>
            <a:ext cx="16953563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The program should: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Ask the user how many students they want to enter.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For each student, input name and 3 grades and store it in a dictionary.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Validate inputs: Name should be a string (letters only).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Grades must be numeric and between 0–100.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Define a </a:t>
            </a:r>
            <a:r>
              <a:rPr lang="en-US" sz="3600" b="1" dirty="0">
                <a:latin typeface="Consolas" panose="020B0609020204030204" pitchFamily="49" charset="0"/>
              </a:rPr>
              <a:t>function </a:t>
            </a:r>
            <a:r>
              <a:rPr lang="en-US" sz="3600" dirty="0">
                <a:latin typeface="Consolas" panose="020B0609020204030204" pitchFamily="49" charset="0"/>
              </a:rPr>
              <a:t>to compute the student’s average grade.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Assign remarks: "Pass" if average ≥ 75, otherwise "Fail".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Use exception handling to catch errors.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Custom message if grade is out of range.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Use loops for a) entering multiple students, b) Re-prompting if input is invalid.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Display all students in a formatted output.</a:t>
            </a:r>
          </a:p>
        </p:txBody>
      </p:sp>
    </p:spTree>
    <p:extLst>
      <p:ext uri="{BB962C8B-B14F-4D97-AF65-F5344CB8AC3E}">
        <p14:creationId xmlns:p14="http://schemas.microsoft.com/office/powerpoint/2010/main" val="30219972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562A2-4B37-99FF-A57C-BE66E8E07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96DE42B-4FA5-EBEB-1E6B-0B34DC10D5FD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19997F7-4E5D-EECF-2A95-E328992235C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1CF0421-7466-256E-598C-8E79F185052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F32AD42-6F59-C1F4-6BA8-1D881236CFC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74343DC-6DE8-1D73-A3A6-CC0BE02FA249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ED10DA8E-EBA5-5551-C0D2-E8E76F19303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EF64B538-E9F1-25B9-3608-88560F2B63A1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Assessment 2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83CBC55D-EFA4-7FB7-7DB4-1B7740E834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F0AFD765-C251-689A-06A5-0899AF7741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97B8FC-610B-FD71-AF41-08F18FEA1856}"/>
              </a:ext>
            </a:extLst>
          </p:cNvPr>
          <p:cNvSpPr txBox="1"/>
          <p:nvPr/>
        </p:nvSpPr>
        <p:spPr>
          <a:xfrm>
            <a:off x="463773" y="2159217"/>
            <a:ext cx="16953563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Start with a default balance of ₱10,000.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The program should repeatedly show a menu: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1. Deposit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2. Withdraw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3. Check Balance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4. Exit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Use a function for each transaction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Validate inputs: Deposit and withdrawal amounts must be numeric and positive.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Withdrawal should not exceed available balance (raise exception if insufficient).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Use exception handling to catch invalid inputs.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Use a loop so the program continues until the user chooses Exit.</a:t>
            </a:r>
          </a:p>
        </p:txBody>
      </p:sp>
    </p:spTree>
    <p:extLst>
      <p:ext uri="{BB962C8B-B14F-4D97-AF65-F5344CB8AC3E}">
        <p14:creationId xmlns:p14="http://schemas.microsoft.com/office/powerpoint/2010/main" val="2127812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7757</TotalTime>
  <Words>3414</Words>
  <Application>Microsoft Office PowerPoint</Application>
  <PresentationFormat>Custom</PresentationFormat>
  <Paragraphs>533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Wingdings</vt:lpstr>
      <vt:lpstr>Arial</vt:lpstr>
      <vt:lpstr>Calibri</vt:lpstr>
      <vt:lpstr>Aptos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 4 - Lesson 5</dc:title>
  <dc:creator>DENVER</dc:creator>
  <cp:lastModifiedBy>Mark Denver Adora</cp:lastModifiedBy>
  <cp:revision>346</cp:revision>
  <dcterms:created xsi:type="dcterms:W3CDTF">2006-08-16T00:00:00Z</dcterms:created>
  <dcterms:modified xsi:type="dcterms:W3CDTF">2025-10-07T05:37:22Z</dcterms:modified>
  <dc:identifier>DAGH1tVytZk</dc:identifier>
</cp:coreProperties>
</file>