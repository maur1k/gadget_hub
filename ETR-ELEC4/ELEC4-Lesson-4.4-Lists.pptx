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494" r:id="rId3"/>
    <p:sldId id="426" r:id="rId4"/>
    <p:sldId id="495" r:id="rId5"/>
    <p:sldId id="543" r:id="rId6"/>
    <p:sldId id="524" r:id="rId7"/>
    <p:sldId id="544" r:id="rId8"/>
    <p:sldId id="545" r:id="rId9"/>
    <p:sldId id="546" r:id="rId10"/>
    <p:sldId id="547" r:id="rId11"/>
    <p:sldId id="548" r:id="rId12"/>
    <p:sldId id="569" r:id="rId13"/>
    <p:sldId id="492" r:id="rId14"/>
    <p:sldId id="549" r:id="rId15"/>
    <p:sldId id="550" r:id="rId16"/>
    <p:sldId id="551" r:id="rId17"/>
    <p:sldId id="552" r:id="rId18"/>
    <p:sldId id="554" r:id="rId19"/>
    <p:sldId id="553" r:id="rId20"/>
    <p:sldId id="555" r:id="rId21"/>
    <p:sldId id="556" r:id="rId22"/>
    <p:sldId id="557" r:id="rId23"/>
    <p:sldId id="558" r:id="rId24"/>
    <p:sldId id="561" r:id="rId25"/>
    <p:sldId id="560" r:id="rId26"/>
    <p:sldId id="562" r:id="rId27"/>
    <p:sldId id="563" r:id="rId28"/>
    <p:sldId id="564" r:id="rId29"/>
    <p:sldId id="570" r:id="rId30"/>
    <p:sldId id="565" r:id="rId31"/>
    <p:sldId id="573" r:id="rId32"/>
    <p:sldId id="566" r:id="rId33"/>
    <p:sldId id="574" r:id="rId34"/>
    <p:sldId id="567" r:id="rId35"/>
    <p:sldId id="571" r:id="rId36"/>
    <p:sldId id="568" r:id="rId37"/>
    <p:sldId id="575" r:id="rId38"/>
    <p:sldId id="576" r:id="rId39"/>
    <p:sldId id="577" r:id="rId40"/>
    <p:sldId id="578" r:id="rId41"/>
  </p:sldIdLst>
  <p:sldSz cx="18288000" cy="10287000"/>
  <p:notesSz cx="6858000" cy="9144000"/>
  <p:embeddedFontLst>
    <p:embeddedFont>
      <p:font typeface="Consolas" panose="020B0609020204030204" pitchFamily="49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4D4D4D"/>
    <a:srgbClr val="33FB63"/>
    <a:srgbClr val="F49210"/>
    <a:srgbClr val="2A2A43"/>
    <a:srgbClr val="F1FEA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 autoAdjust="0"/>
    <p:restoredTop sz="84052" autoAdjust="0"/>
  </p:normalViewPr>
  <p:slideViewPr>
    <p:cSldViewPr>
      <p:cViewPr varScale="1">
        <p:scale>
          <a:sx n="44" d="100"/>
          <a:sy n="44" d="100"/>
        </p:scale>
        <p:origin x="8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08/10/2025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08/10/2025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9CC6-E514-6E98-A138-C34C837F2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955E1-ED26-4658-4620-CD47BFC31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DD6E4-A260-40CA-8511-7A25BAEBC9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AAD71-6992-9676-A54B-BC76A61F3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9717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7AC63-5DA0-56A2-565D-C09D6D3B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A7945-44BD-D014-28D4-C24FFE25D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CE4E3-22BE-120F-6AD5-9170C9EE4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57C04-8F42-5B55-2C7E-5AC8FB3ED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989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0CEFB-11C5-19FF-4C51-06980654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3DFF6-C1AD-A16B-F8ED-A814F5C54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AA29F-644A-BC19-892B-FDA35E3F1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23BBF-E14F-3CE3-512F-B5CA6C47E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5395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C657-0A8D-589C-0A37-1464E55E2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066FE-7EFB-F216-D22A-24292424A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11309-207F-EBE8-F4F9-AE13048F6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6D9C9-F6BB-295C-4E58-B8E1A4571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36897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C0F0-019E-D79D-44E5-FF52BDFD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A472C1-8C08-FFD3-98D2-4C3CEAF45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3D0A7-10E5-ADE8-986F-49C259A00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C1315-E2B6-2F59-D4A7-8065D1557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0104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8C41-1CCE-C98C-5F41-A9D205248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DFB12-7448-288A-2882-A09872A86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D39D0-5A32-9672-8C74-A6E7FFC2C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35B56-193E-40B8-270B-5689FDEF4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2509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27A26-A01D-C6C8-8918-BC2D7B6D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BDCF5-CCAB-3AAB-4503-93E353E44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AC157-870D-C6B6-BE77-1B8F4FED8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F7470-E1FE-28A9-43F2-28916B465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4245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F1BB-C631-F6D8-015E-2939A3A4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4E6AA-6F42-48AE-833B-D3BD80B00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EDC19-E569-B784-A530-C91E4B8CC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597E-E3F2-B0A2-9599-657F85FCE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27244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EC4E-38C1-2198-5FCA-8D0D94EAD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952FF-A2D1-4CB3-350F-D10F8FAC4D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26A8F-CAAF-D17E-C293-9C1CC16A9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B06DA-9BD5-38AA-D5E0-E87500575D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3847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E048-85EE-E496-FAD3-ABE40C0C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3A24C-69D9-6A8A-57B1-B4A015562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52EC9-2F30-55C9-02E4-7ED92240D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34843-432B-978C-550D-E90A9FE49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8378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D3526-D5DE-0262-4CD1-99F2217EC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D52BC-E8DB-E38B-4C0C-FFA90F5D2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B62A2-F3D5-5B79-1FBA-946D0CF5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68F4-B528-F441-CE89-6B20801244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56238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D5C53-27D5-1B23-8A89-749810D5F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66D1CC-B5CD-444F-EC93-C36896195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F48B4-6C96-97A4-8478-BE43AE5C6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6BFE0-9826-3398-C933-7856AED2A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87434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33FF6-D3B0-D794-30C7-0755CAF6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F2A43-48EB-C714-81BD-C4F54F7BD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915FA-DEDD-71B3-64D2-97014C798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8A223-1170-0E52-C1A1-AB4045470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75430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FC36-007F-5B4F-4369-0C61817F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0D8BF-3049-1661-014A-50A375773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F5CE2B-40A3-877C-3EC2-A00A039AC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8CE78-CC4D-2C88-2E04-6BC9B2255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3348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E9E5-BD99-EFC8-A716-8B7EB0EE6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C7BDF-E2E4-B7C5-7BA4-5E9AF107E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2DEFB-001E-A997-CD99-A92028BDF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89C96-379E-ACDE-8CEA-420B88EF5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8401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94BF5-8769-C758-71E6-1FB8C0DA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3C706-AED1-33CF-A756-5C2A6DC40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AF4F6-1D89-3117-701E-253C223C5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61A2A-BDA9-6B26-2DB4-B452E9C412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296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8A21A-9DE6-6FF2-453F-900BE859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BCD17-3581-22B5-65F1-471554B9D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D159D-8C13-0563-A654-85A324253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600" dirty="0"/>
              <a:t>scores = []</a:t>
            </a:r>
          </a:p>
          <a:p>
            <a:pPr algn="l"/>
            <a:r>
              <a:rPr lang="en-US" sz="1600" dirty="0"/>
              <a:t>while True:</a:t>
            </a:r>
          </a:p>
          <a:p>
            <a:pPr algn="l"/>
            <a:r>
              <a:rPr lang="en-US" sz="1600" dirty="0"/>
              <a:t>    score = int(input())</a:t>
            </a:r>
          </a:p>
          <a:p>
            <a:pPr algn="l"/>
            <a:r>
              <a:rPr lang="en-US" sz="1600" dirty="0"/>
              <a:t>    if score == -1:</a:t>
            </a:r>
          </a:p>
          <a:p>
            <a:pPr algn="l"/>
            <a:r>
              <a:rPr lang="en-US" sz="1600" dirty="0"/>
              <a:t>        break</a:t>
            </a:r>
          </a:p>
          <a:p>
            <a:pPr algn="l"/>
            <a:r>
              <a:rPr lang="en-US" sz="1600" dirty="0"/>
              <a:t>    else:</a:t>
            </a:r>
          </a:p>
          <a:p>
            <a:pPr algn="l"/>
            <a:r>
              <a:rPr lang="en-US" sz="1600" dirty="0"/>
              <a:t>        </a:t>
            </a:r>
            <a:r>
              <a:rPr lang="en-US" sz="1600" dirty="0" err="1"/>
              <a:t>scores.append</a:t>
            </a:r>
            <a:r>
              <a:rPr lang="en-US" sz="1600" dirty="0"/>
              <a:t>(score)</a:t>
            </a:r>
          </a:p>
          <a:p>
            <a:pPr algn="l"/>
            <a:r>
              <a:rPr lang="en-US" sz="1600" dirty="0"/>
              <a:t>high = max(scores)</a:t>
            </a:r>
          </a:p>
          <a:p>
            <a:pPr algn="l"/>
            <a:r>
              <a:rPr lang="en-US" sz="1600" dirty="0"/>
              <a:t>low = min(scores)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print(</a:t>
            </a:r>
            <a:r>
              <a:rPr lang="en-US" sz="1600" dirty="0" err="1"/>
              <a:t>f"Highest</a:t>
            </a:r>
            <a:r>
              <a:rPr lang="en-US" sz="1600" dirty="0"/>
              <a:t>:")</a:t>
            </a:r>
          </a:p>
          <a:p>
            <a:pPr algn="l"/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scores:</a:t>
            </a:r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i</a:t>
            </a:r>
            <a:r>
              <a:rPr lang="en-US" sz="1600" dirty="0"/>
              <a:t> == high:</a:t>
            </a:r>
          </a:p>
          <a:p>
            <a:pPr algn="l"/>
            <a:r>
              <a:rPr lang="en-US" sz="1600" dirty="0"/>
              <a:t>        print(</a:t>
            </a:r>
            <a:r>
              <a:rPr lang="en-US" sz="1600" dirty="0" err="1"/>
              <a:t>i</a:t>
            </a:r>
            <a:r>
              <a:rPr lang="en-US" sz="1600" dirty="0"/>
              <a:t>)</a:t>
            </a:r>
          </a:p>
          <a:p>
            <a:pPr algn="l"/>
            <a:r>
              <a:rPr lang="en-US" sz="1600" dirty="0"/>
              <a:t>print(</a:t>
            </a:r>
            <a:r>
              <a:rPr lang="en-US" sz="1600" dirty="0" err="1"/>
              <a:t>f"Lowest</a:t>
            </a:r>
            <a:r>
              <a:rPr lang="en-US" sz="1600" dirty="0"/>
              <a:t>: ")</a:t>
            </a:r>
          </a:p>
          <a:p>
            <a:pPr algn="l"/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scores:</a:t>
            </a:r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i</a:t>
            </a:r>
            <a:r>
              <a:rPr lang="en-US" sz="1600" dirty="0"/>
              <a:t> == low:</a:t>
            </a:r>
          </a:p>
          <a:p>
            <a:pPr algn="l"/>
            <a:r>
              <a:rPr lang="en-US" sz="1600" dirty="0"/>
              <a:t>        print(</a:t>
            </a:r>
            <a:r>
              <a:rPr lang="en-US" sz="1600" dirty="0" err="1"/>
              <a:t>i</a:t>
            </a:r>
            <a:r>
              <a:rPr lang="en-US" sz="1600" dirty="0"/>
              <a:t>)</a:t>
            </a:r>
          </a:p>
          <a:p>
            <a:pPr algn="l"/>
            <a:r>
              <a:rPr lang="en-US" sz="1600" dirty="0"/>
              <a:t>print(</a:t>
            </a:r>
            <a:r>
              <a:rPr lang="en-US" sz="1600" dirty="0" err="1"/>
              <a:t>f"Average</a:t>
            </a:r>
            <a:r>
              <a:rPr lang="en-US" sz="1600" dirty="0"/>
              <a:t>: {sum(scores) / </a:t>
            </a:r>
            <a:r>
              <a:rPr lang="en-US" sz="1600" dirty="0" err="1"/>
              <a:t>len</a:t>
            </a:r>
            <a:r>
              <a:rPr lang="en-US" sz="1600" dirty="0"/>
              <a:t>(scores)}")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index = 0</a:t>
            </a:r>
          </a:p>
          <a:p>
            <a:pPr algn="l"/>
            <a:r>
              <a:rPr lang="en-US" sz="1600" dirty="0"/>
              <a:t>while index &lt; </a:t>
            </a:r>
            <a:r>
              <a:rPr lang="en-US" sz="1600" dirty="0" err="1"/>
              <a:t>len</a:t>
            </a:r>
            <a:r>
              <a:rPr lang="en-US" sz="1600" dirty="0"/>
              <a:t>(scores):</a:t>
            </a:r>
          </a:p>
          <a:p>
            <a:pPr algn="l"/>
            <a:r>
              <a:rPr lang="en-US" sz="1600" dirty="0"/>
              <a:t>    print(index ,"", scores[index])</a:t>
            </a:r>
          </a:p>
          <a:p>
            <a:pPr algn="l"/>
            <a:r>
              <a:rPr lang="en-US" sz="1600" dirty="0"/>
              <a:t>    index += 1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while True:</a:t>
            </a:r>
          </a:p>
          <a:p>
            <a:pPr algn="l"/>
            <a:r>
              <a:rPr lang="en-US" sz="1600" dirty="0"/>
              <a:t>    </a:t>
            </a:r>
            <a:r>
              <a:rPr lang="en-US" sz="1600" dirty="0" err="1"/>
              <a:t>searchVal</a:t>
            </a:r>
            <a:r>
              <a:rPr lang="en-US" sz="1600" dirty="0"/>
              <a:t> = input("Enter search value: ")</a:t>
            </a:r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searchVal</a:t>
            </a:r>
            <a:r>
              <a:rPr lang="en-US" sz="1600" dirty="0"/>
              <a:t> == "stop":</a:t>
            </a:r>
          </a:p>
          <a:p>
            <a:pPr algn="l"/>
            <a:r>
              <a:rPr lang="en-US" sz="1600" dirty="0"/>
              <a:t>        break</a:t>
            </a:r>
          </a:p>
          <a:p>
            <a:pPr algn="l"/>
            <a:r>
              <a:rPr lang="en-US" sz="1600" dirty="0"/>
              <a:t>    else:</a:t>
            </a:r>
          </a:p>
          <a:p>
            <a:pPr algn="l"/>
            <a:r>
              <a:rPr lang="en-US" sz="1600" dirty="0"/>
              <a:t>        for </a:t>
            </a:r>
            <a:r>
              <a:rPr lang="en-US" sz="1600" dirty="0" err="1"/>
              <a:t>i</a:t>
            </a:r>
            <a:r>
              <a:rPr lang="en-US" sz="1600" dirty="0"/>
              <a:t>, </a:t>
            </a:r>
            <a:r>
              <a:rPr lang="en-US" sz="1600" dirty="0" err="1"/>
              <a:t>val</a:t>
            </a:r>
            <a:r>
              <a:rPr lang="en-US" sz="1600" dirty="0"/>
              <a:t> in enumerate(scores):</a:t>
            </a:r>
          </a:p>
          <a:p>
            <a:pPr algn="l"/>
            <a:r>
              <a:rPr lang="en-US" sz="1600" dirty="0"/>
              <a:t>            if </a:t>
            </a:r>
            <a:r>
              <a:rPr lang="en-US" sz="1600" dirty="0" err="1"/>
              <a:t>val</a:t>
            </a:r>
            <a:r>
              <a:rPr lang="en-US" sz="1600" dirty="0"/>
              <a:t> == int(</a:t>
            </a:r>
            <a:r>
              <a:rPr lang="en-US" sz="1600" dirty="0" err="1"/>
              <a:t>searchVal</a:t>
            </a:r>
            <a:r>
              <a:rPr lang="en-US" sz="1600" dirty="0"/>
              <a:t>):</a:t>
            </a:r>
          </a:p>
          <a:p>
            <a:pPr algn="l"/>
            <a:r>
              <a:rPr lang="en-US" sz="1600" dirty="0"/>
              <a:t>                </a:t>
            </a:r>
            <a:r>
              <a:rPr lang="en-US" sz="1600" dirty="0" err="1"/>
              <a:t>newVal</a:t>
            </a:r>
            <a:r>
              <a:rPr lang="en-US" sz="1600" dirty="0"/>
              <a:t> = int(input("Enter new value: "))</a:t>
            </a:r>
          </a:p>
          <a:p>
            <a:pPr algn="l"/>
            <a:r>
              <a:rPr lang="en-US" sz="1600" dirty="0"/>
              <a:t>                scores[</a:t>
            </a:r>
            <a:r>
              <a:rPr lang="en-US" sz="1600" dirty="0" err="1"/>
              <a:t>i</a:t>
            </a:r>
            <a:r>
              <a:rPr lang="en-US" sz="1600" dirty="0"/>
              <a:t>] = </a:t>
            </a:r>
            <a:r>
              <a:rPr lang="en-US" sz="1600" dirty="0" err="1"/>
              <a:t>newVal</a:t>
            </a:r>
            <a:endParaRPr lang="en-US" sz="1600" dirty="0"/>
          </a:p>
          <a:p>
            <a:pPr algn="l"/>
            <a:r>
              <a:rPr lang="en-US" sz="1600" dirty="0"/>
              <a:t>                break</a:t>
            </a:r>
          </a:p>
          <a:p>
            <a:pPr algn="l"/>
            <a:r>
              <a:rPr lang="en-US" sz="1600" dirty="0"/>
              <a:t>            else:</a:t>
            </a:r>
          </a:p>
          <a:p>
            <a:pPr algn="l"/>
            <a:r>
              <a:rPr lang="en-US" sz="1600" dirty="0"/>
              <a:t>                continue</a:t>
            </a:r>
          </a:p>
          <a:p>
            <a:pPr algn="l"/>
            <a:r>
              <a:rPr lang="en-US" sz="1600" dirty="0"/>
              <a:t>high = max(scores)</a:t>
            </a:r>
          </a:p>
          <a:p>
            <a:pPr algn="l"/>
            <a:r>
              <a:rPr lang="en-US" sz="1600" dirty="0"/>
              <a:t>low = min(scores)</a:t>
            </a:r>
          </a:p>
          <a:p>
            <a:pPr algn="l"/>
            <a:endParaRPr lang="en-US" sz="1600" dirty="0"/>
          </a:p>
          <a:p>
            <a:pPr algn="l"/>
            <a:r>
              <a:rPr lang="en-US" sz="1600" dirty="0"/>
              <a:t>print(</a:t>
            </a:r>
            <a:r>
              <a:rPr lang="en-US" sz="1600" dirty="0" err="1"/>
              <a:t>f"Updated</a:t>
            </a:r>
            <a:r>
              <a:rPr lang="en-US" sz="1600" dirty="0"/>
              <a:t> Highest:")</a:t>
            </a:r>
          </a:p>
          <a:p>
            <a:pPr algn="l"/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scores:</a:t>
            </a:r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i</a:t>
            </a:r>
            <a:r>
              <a:rPr lang="en-US" sz="1600" dirty="0"/>
              <a:t> == high:</a:t>
            </a:r>
          </a:p>
          <a:p>
            <a:pPr algn="l"/>
            <a:r>
              <a:rPr lang="en-US" sz="1600" dirty="0"/>
              <a:t>        print(</a:t>
            </a:r>
            <a:r>
              <a:rPr lang="en-US" sz="1600" dirty="0" err="1"/>
              <a:t>i</a:t>
            </a:r>
            <a:r>
              <a:rPr lang="en-US" sz="1600" dirty="0"/>
              <a:t>)</a:t>
            </a:r>
          </a:p>
          <a:p>
            <a:pPr algn="l"/>
            <a:r>
              <a:rPr lang="en-US" sz="1600" dirty="0"/>
              <a:t>print(</a:t>
            </a:r>
            <a:r>
              <a:rPr lang="en-US" sz="1600" dirty="0" err="1"/>
              <a:t>f"Updated</a:t>
            </a:r>
            <a:r>
              <a:rPr lang="en-US" sz="1600" dirty="0"/>
              <a:t> Lowest: ")</a:t>
            </a:r>
          </a:p>
          <a:p>
            <a:pPr algn="l"/>
            <a:r>
              <a:rPr lang="en-US" sz="1600" dirty="0"/>
              <a:t>for </a:t>
            </a:r>
            <a:r>
              <a:rPr lang="en-US" sz="1600" dirty="0" err="1"/>
              <a:t>i</a:t>
            </a:r>
            <a:r>
              <a:rPr lang="en-US" sz="1600" dirty="0"/>
              <a:t> in scores:</a:t>
            </a:r>
          </a:p>
          <a:p>
            <a:pPr algn="l"/>
            <a:r>
              <a:rPr lang="en-US" sz="1600" dirty="0"/>
              <a:t>    if </a:t>
            </a:r>
            <a:r>
              <a:rPr lang="en-US" sz="1600" dirty="0" err="1"/>
              <a:t>i</a:t>
            </a:r>
            <a:r>
              <a:rPr lang="en-US" sz="1600" dirty="0"/>
              <a:t> == low:</a:t>
            </a:r>
          </a:p>
          <a:p>
            <a:pPr algn="l"/>
            <a:r>
              <a:rPr lang="en-US" sz="1600" dirty="0"/>
              <a:t>        print(</a:t>
            </a:r>
            <a:r>
              <a:rPr lang="en-US" sz="1600" dirty="0" err="1"/>
              <a:t>i</a:t>
            </a:r>
            <a:r>
              <a:rPr lang="en-US" sz="1600" dirty="0"/>
              <a:t>)</a:t>
            </a:r>
          </a:p>
          <a:p>
            <a:pPr algn="l"/>
            <a:r>
              <a:rPr lang="en-US" sz="1600" dirty="0"/>
              <a:t>print(</a:t>
            </a:r>
            <a:r>
              <a:rPr lang="en-US" sz="1600" dirty="0" err="1"/>
              <a:t>f"Updated</a:t>
            </a:r>
            <a:r>
              <a:rPr lang="en-US" sz="1600" dirty="0"/>
              <a:t> Average: {sum(scores) / </a:t>
            </a:r>
            <a:r>
              <a:rPr lang="en-US" sz="1600" dirty="0" err="1"/>
              <a:t>len</a:t>
            </a:r>
            <a:r>
              <a:rPr lang="en-US" sz="1600" dirty="0"/>
              <a:t>(scores)}")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9C52F-0C6E-27B0-244D-DB6E300469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4268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44EC0-83D5-0FA6-35D3-EF5C0658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B552C-5605-216F-AC04-060C166EA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6A280-F058-F14B-16BD-71A69CEF1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12617-4508-1AF3-4E7E-7B5B9BF50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43520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93147-1303-7019-CB9C-94D90F45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C29D5-C893-7AB7-B73D-B049BE61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37190-3E23-D684-87D3-C6BC4D680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C05F2-67AB-8ED1-E98D-1F7C80506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72929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D1BDD-50F2-E062-5DB5-C7B2BD93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B6142-5FF9-A2F1-CC5D-42B838732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F7600-1955-EA2E-1BC4-FDCC3A37D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74861-D923-BB04-968F-5C0FEB545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4198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561C-34CC-406E-67CC-DA1BD86D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EF420C-2CAD-17AA-EAFE-44DAF261C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B6602-8297-7911-7FBB-F9964BDDD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37C09-32E8-CAAF-5FFA-DB92B938A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63173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62D34-4239-4CB6-64C0-7A867087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9BD48-CB7A-834A-C613-8B24897B5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5776F9-221A-5157-2E61-442301B09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DEFC9-120E-B55B-AB18-BCC45D1A95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5726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D872C-F94E-1981-5ACC-5C3D573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B96A1-8089-44F1-C431-77194D75B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C9429-0BC9-A768-3360-494E595B5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6C7BA-0163-8E1A-D4B7-2EE1B89B5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78973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7CF33-1C11-CF74-2742-E03E4175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8A5FF-2F1E-14A4-1380-57FE936D7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EEAB8-48E7-FFE1-8EFF-17225DDC8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1C325-4658-8A94-0535-15B3E4F41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24566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84D4A-4359-EE40-845C-1E6117E5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E9061-3A0F-6E66-C1F4-ED95E3CFA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06F65-B43E-03B1-E068-6B24803F5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EEA75-4D46-A485-18DD-887658730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531722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0F98-A374-1326-9D6C-D897E4A0C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5F231-E5D5-3279-BD4F-67BD9B1F7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1F533-54C8-055C-67D6-601695319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3850F-482D-3D74-B452-DA82CE181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90856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B575-833A-5C89-5211-8DD2B168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428E1-F1D5-54DB-70A2-D8E9B414F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834DC-06B5-0FFD-9C23-2CE382FE0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3A40E-7A26-01B7-114E-DE43D099E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21947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A76A7-F440-974A-D5BF-AA3F4A16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6E78E8-AC16-54E6-D85B-B9E869BD7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667C6-0028-919F-7BE5-AA5437D94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06207-FE05-4617-736C-DB93258EB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9925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D41C3-A497-CFDD-0276-39B5ABD3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8E394-DE21-D9D0-EC5F-ED607E996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BDE9A-8DDA-C1A5-6F44-62B8B6717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0B5B6-E1FB-3B70-EDF3-6678F7C87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365768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25584-0653-1E78-412E-1E6ABD9E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5CF77-73A9-617A-70FB-A07FBD626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7A8B9-6182-0F95-B7D9-000F0ADB3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4D349-84D8-03D6-7E38-665F9D63C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13763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EBA79-B961-1E0C-939E-E78EDDB4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BE0FC-9D17-23C2-C547-CC33558A9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95355-3C70-5615-06CA-AAC1DA722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ED350-86FE-5BDE-12D2-F4630022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632319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E43A4-1A90-A51F-5829-AB29AA63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8CF55-8896-C0DB-4401-F90DAE3A5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13570-254D-0A4D-A321-6F563774D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D3810-0C72-3D03-216F-8BF0DB987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42744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0E1E-3A48-13B3-AA21-7C9F5170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33FF5-DFC8-BEB6-F90D-CC111E5AF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DEC6B-4207-4239-5103-4914CBC3C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ABC01-3CE2-40A5-AFD4-2CFFD404A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28437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FB16C-B4AF-7F76-EF8C-00EAD28C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58951-5ADE-DD07-D984-0AE8CBEE1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23B52-F6EA-CA85-D9E9-5C6926B7A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E974E-36E9-267A-C5E7-B649AA636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35420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08018-6BD0-6026-4B69-0461D4B2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FE72E-D875-39D9-9040-03A8AD0A7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13813-80C2-A7A1-D362-E3099780C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B10CD-4025-379B-8FA6-8A1F5805C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77431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C23B-9BC1-12D5-EF4E-66AFDFC1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0ED40-9629-95B3-D820-D2FB95ECD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A4C13-749A-685C-6E64-4FACC9AFD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5667C-7A7E-6CD7-D096-7E2D5DE02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61416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8371-68D7-8BA0-3944-F705AA2C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43B75-5A95-F552-10CC-A7FA4A549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FF81E-0F98-B023-5CD4-B6FA2E376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638D1-1D6E-E4E5-8924-55429D3C53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72620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4632-1479-2F5A-1B69-930D30F47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6B1E0-A432-0F44-FF57-66172BEF3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4B2007-CE56-450B-0233-986700C6F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98A85-E631-E9E9-A23D-7BFD3888C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02295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45C52-5058-F1B4-F3AB-1196D835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E408A-9D72-897A-15A7-C2BF37A5D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D5AFA-5AC6-37D6-9988-68A6C24E9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00A7B-C48F-2938-E932-F039F31F1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3557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6248400" cy="365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 4 – Elective 4 (Special Topics on Web and Mobile 2)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/>
          <p:cNvSpPr txBox="1"/>
          <p:nvPr/>
        </p:nvSpPr>
        <p:spPr>
          <a:xfrm>
            <a:off x="1138730" y="3587144"/>
            <a:ext cx="15998250" cy="1458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4: Intermediate Elements 1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A4BE5-8EE2-8317-7323-FF0E1E07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1A2640EB-F821-4F40-32B3-F1BF2F52A4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1" y="2939231"/>
            <a:ext cx="18287999" cy="4408536"/>
          </a:xfrm>
          <a:prstGeom prst="rect">
            <a:avLst/>
          </a:prstGeom>
        </p:spPr>
      </p:pic>
      <p:sp>
        <p:nvSpPr>
          <p:cNvPr id="20" name="Freeform 20">
            <a:extLst>
              <a:ext uri="{FF2B5EF4-FFF2-40B4-BE49-F238E27FC236}">
                <a16:creationId xmlns:a16="http://schemas.microsoft.com/office/drawing/2014/main" id="{D1B253CA-3335-DB86-11BB-2B9A288A53B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418ECE8-D069-2E3B-6F17-F1659ACDA1C1}"/>
              </a:ext>
            </a:extLst>
          </p:cNvPr>
          <p:cNvSpPr txBox="1"/>
          <p:nvPr/>
        </p:nvSpPr>
        <p:spPr>
          <a:xfrm>
            <a:off x="1144875" y="4404386"/>
            <a:ext cx="15998250" cy="1478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Lesson 4.4: Lists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2EF9C9B1-2AC3-AF8A-FA14-F11D95F27E75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AD964D24-B817-35B9-41F9-6CD6B8EDDC3D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474D3ED7-A0ED-D6BE-178F-430D984269F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006A0E06-31E7-5A6D-A746-4959FA9D577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F00CA0EF-209A-EA0A-E641-BC60187F1D4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A0E0BEB2-0367-E3CB-F1AE-F589C2401C4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F91B123-3BD0-D650-EEAB-A935F262908B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39B8D45E-6032-8A21-865B-577C83CC07E5}"/>
              </a:ext>
            </a:extLst>
          </p:cNvPr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7D65B1-7B13-E53B-A4E9-AC2CC8EA334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246ADF-C16D-2241-D4DB-A4CB7EAA92C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D1C62C7-922C-320C-9FE7-321226BD65D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94641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FB354-B01C-02B2-2DEF-10A33803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BF6A6E-4C0A-8069-00A1-6DB404C3CAB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194FCD-FC69-12DB-DCED-E8B029E7D2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7654DB-6975-675B-CBE4-88299C098E5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6ADBC3-58F8-936D-376A-C719734FF5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BE8CDB3-11FC-5F52-C5A5-A552237C467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82B3713-C643-1B74-9AD3-F356485A879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FEB6154-B889-FCEB-F520-3866CA8518F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Python list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90BC46-C5A1-A710-F86C-70717C3426BC}"/>
              </a:ext>
            </a:extLst>
          </p:cNvPr>
          <p:cNvSpPr txBox="1"/>
          <p:nvPr/>
        </p:nvSpPr>
        <p:spPr>
          <a:xfrm>
            <a:off x="637059" y="2277070"/>
            <a:ext cx="1695356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500" dirty="0">
                <a:latin typeface="Consolas" panose="020B0609020204030204" pitchFamily="49" charset="0"/>
              </a:rPr>
              <a:t>A list is a collection that can store multiple items in a single variable. It is </a:t>
            </a:r>
            <a:r>
              <a:rPr lang="en-US" sz="4500" b="1" dirty="0">
                <a:latin typeface="Consolas" panose="020B0609020204030204" pitchFamily="49" charset="0"/>
              </a:rPr>
              <a:t>ordered, mutable, </a:t>
            </a:r>
            <a:r>
              <a:rPr lang="en-US" sz="4500" dirty="0">
                <a:latin typeface="Consolas" panose="020B0609020204030204" pitchFamily="49" charset="0"/>
              </a:rPr>
              <a:t>and can </a:t>
            </a:r>
            <a:r>
              <a:rPr lang="en-US" sz="4500" b="1" dirty="0">
                <a:latin typeface="Consolas" panose="020B0609020204030204" pitchFamily="49" charset="0"/>
              </a:rPr>
              <a:t>hold different data types</a:t>
            </a:r>
            <a:r>
              <a:rPr lang="en-US" sz="4500" dirty="0">
                <a:latin typeface="Consolas" panose="020B0609020204030204" pitchFamily="49" charset="0"/>
              </a:rPr>
              <a:t>. It is defined using square brackets []. List allow duplicate values since elements are indexable.</a:t>
            </a:r>
            <a:endParaRPr lang="en-US" sz="45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22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6F05-344C-5B1D-56CC-444C3888E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59B48A-F095-4C23-F1F3-3E30C969752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4A2BEB5-AD72-0C9A-A088-AC26717FA4A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EB8C27-FF69-75C6-89EE-89D9199FA3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7EC282E-0323-BA98-2488-D319D95DB1C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DEFD4584-1FD7-ED64-2E45-3B15BE93BFB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67C83D3-AAAF-16B0-0E64-7DB7031967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3134D6A-32B5-AAD6-D0C4-FD0435D524D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Creating lists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3F6AC3-DF31-73D5-1257-6C5CC7ACD49C}"/>
              </a:ext>
            </a:extLst>
          </p:cNvPr>
          <p:cNvSpPr txBox="1"/>
          <p:nvPr/>
        </p:nvSpPr>
        <p:spPr>
          <a:xfrm>
            <a:off x="637059" y="2277070"/>
            <a:ext cx="16953563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 Empty list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 List of the same data type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BAD99C-C1E9-88C7-6EED-61F3A659A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200400"/>
            <a:ext cx="16700400" cy="2478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8BF1F-B723-018B-298B-4648B60FC9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7394926"/>
            <a:ext cx="16700400" cy="194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5D837-5490-36C1-F72B-AC8A2B33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92D4AAA-8298-4CC4-706E-03E4B7108FF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92568E-F337-D6B4-22A4-8BA74E21898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B1DA232-7324-AB3B-416E-884D21788E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36F805E-3852-912B-7640-B4279A6FDD5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00E524F-7A72-6BE3-B31D-AB4316440DC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D9583C7-E157-8000-167C-B76897B2222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2E39CCA-4938-72D7-0992-771E7BE6A84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Creating lists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9D2181-4385-0035-30D4-29672EA27189}"/>
              </a:ext>
            </a:extLst>
          </p:cNvPr>
          <p:cNvSpPr txBox="1"/>
          <p:nvPr/>
        </p:nvSpPr>
        <p:spPr>
          <a:xfrm>
            <a:off x="637059" y="2277070"/>
            <a:ext cx="1695356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3: List with mixed data types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4: Nested list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4E2F08-E3E2-A114-121F-F86513E3B4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220915"/>
            <a:ext cx="16700400" cy="19692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531507-ABE5-517A-501E-7851D833EF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905030"/>
            <a:ext cx="16700400" cy="206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7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61C4-6FEE-EDD9-55E8-890E749F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F63D03-9472-630E-CD33-649086CB5FC0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C844598-A363-FCD9-8637-086357D6E0C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2C2076C-AC51-648E-AF93-9214113E6C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6A563D-D452-597D-A1E3-EBF701CB1D6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D8236B8-AF21-4128-A265-90957DF2EA9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D40E1A1-927A-B8B9-025B-568D2E04195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CC6A68B-DCF2-5886-8BE8-1D98063D094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Accessing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E59DD-3237-A7B1-429A-D43CA65FF9B9}"/>
              </a:ext>
            </a:extLst>
          </p:cNvPr>
          <p:cNvSpPr txBox="1"/>
          <p:nvPr/>
        </p:nvSpPr>
        <p:spPr>
          <a:xfrm>
            <a:off x="637059" y="2277070"/>
            <a:ext cx="1695356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To access list elements, use an index.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 Single index</a:t>
            </a:r>
            <a:endParaRPr lang="en-US" sz="4000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9921B-03A7-4B4F-B07C-1D319D4C6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355095"/>
            <a:ext cx="16700400" cy="290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32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E030C-6A2C-C875-BBB3-23D4FBB3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55F5F12-7146-9A4B-966E-4220028ED74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C118FCF-5A9C-7C35-C302-0FFDB25B2F5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5E74A0-A6E9-7C98-8A2C-8EF1ED038A7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DD21C34-930D-0F19-2B83-765F2421950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AFC5B3C-AD69-7475-354B-40D436CA11A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B834C2E-D93D-2C8C-12B5-B6760C4F265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2242446-1081-7FA9-8669-9ADE32C8C5C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Accessing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9D5E31-CD21-7D74-BCD1-82FD67046BCE}"/>
              </a:ext>
            </a:extLst>
          </p:cNvPr>
          <p:cNvSpPr txBox="1"/>
          <p:nvPr/>
        </p:nvSpPr>
        <p:spPr>
          <a:xfrm>
            <a:off x="637059" y="2277070"/>
            <a:ext cx="16953563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To access list elements, use an index.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2: Range of indexes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Note: Negative indexes can be also applied.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8C6BF-4F04-E4B5-F652-C042DE5EF2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4457699"/>
            <a:ext cx="16700400" cy="212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3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0DF6-B3A8-3191-2EA5-E09AAE81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60E6B5-8970-34B2-A182-B43C5713808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DA6A158-7413-2478-5615-2189C469622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B56297-3800-8B52-19A6-3D7AE326F67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954CF33-F899-F73B-8563-157B44AC875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5896A9D-09E0-439A-E0A5-902EED25F05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7508D27-A457-1F11-1629-6567E395B4A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B07CA66-494D-1BEA-3C1C-A763FE46EBB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Checking if element exists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C9AF2-528D-0200-0740-3F14BCB95524}"/>
              </a:ext>
            </a:extLst>
          </p:cNvPr>
          <p:cNvSpPr txBox="1"/>
          <p:nvPr/>
        </p:nvSpPr>
        <p:spPr>
          <a:xfrm>
            <a:off x="637059" y="2277070"/>
            <a:ext cx="169535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Use </a:t>
            </a:r>
            <a:r>
              <a:rPr lang="en-US" sz="4000" b="1" i="1" dirty="0">
                <a:latin typeface="Consolas" panose="020B0609020204030204" pitchFamily="49" charset="0"/>
              </a:rPr>
              <a:t>in</a:t>
            </a:r>
            <a:r>
              <a:rPr lang="en-US" sz="4000" i="1" dirty="0">
                <a:latin typeface="Consolas" panose="020B0609020204030204" pitchFamily="49" charset="0"/>
              </a:rPr>
              <a:t> </a:t>
            </a:r>
            <a:r>
              <a:rPr lang="en-US" sz="4000" dirty="0">
                <a:latin typeface="Consolas" panose="020B0609020204030204" pitchFamily="49" charset="0"/>
              </a:rPr>
              <a:t>operator to check.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30C622-8116-CB29-3798-534D2861E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893256"/>
            <a:ext cx="16700400" cy="290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88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96204-9795-817D-6ADB-9B3D277E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5DFCA7-3F17-8DAA-C6A4-841C6D1B366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890AC4-6F4D-54FD-AADE-4538790A7FB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8E9BA85-B4EB-6CE1-3BD3-E27615F45C1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316AA57-3C14-A739-BB43-D4B985F5E31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61DDB47-81F2-0516-B4BB-1B078497B16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04C4F20-4DB5-74D4-C674-685A483C36C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776CC76-62F5-581C-0676-3170A7A29D4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Adding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5F8E1F-EC8B-078A-996D-AE4D1F3CF8E2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1. append() method – add 1 item at a time.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	</a:t>
            </a:r>
            <a:r>
              <a:rPr lang="en-US" sz="4000" dirty="0" err="1">
                <a:latin typeface="Consolas" panose="020B0609020204030204" pitchFamily="49" charset="0"/>
              </a:rPr>
              <a:t>var.append</a:t>
            </a:r>
            <a:r>
              <a:rPr lang="en-US" sz="4000" dirty="0">
                <a:latin typeface="Consolas" panose="020B0609020204030204" pitchFamily="49" charset="0"/>
              </a:rPr>
              <a:t>(</a:t>
            </a:r>
            <a:r>
              <a:rPr lang="en-US" sz="4000" dirty="0" err="1">
                <a:latin typeface="Consolas" panose="020B0609020204030204" pitchFamily="49" charset="0"/>
              </a:rPr>
              <a:t>elem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E8FEB-A8F2-97FE-2262-4A542AA457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223914"/>
            <a:ext cx="16700400" cy="243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02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C284-EB16-A65C-5086-9FC697FC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85C598-AAAF-2F68-2177-685E2EDA971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FBD5035-13A9-B516-023A-C75EDC1DB1D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646A7C9-24B7-4668-CB47-83DC2CB9998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8AB9E97-8139-9830-3A8D-FF28A08B071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C47E4F5-F710-E38D-177D-80E75F1147E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217676B-C404-F4A0-D2E6-C87B6718746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AB1DC019-F665-6CA0-3957-4CDE8BAB240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Adding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478CE0-9ACC-1F90-EA8B-04FA23E6A98B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2. insert() method – add 1 item at a time at the specified index.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	</a:t>
            </a:r>
            <a:r>
              <a:rPr lang="en-US" sz="4000" dirty="0" err="1">
                <a:latin typeface="Consolas" panose="020B0609020204030204" pitchFamily="49" charset="0"/>
              </a:rPr>
              <a:t>var.insert</a:t>
            </a:r>
            <a:r>
              <a:rPr lang="en-US" sz="4000" dirty="0">
                <a:latin typeface="Consolas" panose="020B0609020204030204" pitchFamily="49" charset="0"/>
              </a:rPr>
              <a:t>(index, </a:t>
            </a:r>
            <a:r>
              <a:rPr lang="en-US" sz="4000" dirty="0" err="1">
                <a:latin typeface="Consolas" panose="020B0609020204030204" pitchFamily="49" charset="0"/>
              </a:rPr>
              <a:t>elem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489327-5FCC-A24A-7827-E75EA315C4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210300"/>
            <a:ext cx="16700400" cy="249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9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0078-A581-856A-370B-97290BB6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22671D-962B-5AD0-8EE3-51752BFAD81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BAA8F63-827D-57A5-90B1-1BE35417019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12A5DDF-618F-5D2B-2340-470731FCB5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EF227D-7F95-0D6F-64AF-52D441CC327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47B58FD-0FE3-2940-4097-A24F4A20E49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59CAFE7-2E03-B0E5-4EE6-B718AF0ECD9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881C6A6-B298-4BAB-002D-145E18214EB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Adding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C1D390-F849-9C18-3D57-C1E9C2DA51FB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3. extend() method – add elements from another list or 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	</a:t>
            </a:r>
            <a:r>
              <a:rPr lang="en-US" sz="4000" dirty="0" err="1">
                <a:latin typeface="Consolas" panose="020B0609020204030204" pitchFamily="49" charset="0"/>
              </a:rPr>
              <a:t>origlist.extend</a:t>
            </a:r>
            <a:r>
              <a:rPr lang="en-US" sz="4000" dirty="0">
                <a:latin typeface="Consolas" panose="020B0609020204030204" pitchFamily="49" charset="0"/>
              </a:rPr>
              <a:t>(</a:t>
            </a:r>
            <a:r>
              <a:rPr lang="en-US" sz="4000" dirty="0" err="1">
                <a:latin typeface="Consolas" panose="020B0609020204030204" pitchFamily="49" charset="0"/>
              </a:rPr>
              <a:t>iterable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136EEF-113E-3619-FE1C-841278FE2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116855"/>
            <a:ext cx="16700400" cy="294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03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5BD48-E4AC-906D-5B7E-EC25AEE5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60846CC-0903-373E-85C4-246B274B43A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719367-986F-4D86-6451-DB4B2196B0F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E9CC552-385F-FDE9-4E56-13D3DD19352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10632F-EFEB-7450-E76B-92F7CB79BFB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564EA77-EDBF-8B50-BB06-C7C3AD29B17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C6733D2-D055-3354-8D4E-681194837ED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1E943A20-0F5B-D984-7AAB-758C5CD05F6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Adding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E0A3B9-4A9F-C0D2-910C-AF1BF347D8D5}"/>
              </a:ext>
            </a:extLst>
          </p:cNvPr>
          <p:cNvSpPr txBox="1"/>
          <p:nvPr/>
        </p:nvSpPr>
        <p:spPr>
          <a:xfrm>
            <a:off x="637059" y="2277070"/>
            <a:ext cx="169535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4. Using the + operator – add elements from another list.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	</a:t>
            </a:r>
            <a:r>
              <a:rPr lang="en-US" sz="4000" dirty="0">
                <a:latin typeface="Consolas" panose="020B0609020204030204" pitchFamily="49" charset="0"/>
              </a:rPr>
              <a:t>finalist = </a:t>
            </a:r>
            <a:r>
              <a:rPr lang="en-US" sz="4000" dirty="0" err="1">
                <a:latin typeface="Consolas" panose="020B0609020204030204" pitchFamily="49" charset="0"/>
              </a:rPr>
              <a:t>firstList</a:t>
            </a:r>
            <a:r>
              <a:rPr lang="en-US" sz="4000" dirty="0">
                <a:latin typeface="Consolas" panose="020B0609020204030204" pitchFamily="49" charset="0"/>
              </a:rPr>
              <a:t> + </a:t>
            </a:r>
            <a:r>
              <a:rPr lang="en-US" sz="4000" dirty="0" err="1">
                <a:latin typeface="Consolas" panose="020B0609020204030204" pitchFamily="49" charset="0"/>
              </a:rPr>
              <a:t>secondList</a:t>
            </a:r>
            <a:r>
              <a:rPr lang="en-US" sz="4000" dirty="0">
                <a:latin typeface="Consolas" panose="020B0609020204030204" pitchFamily="49" charset="0"/>
              </a:rPr>
              <a:t> + … + </a:t>
            </a:r>
            <a:r>
              <a:rPr lang="en-US" sz="4000" dirty="0" err="1">
                <a:latin typeface="Consolas" panose="020B0609020204030204" pitchFamily="49" charset="0"/>
              </a:rPr>
              <a:t>otherlist</a:t>
            </a:r>
            <a:endParaRPr lang="en-US" sz="4000" dirty="0">
              <a:latin typeface="Consolas" panose="020B0609020204030204" pitchFamily="49" charset="0"/>
            </a:endParaRP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C4B3F-1536-965C-F154-70AA95496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600700"/>
            <a:ext cx="16700400" cy="327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52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EE48C-5B59-6A9C-A3D9-51A30978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4272EF-CFFD-8114-E535-4D6FF543C73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1B720D-CDE8-CBB6-CEDA-68EE8C59BFF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81629BC-042E-9612-C5CE-485D72B9D65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320A00-122F-81B9-3080-1D0834D5EBE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104C82F-7F50-D085-1F44-F5B45F63CB7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E3A2FF1-10C5-C84E-918D-594DF2A2142C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09DEDB9-87DC-74C0-559E-7B5D86A03B1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B401AFF9-5AA1-2019-1D40-413BE72708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8ECC30E3-A6B6-554F-3497-7EBB0CF950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562857-18E4-1592-DCFC-7723307FB01E}"/>
              </a:ext>
            </a:extLst>
          </p:cNvPr>
          <p:cNvSpPr txBox="1"/>
          <p:nvPr/>
        </p:nvSpPr>
        <p:spPr>
          <a:xfrm>
            <a:off x="463773" y="2159217"/>
            <a:ext cx="1695356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Write a program that: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300" dirty="0">
                <a:latin typeface="Consolas" panose="020B0609020204030204" pitchFamily="49" charset="0"/>
              </a:rPr>
              <a:t>Asks the teacher to input multiple student scores (loop until -1 is entered) and stores all scores in a list.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300" dirty="0">
                <a:latin typeface="Consolas" panose="020B0609020204030204" pitchFamily="49" charset="0"/>
              </a:rPr>
              <a:t>Display the maximum, minimum score, rounded average(2 decimal places)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300" dirty="0">
                <a:latin typeface="Consolas" panose="020B0609020204030204" pitchFamily="49" charset="0"/>
              </a:rPr>
              <a:t>Displays all scores with their index numbers.</a:t>
            </a:r>
          </a:p>
          <a:p>
            <a:pPr algn="just"/>
            <a:r>
              <a:rPr lang="en-US" sz="3300" b="1" dirty="0">
                <a:latin typeface="Consolas" panose="020B0609020204030204" pitchFamily="49" charset="0"/>
              </a:rPr>
              <a:t>Sample output: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2E209-3EE2-0723-C80E-6B2633AD01D6}"/>
              </a:ext>
            </a:extLst>
          </p:cNvPr>
          <p:cNvSpPr txBox="1"/>
          <p:nvPr/>
        </p:nvSpPr>
        <p:spPr>
          <a:xfrm>
            <a:off x="463773" y="5324155"/>
            <a:ext cx="7765828" cy="466281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80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90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75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Enter score (-1 to stop): -1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Scores entered: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0. 80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1. 90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2. 75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8286F-4D7E-B8BC-24AF-797BD155E1E1}"/>
              </a:ext>
            </a:extLst>
          </p:cNvPr>
          <p:cNvSpPr txBox="1"/>
          <p:nvPr/>
        </p:nvSpPr>
        <p:spPr>
          <a:xfrm>
            <a:off x="8241324" y="5297778"/>
            <a:ext cx="7765828" cy="161582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Highest Score: 90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Lowest Score: 75</a:t>
            </a: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Average (rounded): 82</a:t>
            </a:r>
          </a:p>
        </p:txBody>
      </p:sp>
    </p:spTree>
    <p:extLst>
      <p:ext uri="{BB962C8B-B14F-4D97-AF65-F5344CB8AC3E}">
        <p14:creationId xmlns:p14="http://schemas.microsoft.com/office/powerpoint/2010/main" val="80269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484B-2938-0BD4-BAD3-2342DE5B1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9277519-358E-E9AD-9348-31017C3C44F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B2B629-BA81-C7EE-50F3-A238E84D9F5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EBE20A6-9B2D-8DD4-2CD4-F5643A99AA6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0971684-5767-2601-919E-0730118AC64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F14B49D-72A1-EE7D-80EF-5020BA99348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0472715-761F-821B-6C2D-C810672FC39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9C3AD26-1B78-DEDC-7540-51164883128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Updating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D0E71-7458-8191-17C1-B89986358F05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1. To change value of a specific item, refer to the index number.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	</a:t>
            </a:r>
            <a:r>
              <a:rPr lang="en-US" sz="4000" dirty="0">
                <a:latin typeface="Consolas" panose="020B0609020204030204" pitchFamily="49" charset="0"/>
              </a:rPr>
              <a:t>var[index] = NV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9FDF95-1A68-77D6-EFE3-E91191C94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253925"/>
            <a:ext cx="16700400" cy="239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637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9DC7-62D7-472D-2D1F-66196BEA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994F80-2A13-0525-34D0-6C0EF68DC64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BBF390-F9E4-9735-9C03-7782DC5A781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6A8BDC4-FC72-D71D-8D6A-57A54468307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F0BCEC-7489-A2E5-7909-A780C869A25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57CE9CA-6B2C-FF55-F678-26FDF63E418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7677F99-164D-4D97-0FFD-861014135F8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99DCCF32-CA36-5C3E-2EE2-0E7D52945C17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Updating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A665EE-D0D9-8969-1FA2-FD11132E5175}"/>
              </a:ext>
            </a:extLst>
          </p:cNvPr>
          <p:cNvSpPr txBox="1"/>
          <p:nvPr/>
        </p:nvSpPr>
        <p:spPr>
          <a:xfrm>
            <a:off x="637059" y="2277070"/>
            <a:ext cx="169535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2. To change value of items, define a list with the new values and refer to the range of indexes.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	</a:t>
            </a:r>
            <a:r>
              <a:rPr lang="en-US" sz="4000" dirty="0">
                <a:latin typeface="Consolas" panose="020B0609020204030204" pitchFamily="49" charset="0"/>
              </a:rPr>
              <a:t>var[</a:t>
            </a:r>
            <a:r>
              <a:rPr lang="en-US" sz="4000" dirty="0" err="1">
                <a:latin typeface="Consolas" panose="020B0609020204030204" pitchFamily="49" charset="0"/>
              </a:rPr>
              <a:t>startindex</a:t>
            </a:r>
            <a:r>
              <a:rPr lang="en-US" sz="4000" dirty="0">
                <a:latin typeface="Consolas" panose="020B0609020204030204" pitchFamily="49" charset="0"/>
              </a:rPr>
              <a:t> : </a:t>
            </a:r>
            <a:r>
              <a:rPr lang="en-US" sz="4000" dirty="0" err="1">
                <a:latin typeface="Consolas" panose="020B0609020204030204" pitchFamily="49" charset="0"/>
              </a:rPr>
              <a:t>endindex</a:t>
            </a:r>
            <a:r>
              <a:rPr lang="en-US" sz="4000" dirty="0">
                <a:latin typeface="Consolas" panose="020B0609020204030204" pitchFamily="49" charset="0"/>
              </a:rPr>
              <a:t>] = [V1, V2, </a:t>
            </a:r>
            <a:r>
              <a:rPr lang="en-US" sz="4000" dirty="0" err="1">
                <a:latin typeface="Consolas" panose="020B0609020204030204" pitchFamily="49" charset="0"/>
              </a:rPr>
              <a:t>etc</a:t>
            </a:r>
            <a:r>
              <a:rPr lang="en-US" sz="4000" dirty="0">
                <a:latin typeface="Consolas" panose="020B0609020204030204" pitchFamily="49" charset="0"/>
              </a:rPr>
              <a:t>]</a:t>
            </a:r>
          </a:p>
          <a:p>
            <a:pPr algn="just"/>
            <a:endParaRPr lang="en-US" sz="4000" b="1" dirty="0">
              <a:latin typeface="Consolas" panose="020B0609020204030204" pitchFamily="49" charset="0"/>
            </a:endParaRPr>
          </a:p>
          <a:p>
            <a:pPr algn="just"/>
            <a:r>
              <a:rPr lang="en-US" sz="4000" b="1" dirty="0">
                <a:latin typeface="Consolas" panose="020B0609020204030204" pitchFamily="49" charset="0"/>
              </a:rPr>
              <a:t>Example 1: Exact number of new values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7C6A8-7AF6-F910-B7CB-9B15748ADB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131" y="6214535"/>
            <a:ext cx="16700400" cy="247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0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CB20-662A-A71E-DB36-A393DAD9F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B4C1D8-818E-C720-C2F1-63BFFA798A0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C695A-0461-CA65-A2CD-6271A8E971E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8DD4392-AC7B-41B2-65F3-549709D6AF6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2A87F78-E743-EBAC-7314-A95EE47B87C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CD8C48B8-C127-0E8C-AA56-21EB0CDBE688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C61E0AC-29B8-FB9E-3EA5-4F881787735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BDD5D78-B4A0-1139-5078-1B027FEB423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Updating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2BD215-A2F9-ABEE-48BB-D8415DC8CE8E}"/>
              </a:ext>
            </a:extLst>
          </p:cNvPr>
          <p:cNvSpPr txBox="1"/>
          <p:nvPr/>
        </p:nvSpPr>
        <p:spPr>
          <a:xfrm>
            <a:off x="637059" y="2277070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2. To change value of items, define a list with the new values and refer to the range of indexes.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latin typeface="Consolas" panose="020B0609020204030204" pitchFamily="49" charset="0"/>
              </a:rPr>
              <a:t>var[</a:t>
            </a:r>
            <a:r>
              <a:rPr lang="en-US" sz="3600" dirty="0" err="1">
                <a:latin typeface="Consolas" panose="020B0609020204030204" pitchFamily="49" charset="0"/>
              </a:rPr>
              <a:t>startindex</a:t>
            </a:r>
            <a:r>
              <a:rPr lang="en-US" sz="3600" dirty="0">
                <a:latin typeface="Consolas" panose="020B0609020204030204" pitchFamily="49" charset="0"/>
              </a:rPr>
              <a:t> : </a:t>
            </a:r>
            <a:r>
              <a:rPr lang="en-US" sz="3600" dirty="0" err="1">
                <a:latin typeface="Consolas" panose="020B0609020204030204" pitchFamily="49" charset="0"/>
              </a:rPr>
              <a:t>endindex</a:t>
            </a:r>
            <a:r>
              <a:rPr lang="en-US" sz="3600" dirty="0">
                <a:latin typeface="Consolas" panose="020B0609020204030204" pitchFamily="49" charset="0"/>
              </a:rPr>
              <a:t>] = [V1, V2, </a:t>
            </a:r>
            <a:r>
              <a:rPr lang="en-US" sz="3600" dirty="0" err="1">
                <a:latin typeface="Consolas" panose="020B0609020204030204" pitchFamily="49" charset="0"/>
              </a:rPr>
              <a:t>etc</a:t>
            </a:r>
            <a:r>
              <a:rPr lang="en-US" sz="3600" dirty="0">
                <a:latin typeface="Consolas" panose="020B0609020204030204" pitchFamily="49" charset="0"/>
              </a:rPr>
              <a:t>]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 2: More range of index, less values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If less values are provided than the index range, the list length changed.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722A28-294D-1FC6-1265-68BB03C771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753100"/>
            <a:ext cx="16700400" cy="244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8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0E00E-7FCF-30FD-4E98-1383BE743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D77292-FC13-7889-5955-F640E92FD0F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F34205-C740-EDB4-7AD0-9DBF7E0828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44AB77-88B0-29C3-0EE4-19348280D39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19DF77-9D57-24FE-1339-B7B437C7ADD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16FBE28-1D0C-3368-F0DC-77A57AF36C8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1F67882-5921-3A60-15A9-2F1578378D0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C2D9319-EA84-8AE6-8D1F-BB27CE70DA64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Updating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0E6966-351B-46CE-B116-6FF998A6441E}"/>
              </a:ext>
            </a:extLst>
          </p:cNvPr>
          <p:cNvSpPr txBox="1"/>
          <p:nvPr/>
        </p:nvSpPr>
        <p:spPr>
          <a:xfrm>
            <a:off x="637059" y="2277070"/>
            <a:ext cx="1695356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2. To change value of items, define a list with the new values and refer to the range of indexes.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	</a:t>
            </a:r>
            <a:r>
              <a:rPr lang="en-US" sz="3600" dirty="0">
                <a:latin typeface="Consolas" panose="020B0609020204030204" pitchFamily="49" charset="0"/>
              </a:rPr>
              <a:t>var[</a:t>
            </a:r>
            <a:r>
              <a:rPr lang="en-US" sz="3600" dirty="0" err="1">
                <a:latin typeface="Consolas" panose="020B0609020204030204" pitchFamily="49" charset="0"/>
              </a:rPr>
              <a:t>startindex</a:t>
            </a:r>
            <a:r>
              <a:rPr lang="en-US" sz="3600" dirty="0">
                <a:latin typeface="Consolas" panose="020B0609020204030204" pitchFamily="49" charset="0"/>
              </a:rPr>
              <a:t> : </a:t>
            </a:r>
            <a:r>
              <a:rPr lang="en-US" sz="3600" dirty="0" err="1">
                <a:latin typeface="Consolas" panose="020B0609020204030204" pitchFamily="49" charset="0"/>
              </a:rPr>
              <a:t>endindex</a:t>
            </a:r>
            <a:r>
              <a:rPr lang="en-US" sz="3600" dirty="0">
                <a:latin typeface="Consolas" panose="020B0609020204030204" pitchFamily="49" charset="0"/>
              </a:rPr>
              <a:t>] = [V1, V2, </a:t>
            </a:r>
            <a:r>
              <a:rPr lang="en-US" sz="3600" dirty="0" err="1">
                <a:latin typeface="Consolas" panose="020B0609020204030204" pitchFamily="49" charset="0"/>
              </a:rPr>
              <a:t>etc</a:t>
            </a:r>
            <a:r>
              <a:rPr lang="en-US" sz="3600" dirty="0">
                <a:latin typeface="Consolas" panose="020B0609020204030204" pitchFamily="49" charset="0"/>
              </a:rPr>
              <a:t>]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 3: Less range of index, more values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If more values are provided than the index range, all the excess values will be added after the </a:t>
            </a:r>
            <a:r>
              <a:rPr lang="en-US" sz="3600" dirty="0" err="1">
                <a:latin typeface="Consolas" panose="020B0609020204030204" pitchFamily="49" charset="0"/>
              </a:rPr>
              <a:t>startindex</a:t>
            </a:r>
            <a:r>
              <a:rPr lang="en-US" sz="3600" dirty="0">
                <a:latin typeface="Consolas" panose="020B0609020204030204" pitchFamily="49" charset="0"/>
              </a:rPr>
              <a:t> and remaining elements will move accordingly.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2B2B34-0B69-9EC8-5D19-59AC8162B6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61" y="5676900"/>
            <a:ext cx="16700400" cy="243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59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802F-A5E6-FCF5-A1DA-CDB4F33A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9F65F6-A784-6FD6-A2C2-53691D34E4D3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E5C15B-B1D4-246B-25FE-F1797EA8B6A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629C8AF-BB7E-B38C-6249-F751816434E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4937B2-F020-56F8-E389-DC8B3A17D91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BAF1542-3776-BEE7-B71C-9B8838AC18C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73A2BFCE-B6F0-DA32-2A94-17237D09D61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AEE9652-965F-AD48-3D7E-E25F5021257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CEB5B065-BD96-74FF-AF6E-A51681AF34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ED4DD788-141B-0E72-2D99-1C71F06397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26E3AB-16DB-A1B1-3BA4-4765E39156E9}"/>
              </a:ext>
            </a:extLst>
          </p:cNvPr>
          <p:cNvSpPr txBox="1"/>
          <p:nvPr/>
        </p:nvSpPr>
        <p:spPr>
          <a:xfrm>
            <a:off x="463773" y="2159217"/>
            <a:ext cx="1695356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Revise your code on the previous learning activity: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After showing the highest, lowest, and average score, ask for a search value terminated by "stop". If search value is in the list, ask for a new value to replace it, otherwise, ask again for a new search value. 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Once user entered "stop", show again the updated highest, lowest, and average score.</a:t>
            </a:r>
          </a:p>
        </p:txBody>
      </p:sp>
    </p:spTree>
    <p:extLst>
      <p:ext uri="{BB962C8B-B14F-4D97-AF65-F5344CB8AC3E}">
        <p14:creationId xmlns:p14="http://schemas.microsoft.com/office/powerpoint/2010/main" val="691582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EBBBD-9C67-C62A-4D6D-01AA27BE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BF3AB8-0E16-8A24-D3BC-AB9C2CC265AA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699B6D-1AD1-BA8A-36F9-02AB48E291F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E420C3A-6E14-77D7-8272-22FBA4ABE2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A35BCEF-B807-4564-279D-9D1CAA7D659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5440FAA5-3A99-88A1-2DA9-86B25DECC8E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6F04501-BC6B-AEFF-433B-0A588677A6A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648E734-5B0A-B20B-1773-CF2A4236A2C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Removing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B993F6-DDAF-73CC-FD5E-5B51D4295D42}"/>
              </a:ext>
            </a:extLst>
          </p:cNvPr>
          <p:cNvSpPr txBox="1"/>
          <p:nvPr/>
        </p:nvSpPr>
        <p:spPr>
          <a:xfrm>
            <a:off x="637059" y="2277070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1. remove() – It removes 1 item at a time with the specified value.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	</a:t>
            </a:r>
            <a:r>
              <a:rPr lang="en-US" sz="3600" dirty="0" err="1">
                <a:latin typeface="Consolas" panose="020B0609020204030204" pitchFamily="49" charset="0"/>
              </a:rPr>
              <a:t>var.remove</a:t>
            </a:r>
            <a:r>
              <a:rPr lang="en-US" sz="3600" dirty="0">
                <a:latin typeface="Consolas" panose="020B0609020204030204" pitchFamily="49" charset="0"/>
              </a:rPr>
              <a:t>("value") -&gt; if value not string, they’re not quoted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You can still store the value of the remove item in a variable.</a:t>
            </a:r>
            <a:endParaRPr lang="en-US" sz="36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BFFC94-F076-BAE8-FC4A-DF3FFF9CC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5753100"/>
            <a:ext cx="16700400" cy="246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73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5BC9-8898-87B1-879D-609BCE7C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4DB8D5-FCAB-D5B9-00E6-B28A7DD8CC27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68602DB-4097-F243-401F-395A6B20100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D42CB3A-632F-44AC-9029-0533BAD9C2D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7440EF5-C66E-CFDC-1AA7-0769C820496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29396D14-B3D4-1BD3-8A74-7899847B289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F42FC7F-352F-FAD0-9C44-26B199336D8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F92DE457-02B9-5BA3-D932-9E093CAEFB01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Removing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93D54D-AB25-8C1E-331A-E9FD160A0F06}"/>
              </a:ext>
            </a:extLst>
          </p:cNvPr>
          <p:cNvSpPr txBox="1"/>
          <p:nvPr/>
        </p:nvSpPr>
        <p:spPr>
          <a:xfrm>
            <a:off x="637059" y="2277070"/>
            <a:ext cx="1695356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2. pop() – It removes 1 item at a time with the specified index. If not, it removes the last inserted element.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	</a:t>
            </a:r>
            <a:r>
              <a:rPr lang="en-US" sz="3600" err="1">
                <a:latin typeface="Consolas" panose="020B0609020204030204" pitchFamily="49" charset="0"/>
              </a:rPr>
              <a:t>var</a:t>
            </a:r>
            <a:r>
              <a:rPr lang="en-US" sz="3600">
                <a:latin typeface="Consolas" panose="020B0609020204030204" pitchFamily="49" charset="0"/>
              </a:rPr>
              <a:t>.pop(</a:t>
            </a:r>
            <a:r>
              <a:rPr lang="en-US" sz="3600" dirty="0">
                <a:latin typeface="Consolas" panose="020B0609020204030204" pitchFamily="49" charset="0"/>
              </a:rPr>
              <a:t>index) -&gt; index : int (optional)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24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Note: </a:t>
            </a:r>
            <a:r>
              <a:rPr lang="en-US" sz="3600" dirty="0">
                <a:latin typeface="Consolas" panose="020B0609020204030204" pitchFamily="49" charset="0"/>
              </a:rPr>
              <a:t>You can still store the value of the remove item in a variable.</a:t>
            </a:r>
            <a:endParaRPr lang="en-US" sz="36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6CE4E-924F-3DB0-7149-C38EFE89FB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696862"/>
            <a:ext cx="16700400" cy="241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251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E53D-EEC4-1270-E40A-55978EDE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D8C14D8-80C2-B27D-EF84-0B2BB2D64709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317FCC2-E257-2DCE-6E68-513AD061DDA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09A821F-6CD0-DB99-AB44-6DB19C9E280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21AD94-BC4F-6390-28BA-863446B69A4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E40CDDAA-26CA-881E-CC77-D609EC1619E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08C36D5-E0CC-B076-0D69-2124DC3233E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8FF22C3E-C41A-D0C2-38FA-50B2EBEB4B2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Removing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E32B46-509B-ED72-EF00-8E5000E9B8A1}"/>
              </a:ext>
            </a:extLst>
          </p:cNvPr>
          <p:cNvSpPr txBox="1"/>
          <p:nvPr/>
        </p:nvSpPr>
        <p:spPr>
          <a:xfrm>
            <a:off x="637059" y="2277070"/>
            <a:ext cx="1695356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3. clear() – It removes all the list elements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	</a:t>
            </a:r>
            <a:r>
              <a:rPr lang="en-US" sz="3600" dirty="0" err="1">
                <a:latin typeface="Consolas" panose="020B0609020204030204" pitchFamily="49" charset="0"/>
              </a:rPr>
              <a:t>var.clear</a:t>
            </a:r>
            <a:r>
              <a:rPr lang="en-US" sz="36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4. </a:t>
            </a:r>
            <a:r>
              <a:rPr lang="en-US" sz="3600" dirty="0">
                <a:latin typeface="Consolas" panose="020B0609020204030204" pitchFamily="49" charset="0"/>
              </a:rPr>
              <a:t>del keyword – removes 1 element with the specified index. It can also delete the list completely.</a:t>
            </a: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24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E3CC4-A03D-AEA5-BD89-97C479AE7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6500814"/>
            <a:ext cx="16700400" cy="244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68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B48E-6B13-8BC0-B018-E8C76F861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18B782-F4C5-882B-CF20-A6CB4295B6D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6F4C05A-A03E-4370-3F15-7DC754251DE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062B567-9550-42DC-C9DE-B68CBF2491D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6DE69BF-5988-243A-3C2B-BDE2183C50A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B79E0C6-6854-777F-2138-129F0DB34F3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B82537F4-8413-4725-AE43-F07180C2CFC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E109C0F-F9A5-8686-3D6F-F7B47C111BBF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0E8E9569-17CE-5921-D207-90E2BEB3CA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21A296D0-0C13-037E-5454-1588BF15C1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46C5E-3848-390E-B31D-7BAD9516B1BD}"/>
              </a:ext>
            </a:extLst>
          </p:cNvPr>
          <p:cNvSpPr txBox="1"/>
          <p:nvPr/>
        </p:nvSpPr>
        <p:spPr>
          <a:xfrm>
            <a:off x="463773" y="2159217"/>
            <a:ext cx="1695356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dirty="0">
                <a:latin typeface="Consolas" panose="020B0609020204030204" pitchFamily="49" charset="0"/>
              </a:rPr>
              <a:t>Revise your code on the previous learning activity:</a:t>
            </a:r>
          </a:p>
          <a:p>
            <a:pPr algn="just"/>
            <a:endParaRPr lang="en-US" sz="3300" dirty="0">
              <a:latin typeface="Consolas" panose="020B0609020204030204" pitchFamily="49" charset="0"/>
            </a:endParaRPr>
          </a:p>
          <a:p>
            <a:pPr algn="just"/>
            <a:r>
              <a:rPr lang="en-US" sz="3300" dirty="0">
                <a:latin typeface="Consolas" panose="020B0609020204030204" pitchFamily="49" charset="0"/>
              </a:rPr>
              <a:t>Loop through the scores, remove any duplicate values using while loop and pop() method. After removing duplicates, show the highest, lowest, and average scores. </a:t>
            </a:r>
          </a:p>
        </p:txBody>
      </p:sp>
    </p:spTree>
    <p:extLst>
      <p:ext uri="{BB962C8B-B14F-4D97-AF65-F5344CB8AC3E}">
        <p14:creationId xmlns:p14="http://schemas.microsoft.com/office/powerpoint/2010/main" val="36485411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2BAD3-8B87-E77B-A7B7-C463F29F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95CAB85-6C9B-7EF2-865F-5146B060FD9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92420E-FAF7-9DBB-B894-99A368BECF1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314B211-7B58-44A0-4A4D-B849B640257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6338D91-EDA4-726A-AA5F-F240D9BE042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1900BC5-1FE0-F1EF-FB25-FEACEBDC064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7B30808-50A1-34CC-7C1E-70569791604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6E412579-9699-44DD-E63D-C42B3D46E03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Looping list elements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F26D90-E940-F3F1-38BF-C696EAD2034C}"/>
              </a:ext>
            </a:extLst>
          </p:cNvPr>
          <p:cNvSpPr txBox="1"/>
          <p:nvPr/>
        </p:nvSpPr>
        <p:spPr>
          <a:xfrm>
            <a:off x="637059" y="2277070"/>
            <a:ext cx="1695356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 1: Looping through list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 2: Using range() and </a:t>
            </a:r>
            <a:r>
              <a:rPr lang="en-US" sz="3600" b="1" dirty="0" err="1">
                <a:latin typeface="Consolas" panose="020B0609020204030204" pitchFamily="49" charset="0"/>
              </a:rPr>
              <a:t>len</a:t>
            </a:r>
            <a:r>
              <a:rPr lang="en-US" sz="3600" b="1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24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B69E4C-DC92-843B-4C43-FB2B61DC4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214050"/>
            <a:ext cx="16700400" cy="2371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0CB9FD-4A64-97C1-5CB8-1EF8F6B3F8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897820"/>
            <a:ext cx="16700400" cy="250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45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AD8C4-5899-7931-1760-3CC1AEB8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9D08F4-C77A-F079-0EF6-086577693F8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0B85AD-4EC9-B898-FA44-75ED39CE951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6DD96ED-C74B-CB9B-8EAB-0E33DA05CD7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8D18E1B-E047-0D76-787D-1424B31497B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8853A199-2F9E-C177-A2C8-00098C87FD3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3DF6743-67AD-E204-8980-3DE2B25B759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34C0A23B-D3B2-4C9A-90C4-50D22F060F93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List 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7015B-121A-04B8-2F82-00443655D4E1}"/>
              </a:ext>
            </a:extLst>
          </p:cNvPr>
          <p:cNvSpPr txBox="1"/>
          <p:nvPr/>
        </p:nvSpPr>
        <p:spPr>
          <a:xfrm>
            <a:off x="637059" y="2277070"/>
            <a:ext cx="16953563" cy="7078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With list comprehension, it lessens the number of lines coded.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3600" dirty="0" err="1">
                <a:latin typeface="Consolas" panose="020B0609020204030204" pitchFamily="49" charset="0"/>
              </a:rPr>
              <a:t>new_list</a:t>
            </a:r>
            <a:r>
              <a:rPr lang="en-US" sz="3600" dirty="0">
                <a:latin typeface="Consolas" panose="020B0609020204030204" pitchFamily="49" charset="0"/>
              </a:rPr>
              <a:t> = [expression for item in </a:t>
            </a:r>
            <a:r>
              <a:rPr lang="en-US" sz="3600" dirty="0" err="1">
                <a:latin typeface="Consolas" panose="020B0609020204030204" pitchFamily="49" charset="0"/>
              </a:rPr>
              <a:t>iterable</a:t>
            </a:r>
            <a:r>
              <a:rPr lang="en-US" sz="3600" dirty="0">
                <a:latin typeface="Consolas" panose="020B0609020204030204" pitchFamily="49" charset="0"/>
              </a:rPr>
              <a:t> if condition]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Where: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400" b="1" dirty="0">
                <a:latin typeface="Consolas" panose="020B0609020204030204" pitchFamily="49" charset="0"/>
              </a:rPr>
              <a:t>expression -&gt;</a:t>
            </a:r>
            <a:r>
              <a:rPr lang="en-US" sz="3400" dirty="0">
                <a:latin typeface="Consolas" panose="020B0609020204030204" pitchFamily="49" charset="0"/>
              </a:rPr>
              <a:t> what to put in the new list (can be the item itself, or some operation on it)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400" b="1" dirty="0">
                <a:latin typeface="Consolas" panose="020B0609020204030204" pitchFamily="49" charset="0"/>
              </a:rPr>
              <a:t>item</a:t>
            </a:r>
            <a:r>
              <a:rPr lang="en-US" sz="3400" dirty="0">
                <a:latin typeface="Consolas" panose="020B0609020204030204" pitchFamily="49" charset="0"/>
              </a:rPr>
              <a:t> -&gt; variable representing each element from the </a:t>
            </a:r>
            <a:r>
              <a:rPr lang="en-US" sz="3400" dirty="0" err="1">
                <a:latin typeface="Consolas" panose="020B0609020204030204" pitchFamily="49" charset="0"/>
              </a:rPr>
              <a:t>iterable</a:t>
            </a:r>
            <a:r>
              <a:rPr lang="en-US" sz="3400" dirty="0">
                <a:latin typeface="Consolas" panose="020B0609020204030204" pitchFamily="49" charset="0"/>
              </a:rPr>
              <a:t> (like a loop variable)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400" b="1" dirty="0" err="1">
                <a:latin typeface="Consolas" panose="020B0609020204030204" pitchFamily="49" charset="0"/>
              </a:rPr>
              <a:t>iterable</a:t>
            </a:r>
            <a:r>
              <a:rPr lang="en-US" sz="3400" dirty="0">
                <a:latin typeface="Consolas" panose="020B0609020204030204" pitchFamily="49" charset="0"/>
              </a:rPr>
              <a:t> -&gt; a collection (list, range, string, etc.) that you’re looping through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400" b="1" dirty="0">
                <a:latin typeface="Consolas" panose="020B0609020204030204" pitchFamily="49" charset="0"/>
              </a:rPr>
              <a:t>condition</a:t>
            </a:r>
            <a:r>
              <a:rPr lang="en-US" sz="3400" dirty="0">
                <a:latin typeface="Consolas" panose="020B0609020204030204" pitchFamily="49" charset="0"/>
              </a:rPr>
              <a:t> </a:t>
            </a:r>
            <a:r>
              <a:rPr lang="en-US" sz="3400" i="1" dirty="0">
                <a:latin typeface="Consolas" panose="020B0609020204030204" pitchFamily="49" charset="0"/>
              </a:rPr>
              <a:t>(optional)</a:t>
            </a:r>
            <a:r>
              <a:rPr lang="en-US" sz="3400" dirty="0">
                <a:latin typeface="Consolas" panose="020B0609020204030204" pitchFamily="49" charset="0"/>
              </a:rPr>
              <a:t> -&gt; filter; only include items that satisfy this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374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85E8-77E3-37DF-04D9-0B6B06C7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DCDE19-58EF-6F2F-B124-6282877E8FBB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05FD048-6ABA-0360-EC4F-E40C3189FD3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94C6682-ECC5-72ED-8C38-1196C6A8DE8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5C4966B-3CE2-B036-D17C-746605AA4F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741320D-E07B-89E5-06A3-8A7020A5DB9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ABAF788B-494A-A29D-21E8-D8E4B27CD10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DA24A0C-61CD-97A9-9B3F-100596467F6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List 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1AD99-7AB8-174E-E07A-B80971FB8D00}"/>
              </a:ext>
            </a:extLst>
          </p:cNvPr>
          <p:cNvSpPr txBox="1"/>
          <p:nvPr/>
        </p:nvSpPr>
        <p:spPr>
          <a:xfrm>
            <a:off x="637059" y="2277070"/>
            <a:ext cx="16953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Scenario: </a:t>
            </a:r>
            <a:r>
              <a:rPr lang="en-US" sz="3600" dirty="0">
                <a:latin typeface="Consolas" panose="020B0609020204030204" pitchFamily="49" charset="0"/>
              </a:rPr>
              <a:t>Let’s say you want a new list containing only the even numbers in a list. Some write the code like this:</a:t>
            </a:r>
          </a:p>
          <a:p>
            <a:pPr algn="just"/>
            <a:endParaRPr lang="en-US" sz="36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DAA546-576A-5659-9C3B-46C01CEECD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40" y="4031396"/>
            <a:ext cx="16700400" cy="373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76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A4800-3967-F94D-EDBD-5F0E25E6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F4ADEE3-D834-C5E9-4D46-5F12AC2B8D9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1F2E38-F0DB-C721-A43A-997D88E2642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1BB8762-92FF-961B-9D03-933C35BF4D4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E6D86A-330F-F091-AA62-0D16E380B164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62F26020-4CEE-4946-4376-9882A8470A5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19BF17A1-3E35-B44C-4CC7-CB5A84F9FBB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3CF8249-A0E6-6C41-2AA0-B4FF3581C11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List 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C3F623-9FE0-8EB4-3C57-857E07D4C096}"/>
              </a:ext>
            </a:extLst>
          </p:cNvPr>
          <p:cNvSpPr txBox="1"/>
          <p:nvPr/>
        </p:nvSpPr>
        <p:spPr>
          <a:xfrm>
            <a:off x="637059" y="2277070"/>
            <a:ext cx="1695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Using list comprehension, it just 1 line.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2AF82D-E8D3-958A-4B66-4E2203B3ED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175945"/>
            <a:ext cx="16700400" cy="241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58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0A4BC-D5D6-FA5F-299B-B5B6C0FDF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CD22D6-7CF6-D80C-77EB-6AF09F4AED52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231944-4118-1E4A-BA22-1462B2D2BAF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0C2574C-7044-F7CE-3469-338E45089E1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40AACFC-5BD5-C6BF-7EB6-D9C3CBDDD4A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7F05169-5F1B-141B-11CC-279030BD7B13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A3ED58B-E90D-82B1-AB06-16D0C5B75A2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B5167C8-9568-ABAF-B15B-E4946A1B7F6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List 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83BE00-9332-70E5-31A1-0E2B338CBBB9}"/>
              </a:ext>
            </a:extLst>
          </p:cNvPr>
          <p:cNvSpPr txBox="1"/>
          <p:nvPr/>
        </p:nvSpPr>
        <p:spPr>
          <a:xfrm>
            <a:off x="637059" y="2277070"/>
            <a:ext cx="1695356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Another examples: </a:t>
            </a:r>
          </a:p>
          <a:p>
            <a:pPr marL="742950" indent="-742950" algn="just">
              <a:buAutoNum type="alphaLcParenR"/>
            </a:pPr>
            <a:r>
              <a:rPr lang="en-US" sz="3600" dirty="0">
                <a:latin typeface="Consolas" panose="020B0609020204030204" pitchFamily="49" charset="0"/>
              </a:rPr>
              <a:t>Square of numbers 0–9</a:t>
            </a: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1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r>
              <a:rPr lang="en-US" sz="3600" dirty="0">
                <a:latin typeface="Consolas" panose="020B0609020204030204" pitchFamily="49" charset="0"/>
              </a:rPr>
              <a:t>Convert words to uppercase</a:t>
            </a:r>
            <a:r>
              <a:rPr lang="en-US" sz="3600" b="1" dirty="0">
                <a:latin typeface="Consolas" panose="020B0609020204030204" pitchFamily="49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66F7BF-6687-EBF7-FF57-79C5F621DA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667761"/>
            <a:ext cx="16700400" cy="2048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5F7371-A31F-3899-9AEC-95AB11531F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640" y="6594811"/>
            <a:ext cx="16700400" cy="243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90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E5A35-43E4-4FAA-645A-79331382E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81EAF9-09A7-8F21-09E7-A5D8C53703A1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7FA0CF0-0DC7-CEF8-6606-9BF193C06EF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A6F7B41-E8B2-F93D-739D-0255F0092C8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E545B70-AB57-8BF0-42C3-BF6AFAEE924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E2E6BC5-E049-C588-689F-A03BEF836D81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C534ABC7-40DE-CB93-362B-CA5DF1FC6DF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D9B7268-106F-830F-A4E1-BEF3D01E91B5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List comprehension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082A9-2B9D-C8B3-46FB-358AE5BF1D0F}"/>
              </a:ext>
            </a:extLst>
          </p:cNvPr>
          <p:cNvSpPr txBox="1"/>
          <p:nvPr/>
        </p:nvSpPr>
        <p:spPr>
          <a:xfrm>
            <a:off x="637059" y="2277070"/>
            <a:ext cx="1695356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Another examples: 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c) Using if else</a:t>
            </a: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16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5564B-CB3E-1112-B903-515F2EDFB1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59" y="3832907"/>
            <a:ext cx="16700400" cy="3063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012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00962-4D54-2657-E2DB-12844E81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5D4750-3FB5-238E-18F1-7CED5297BB7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3362D83-39AD-88DF-591D-77DFCAAC6E5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B62E31D-D958-422D-F2E8-FACB7927F57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3E78C6B-8B95-9F6F-7D81-62178BE638C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9EC3AB8-0D33-5F51-F56D-7506D7CEE83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820506E-AAF7-91FC-A825-D34FB3D5ACB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B634F41-8216-DF9E-0EBC-45395810925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Activity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F6C54956-E7D3-62A8-B104-F54FA5219C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E36D9A01-D661-E865-BA51-0101D87836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02B867-AA4A-679F-0211-A08D4D94BF01}"/>
              </a:ext>
            </a:extLst>
          </p:cNvPr>
          <p:cNvSpPr txBox="1"/>
          <p:nvPr/>
        </p:nvSpPr>
        <p:spPr>
          <a:xfrm>
            <a:off x="463773" y="2159217"/>
            <a:ext cx="169535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Write a program that asks the user for how many students score he/she needs to enter. Use exceptions to catch any errors. Then create a function that ask the scores for each of the student. Then use list comprehension to filter only the even numbers.</a:t>
            </a:r>
          </a:p>
          <a:p>
            <a:pPr algn="just"/>
            <a:endParaRPr lang="en-US" sz="4000" dirty="0">
              <a:latin typeface="Consolas" panose="020B0609020204030204" pitchFamily="49" charset="0"/>
            </a:endParaRPr>
          </a:p>
          <a:p>
            <a:pPr algn="just"/>
            <a:r>
              <a:rPr lang="en-US" sz="4000" dirty="0">
                <a:latin typeface="Consolas" panose="020B0609020204030204" pitchFamily="49" charset="0"/>
              </a:rPr>
              <a:t>Display all the scores with equivalent remarks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greater than or equal to 75 – pass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4000" dirty="0">
                <a:latin typeface="Consolas" panose="020B0609020204030204" pitchFamily="49" charset="0"/>
              </a:rPr>
              <a:t>Less than 75 - failed</a:t>
            </a:r>
          </a:p>
        </p:txBody>
      </p:sp>
    </p:spTree>
    <p:extLst>
      <p:ext uri="{BB962C8B-B14F-4D97-AF65-F5344CB8AC3E}">
        <p14:creationId xmlns:p14="http://schemas.microsoft.com/office/powerpoint/2010/main" val="2859194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EF96-2BF0-FA3C-E5B6-37AF43A7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29A73D-FA56-2EDC-A92D-6CA605A43B26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2C20539-8CED-7577-8D2D-F74151DAC99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94AD0E0-70E5-B2A9-0CDE-7B92313377A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BE1F6EA-B2BB-12B0-ED57-F2D9789DD0FF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CC1D108-01FE-11D4-B3A6-C9D7B0BAF1E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1954A97-4E63-9190-5F7B-9F67EDFA37B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8A79E2C-8460-1727-00A3-06B5BD5155AC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528F51-C01F-5705-80F6-D7549907B1DE}"/>
              </a:ext>
            </a:extLst>
          </p:cNvPr>
          <p:cNvSpPr txBox="1"/>
          <p:nvPr/>
        </p:nvSpPr>
        <p:spPr>
          <a:xfrm>
            <a:off x="637059" y="2277070"/>
            <a:ext cx="1695356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AutoNum type="arabicPeriod"/>
            </a:pPr>
            <a:r>
              <a:rPr lang="en-US" sz="4400" dirty="0">
                <a:latin typeface="Consolas" panose="020B0609020204030204" pitchFamily="49" charset="0"/>
              </a:rPr>
              <a:t>sort() - modifies the original list in place.</a:t>
            </a:r>
          </a:p>
          <a:p>
            <a:pPr marL="742950" indent="-742950" algn="just">
              <a:buAutoNum type="arabicPeriod"/>
            </a:pPr>
            <a:r>
              <a:rPr lang="en-US" sz="4400" dirty="0">
                <a:latin typeface="Consolas" panose="020B0609020204030204" pitchFamily="49" charset="0"/>
              </a:rPr>
              <a:t>sorted() - returns a new sorted list, leaving the original list unchanged where you need a new variable to display its output.</a:t>
            </a:r>
          </a:p>
          <a:p>
            <a:pPr marL="742950" indent="-742950" algn="just">
              <a:buAutoNum type="arabicPeriod"/>
            </a:pPr>
            <a:r>
              <a:rPr lang="en-US" sz="4400" dirty="0">
                <a:latin typeface="Consolas" panose="020B0609020204030204" pitchFamily="49" charset="0"/>
              </a:rPr>
              <a:t>reverse() – reverses the arrangement of the list</a:t>
            </a:r>
          </a:p>
        </p:txBody>
      </p:sp>
    </p:spTree>
    <p:extLst>
      <p:ext uri="{BB962C8B-B14F-4D97-AF65-F5344CB8AC3E}">
        <p14:creationId xmlns:p14="http://schemas.microsoft.com/office/powerpoint/2010/main" val="2157689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54C9-6884-B66F-7F46-20C170BA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D45E2F0-76F3-7DFA-23ED-17F37C62507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CEA4ACD-84F2-AAC4-D626-1BACD0E9CB6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E22629-9CA3-F2E5-1125-FBE506F2F17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1B3745A-F45A-D6E5-F2B5-1E5D057C38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B60FAF64-7B07-AF62-C1B6-18FD858ECF5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296CFEFF-999E-F15F-4277-764AF10A93E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BA60317F-BDA9-62EB-0D86-A0815FAD17A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16ADF4-85D0-9ABF-4988-A59AF05340D1}"/>
              </a:ext>
            </a:extLst>
          </p:cNvPr>
          <p:cNvSpPr txBox="1"/>
          <p:nvPr/>
        </p:nvSpPr>
        <p:spPr>
          <a:xfrm>
            <a:off x="637059" y="2277070"/>
            <a:ext cx="169535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1. Ascending – use sort() method to arrange the list of the same data type ascending. </a:t>
            </a:r>
            <a:endParaRPr lang="en-US" sz="1600" b="1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7DC23-8F6B-411F-1D91-D5696B4CE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2" y="3818162"/>
            <a:ext cx="16700400" cy="2445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1FC76-D2C6-248F-A267-3D9449003B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2" y="6688894"/>
            <a:ext cx="16700400" cy="239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70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A48C4-0066-405C-EA7E-5D9396F86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0F94C3F-D981-6693-8E3D-F685C93A9A54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AF6AA64-E5E3-035B-0E46-E1B64969A3A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8EE0FB-79D4-6B5A-3102-07942E19AE5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5E8F89E-96E3-AE40-B6A2-5861466F1A0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487EAB61-4D7A-6B77-1703-4145FFCFB9CD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8C3243E-0871-499C-32F9-257D7D7928F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E578CC9A-FEBE-1319-97BE-E42E28F4E4DE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00B64-23C8-156B-2480-8997EE81AACD}"/>
              </a:ext>
            </a:extLst>
          </p:cNvPr>
          <p:cNvSpPr txBox="1"/>
          <p:nvPr/>
        </p:nvSpPr>
        <p:spPr>
          <a:xfrm>
            <a:off x="637059" y="2277070"/>
            <a:ext cx="1695356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2. Descending – use keyword argument: </a:t>
            </a:r>
            <a:r>
              <a:rPr lang="en-US" sz="3600" b="1" i="1" dirty="0">
                <a:latin typeface="Consolas" panose="020B0609020204030204" pitchFamily="49" charset="0"/>
              </a:rPr>
              <a:t>reverse = True </a:t>
            </a:r>
            <a:r>
              <a:rPr lang="en-US" sz="3600" dirty="0">
                <a:latin typeface="Consolas" panose="020B0609020204030204" pitchFamily="49" charset="0"/>
              </a:rPr>
              <a:t>in the sort() method to arrange the list of the same data type descending.</a:t>
            </a: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marL="742950" indent="-742950" algn="just">
              <a:buAutoNum type="alphaLcParenR"/>
            </a:pPr>
            <a:endParaRPr lang="en-US" sz="3600" b="1" dirty="0">
              <a:latin typeface="Consolas" panose="020B0609020204030204" pitchFamily="49" charset="0"/>
            </a:endParaRPr>
          </a:p>
          <a:p>
            <a:pPr algn="just"/>
            <a:endParaRPr lang="en-US" sz="1600" b="1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7AE6D-AE39-4577-9A89-22572BD07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855" y="3771900"/>
            <a:ext cx="16700400" cy="24950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8B11EF-C062-8732-39B3-3C99B60FB7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583278"/>
            <a:ext cx="16700400" cy="235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17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C8628-DC28-1010-D55A-2FB68393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A0EB463-2AC5-6F84-0038-B7EA9B34B90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983661E-D5D8-8286-B1BE-102677123960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DC0186C-E7B6-16D3-3FC5-0AC4495EB63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142BAC3-C421-DB16-0945-299BE5AEC83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4F36A34-B5D4-A7F1-6543-F611FC116892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3DFD1F1-C9E2-3C39-1F7E-CD5C8D9AB66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09BF1A8-C62C-F709-1C1D-0F768A219FE8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05A05-E243-2DC5-58A4-DBCAB29424F0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onsolas" panose="020B0609020204030204" pitchFamily="49" charset="0"/>
              </a:rPr>
              <a:t>3. Case insensitive sort – by default, the sort() method is case sensitive where it arranged first the capital letters then the lowercase letters.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We can use the key function: </a:t>
            </a:r>
            <a:r>
              <a:rPr lang="en-US" sz="3200" b="1" i="1" dirty="0">
                <a:latin typeface="Consolas" panose="020B0609020204030204" pitchFamily="49" charset="0"/>
              </a:rPr>
              <a:t>key = </a:t>
            </a:r>
            <a:r>
              <a:rPr lang="en-US" sz="3200" b="1" i="1" dirty="0" err="1">
                <a:latin typeface="Consolas" panose="020B0609020204030204" pitchFamily="49" charset="0"/>
              </a:rPr>
              <a:t>str.</a:t>
            </a:r>
            <a:r>
              <a:rPr lang="en-US" sz="3200" b="1" dirty="0" err="1">
                <a:latin typeface="Consolas" panose="020B0609020204030204" pitchFamily="49" charset="0"/>
              </a:rPr>
              <a:t>lower</a:t>
            </a:r>
            <a:endParaRPr lang="en-US" sz="32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BA2CBE-F1E4-5BC8-00E2-D86B8A093A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394565"/>
            <a:ext cx="16700400" cy="23929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B81691-0D8C-163C-919B-DD846BA3B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408" y="6982955"/>
            <a:ext cx="16700400" cy="247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536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3978-A576-AF0C-86A5-3DF902A1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379574-F236-002F-5DA1-63FC6B42F93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BBA3508-0474-2700-124A-42BC8A1E5EBD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B9A71ED-73D6-4EC1-09EE-AFBDC93AD8F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CEC0748-F3BF-C840-5032-8DAACC5329D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1E9AFD90-6B30-B49D-0F1B-E6C5E2F412C5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44112F33-088F-33E1-01C3-8248E5D53A5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569206C3-6642-7B68-5FC2-0B501E6D40F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910E42-E051-14C3-F1B5-8F45E738D4D4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Consolas" panose="020B0609020204030204" pitchFamily="49" charset="0"/>
              </a:rPr>
              <a:t>3. Case insensitive sort – by default, the sort() method is case sensitive where it arranged first the capital letters then the lowercase letters.</a:t>
            </a: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3200" dirty="0">
                <a:latin typeface="Consolas" panose="020B0609020204030204" pitchFamily="49" charset="0"/>
              </a:rPr>
              <a:t>We can use the key function: </a:t>
            </a:r>
            <a:r>
              <a:rPr lang="en-US" sz="3200" b="1" i="1" dirty="0">
                <a:latin typeface="Consolas" panose="020B0609020204030204" pitchFamily="49" charset="0"/>
              </a:rPr>
              <a:t>key = </a:t>
            </a:r>
            <a:r>
              <a:rPr lang="en-US" sz="3200" b="1" i="1" dirty="0" err="1">
                <a:latin typeface="Consolas" panose="020B0609020204030204" pitchFamily="49" charset="0"/>
              </a:rPr>
              <a:t>str.</a:t>
            </a:r>
            <a:r>
              <a:rPr lang="en-US" sz="3200" b="1" dirty="0" err="1">
                <a:latin typeface="Consolas" panose="020B0609020204030204" pitchFamily="49" charset="0"/>
              </a:rPr>
              <a:t>lower</a:t>
            </a:r>
            <a:endParaRPr lang="en-US" sz="3200" dirty="0"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1F8039-4469-0D60-A6C4-9F838C0939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394565"/>
            <a:ext cx="16700400" cy="23929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3A2B7B-3AF8-8229-C639-614178692C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982955"/>
            <a:ext cx="16700400" cy="242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7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EC36-9D9B-6ABC-117B-9B224FC6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2B91DF6-F4D4-828F-F315-65A4423F229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750D5F-E05D-4681-515A-CEBBA55AB34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8B7654C-32E6-6DA3-F55F-E95775B7FACE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03DC28-30BA-7F21-DAC2-98AC6108C2C8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8FF9EF9-4261-3FD2-4648-3F064855F29C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84FC7EAA-8B18-4FA9-2C2E-CAA6D7DCAA2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9FB737D-867A-66F9-AAB6-5901ABE63E32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27512D-B438-9DF5-2D5C-F73C06046694}"/>
              </a:ext>
            </a:extLst>
          </p:cNvPr>
          <p:cNvSpPr txBox="1"/>
          <p:nvPr/>
        </p:nvSpPr>
        <p:spPr>
          <a:xfrm>
            <a:off x="637059" y="2277070"/>
            <a:ext cx="169535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000" dirty="0">
                <a:latin typeface="Consolas" panose="020B0609020204030204" pitchFamily="49" charset="0"/>
              </a:rPr>
              <a:t>4. We can also pass a function to the key argument of the sort() method.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EF1568-FFB4-3C83-1408-AFA434B4B8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705352"/>
            <a:ext cx="16700400" cy="281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2C7BCE-CC86-CA3F-3B71-5237553F73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993" y="6738980"/>
            <a:ext cx="16700400" cy="327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25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9BB85-BF52-AD13-73E3-79252F15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B9A274-D768-485A-039B-F98A6776525E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D03CD1F-F994-56CC-2A87-50530622966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9F8855-DFDC-2BD9-A304-FC0DE195766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BED86C1-E691-1566-AB20-5D3C0FE34736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0C73A42C-61A5-C2AA-35F5-DD7DBC8AF2F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36832824-DB95-1A92-D847-E4E040866A6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7B9B3A5-0E3E-DE47-9E32-91806A976F76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Sorting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A10D09-8DC2-3836-ABF2-37242D0216FD}"/>
              </a:ext>
            </a:extLst>
          </p:cNvPr>
          <p:cNvSpPr txBox="1"/>
          <p:nvPr/>
        </p:nvSpPr>
        <p:spPr>
          <a:xfrm>
            <a:off x="637059" y="2277070"/>
            <a:ext cx="169535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5. Reverse Order – Use reverse() method to reverse the arrangement of the list elements.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3048CA-03AD-69BA-44B9-4671D3A651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3953313"/>
            <a:ext cx="16700400" cy="238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016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4552-DCA6-1990-F562-D61D8BAE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ADB7D5-0354-9AFB-D323-4EC39965CAD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3F76D96-0486-13D1-7234-DF524D23736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69294D-5A71-3766-67D6-4ED41B620F3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B5F46E-97D7-7350-0A6C-95A7855C909B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31ACF667-9E26-B976-2059-8A72BD19BA6F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04E2E05D-E0D0-4563-F5BA-DAE2319FC37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0CB2D53A-B246-FA8B-3D88-E4A872B963B9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Copying list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8E76AC-EB5D-F610-EB05-82C5EEC008EB}"/>
              </a:ext>
            </a:extLst>
          </p:cNvPr>
          <p:cNvSpPr txBox="1"/>
          <p:nvPr/>
        </p:nvSpPr>
        <p:spPr>
          <a:xfrm>
            <a:off x="637059" y="2277070"/>
            <a:ext cx="169535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AutoNum type="arabicPeriod"/>
            </a:pPr>
            <a:r>
              <a:rPr lang="en-US" sz="3600" dirty="0">
                <a:latin typeface="Consolas" panose="020B0609020204030204" pitchFamily="49" charset="0"/>
              </a:rPr>
              <a:t>copy() method</a:t>
            </a:r>
          </a:p>
          <a:p>
            <a:pPr marL="742950" indent="-742950" algn="just">
              <a:buAutoNum type="arabicPeriod"/>
            </a:pPr>
            <a:endParaRPr lang="en-US" sz="3600" dirty="0">
              <a:latin typeface="Consolas" panose="020B0609020204030204" pitchFamily="49" charset="0"/>
            </a:endParaRPr>
          </a:p>
          <a:p>
            <a:pPr marL="742950" indent="-742950" algn="just">
              <a:buAutoNum type="arabicPeriod"/>
            </a:pPr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2. list() method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1D08CC-D8B8-2E36-9369-B1A5E87CD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2964175"/>
            <a:ext cx="16700400" cy="2423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7EFDB7-70A3-C25C-EF5B-610C6193DB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855" y="6591300"/>
            <a:ext cx="16700400" cy="244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413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CEE0-D301-B55F-3EF1-B0E0517C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DB3D72E-DEC6-F9AB-753A-F488DCFB2498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13580C5-46AD-1B76-5062-650134FEAB8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EBEC5B7-C9A2-ED31-2D88-919F52D75C4C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504FD5B-D924-A9D3-EF76-2C71242E701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9212C547-23B0-AE00-D2A4-9BB62CF3AEF6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951A7B21-9421-56E9-6F13-A49CFEAB749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CD0F37E2-D036-14C9-6B55-5956B63F4C2A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Counting occurrence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C88A11-8999-73B2-C761-193A11E333B2}"/>
              </a:ext>
            </a:extLst>
          </p:cNvPr>
          <p:cNvSpPr txBox="1"/>
          <p:nvPr/>
        </p:nvSpPr>
        <p:spPr>
          <a:xfrm>
            <a:off x="637059" y="2277070"/>
            <a:ext cx="169535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1. count() method – returns the number of elements with the specified value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 err="1">
                <a:latin typeface="Consolas" panose="020B0609020204030204" pitchFamily="49" charset="0"/>
              </a:rPr>
              <a:t>var.count</a:t>
            </a:r>
            <a:r>
              <a:rPr lang="en-US" sz="3600" dirty="0">
                <a:latin typeface="Consolas" panose="020B0609020204030204" pitchFamily="49" charset="0"/>
              </a:rPr>
              <a:t>(value)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6A0C9-1C20-AA16-E73C-DBCAC358C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4640796"/>
            <a:ext cx="16700400" cy="202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64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259F8-7414-118D-9D1B-C8498623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200F2B3-195C-375F-197A-4478D005C6CF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4D6F89-2109-F584-2B8C-5172F1ECED7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E62BB71-C90E-EE8B-309C-CB39F4D2FCD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777B95-8007-BBA5-97B2-FC771700988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E8E5604-885C-B059-4594-8702AEF2CC87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D713C807-5E66-B6E7-1BA7-1822BBD0B82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A7FC5E4-A12E-3ADC-99C5-56C6F914D62D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Finding index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F6E4B-7E26-EAA3-A1D0-0E8DE661E4AD}"/>
              </a:ext>
            </a:extLst>
          </p:cNvPr>
          <p:cNvSpPr txBox="1"/>
          <p:nvPr/>
        </p:nvSpPr>
        <p:spPr>
          <a:xfrm>
            <a:off x="637059" y="2277070"/>
            <a:ext cx="169535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Consolas" panose="020B0609020204030204" pitchFamily="49" charset="0"/>
              </a:rPr>
              <a:t>1. index() method – returns the position at the first occurrence of the specified value.</a:t>
            </a:r>
          </a:p>
          <a:p>
            <a:pPr algn="just"/>
            <a:r>
              <a:rPr lang="en-US" sz="3600" b="1" dirty="0">
                <a:latin typeface="Consolas" panose="020B0609020204030204" pitchFamily="49" charset="0"/>
              </a:rPr>
              <a:t>Syntax: </a:t>
            </a:r>
            <a:r>
              <a:rPr lang="en-US" sz="3600" dirty="0" err="1">
                <a:latin typeface="Consolas" panose="020B0609020204030204" pitchFamily="49" charset="0"/>
              </a:rPr>
              <a:t>var.index</a:t>
            </a:r>
            <a:r>
              <a:rPr lang="en-US" sz="3600" dirty="0">
                <a:latin typeface="Consolas" panose="020B0609020204030204" pitchFamily="49" charset="0"/>
              </a:rPr>
              <a:t>(</a:t>
            </a:r>
            <a:r>
              <a:rPr lang="en-US" sz="3600" dirty="0" err="1">
                <a:latin typeface="Consolas" panose="020B0609020204030204" pitchFamily="49" charset="0"/>
              </a:rPr>
              <a:t>elem</a:t>
            </a:r>
            <a:r>
              <a:rPr lang="en-US" sz="3600" dirty="0">
                <a:latin typeface="Consolas" panose="020B0609020204030204" pitchFamily="49" charset="0"/>
              </a:rPr>
              <a:t>, start, end) 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	-&gt; start : int and optional (where to start the search)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		-&gt; end : int and optional (where to end the search)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EAB85-FBC2-2102-5E14-09ABC16BE9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993" y="5569595"/>
            <a:ext cx="16700400" cy="20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09472-3CAA-FDDA-F93B-CA61C35D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7C360F0-6329-BB2C-08E4-CD803933771C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D604C4-46D0-217D-8D8B-02A9282BB70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4432DF-7828-DB2A-EC55-030DEBC941F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A356F23-D80C-C43C-6B75-5255DD203927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F5AC90F6-A045-90B0-AB57-63A97D808F8B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5324E0A-A90F-CBC6-DA9A-9DC42664803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-11723" y="0"/>
            <a:ext cx="1825112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7FB032F9-74B0-5A00-97AD-73EED777D3CB}"/>
              </a:ext>
            </a:extLst>
          </p:cNvPr>
          <p:cNvSpPr txBox="1"/>
          <p:nvPr/>
        </p:nvSpPr>
        <p:spPr>
          <a:xfrm>
            <a:off x="749993" y="-15883"/>
            <a:ext cx="16381125" cy="1399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4800" i="1" spc="-36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Learning Assessment </a:t>
            </a:r>
          </a:p>
        </p:txBody>
      </p:sp>
      <p:sp>
        <p:nvSpPr>
          <p:cNvPr id="10" name="AutoShape 8" descr="Grammarly Logo PNG Vector - BrandLogo">
            <a:extLst>
              <a:ext uri="{FF2B5EF4-FFF2-40B4-BE49-F238E27FC236}">
                <a16:creationId xmlns:a16="http://schemas.microsoft.com/office/drawing/2014/main" id="{76B50A66-3C55-3A93-8DD5-89F079279C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11" name="AutoShape 10" descr="Grammarly Logo PNG Vector - BrandLogo">
            <a:extLst>
              <a:ext uri="{FF2B5EF4-FFF2-40B4-BE49-F238E27FC236}">
                <a16:creationId xmlns:a16="http://schemas.microsoft.com/office/drawing/2014/main" id="{6F1E32FF-4365-4819-AAA0-8935527B5A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163AB-D33E-64A2-EF92-E621DFD2DB7E}"/>
              </a:ext>
            </a:extLst>
          </p:cNvPr>
          <p:cNvSpPr txBox="1"/>
          <p:nvPr/>
        </p:nvSpPr>
        <p:spPr>
          <a:xfrm>
            <a:off x="463773" y="2159217"/>
            <a:ext cx="16953563" cy="7894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Start with an empty list of scores.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Provide a menu with the following options:</a:t>
            </a:r>
          </a:p>
          <a:p>
            <a:pPr lvl="1" algn="just"/>
            <a:r>
              <a:rPr lang="en-US" sz="3800" dirty="0">
                <a:latin typeface="Consolas" panose="020B0609020204030204" pitchFamily="49" charset="0"/>
              </a:rPr>
              <a:t>1. Add Scores (with validation: 0–100 only) – terminated by -1</a:t>
            </a:r>
          </a:p>
          <a:p>
            <a:pPr lvl="1" algn="just"/>
            <a:r>
              <a:rPr lang="en-US" sz="3800" dirty="0">
                <a:latin typeface="Consolas" panose="020B0609020204030204" pitchFamily="49" charset="0"/>
              </a:rPr>
              <a:t>2. Display Scores (all, max, min, mean, median, mode).</a:t>
            </a:r>
          </a:p>
          <a:p>
            <a:pPr lvl="1" algn="just"/>
            <a:r>
              <a:rPr lang="en-US" sz="3800" dirty="0">
                <a:latin typeface="Consolas" panose="020B0609020204030204" pitchFamily="49" charset="0"/>
              </a:rPr>
              <a:t>3. Search and Replace Score.</a:t>
            </a:r>
          </a:p>
          <a:p>
            <a:pPr lvl="1" algn="just"/>
            <a:r>
              <a:rPr lang="en-US" sz="3800" dirty="0">
                <a:latin typeface="Consolas" panose="020B0609020204030204" pitchFamily="49" charset="0"/>
              </a:rPr>
              <a:t>4. Remove Duplicates without affecting the original list  (without using set()).</a:t>
            </a:r>
          </a:p>
          <a:p>
            <a:pPr lvl="1" algn="just"/>
            <a:r>
              <a:rPr lang="en-US" sz="3800" dirty="0">
                <a:latin typeface="Consolas" panose="020B0609020204030204" pitchFamily="49" charset="0"/>
              </a:rPr>
              <a:t>5. Sort Scores (Ascending/Descending).</a:t>
            </a:r>
          </a:p>
          <a:p>
            <a:pPr lvl="1" algn="just"/>
            <a:r>
              <a:rPr lang="en-US" sz="3800" dirty="0">
                <a:latin typeface="Consolas" panose="020B0609020204030204" pitchFamily="49" charset="0"/>
              </a:rPr>
              <a:t>6. Exit Program.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Use loops to keep showing the menu until exit is chosen.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Use functions for each item for modularity.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800" dirty="0">
                <a:latin typeface="Consolas" panose="020B0609020204030204" pitchFamily="49" charset="0"/>
              </a:rPr>
              <a:t>Use validations &amp; exception handling for input validation.</a:t>
            </a:r>
          </a:p>
        </p:txBody>
      </p:sp>
    </p:spTree>
    <p:extLst>
      <p:ext uri="{BB962C8B-B14F-4D97-AF65-F5344CB8AC3E}">
        <p14:creationId xmlns:p14="http://schemas.microsoft.com/office/powerpoint/2010/main" val="84779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7232</TotalTime>
  <Words>1886</Words>
  <Application>Microsoft Office PowerPoint</Application>
  <PresentationFormat>Custom</PresentationFormat>
  <Paragraphs>363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Calibri</vt:lpstr>
      <vt:lpstr>Aptos</vt:lpstr>
      <vt:lpstr>Consolas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 4 - Lesson 5</dc:title>
  <dc:creator>DENVER</dc:creator>
  <cp:lastModifiedBy>Mark Denver Adora</cp:lastModifiedBy>
  <cp:revision>392</cp:revision>
  <dcterms:created xsi:type="dcterms:W3CDTF">2006-08-16T00:00:00Z</dcterms:created>
  <dcterms:modified xsi:type="dcterms:W3CDTF">2025-10-08T08:46:50Z</dcterms:modified>
  <dc:identifier>DAGH1tVytZk</dc:identifier>
</cp:coreProperties>
</file>