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65"/>
  </p:notesMasterIdLst>
  <p:handoutMasterIdLst>
    <p:handoutMasterId r:id="rId66"/>
  </p:handoutMasterIdLst>
  <p:sldIdLst>
    <p:sldId id="256" r:id="rId2"/>
    <p:sldId id="424" r:id="rId3"/>
    <p:sldId id="510" r:id="rId4"/>
    <p:sldId id="511" r:id="rId5"/>
    <p:sldId id="512" r:id="rId6"/>
    <p:sldId id="515" r:id="rId7"/>
    <p:sldId id="513" r:id="rId8"/>
    <p:sldId id="514" r:id="rId9"/>
    <p:sldId id="516" r:id="rId10"/>
    <p:sldId id="517" r:id="rId11"/>
    <p:sldId id="518" r:id="rId12"/>
    <p:sldId id="519" r:id="rId13"/>
    <p:sldId id="520" r:id="rId14"/>
    <p:sldId id="521" r:id="rId15"/>
    <p:sldId id="531" r:id="rId16"/>
    <p:sldId id="533" r:id="rId17"/>
    <p:sldId id="522" r:id="rId18"/>
    <p:sldId id="523" r:id="rId19"/>
    <p:sldId id="524" r:id="rId20"/>
    <p:sldId id="525" r:id="rId21"/>
    <p:sldId id="528" r:id="rId22"/>
    <p:sldId id="527" r:id="rId23"/>
    <p:sldId id="529" r:id="rId24"/>
    <p:sldId id="530" r:id="rId25"/>
    <p:sldId id="526" r:id="rId26"/>
    <p:sldId id="534" r:id="rId27"/>
    <p:sldId id="440" r:id="rId28"/>
    <p:sldId id="538" r:id="rId29"/>
    <p:sldId id="535" r:id="rId30"/>
    <p:sldId id="536" r:id="rId31"/>
    <p:sldId id="537" r:id="rId32"/>
    <p:sldId id="540" r:id="rId33"/>
    <p:sldId id="541" r:id="rId34"/>
    <p:sldId id="542" r:id="rId35"/>
    <p:sldId id="543" r:id="rId36"/>
    <p:sldId id="544" r:id="rId37"/>
    <p:sldId id="552" r:id="rId38"/>
    <p:sldId id="553" r:id="rId39"/>
    <p:sldId id="554" r:id="rId40"/>
    <p:sldId id="555" r:id="rId41"/>
    <p:sldId id="556" r:id="rId42"/>
    <p:sldId id="557" r:id="rId43"/>
    <p:sldId id="558" r:id="rId44"/>
    <p:sldId id="559" r:id="rId45"/>
    <p:sldId id="560" r:id="rId46"/>
    <p:sldId id="561" r:id="rId47"/>
    <p:sldId id="562" r:id="rId48"/>
    <p:sldId id="563" r:id="rId49"/>
    <p:sldId id="564" r:id="rId50"/>
    <p:sldId id="565" r:id="rId51"/>
    <p:sldId id="566" r:id="rId52"/>
    <p:sldId id="545" r:id="rId53"/>
    <p:sldId id="546" r:id="rId54"/>
    <p:sldId id="547" r:id="rId55"/>
    <p:sldId id="548" r:id="rId56"/>
    <p:sldId id="549" r:id="rId57"/>
    <p:sldId id="568" r:id="rId58"/>
    <p:sldId id="550" r:id="rId59"/>
    <p:sldId id="551" r:id="rId60"/>
    <p:sldId id="567" r:id="rId61"/>
    <p:sldId id="569" r:id="rId62"/>
    <p:sldId id="570" r:id="rId63"/>
    <p:sldId id="571" r:id="rId64"/>
  </p:sldIdLst>
  <p:sldSz cx="18288000" cy="10287000"/>
  <p:notesSz cx="6858000" cy="9144000"/>
  <p:embeddedFontLst>
    <p:embeddedFont>
      <p:font typeface="Consolas" panose="020B0609020204030204" pitchFamily="49" charset="0"/>
      <p:regular r:id="rId67"/>
      <p:bold r:id="rId68"/>
      <p:italic r:id="rId69"/>
      <p:boldItalic r:id="rId7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1D1D1"/>
    <a:srgbClr val="4D4D4D"/>
    <a:srgbClr val="33FB63"/>
    <a:srgbClr val="F49210"/>
    <a:srgbClr val="2A2A43"/>
    <a:srgbClr val="F1FEA0"/>
    <a:srgbClr val="FF9933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856" autoAdjust="0"/>
    <p:restoredTop sz="93203" autoAdjust="0"/>
  </p:normalViewPr>
  <p:slideViewPr>
    <p:cSldViewPr>
      <p:cViewPr varScale="1">
        <p:scale>
          <a:sx n="49" d="100"/>
          <a:sy n="49" d="100"/>
        </p:scale>
        <p:origin x="59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handoutMaster" Target="handoutMasters/handoutMaster1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font" Target="fonts/font3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1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E22CC0-1243-338F-5CAD-E7A5B1EE0EA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4A8E39-795D-D837-9A04-090F9A14190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55907F-8ED1-4449-8AB2-425B109C6DAB}" type="datetimeFigureOut">
              <a:rPr lang="en-PH" smtClean="0"/>
              <a:t>12/12/2025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079AC-EB4A-C6F4-35A4-C5166122BEB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3FEE0C-CAF7-534F-B1B6-7CB0184B276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C40E73-B33C-482E-B21A-1E3DE061AD4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482812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C21506-B2BE-43BC-8C27-BC2C4DAF9131}" type="datetimeFigureOut">
              <a:rPr lang="en-PH" smtClean="0"/>
              <a:t>12/12/2025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7E38AF-BC93-4612-8619-54F4BB1E39A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5466460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411046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B4046-69BB-A68F-D16A-588A849CF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88695A-3FF3-DF36-BF03-69B765D354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B9BACF-09C9-595D-1836-E26B48831E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AFE2A0-B71B-85F9-0E46-06EAAB3CFA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894806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BB2AC-4A0A-7F97-8481-45B29332A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E5A444-DF2A-4C2D-B799-8169879C90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857375-99E6-D46C-977E-8189D6DC57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15CB9C-6246-25B6-F7B3-F22F3E0F76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936958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608EE-E0BD-DD57-83C2-AD2AC742A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8D4885-6117-0480-7418-88AB3D6202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6D0CAA-B589-119A-3540-7105B48B66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859524-A9CE-D352-C50E-2FB6360E2A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595084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E0C99-6EDA-6369-6442-E09BA60F8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0B218E-6C61-A493-414B-E09D9E8A44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BE33CA-F3D0-1F4E-0C65-A08F56ADAF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13A53B-CC86-B355-DE47-3AA3B117AD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303870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E4CEB-084A-8D74-0750-F1249BFCE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AACF41-965B-2AF8-CE94-6ED9A2E299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B551FF-B184-F141-10A7-62C4E6FFA1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3C98CA-B200-B878-D178-7633E3EE0E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682492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4D4A3-15B7-2B53-0A05-BEC280587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405297-8C1D-A53A-C305-4C3163C1FF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B3979D-E500-64EB-81BE-1E1E04E49E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1A3770-BCBB-CD71-3D75-723ACEAD59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290678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83ABE-776A-743D-515D-CE70FF65F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FEA6A3-B866-F5D5-AC09-07FE733D7A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5378F3-1338-E08D-2E33-AD8A756044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E90005-8E11-30D5-E671-E6955DB401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936387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0B60B-39CA-517A-CDB1-081A2FE03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0703CB-F299-5996-E71E-DE276835CC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F28652-04DB-DC19-DA96-931DA09652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A54B8F-4D08-6FC4-7858-8FE368D6D5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12854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D36E2-857C-52C5-63ED-F3E623416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01CA04-BA36-65DB-514B-9340320BAA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915F4C-C061-5DB7-52E5-46A82CDA63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2CAC09-EA4D-35C7-A59B-5E5033F31F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10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140672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396FD-6569-2AC5-550E-86C39B59C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193814-5529-80FE-25E0-E30F82D52A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15A552-6CA0-AD6B-049F-B48E75BC3A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78EE57-DD25-38B3-A141-3A25C5B5F0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11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223713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4D30C-14F7-7BE5-C123-D53901A24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7ECF4E-DBF2-2433-8E98-FD606CD55F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BDE4B9-0102-9CD7-8D61-5D75E222DB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435DCF-1C6A-3034-3B68-49E8720562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12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344240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3908F-D09C-2517-EB98-1D49A920B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9AD6F6-1FA8-0D09-5D8B-89B351EEB2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9A7FE8-148B-DD07-039B-36C202C493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C45550-B2EC-97FE-34B2-685C0A2AD7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13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57753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FCC17-83E5-17DC-60DB-D14D2CDE8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B80479-BD02-2B8D-41BE-2DE8402F7C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5EF7A4-023C-39FB-E398-E91E5A921B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669FBA-6F17-B35F-A257-C437C7AED6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14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300799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A9D30-82B0-B484-A30C-9050C2324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6A0C5A-F1D3-7E9C-21ED-D618F836F8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761AC3-671F-7E06-2F96-48E3F580A9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F268E5-6B32-0762-5127-E516507FF4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15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597377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BFA7C-E709-BE3F-04EA-FA4F4EB3F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42BD52-EB7D-A76A-C462-15C4504C9F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467F30-CB48-FA03-B41D-79B280EBC6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7505D3-CE19-BF87-8CCF-2CCC5A585F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16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776872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C0198-6705-DAF4-FCE9-63171AEC2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8F906D-83D5-FDA0-CB25-A0DB4BC51F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EFFF28-9873-2234-5C2D-8A18FD0D99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449719-2901-B91A-E424-5DFC663336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17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660858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6D8E7-3908-8BFF-7EE0-7AD25F16D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440155-D7E5-225A-FCAD-35DFD31F25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C8CD2A-5F55-4922-02FD-48895E6556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3050F4-9B72-8892-9AD1-3162D09085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18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1350598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22BA6-21DC-6AFF-6B65-7A8B06EBA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640FF4-5C95-D48A-3EF6-5AD911A073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F54155-8062-603E-E9B0-DB2D2738E3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F686AC-1B80-D6E9-2129-6078DD8512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19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5654752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D3C16-317C-C8C8-5409-D053AA9C2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BC45AA-0C73-660A-26C9-A23FBA1C6E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2F7DE5-3884-D4EE-DD05-8BCAE1AD85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039CCA-720E-9674-2A21-5405C5C310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20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0899991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79CB7-62A1-9ABB-DE1F-3D69BDA65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A279F4-EB1C-3071-934C-60BDE5FB0C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8911C8-7772-D3FE-7577-845382CE99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9105F7-3328-F6F3-2B8C-AD542337FE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21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6465323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854C5-B548-FB27-8E16-84B381479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A31E90-33A4-7808-D240-5C3E11D01E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078A33-EC44-18B4-A995-19BDA34E83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BD19C1-6007-51A7-0161-E861D61661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22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3772049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B96E2-BA7C-7186-4957-5514220C2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6A32D4-C295-BC5F-85D0-C4CAACE492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56850D-9F4E-111C-08E2-ED2F015761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A171D6-24FC-17B7-3F23-688687299C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23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2153160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94AF0-5693-5AA3-A06F-AB0F4EE5D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141E18-A9B1-0952-DDFA-B79B3DF581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860C27-7395-93F1-340F-1DA25FAFD4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2BBC54-2CB6-533C-A529-EAFA657E56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24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0094609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FECD6-3D11-0B52-2BA5-B4D39AF10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7CB11C-B81B-D540-43DE-B7FC0BF627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275A3E-6324-0296-769D-1E3FB79E82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E32C49-7C93-9F3D-22AA-8AD48FDDDB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25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3043593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70B92-E6F1-4720-D685-B9B2BC170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9469DA-FD4F-7C19-924B-FDE0930A43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A3E87D-1158-9CA4-A7DB-67DEAC48A0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BDE137-D932-2DF7-5FF8-08ABDEC10F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26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3656998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BB07F-6852-BA85-7970-E00A49958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5E096E-8929-B276-4448-BE10ECBC77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6E2390-ACF4-9C2E-40A5-85E8E5B9D0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53A40F-4BA3-122B-83EB-BECAEA2332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27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3443004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8B226-CDD4-6BFD-AF48-7B5FA3F6C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5CB625-39D7-00ED-2966-43C435F601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24426E-44D8-634B-8774-D0B7EB9A6E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607047-52B0-FBB5-A8FC-1E4412B093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28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0668386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84281-0163-5A30-26DF-CB3B60C13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BDC9F7-049D-29C0-C301-259913E57B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9C976C-4B5D-CF31-7C84-03B80649A9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67C3BE-CEC3-3FB7-5269-5DE929BF2D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29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6203095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EEC8C-6DDE-9841-C532-EBBFA8A2D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13A27B-BBC8-9DEB-F2FE-C534D06AE7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45F606-2321-C7A1-63F3-282F1CCA2E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C51058-C76D-F99F-F726-EEB09ED927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30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1889172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2615B-DC16-B25E-2685-B1F420184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BDDD8D-39E7-06EF-6EE1-BDC8EABA3D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A2F2D4-1264-71C9-E914-A7430A2D7F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0622F7-3796-E399-2B3A-A9D4390F8A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31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7681375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53BF3-8D45-0BE1-0D48-7E7BC48B8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8876F5-A30D-5533-9639-0CEA2C6FDD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CA28FC-4FF7-9E09-EACB-2EDB688A20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78B713-576F-3531-EADD-8623EB61B7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32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08592853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8DE48-2955-5CF3-00D6-710A04E5E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4D10E2-E378-94FA-415E-D5CF435F13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4BF3C1-DAFB-B9C4-50D6-A104187C2C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DB982E-5764-2D17-5909-59F9B70139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33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0400546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0292A-BF03-F933-D885-33985A431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3DD7BC-269D-E237-6B33-7457DBE0E6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128101-DE4B-9202-C639-74D6FC450C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F6CE27-6B21-F997-984D-6C1DF63670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34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717398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D5E72-7EAF-8199-5670-A0A6B1E3B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89577A-CC01-0C48-12A2-04AE9ACE55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CBF8FE-A621-400F-4E51-1846636B29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DA7717-8EDE-0055-C07F-1C44EBDD9A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35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277140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001E0-562A-AFDF-52C9-7D92AE649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96E2B6-AC71-4FBE-546C-DB55AFA09E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741B07-73E0-D85C-52B7-BF9A7F0212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1EC7BC-CBD9-9A0F-D4D7-073FD52865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36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7414973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9AB72-B5BA-6421-5E2C-D6DAD4D9E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23A293-1465-AEBC-ED43-A352738AAB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64F31F-7E4D-183F-A0A1-3959724DD7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F2DC0F-3044-648E-BD21-8CADDAA222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37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8635020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3AA14-698C-6AFE-EB00-A72659E10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5FDBA6-2CD6-5E39-02B8-2B2302FBD7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C46FC9-3356-DE86-4886-6BCDEFAAB0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B49B51-D425-5F4C-1460-55873FBD1B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38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6096298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8DC00-827C-D01A-EEFD-29D899F7F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B339AA-2FBB-8C13-54ED-13E64944C7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7AAE9C-73BC-34DA-75DD-A81E1D63A2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CADBB6-32F0-CBC4-A014-A24C96101A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39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5075078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AC3F2-DC6F-20EA-C40A-E65EEF27F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3672DE-DD13-B6D2-F045-62AB3C9435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1E4B82-3F2B-EE0B-83C1-B74CF43B0E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D5D2D0-C94D-3C52-D3A9-74EE0D499A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40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9517435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06C12-36CD-99F9-8A87-DD51AD6E0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4C1F15-C2D7-179C-96DF-2473AB2DF3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0AC354-46DB-70FE-8ADA-6AEAB509BD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02AD33-E960-E8A0-6C4E-3549C69621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41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3686716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A83CF-5E2D-CAEA-A113-62791CEBA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7658CE-173F-1310-275B-8D6A509399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A2CA7A-1533-CCE6-9F4B-338B225398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2F10A6-E0BC-9789-2A20-65F2B4C4D2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42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3120998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C1A1A-0A50-39CA-D81C-D11A458F6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19638C-81FF-4CAB-2231-BFEDC4AE4B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EC7790-E909-F717-C890-D318B43AC0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F7DF9E-C275-B524-6662-D78DD05249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43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6433180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32F92-92A7-092A-9400-62490ABB1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1DF7AB-8028-C7BA-8E9A-CD73AC91D3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6F5101-3902-62CA-DB53-2FE85E685A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A67957-85AA-DD2C-73D1-44F9F371B2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44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5615749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2CF78-0DAA-6CE7-8308-0AB426F50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F86A5B-26E9-139A-26AD-019AF456E1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8B82A9-83CE-1AD1-0CF1-67FA32F898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D2FAF7-B330-CEDA-4AB0-93A82C1614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45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806132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2C22F-85A0-EE1D-E321-A0E037A4E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1EF18B-E895-D75C-C191-1EA5DFC5D8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2553D7-0867-1834-7FC3-346E86017C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E5AFEE-2EE5-E5CC-928E-C27972A844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46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0060893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FBD72-1F42-19FA-02FF-6062EDE8E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165E3E-8CFB-A1C1-C2CD-D303AE07C9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9A5441-755B-8397-209E-D2BBFBF2A0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98750B-E186-E625-69A8-55DC1C994F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47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3671255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2E333-2926-FFD0-8D34-8FFFF8584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8D8502-51C5-CCA6-1581-F4319DDA7B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AA5BA7-AF17-0490-5C72-39462D2566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F1AF0-BC6D-DDE9-CF51-51BE58FE9B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48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0473019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DBB7E-A28B-25A8-3354-07EFDB0D7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056537-6260-D31A-73BA-BC1B42BE96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788491-83E2-C6FD-5F8C-19C66527A9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14360-6AC5-BEDF-FAE3-4D7AFCD320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49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7141089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19DDB-7AA8-D0EF-22D6-320468904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2D3268-8EF8-B9D1-9272-CC63632E61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74100B-38ED-BF9E-5EDF-6B007A75F9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E093D2-1487-6BC3-5AF1-19E3338777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50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31686465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B4D9F-D26A-1AE3-7805-4B5B99F45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882DFE-BABF-687D-5291-F1BE20E3DC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FEF228-6D53-707E-DD3F-4CA8FBE1C5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AE0ECD-EEB7-CCC9-A99F-4DD425E3B8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51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8795801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18B6B-6697-8900-64BB-876A4A274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40FB1D-D537-B3F5-CA37-6A6D3CC365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5A2606-23C9-6D21-55DD-8F95698218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CCCC8B-EB14-3D6D-D54F-50323BEB31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52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325231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7FCC8-79C8-E41F-0C04-3F8E2A220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93575A-B5F7-8DCD-9CC1-F32258D94E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5DD0DD-7174-BDBE-5E7F-6A9784D29D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D6F641-5340-A9E4-3D33-0902625679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53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8765622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7F256-0F4C-816B-2C78-D1900D8E2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320DDE-0B54-C61D-FA3A-DA5955411A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9F0EAC-D3BE-FE2A-829D-7613C1C5A9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E0BD90-0363-E802-EB40-E617582473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54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88210570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A17A7-4043-B746-67DA-76EA0258E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03E09A-D7A8-E9AD-EE57-20348ABC28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F4A39A-56C4-FFB3-540B-0C479235E8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D9AB87-7DF6-6EB8-94B8-E67B253A94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55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5509732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C360F-ADBB-1D3F-7E51-DD90DE240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AEF7B6-A001-959D-F3CC-8FDE16CFE4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D015CB-6245-14E4-C59C-CEE9010433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9BB19B-75AF-9665-9F1D-7D8EA07F75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56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94231984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0A1B3-A5AB-60FC-4849-DF676B905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B63218-1CDD-DDEE-995B-B50F3E7A19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076971-C1FE-E5ED-8913-F6620503C2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37F341-92BF-93FC-09CD-5BBA114AA9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57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3179552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C76A2-7E8A-6CED-CC3D-65862FFEA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594332-97E4-D7C6-CB3D-5FEE666F71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969593-80B2-51A5-914B-043C6AFCFA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B34A42-051B-E31D-A7E8-0426746E6A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58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9560452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FE08C-6D6C-6DA3-54F2-8EE39C569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C1D920-CC4D-7EB8-4F61-B6C0EDE33B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83FDFE-8CFB-7BF6-1ECA-5307320C84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03FB27-4AB0-DD35-D937-7A2FB3F76D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59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50445539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AA82B-0534-B917-E0A7-4365B8D8B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AEA6B5-EEB0-8861-E4D1-ECA77F5681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739187-4863-E083-F383-BC712AC773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156DBC-6A5E-D719-0E6E-B9598190B1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60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14454320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2633B-42EA-3FA3-1809-6FE7B5D96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C17282-F144-CC29-DEB6-69B56454A4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C5EFE8-405F-3C73-062A-A6F5F5D0B4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C47819-8DF4-E0B5-5F39-3FD88AA694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61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39362749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0CAB8-BC47-EF07-4BF6-BE75E1C06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29A281-92FE-9EE6-37F2-34EDB97059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782F75-4A92-B0EF-4357-44BAB0C9C5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E757C8-231F-ECD6-5031-6D0ECFBC50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62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04584107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AF754-0E12-5A57-5E41-1093C18C4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578C7C-BD68-FE33-78C1-D84590EC39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410709-1B52-6D2C-C861-08F44D604F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85D5F3-BC01-661B-630B-EC157EF594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63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655640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0D81C3-E2DA-4793-BDA0-1375955C19F0}" type="datetime1">
              <a:rPr lang="en-US" smtClean="0"/>
              <a:t>12/12/2025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925800" y="973879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466280C9-FBB2-A5C5-B32E-B1F32E20A7CA}"/>
              </a:ext>
            </a:extLst>
          </p:cNvPr>
          <p:cNvSpPr txBox="1">
            <a:spLocks/>
          </p:cNvSpPr>
          <p:nvPr userDrawn="1"/>
        </p:nvSpPr>
        <p:spPr>
          <a:xfrm>
            <a:off x="76200" y="9799686"/>
            <a:ext cx="6248400" cy="36512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ELEC 4 – Elective 4 (Special Topics on Web and Mobile 2)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 descr="A blue and orange square&#10;&#10;Description automatically generated">
            <a:extLst>
              <a:ext uri="{FF2B5EF4-FFF2-40B4-BE49-F238E27FC236}">
                <a16:creationId xmlns:a16="http://schemas.microsoft.com/office/drawing/2014/main" id="{70D90189-04C8-86AF-B9A8-6A8CA9F302D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64" r="12208"/>
          <a:stretch/>
        </p:blipFill>
        <p:spPr>
          <a:xfrm>
            <a:off x="0" y="3062493"/>
            <a:ext cx="18287999" cy="4408536"/>
          </a:xfrm>
          <a:prstGeom prst="rect">
            <a:avLst/>
          </a:prstGeom>
        </p:spPr>
      </p:pic>
      <p:sp>
        <p:nvSpPr>
          <p:cNvPr id="20" name="Freeform 20"/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34" name="Group 13">
            <a:extLst>
              <a:ext uri="{FF2B5EF4-FFF2-40B4-BE49-F238E27FC236}">
                <a16:creationId xmlns:a16="http://schemas.microsoft.com/office/drawing/2014/main" id="{03BEDA6F-F03E-338A-E884-B57BB6E88A2C}"/>
              </a:ext>
            </a:extLst>
          </p:cNvPr>
          <p:cNvGrpSpPr/>
          <p:nvPr/>
        </p:nvGrpSpPr>
        <p:grpSpPr>
          <a:xfrm>
            <a:off x="152400" y="211586"/>
            <a:ext cx="6840467" cy="1321138"/>
            <a:chOff x="0" y="0"/>
            <a:chExt cx="15396444" cy="3066458"/>
          </a:xfrm>
        </p:grpSpPr>
        <p:sp>
          <p:nvSpPr>
            <p:cNvPr id="35" name="Freeform 14">
              <a:extLst>
                <a:ext uri="{FF2B5EF4-FFF2-40B4-BE49-F238E27FC236}">
                  <a16:creationId xmlns:a16="http://schemas.microsoft.com/office/drawing/2014/main" id="{774B46A4-1A07-1B6E-041F-F6905CFA41E7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6" name="Freeform 15">
              <a:extLst>
                <a:ext uri="{FF2B5EF4-FFF2-40B4-BE49-F238E27FC236}">
                  <a16:creationId xmlns:a16="http://schemas.microsoft.com/office/drawing/2014/main" id="{E1DF7690-B553-61D6-9179-CCFD49C98B9E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7" name="Freeform 16">
              <a:extLst>
                <a:ext uri="{FF2B5EF4-FFF2-40B4-BE49-F238E27FC236}">
                  <a16:creationId xmlns:a16="http://schemas.microsoft.com/office/drawing/2014/main" id="{7D4F7B43-6DF2-1438-AF14-A92B65A0B7BC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8" name="Freeform 17">
              <a:extLst>
                <a:ext uri="{FF2B5EF4-FFF2-40B4-BE49-F238E27FC236}">
                  <a16:creationId xmlns:a16="http://schemas.microsoft.com/office/drawing/2014/main" id="{737FF48A-1343-407F-1EA2-017E5834A286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9" name="Freeform 18">
              <a:extLst>
                <a:ext uri="{FF2B5EF4-FFF2-40B4-BE49-F238E27FC236}">
                  <a16:creationId xmlns:a16="http://schemas.microsoft.com/office/drawing/2014/main" id="{5844878D-4F08-5CB8-2978-838AA8A84A59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0" name="Freeform 19">
              <a:extLst>
                <a:ext uri="{FF2B5EF4-FFF2-40B4-BE49-F238E27FC236}">
                  <a16:creationId xmlns:a16="http://schemas.microsoft.com/office/drawing/2014/main" id="{6B102466-B83F-E478-304D-B9605AC9EA8F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2" name="Group 2"/>
          <p:cNvGrpSpPr/>
          <p:nvPr/>
        </p:nvGrpSpPr>
        <p:grpSpPr>
          <a:xfrm>
            <a:off x="14554200" y="6438900"/>
            <a:ext cx="3886200" cy="3848100"/>
            <a:chOff x="0" y="0"/>
            <a:chExt cx="10022021" cy="94460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6" name="TextBox 28">
            <a:extLst>
              <a:ext uri="{FF2B5EF4-FFF2-40B4-BE49-F238E27FC236}">
                <a16:creationId xmlns:a16="http://schemas.microsoft.com/office/drawing/2014/main" id="{8AB99F45-51C9-1623-B20B-EB356F7F13C1}"/>
              </a:ext>
            </a:extLst>
          </p:cNvPr>
          <p:cNvSpPr txBox="1"/>
          <p:nvPr/>
        </p:nvSpPr>
        <p:spPr>
          <a:xfrm>
            <a:off x="1138730" y="3122804"/>
            <a:ext cx="15998250" cy="31325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7200" spc="-360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</a:rPr>
              <a:t>Chapter 8: Advanced Flask Application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14435-D177-78B9-9BE8-3B8FA559D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 descr="A blue and orange square&#10;&#10;Description automatically generated">
            <a:extLst>
              <a:ext uri="{FF2B5EF4-FFF2-40B4-BE49-F238E27FC236}">
                <a16:creationId xmlns:a16="http://schemas.microsoft.com/office/drawing/2014/main" id="{B237DD15-B105-2EED-E820-CF4CE8A1DCC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64" r="12208"/>
          <a:stretch/>
        </p:blipFill>
        <p:spPr>
          <a:xfrm>
            <a:off x="1" y="2939231"/>
            <a:ext cx="18287999" cy="4408536"/>
          </a:xfrm>
          <a:prstGeom prst="rect">
            <a:avLst/>
          </a:prstGeom>
        </p:spPr>
      </p:pic>
      <p:sp>
        <p:nvSpPr>
          <p:cNvPr id="20" name="Freeform 20">
            <a:extLst>
              <a:ext uri="{FF2B5EF4-FFF2-40B4-BE49-F238E27FC236}">
                <a16:creationId xmlns:a16="http://schemas.microsoft.com/office/drawing/2014/main" id="{F9D633F9-31E0-2989-6C67-876DD19757AC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0A39BE59-E820-F9EC-608A-DAD70FCAA98D}"/>
              </a:ext>
            </a:extLst>
          </p:cNvPr>
          <p:cNvSpPr txBox="1"/>
          <p:nvPr/>
        </p:nvSpPr>
        <p:spPr>
          <a:xfrm>
            <a:off x="1144875" y="3665274"/>
            <a:ext cx="15998250" cy="147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57"/>
              </a:lnSpc>
            </a:pPr>
            <a:r>
              <a:rPr lang="en-US" sz="7200" spc="-360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</a:rPr>
              <a:t>Handling Forms and User inputs</a:t>
            </a:r>
          </a:p>
        </p:txBody>
      </p:sp>
      <p:grpSp>
        <p:nvGrpSpPr>
          <p:cNvPr id="34" name="Group 13">
            <a:extLst>
              <a:ext uri="{FF2B5EF4-FFF2-40B4-BE49-F238E27FC236}">
                <a16:creationId xmlns:a16="http://schemas.microsoft.com/office/drawing/2014/main" id="{3FEEF142-5253-A561-E99C-768FEC77C1B4}"/>
              </a:ext>
            </a:extLst>
          </p:cNvPr>
          <p:cNvGrpSpPr/>
          <p:nvPr/>
        </p:nvGrpSpPr>
        <p:grpSpPr>
          <a:xfrm>
            <a:off x="152400" y="211586"/>
            <a:ext cx="6840467" cy="1321138"/>
            <a:chOff x="0" y="0"/>
            <a:chExt cx="15396444" cy="3066458"/>
          </a:xfrm>
        </p:grpSpPr>
        <p:sp>
          <p:nvSpPr>
            <p:cNvPr id="35" name="Freeform 14">
              <a:extLst>
                <a:ext uri="{FF2B5EF4-FFF2-40B4-BE49-F238E27FC236}">
                  <a16:creationId xmlns:a16="http://schemas.microsoft.com/office/drawing/2014/main" id="{65022A25-F969-AB81-EDB8-3FEA4CC493D3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6" name="Freeform 15">
              <a:extLst>
                <a:ext uri="{FF2B5EF4-FFF2-40B4-BE49-F238E27FC236}">
                  <a16:creationId xmlns:a16="http://schemas.microsoft.com/office/drawing/2014/main" id="{CE380B9F-90C5-069E-B4A9-EFB63317BFD0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7" name="Freeform 16">
              <a:extLst>
                <a:ext uri="{FF2B5EF4-FFF2-40B4-BE49-F238E27FC236}">
                  <a16:creationId xmlns:a16="http://schemas.microsoft.com/office/drawing/2014/main" id="{8D415E24-8984-99DF-D8B4-E7C067D7611C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8" name="Freeform 17">
              <a:extLst>
                <a:ext uri="{FF2B5EF4-FFF2-40B4-BE49-F238E27FC236}">
                  <a16:creationId xmlns:a16="http://schemas.microsoft.com/office/drawing/2014/main" id="{D7D9F8B0-3AF4-7E6B-D098-0CAD2C2822FE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9" name="Freeform 18">
              <a:extLst>
                <a:ext uri="{FF2B5EF4-FFF2-40B4-BE49-F238E27FC236}">
                  <a16:creationId xmlns:a16="http://schemas.microsoft.com/office/drawing/2014/main" id="{0C3CE10E-127A-6DB9-CD8E-805DD601D15C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0" name="Freeform 19">
              <a:extLst>
                <a:ext uri="{FF2B5EF4-FFF2-40B4-BE49-F238E27FC236}">
                  <a16:creationId xmlns:a16="http://schemas.microsoft.com/office/drawing/2014/main" id="{374E9D94-03CB-432B-615B-4F12019F8D36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2" name="Group 2">
            <a:extLst>
              <a:ext uri="{FF2B5EF4-FFF2-40B4-BE49-F238E27FC236}">
                <a16:creationId xmlns:a16="http://schemas.microsoft.com/office/drawing/2014/main" id="{67494009-3E71-6335-5455-E2EAFBEFE78C}"/>
              </a:ext>
            </a:extLst>
          </p:cNvPr>
          <p:cNvGrpSpPr/>
          <p:nvPr/>
        </p:nvGrpSpPr>
        <p:grpSpPr>
          <a:xfrm>
            <a:off x="14554200" y="6438900"/>
            <a:ext cx="3886200" cy="38481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F6A5863-776C-67C6-AD04-A4CD5F256264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780819FF-D094-90BA-1E10-BB50331B064A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92A9F004-108D-31AC-5F8B-DE17B8E5717D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</p:spTree>
    <p:extLst>
      <p:ext uri="{BB962C8B-B14F-4D97-AF65-F5344CB8AC3E}">
        <p14:creationId xmlns:p14="http://schemas.microsoft.com/office/powerpoint/2010/main" val="27659439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F1C23-AE04-46B3-1D33-7C2F29522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E4C898E-06BF-8BCD-3987-52AC5DEFEC57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DAB674C-9951-596A-0320-BDBCC154EB5D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10F18697-5E23-1966-9E7B-D429F7D1B80C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A59344BD-59AF-E896-0BE7-E74DBA358A93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12A7D8C0-85B3-1C44-BADD-E53B25D203F2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2486A7FA-10B7-AFD4-A039-4A07C751B50D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D670F2C6-7DEB-2CF3-13C0-74DEFC2D6986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Forms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10877B5-092D-ED64-EF27-B74CD7BA8562}"/>
              </a:ext>
            </a:extLst>
          </p:cNvPr>
          <p:cNvSpPr txBox="1"/>
          <p:nvPr/>
        </p:nvSpPr>
        <p:spPr>
          <a:xfrm>
            <a:off x="177555" y="2095500"/>
            <a:ext cx="17881845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dirty="0">
                <a:latin typeface="Consolas" panose="020B0609020204030204" pitchFamily="49" charset="0"/>
              </a:rPr>
              <a:t>Forms are HTML elements that allow users to input data, such as text, numbers, emails, passwords, and more. Forms are how web applications interact with users.</a:t>
            </a: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r>
              <a:rPr lang="en-US" sz="3600" b="1" dirty="0">
                <a:latin typeface="Consolas" panose="020B0609020204030204" pitchFamily="49" charset="0"/>
              </a:rPr>
              <a:t>Example:</a:t>
            </a:r>
          </a:p>
          <a:p>
            <a:pPr algn="just"/>
            <a:endParaRPr lang="en-US" sz="3600" b="1" dirty="0">
              <a:latin typeface="Consolas" panose="020B0609020204030204" pitchFamily="49" charset="0"/>
            </a:endParaRP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&lt;form action="/submit" method="post"&gt;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  Name: &lt;input type="text" name="username"&gt;&lt;</a:t>
            </a:r>
            <a:r>
              <a:rPr lang="en-US" sz="3600" dirty="0" err="1">
                <a:latin typeface="Consolas" panose="020B0609020204030204" pitchFamily="49" charset="0"/>
              </a:rPr>
              <a:t>br</a:t>
            </a:r>
            <a:r>
              <a:rPr lang="en-US" sz="3600" dirty="0">
                <a:latin typeface="Consolas" panose="020B0609020204030204" pitchFamily="49" charset="0"/>
              </a:rPr>
              <a:t>&gt;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  Email: &lt;input type="email" name="email"&gt;&lt;</a:t>
            </a:r>
            <a:r>
              <a:rPr lang="en-US" sz="3600" dirty="0" err="1">
                <a:latin typeface="Consolas" panose="020B0609020204030204" pitchFamily="49" charset="0"/>
              </a:rPr>
              <a:t>br</a:t>
            </a:r>
            <a:r>
              <a:rPr lang="en-US" sz="3600" dirty="0">
                <a:latin typeface="Consolas" panose="020B0609020204030204" pitchFamily="49" charset="0"/>
              </a:rPr>
              <a:t>&gt;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  &lt;input type="submit" value="Submit"&gt;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&lt;/form&gt;</a:t>
            </a:r>
          </a:p>
          <a:p>
            <a:pPr algn="just"/>
            <a:endParaRPr lang="en-US" sz="3600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5904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3BAA8-A331-C94A-736C-374478FDE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FD7C7B2-66F1-F459-4F88-D3A96B9DD67A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F4F5FD7-0CC0-77C9-CA34-26C34534768B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F5AAA86C-7C85-7142-F2C9-373FD89B21B6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62F62C6B-EFA8-FF13-7451-9A4DBB1A6C02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7F9C44F2-EF08-778F-113D-3A59242AA23B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31A1DADE-F302-E84C-FE8B-E2F827BE606F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DC313AA3-739F-A48B-E304-1433CFDE6810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Introduction to request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325EF8D-C40B-4B3C-AB25-029AB4F397C1}"/>
              </a:ext>
            </a:extLst>
          </p:cNvPr>
          <p:cNvSpPr txBox="1"/>
          <p:nvPr/>
        </p:nvSpPr>
        <p:spPr>
          <a:xfrm>
            <a:off x="177555" y="2095500"/>
            <a:ext cx="17881845" cy="729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dirty="0">
                <a:latin typeface="Consolas" panose="020B0609020204030204" pitchFamily="49" charset="0"/>
              </a:rPr>
              <a:t>Forms send data to the server via:</a:t>
            </a:r>
          </a:p>
          <a:p>
            <a:pPr marL="1485900" lvl="2" indent="-571500" algn="just">
              <a:buFont typeface="Wingdings" panose="05000000000000000000" pitchFamily="2" charset="2"/>
              <a:buChar char="ü"/>
            </a:pPr>
            <a:r>
              <a:rPr lang="en-US" sz="3600" dirty="0">
                <a:latin typeface="Consolas" panose="020B0609020204030204" pitchFamily="49" charset="0"/>
              </a:rPr>
              <a:t>GET: data is appended to the URL (e.g., /</a:t>
            </a:r>
            <a:r>
              <a:rPr lang="en-US" sz="3600" dirty="0" err="1">
                <a:latin typeface="Consolas" panose="020B0609020204030204" pitchFamily="49" charset="0"/>
              </a:rPr>
              <a:t>submit?username</a:t>
            </a:r>
            <a:r>
              <a:rPr lang="en-US" sz="3600" dirty="0">
                <a:latin typeface="Consolas" panose="020B0609020204030204" pitchFamily="49" charset="0"/>
              </a:rPr>
              <a:t>=John)</a:t>
            </a:r>
          </a:p>
          <a:p>
            <a:pPr marL="1485900" lvl="2" indent="-571500" algn="just">
              <a:buFont typeface="Wingdings" panose="05000000000000000000" pitchFamily="2" charset="2"/>
              <a:buChar char="ü"/>
            </a:pPr>
            <a:r>
              <a:rPr lang="en-US" sz="3600" dirty="0">
                <a:latin typeface="Consolas" panose="020B0609020204030204" pitchFamily="49" charset="0"/>
              </a:rPr>
              <a:t>POST: data is sent in the request body (more secure and allows larger data)</a:t>
            </a:r>
          </a:p>
          <a:p>
            <a:pPr marL="0" lvl="2" algn="just"/>
            <a:endParaRPr lang="en-US" sz="3600" b="1" dirty="0">
              <a:latin typeface="Consolas" panose="020B0609020204030204" pitchFamily="49" charset="0"/>
            </a:endParaRPr>
          </a:p>
          <a:p>
            <a:pPr marL="0" lvl="2" algn="just"/>
            <a:r>
              <a:rPr lang="en-US" sz="3600" b="1" dirty="0">
                <a:latin typeface="Consolas" panose="020B0609020204030204" pitchFamily="49" charset="0"/>
              </a:rPr>
              <a:t>Importing request</a:t>
            </a:r>
          </a:p>
          <a:p>
            <a:pPr marL="0" lvl="2" algn="just"/>
            <a:r>
              <a:rPr lang="en-US" sz="3600" dirty="0">
                <a:latin typeface="Consolas" panose="020B0609020204030204" pitchFamily="49" charset="0"/>
              </a:rPr>
              <a:t>In Flask, the request object is a special object that represents all the information sent by the client (user) to the server when they access a route. You can access request anywhere inside your route function.</a:t>
            </a:r>
          </a:p>
          <a:p>
            <a:pPr marL="0" lvl="2" algn="just"/>
            <a:r>
              <a:rPr lang="en-US" sz="3600" b="1" dirty="0">
                <a:latin typeface="Consolas" panose="020B0609020204030204" pitchFamily="49" charset="0"/>
              </a:rPr>
              <a:t>Syntax: </a:t>
            </a:r>
            <a:endParaRPr lang="en-US" sz="3600" dirty="0">
              <a:latin typeface="Consolas" panose="020B0609020204030204" pitchFamily="49" charset="0"/>
            </a:endParaRPr>
          </a:p>
          <a:p>
            <a:pPr marL="0" lvl="2" algn="just"/>
            <a:r>
              <a:rPr lang="en-US" sz="3600" dirty="0">
                <a:latin typeface="Consolas" panose="020B0609020204030204" pitchFamily="49" charset="0"/>
              </a:rPr>
              <a:t>from flask import Flask, request</a:t>
            </a:r>
          </a:p>
          <a:p>
            <a:pPr marL="0" lvl="2" algn="just"/>
            <a:r>
              <a:rPr lang="en-US" sz="3600" dirty="0">
                <a:latin typeface="Consolas" panose="020B0609020204030204" pitchFamily="49" charset="0"/>
              </a:rPr>
              <a:t>app = Flask(__name__)</a:t>
            </a:r>
          </a:p>
        </p:txBody>
      </p:sp>
    </p:spTree>
    <p:extLst>
      <p:ext uri="{BB962C8B-B14F-4D97-AF65-F5344CB8AC3E}">
        <p14:creationId xmlns:p14="http://schemas.microsoft.com/office/powerpoint/2010/main" val="1425468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D3B7B-5C79-65F3-0606-8DFDCB1DD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1AC3BE3-B28B-CB27-7BF3-1A24C81F7BA7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BC0886-5CAD-8E1E-0603-3AF1E64DFFB8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DACB8582-C00E-5141-049F-9570357F8753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D3CEE466-D1E7-54B2-49F1-4527476DE77A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814D8E45-BF27-531F-BB21-5B0E0A518FD2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AD100240-37D8-DF5F-57DE-4A309E30E93C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7AEF8059-BF10-6AE3-D9FA-F23B7423680D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Components of request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61EAAF7-F039-E5B9-0518-B0B19346994B}"/>
              </a:ext>
            </a:extLst>
          </p:cNvPr>
          <p:cNvSpPr txBox="1"/>
          <p:nvPr/>
        </p:nvSpPr>
        <p:spPr>
          <a:xfrm>
            <a:off x="177555" y="2095500"/>
            <a:ext cx="17881845" cy="729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b="1" dirty="0">
                <a:latin typeface="Consolas" panose="020B0609020204030204" pitchFamily="49" charset="0"/>
              </a:rPr>
              <a:t>1. </a:t>
            </a:r>
            <a:r>
              <a:rPr lang="en-US" sz="3600" b="1" dirty="0" err="1">
                <a:latin typeface="Consolas" panose="020B0609020204030204" pitchFamily="49" charset="0"/>
              </a:rPr>
              <a:t>request.form</a:t>
            </a:r>
            <a:r>
              <a:rPr lang="en-US" sz="3600" b="1" dirty="0">
                <a:latin typeface="Consolas" panose="020B0609020204030204" pitchFamily="49" charset="0"/>
              </a:rPr>
              <a:t> – </a:t>
            </a:r>
            <a:r>
              <a:rPr lang="en-US" sz="3600" dirty="0">
                <a:latin typeface="Consolas" panose="020B0609020204030204" pitchFamily="49" charset="0"/>
              </a:rPr>
              <a:t>It holds data via POST forms.</a:t>
            </a:r>
          </a:p>
          <a:p>
            <a:pPr algn="just"/>
            <a:r>
              <a:rPr lang="en-US" sz="3600" b="1" dirty="0">
                <a:latin typeface="Consolas" panose="020B0609020204030204" pitchFamily="49" charset="0"/>
              </a:rPr>
              <a:t>Syntax: </a:t>
            </a:r>
            <a:r>
              <a:rPr lang="en-US" sz="3600" dirty="0" err="1">
                <a:latin typeface="Consolas" panose="020B0609020204030204" pitchFamily="49" charset="0"/>
              </a:rPr>
              <a:t>request.form</a:t>
            </a:r>
            <a:r>
              <a:rPr lang="en-US" sz="3600" dirty="0">
                <a:latin typeface="Consolas" panose="020B0609020204030204" pitchFamily="49" charset="0"/>
              </a:rPr>
              <a:t>["</a:t>
            </a:r>
            <a:r>
              <a:rPr lang="en-US" sz="3600" dirty="0" err="1">
                <a:latin typeface="Consolas" panose="020B0609020204030204" pitchFamily="49" charset="0"/>
              </a:rPr>
              <a:t>input_name_attr</a:t>
            </a:r>
            <a:r>
              <a:rPr lang="en-US" sz="3600" dirty="0">
                <a:latin typeface="Consolas" panose="020B0609020204030204" pitchFamily="49" charset="0"/>
              </a:rPr>
              <a:t>"]</a:t>
            </a: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r>
              <a:rPr lang="en-US" sz="3600" b="1" dirty="0">
                <a:latin typeface="Consolas" panose="020B0609020204030204" pitchFamily="49" charset="0"/>
              </a:rPr>
              <a:t>2. </a:t>
            </a:r>
            <a:r>
              <a:rPr lang="en-US" sz="3600" b="1" dirty="0" err="1">
                <a:latin typeface="Consolas" panose="020B0609020204030204" pitchFamily="49" charset="0"/>
              </a:rPr>
              <a:t>request.args</a:t>
            </a:r>
            <a:r>
              <a:rPr lang="en-US" sz="3600" b="1" dirty="0">
                <a:latin typeface="Consolas" panose="020B0609020204030204" pitchFamily="49" charset="0"/>
              </a:rPr>
              <a:t> </a:t>
            </a:r>
            <a:r>
              <a:rPr lang="en-US" sz="3600" dirty="0">
                <a:latin typeface="Consolas" panose="020B0609020204030204" pitchFamily="49" charset="0"/>
              </a:rPr>
              <a:t>– It holds query string data from GET requests.</a:t>
            </a:r>
          </a:p>
          <a:p>
            <a:pPr algn="just"/>
            <a:r>
              <a:rPr lang="en-US" sz="3600" b="1" dirty="0">
                <a:latin typeface="Consolas" panose="020B0609020204030204" pitchFamily="49" charset="0"/>
              </a:rPr>
              <a:t>Syntax: </a:t>
            </a:r>
            <a:r>
              <a:rPr lang="en-US" sz="3600" dirty="0" err="1">
                <a:latin typeface="Consolas" panose="020B0609020204030204" pitchFamily="49" charset="0"/>
              </a:rPr>
              <a:t>request.args</a:t>
            </a:r>
            <a:r>
              <a:rPr lang="en-US" sz="3600" dirty="0">
                <a:latin typeface="Consolas" panose="020B0609020204030204" pitchFamily="49" charset="0"/>
              </a:rPr>
              <a:t>["param"]</a:t>
            </a:r>
          </a:p>
          <a:p>
            <a:pPr algn="just"/>
            <a:endParaRPr lang="en-US" sz="3600" b="1" dirty="0">
              <a:latin typeface="Consolas" panose="020B0609020204030204" pitchFamily="49" charset="0"/>
            </a:endParaRPr>
          </a:p>
          <a:p>
            <a:pPr algn="just"/>
            <a:r>
              <a:rPr lang="en-US" sz="3600" b="1" dirty="0">
                <a:latin typeface="Consolas" panose="020B0609020204030204" pitchFamily="49" charset="0"/>
              </a:rPr>
              <a:t>3. </a:t>
            </a:r>
            <a:r>
              <a:rPr lang="en-US" sz="3600" b="1" dirty="0" err="1">
                <a:latin typeface="Consolas" panose="020B0609020204030204" pitchFamily="49" charset="0"/>
              </a:rPr>
              <a:t>request.method</a:t>
            </a:r>
            <a:r>
              <a:rPr lang="en-US" sz="3600" b="1" dirty="0">
                <a:latin typeface="Consolas" panose="020B0609020204030204" pitchFamily="49" charset="0"/>
              </a:rPr>
              <a:t> </a:t>
            </a:r>
            <a:r>
              <a:rPr lang="en-US" sz="3600" dirty="0">
                <a:latin typeface="Consolas" panose="020B0609020204030204" pitchFamily="49" charset="0"/>
              </a:rPr>
              <a:t>– It is used to check whether request is GET, POST, etc.</a:t>
            </a:r>
          </a:p>
          <a:p>
            <a:pPr algn="just"/>
            <a:r>
              <a:rPr lang="en-US" sz="3600" b="1" dirty="0">
                <a:latin typeface="Consolas" panose="020B0609020204030204" pitchFamily="49" charset="0"/>
              </a:rPr>
              <a:t>Sample Usage: </a:t>
            </a:r>
            <a:r>
              <a:rPr lang="en-US" sz="3600" dirty="0">
                <a:latin typeface="Consolas" panose="020B0609020204030204" pitchFamily="49" charset="0"/>
              </a:rPr>
              <a:t>if </a:t>
            </a:r>
            <a:r>
              <a:rPr lang="en-US" sz="3600" dirty="0" err="1">
                <a:latin typeface="Consolas" panose="020B0609020204030204" pitchFamily="49" charset="0"/>
              </a:rPr>
              <a:t>request.method</a:t>
            </a:r>
            <a:r>
              <a:rPr lang="en-US" sz="3600" dirty="0">
                <a:latin typeface="Consolas" panose="020B0609020204030204" pitchFamily="49" charset="0"/>
              </a:rPr>
              <a:t> == 'POST':</a:t>
            </a: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r>
              <a:rPr lang="en-US" sz="3600" b="1" dirty="0">
                <a:latin typeface="Consolas" panose="020B0609020204030204" pitchFamily="49" charset="0"/>
              </a:rPr>
              <a:t>4. </a:t>
            </a:r>
            <a:r>
              <a:rPr lang="en-US" sz="3600" b="1" dirty="0" err="1">
                <a:latin typeface="Consolas" panose="020B0609020204030204" pitchFamily="49" charset="0"/>
              </a:rPr>
              <a:t>request.files</a:t>
            </a:r>
            <a:r>
              <a:rPr lang="en-US" sz="3600" b="1" dirty="0">
                <a:latin typeface="Consolas" panose="020B0609020204030204" pitchFamily="49" charset="0"/>
              </a:rPr>
              <a:t> </a:t>
            </a:r>
            <a:r>
              <a:rPr lang="en-US" sz="3600" dirty="0">
                <a:latin typeface="Consolas" panose="020B0609020204030204" pitchFamily="49" charset="0"/>
              </a:rPr>
              <a:t>– It holds uploaded files</a:t>
            </a:r>
          </a:p>
          <a:p>
            <a:pPr algn="just"/>
            <a:r>
              <a:rPr lang="en-US" sz="3600" b="1" dirty="0">
                <a:latin typeface="Consolas" panose="020B0609020204030204" pitchFamily="49" charset="0"/>
              </a:rPr>
              <a:t>Syntax: </a:t>
            </a:r>
            <a:r>
              <a:rPr lang="en-US" sz="3600" dirty="0" err="1">
                <a:latin typeface="Consolas" panose="020B0609020204030204" pitchFamily="49" charset="0"/>
              </a:rPr>
              <a:t>request.files</a:t>
            </a:r>
            <a:r>
              <a:rPr lang="en-US" sz="3600" dirty="0">
                <a:latin typeface="Consolas" panose="020B0609020204030204" pitchFamily="49" charset="0"/>
              </a:rPr>
              <a:t>["</a:t>
            </a:r>
            <a:r>
              <a:rPr lang="en-US" sz="3600" dirty="0" err="1">
                <a:latin typeface="Consolas" panose="020B0609020204030204" pitchFamily="49" charset="0"/>
              </a:rPr>
              <a:t>file_input_name_attr</a:t>
            </a:r>
            <a:r>
              <a:rPr lang="en-US" sz="3600" dirty="0">
                <a:latin typeface="Consolas" panose="020B0609020204030204" pitchFamily="49" charset="0"/>
              </a:rPr>
              <a:t>"]</a:t>
            </a:r>
          </a:p>
          <a:p>
            <a:pPr algn="just"/>
            <a:endParaRPr lang="en-US" sz="3600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7652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108B7-C48D-A1F4-64B5-CF95BDF15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C3D8153-BF32-3A27-9942-B41359287734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D1300EC-2315-1A98-EACB-79E86DB39769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267A9E2C-1FB2-A1E7-4E7B-5D8818198FA7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66F171D9-5C84-D599-20BB-11F8608E1D69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64ED7A09-DD2D-AEEA-731D-AE67820C168A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827E0BAA-E9FF-1536-3E04-905033330FF4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C06FC631-5A2B-088B-DB58-47E0260A83FD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Creating routes for form submission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CF5F35A-13FC-DC67-4849-27010E6ED2A0}"/>
              </a:ext>
            </a:extLst>
          </p:cNvPr>
          <p:cNvSpPr txBox="1"/>
          <p:nvPr/>
        </p:nvSpPr>
        <p:spPr>
          <a:xfrm>
            <a:off x="177555" y="2095500"/>
            <a:ext cx="17881845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dirty="0">
                <a:latin typeface="Consolas" panose="020B0609020204030204" pitchFamily="49" charset="0"/>
              </a:rPr>
              <a:t>To create routes for form submission, use the methods parameter when defining the route.</a:t>
            </a:r>
          </a:p>
          <a:p>
            <a:pPr algn="just"/>
            <a:r>
              <a:rPr lang="en-US" sz="3600" b="1" dirty="0">
                <a:latin typeface="Consolas" panose="020B0609020204030204" pitchFamily="49" charset="0"/>
              </a:rPr>
              <a:t>Example: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@app.route('/path', methods=['GET', 'POST'])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def </a:t>
            </a:r>
            <a:r>
              <a:rPr lang="en-US" sz="3600" dirty="0" err="1">
                <a:latin typeface="Consolas" panose="020B0609020204030204" pitchFamily="49" charset="0"/>
              </a:rPr>
              <a:t>function_name</a:t>
            </a:r>
            <a:r>
              <a:rPr lang="en-US" sz="3600" dirty="0">
                <a:latin typeface="Consolas" panose="020B0609020204030204" pitchFamily="49" charset="0"/>
              </a:rPr>
              <a:t>():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    # Code to handle request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    return response</a:t>
            </a: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r>
              <a:rPr lang="en-US" sz="3600" b="1" dirty="0">
                <a:latin typeface="Consolas" panose="020B0609020204030204" pitchFamily="49" charset="0"/>
              </a:rPr>
              <a:t>Note: </a:t>
            </a:r>
            <a:r>
              <a:rPr lang="en-US" sz="3600" dirty="0">
                <a:latin typeface="Consolas" panose="020B0609020204030204" pitchFamily="49" charset="0"/>
              </a:rPr>
              <a:t>The methods parameter define what HTTP methods does the route accepts.</a:t>
            </a:r>
            <a:endParaRPr lang="en-US" sz="3600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95254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364E9-E747-B6D0-61F1-6C7CAB7FF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296FDA4-A8C1-BB03-B35E-BC891FFC06E0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BC822CA-8579-2686-5BA2-867F3B233DE3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DF9D21B9-9CE8-E184-2A8F-EA3435F96A2B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35316EBD-DC8E-892A-1C11-57A1316BFF0C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4C97F854-3CF5-3146-D91E-3524D7AF952B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5ABA8AFD-D19D-82F4-4EB8-03ED06F99E00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62685D7A-20FD-FD89-483F-EE6EAB427747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Accessing Form Data using request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2B148DF-A738-529A-9CDB-C60C0D9CF9FB}"/>
              </a:ext>
            </a:extLst>
          </p:cNvPr>
          <p:cNvSpPr txBox="1"/>
          <p:nvPr/>
        </p:nvSpPr>
        <p:spPr>
          <a:xfrm>
            <a:off x="177555" y="2095500"/>
            <a:ext cx="17881845" cy="7848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dirty="0">
                <a:latin typeface="Consolas" panose="020B0609020204030204" pitchFamily="49" charset="0"/>
              </a:rPr>
              <a:t>When a user submits a form with method POST:</a:t>
            </a:r>
          </a:p>
          <a:p>
            <a:pPr algn="just"/>
            <a:r>
              <a:rPr lang="en-US" sz="3600" b="1" dirty="0">
                <a:latin typeface="Consolas" panose="020B0609020204030204" pitchFamily="49" charset="0"/>
              </a:rPr>
              <a:t>login.html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&lt;form action="/submit" method="post"&gt;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  Name: &lt;input type="text" name="username"&gt;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  Email: &lt;input type="email" name="email"&gt;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  &lt;input type="submit" value="Submit"&gt;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&lt;/form&gt;</a:t>
            </a: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r>
              <a:rPr lang="en-US" sz="3600" b="1" dirty="0">
                <a:latin typeface="Consolas" panose="020B0609020204030204" pitchFamily="49" charset="0"/>
              </a:rPr>
              <a:t>app.py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@app.route('/submit', methods=['POST'])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def submit():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    username = </a:t>
            </a:r>
            <a:r>
              <a:rPr lang="en-US" sz="3600" dirty="0" err="1">
                <a:latin typeface="Consolas" panose="020B0609020204030204" pitchFamily="49" charset="0"/>
              </a:rPr>
              <a:t>request.form</a:t>
            </a:r>
            <a:r>
              <a:rPr lang="en-US" sz="3600" dirty="0">
                <a:latin typeface="Consolas" panose="020B0609020204030204" pitchFamily="49" charset="0"/>
              </a:rPr>
              <a:t>['username']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    email = </a:t>
            </a:r>
            <a:r>
              <a:rPr lang="en-US" sz="3600" dirty="0" err="1">
                <a:latin typeface="Consolas" panose="020B0609020204030204" pitchFamily="49" charset="0"/>
              </a:rPr>
              <a:t>request.form</a:t>
            </a:r>
            <a:r>
              <a:rPr lang="en-US" sz="3600" dirty="0">
                <a:latin typeface="Consolas" panose="020B0609020204030204" pitchFamily="49" charset="0"/>
              </a:rPr>
              <a:t>['email']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    return </a:t>
            </a:r>
            <a:r>
              <a:rPr lang="en-US" sz="3600" dirty="0" err="1">
                <a:latin typeface="Consolas" panose="020B0609020204030204" pitchFamily="49" charset="0"/>
              </a:rPr>
              <a:t>f"Hello</a:t>
            </a:r>
            <a:r>
              <a:rPr lang="en-US" sz="3600" dirty="0">
                <a:latin typeface="Consolas" panose="020B0609020204030204" pitchFamily="49" charset="0"/>
              </a:rPr>
              <a:t> {username}, your email is {email}"</a:t>
            </a:r>
          </a:p>
        </p:txBody>
      </p:sp>
    </p:spTree>
    <p:extLst>
      <p:ext uri="{BB962C8B-B14F-4D97-AF65-F5344CB8AC3E}">
        <p14:creationId xmlns:p14="http://schemas.microsoft.com/office/powerpoint/2010/main" val="25651876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3F6FE-B265-6487-8996-75EB177C6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9F31A25-56A8-8610-DED7-B8991840A865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5F2E40F-3853-8894-1587-80A47A4B3EBD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66E6E87-BCE6-29D6-AD57-FF5DEE21A7BE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B874A679-5A59-C772-D804-3D0C457782C5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A6DFCBAF-7B42-820A-EC23-14D771681DB3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DD8E9A39-1268-3ED6-D43F-8A1A126C2424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FEE7FBFF-A936-C083-982C-0A8E9DA1DD5F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Accessing Form Data using request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F910713-7D61-943F-1668-4A1AA5E1DA81}"/>
              </a:ext>
            </a:extLst>
          </p:cNvPr>
          <p:cNvSpPr txBox="1"/>
          <p:nvPr/>
        </p:nvSpPr>
        <p:spPr>
          <a:xfrm>
            <a:off x="177555" y="2095500"/>
            <a:ext cx="1788184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dirty="0">
                <a:latin typeface="Consolas" panose="020B0609020204030204" pitchFamily="49" charset="0"/>
              </a:rPr>
              <a:t>The </a:t>
            </a:r>
            <a:r>
              <a:rPr lang="en-US" sz="3600" dirty="0" err="1">
                <a:latin typeface="Consolas" panose="020B0609020204030204" pitchFamily="49" charset="0"/>
              </a:rPr>
              <a:t>request.form</a:t>
            </a:r>
            <a:r>
              <a:rPr lang="en-US" sz="3600" dirty="0">
                <a:latin typeface="Consolas" panose="020B0609020204030204" pitchFamily="49" charset="0"/>
              </a:rPr>
              <a:t> acts like a dictionary. Each input’s name is the key. If you want to have a default value for specific input if the user leaves a field empty, you can use </a:t>
            </a:r>
            <a:r>
              <a:rPr lang="en-US" sz="3600" dirty="0" err="1">
                <a:latin typeface="Consolas" panose="020B0609020204030204" pitchFamily="49" charset="0"/>
              </a:rPr>
              <a:t>form.get</a:t>
            </a:r>
            <a:r>
              <a:rPr lang="en-US" sz="3600" dirty="0">
                <a:latin typeface="Consolas" panose="020B0609020204030204" pitchFamily="49" charset="0"/>
              </a:rPr>
              <a:t>():</a:t>
            </a:r>
          </a:p>
          <a:p>
            <a:pPr algn="just"/>
            <a:endParaRPr lang="en-US" sz="3600" b="1" dirty="0">
              <a:latin typeface="Consolas" panose="020B0609020204030204" pitchFamily="49" charset="0"/>
            </a:endParaRPr>
          </a:p>
          <a:p>
            <a:pPr algn="just"/>
            <a:r>
              <a:rPr lang="en-US" sz="3600" b="1" dirty="0">
                <a:latin typeface="Consolas" panose="020B0609020204030204" pitchFamily="49" charset="0"/>
              </a:rPr>
              <a:t>Example: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username = </a:t>
            </a:r>
            <a:r>
              <a:rPr lang="en-US" sz="3600" dirty="0" err="1">
                <a:latin typeface="Consolas" panose="020B0609020204030204" pitchFamily="49" charset="0"/>
              </a:rPr>
              <a:t>request.form.get</a:t>
            </a:r>
            <a:r>
              <a:rPr lang="en-US" sz="3600" dirty="0">
                <a:latin typeface="Consolas" panose="020B0609020204030204" pitchFamily="49" charset="0"/>
              </a:rPr>
              <a:t>('username', '')</a:t>
            </a:r>
          </a:p>
        </p:txBody>
      </p:sp>
    </p:spTree>
    <p:extLst>
      <p:ext uri="{BB962C8B-B14F-4D97-AF65-F5344CB8AC3E}">
        <p14:creationId xmlns:p14="http://schemas.microsoft.com/office/powerpoint/2010/main" val="9507589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B5D08-1F9E-D2A5-5477-41C3DCD62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5D037F4-4636-061B-A326-43DC0EF2211B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BFA2BA5-0953-AF18-2D59-E2E158EA6933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B114D251-FA96-8F32-CB28-8339334D2A70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2673C557-2025-E284-AC82-6A8A73727A29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AAABF719-6432-8870-C936-0365B3B83DC4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922D45E7-FD47-F5FA-B58D-30CC0A79478C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027749DE-A4E4-39F7-16ED-72A78FFD6359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Handling both GET and POST method in one route.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261B816-82C7-9FB7-0432-CCD40D116E5A}"/>
              </a:ext>
            </a:extLst>
          </p:cNvPr>
          <p:cNvSpPr txBox="1"/>
          <p:nvPr/>
        </p:nvSpPr>
        <p:spPr>
          <a:xfrm>
            <a:off x="177555" y="2095500"/>
            <a:ext cx="17881845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dirty="0">
                <a:latin typeface="Consolas" panose="020B0609020204030204" pitchFamily="49" charset="0"/>
              </a:rPr>
              <a:t>Sometimes, we want the same route to display the form on GET and process it on POST:</a:t>
            </a:r>
          </a:p>
          <a:p>
            <a:pPr algn="just"/>
            <a:r>
              <a:rPr lang="en-US" sz="3600" b="1" dirty="0">
                <a:latin typeface="Consolas" panose="020B0609020204030204" pitchFamily="49" charset="0"/>
              </a:rPr>
              <a:t>Example:</a:t>
            </a:r>
          </a:p>
          <a:p>
            <a:pPr algn="just"/>
            <a:endParaRPr lang="en-US" sz="3600" b="1" dirty="0">
              <a:latin typeface="Consolas" panose="020B0609020204030204" pitchFamily="49" charset="0"/>
            </a:endParaRP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@app.route('/submit', methods=['GET', 'POST'])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def submit():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    if </a:t>
            </a:r>
            <a:r>
              <a:rPr lang="en-US" sz="3600" dirty="0" err="1">
                <a:latin typeface="Consolas" panose="020B0609020204030204" pitchFamily="49" charset="0"/>
              </a:rPr>
              <a:t>request.method</a:t>
            </a:r>
            <a:r>
              <a:rPr lang="en-US" sz="3600" dirty="0">
                <a:latin typeface="Consolas" panose="020B0609020204030204" pitchFamily="49" charset="0"/>
              </a:rPr>
              <a:t> == 'POST':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        username = </a:t>
            </a:r>
            <a:r>
              <a:rPr lang="en-US" sz="3600" dirty="0" err="1">
                <a:latin typeface="Consolas" panose="020B0609020204030204" pitchFamily="49" charset="0"/>
              </a:rPr>
              <a:t>request.form.get</a:t>
            </a:r>
            <a:r>
              <a:rPr lang="en-US" sz="3600" dirty="0">
                <a:latin typeface="Consolas" panose="020B0609020204030204" pitchFamily="49" charset="0"/>
              </a:rPr>
              <a:t>('username', '')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        email = </a:t>
            </a:r>
            <a:r>
              <a:rPr lang="en-US" sz="3600" dirty="0" err="1">
                <a:latin typeface="Consolas" panose="020B0609020204030204" pitchFamily="49" charset="0"/>
              </a:rPr>
              <a:t>request.form.get</a:t>
            </a:r>
            <a:r>
              <a:rPr lang="en-US" sz="3600" dirty="0">
                <a:latin typeface="Consolas" panose="020B0609020204030204" pitchFamily="49" charset="0"/>
              </a:rPr>
              <a:t>('email', '')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        return </a:t>
            </a:r>
            <a:r>
              <a:rPr lang="en-US" sz="3600" dirty="0" err="1">
                <a:latin typeface="Consolas" panose="020B0609020204030204" pitchFamily="49" charset="0"/>
              </a:rPr>
              <a:t>f"Hello</a:t>
            </a:r>
            <a:r>
              <a:rPr lang="en-US" sz="3600" dirty="0">
                <a:latin typeface="Consolas" panose="020B0609020204030204" pitchFamily="49" charset="0"/>
              </a:rPr>
              <a:t> {username}, your email is {email}"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    else: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        return </a:t>
            </a:r>
            <a:r>
              <a:rPr lang="en-US" sz="3600" dirty="0" err="1">
                <a:latin typeface="Consolas" panose="020B0609020204030204" pitchFamily="49" charset="0"/>
              </a:rPr>
              <a:t>render_template</a:t>
            </a:r>
            <a:r>
              <a:rPr lang="en-US" sz="3600" dirty="0">
                <a:latin typeface="Consolas" panose="020B0609020204030204" pitchFamily="49" charset="0"/>
              </a:rPr>
              <a:t>("login.html")</a:t>
            </a:r>
          </a:p>
        </p:txBody>
      </p:sp>
    </p:spTree>
    <p:extLst>
      <p:ext uri="{BB962C8B-B14F-4D97-AF65-F5344CB8AC3E}">
        <p14:creationId xmlns:p14="http://schemas.microsoft.com/office/powerpoint/2010/main" val="12279621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C3855-6567-1674-3898-FCED779F4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12605B8-3C18-725E-44DA-E04CE38ED979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83A0642-2B05-C6EE-C557-E9B924C6400B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8A20DEC6-7432-EB08-966A-0FE0DA5224B4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B0DC3C94-8958-6AE4-038C-7A3B11838E53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DC2F81D7-1F85-5212-FC66-62FA21685262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9B3EB22E-C0D2-22C4-4E42-025F194F4CAD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C0DC3E9A-7A8B-E964-A3BC-80043737A50F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Input Validation and Sanitation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666C23E-B53A-4E26-E073-F57C74AA4490}"/>
              </a:ext>
            </a:extLst>
          </p:cNvPr>
          <p:cNvSpPr txBox="1"/>
          <p:nvPr/>
        </p:nvSpPr>
        <p:spPr>
          <a:xfrm>
            <a:off x="177555" y="2095500"/>
            <a:ext cx="17881845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dirty="0">
                <a:latin typeface="Consolas" panose="020B0609020204030204" pitchFamily="49" charset="0"/>
              </a:rPr>
              <a:t>When users submit a form, the server cannot assume that:</a:t>
            </a:r>
          </a:p>
          <a:p>
            <a:pPr marL="1028700" lvl="1" indent="-571500" algn="just">
              <a:buFont typeface="Wingdings" panose="05000000000000000000" pitchFamily="2" charset="2"/>
              <a:buChar char="ü"/>
            </a:pPr>
            <a:r>
              <a:rPr lang="en-US" sz="3600" dirty="0">
                <a:latin typeface="Consolas" panose="020B0609020204030204" pitchFamily="49" charset="0"/>
              </a:rPr>
              <a:t>All fields are filled correctly</a:t>
            </a:r>
          </a:p>
          <a:p>
            <a:pPr marL="1028700" lvl="1" indent="-571500" algn="just">
              <a:buFont typeface="Wingdings" panose="05000000000000000000" pitchFamily="2" charset="2"/>
              <a:buChar char="ü"/>
            </a:pPr>
            <a:r>
              <a:rPr lang="en-US" sz="3600" dirty="0">
                <a:latin typeface="Consolas" panose="020B0609020204030204" pitchFamily="49" charset="0"/>
              </a:rPr>
              <a:t>The data format is valid</a:t>
            </a:r>
          </a:p>
          <a:p>
            <a:pPr marL="1028700" lvl="1" indent="-571500" algn="just">
              <a:buFont typeface="Wingdings" panose="05000000000000000000" pitchFamily="2" charset="2"/>
              <a:buChar char="ü"/>
            </a:pPr>
            <a:r>
              <a:rPr lang="en-US" sz="3600" dirty="0">
                <a:latin typeface="Consolas" panose="020B0609020204030204" pitchFamily="49" charset="0"/>
              </a:rPr>
              <a:t>The input is safe to use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Users may:</a:t>
            </a:r>
          </a:p>
          <a:p>
            <a:pPr marL="1028700" lvl="1" indent="-571500" algn="just">
              <a:buFont typeface="Wingdings" panose="05000000000000000000" pitchFamily="2" charset="2"/>
              <a:buChar char="ü"/>
            </a:pPr>
            <a:r>
              <a:rPr lang="en-US" sz="3600" dirty="0">
                <a:latin typeface="Consolas" panose="020B0609020204030204" pitchFamily="49" charset="0"/>
              </a:rPr>
              <a:t>Leave fields empty</a:t>
            </a:r>
          </a:p>
          <a:p>
            <a:pPr marL="1028700" lvl="1" indent="-571500" algn="just">
              <a:buFont typeface="Wingdings" panose="05000000000000000000" pitchFamily="2" charset="2"/>
              <a:buChar char="ü"/>
            </a:pPr>
            <a:r>
              <a:rPr lang="en-US" sz="3600" dirty="0">
                <a:latin typeface="Consolas" panose="020B0609020204030204" pitchFamily="49" charset="0"/>
              </a:rPr>
              <a:t>Enter incorrect formats (letters instead of numbers)</a:t>
            </a:r>
          </a:p>
          <a:p>
            <a:pPr marL="1028700" lvl="1" indent="-571500" algn="just">
              <a:buFont typeface="Wingdings" panose="05000000000000000000" pitchFamily="2" charset="2"/>
              <a:buChar char="ü"/>
            </a:pPr>
            <a:r>
              <a:rPr lang="en-US" sz="3600" dirty="0">
                <a:latin typeface="Consolas" panose="020B0609020204030204" pitchFamily="49" charset="0"/>
              </a:rPr>
              <a:t>Intentionally submit harmful input (scripts, SQL commands)</a:t>
            </a: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That is why input validation and input sanitization are essential steps after receiving form data.</a:t>
            </a:r>
          </a:p>
        </p:txBody>
      </p:sp>
    </p:spTree>
    <p:extLst>
      <p:ext uri="{BB962C8B-B14F-4D97-AF65-F5344CB8AC3E}">
        <p14:creationId xmlns:p14="http://schemas.microsoft.com/office/powerpoint/2010/main" val="9586803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13E4F-9BB0-C20D-DD7C-1B1A3F926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A42B150-732F-0060-6F89-9871DB85FCAE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77478B5-6D9D-BD71-C424-F7AC56C99D94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27A6E570-7F1E-ADFF-2A70-39D5FA3BC564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2A2924EA-E4E9-FB6C-940B-0109F9CD8302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B0F0CA55-73C4-8FDE-53D7-1EAF2C6FD9F6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3B7BC635-FA87-8211-3EC7-5D0E609B750C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C38B573F-CB82-9165-E51B-B88D84204BCC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Input Validation and Sanitation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E486971-BA91-906B-1D68-8949615B3593}"/>
              </a:ext>
            </a:extLst>
          </p:cNvPr>
          <p:cNvSpPr txBox="1"/>
          <p:nvPr/>
        </p:nvSpPr>
        <p:spPr>
          <a:xfrm>
            <a:off x="177555" y="2095500"/>
            <a:ext cx="17881845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b="1" dirty="0">
                <a:latin typeface="Consolas" panose="020B0609020204030204" pitchFamily="49" charset="0"/>
              </a:rPr>
              <a:t>1. Flask Validation and Sanitation WITHOUT installing a Library</a:t>
            </a:r>
          </a:p>
          <a:p>
            <a:pPr algn="just"/>
            <a:endParaRPr lang="en-US" sz="3600" b="1" dirty="0">
              <a:latin typeface="Consolas" panose="020B0609020204030204" pitchFamily="49" charset="0"/>
            </a:endParaRPr>
          </a:p>
          <a:p>
            <a:pPr algn="just"/>
            <a:r>
              <a:rPr lang="en-US" sz="3600" b="1" dirty="0">
                <a:latin typeface="Consolas" panose="020B0609020204030204" pitchFamily="49" charset="0"/>
              </a:rPr>
              <a:t>Example: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&lt;form action="/register" method="post"&gt;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	Username: &lt;input type="text" name="username"&gt;&lt;</a:t>
            </a:r>
            <a:r>
              <a:rPr lang="en-US" sz="3600" dirty="0" err="1">
                <a:latin typeface="Consolas" panose="020B0609020204030204" pitchFamily="49" charset="0"/>
              </a:rPr>
              <a:t>br</a:t>
            </a:r>
            <a:r>
              <a:rPr lang="en-US" sz="3600" dirty="0">
                <a:latin typeface="Consolas" panose="020B0609020204030204" pitchFamily="49" charset="0"/>
              </a:rPr>
              <a:t>&gt;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	Email: &lt;input type="text" name="email"&gt;&lt;</a:t>
            </a:r>
            <a:r>
              <a:rPr lang="en-US" sz="3600" dirty="0" err="1">
                <a:latin typeface="Consolas" panose="020B0609020204030204" pitchFamily="49" charset="0"/>
              </a:rPr>
              <a:t>br</a:t>
            </a:r>
            <a:r>
              <a:rPr lang="en-US" sz="3600" dirty="0">
                <a:latin typeface="Consolas" panose="020B0609020204030204" pitchFamily="49" charset="0"/>
              </a:rPr>
              <a:t>&gt;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	Password: &lt;input type="password" name="password"&gt;&lt;</a:t>
            </a:r>
            <a:r>
              <a:rPr lang="en-US" sz="3600" dirty="0" err="1">
                <a:latin typeface="Consolas" panose="020B0609020204030204" pitchFamily="49" charset="0"/>
              </a:rPr>
              <a:t>br</a:t>
            </a:r>
            <a:r>
              <a:rPr lang="en-US" sz="3600" dirty="0">
                <a:latin typeface="Consolas" panose="020B0609020204030204" pitchFamily="49" charset="0"/>
              </a:rPr>
              <a:t>&gt;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	&lt;input type="submit" value="Register"&gt;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&lt;/form&gt;</a:t>
            </a: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87517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C64A7-6D9D-5577-B605-8F61D2878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9EE2B6F-AF13-0937-78D3-23A2EBD8EE2A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88CC38A-8CCF-71F3-857A-97971ABBCF7A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8BAB5583-3175-157C-BF83-5AC0FCECF098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065FBE61-FB3C-FD91-AD44-6C16D7BD2494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BF31BDAE-E36D-3E29-5530-B7E0FD08B3D7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86C5088D-989C-25F9-F80D-EDC48D8FEA74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AF23306C-27A8-1313-049D-E8EA69D6D4C0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Input Validation and Sanitation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D5EA97E-51EF-904A-C8FD-3188D3533BB3}"/>
              </a:ext>
            </a:extLst>
          </p:cNvPr>
          <p:cNvSpPr txBox="1"/>
          <p:nvPr/>
        </p:nvSpPr>
        <p:spPr>
          <a:xfrm>
            <a:off x="177555" y="2095500"/>
            <a:ext cx="17881845" cy="77559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dirty="0">
                <a:latin typeface="Consolas" panose="020B0609020204030204" pitchFamily="49" charset="0"/>
              </a:rPr>
              <a:t>@app.route('/register', methods=['POST'])</a:t>
            </a: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def register():</a:t>
            </a: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	username = </a:t>
            </a:r>
            <a:r>
              <a:rPr lang="en-US" sz="3200" dirty="0" err="1">
                <a:latin typeface="Consolas" panose="020B0609020204030204" pitchFamily="49" charset="0"/>
              </a:rPr>
              <a:t>request.form.get</a:t>
            </a:r>
            <a:r>
              <a:rPr lang="en-US" sz="3200" dirty="0">
                <a:latin typeface="Consolas" panose="020B0609020204030204" pitchFamily="49" charset="0"/>
              </a:rPr>
              <a:t>('username', '').strip()</a:t>
            </a: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    email = </a:t>
            </a:r>
            <a:r>
              <a:rPr lang="en-US" sz="3200" dirty="0" err="1">
                <a:latin typeface="Consolas" panose="020B0609020204030204" pitchFamily="49" charset="0"/>
              </a:rPr>
              <a:t>request.form.get</a:t>
            </a:r>
            <a:r>
              <a:rPr lang="en-US" sz="3200" dirty="0">
                <a:latin typeface="Consolas" panose="020B0609020204030204" pitchFamily="49" charset="0"/>
              </a:rPr>
              <a:t>('email', '').strip()</a:t>
            </a: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    password = </a:t>
            </a:r>
            <a:r>
              <a:rPr lang="en-US" sz="3200" dirty="0" err="1">
                <a:latin typeface="Consolas" panose="020B0609020204030204" pitchFamily="49" charset="0"/>
              </a:rPr>
              <a:t>request.form.get</a:t>
            </a:r>
            <a:r>
              <a:rPr lang="en-US" sz="3200" dirty="0">
                <a:latin typeface="Consolas" panose="020B0609020204030204" pitchFamily="49" charset="0"/>
              </a:rPr>
              <a:t>('password', '').strip()</a:t>
            </a:r>
          </a:p>
          <a:p>
            <a:pPr algn="just"/>
            <a:endParaRPr lang="en-US" sz="1000" dirty="0">
              <a:latin typeface="Consolas" panose="020B0609020204030204" pitchFamily="49" charset="0"/>
            </a:endParaRP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    if not username or not email or not password:</a:t>
            </a: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        return "All fields are required“</a:t>
            </a:r>
          </a:p>
          <a:p>
            <a:pPr algn="just"/>
            <a:endParaRPr lang="en-US" sz="1000" dirty="0">
              <a:latin typeface="Consolas" panose="020B0609020204030204" pitchFamily="49" charset="0"/>
            </a:endParaRP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    if len(username) &lt; 4:</a:t>
            </a: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        return "Username must be at least 4 characters long"</a:t>
            </a:r>
          </a:p>
          <a:p>
            <a:pPr algn="just"/>
            <a:endParaRPr lang="en-US" sz="1000" dirty="0">
              <a:latin typeface="Consolas" panose="020B0609020204030204" pitchFamily="49" charset="0"/>
            </a:endParaRP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    if not </a:t>
            </a:r>
            <a:r>
              <a:rPr lang="en-US" sz="3200" dirty="0" err="1">
                <a:latin typeface="Consolas" panose="020B0609020204030204" pitchFamily="49" charset="0"/>
              </a:rPr>
              <a:t>re.match</a:t>
            </a:r>
            <a:r>
              <a:rPr lang="en-US" sz="3200" dirty="0">
                <a:latin typeface="Consolas" panose="020B0609020204030204" pitchFamily="49" charset="0"/>
              </a:rPr>
              <a:t>(r"[A-Za-z0-9._%+-]+@[A-Za-z0-9.-]+\.[A-Za-z]{2,7}", email):</a:t>
            </a: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        return "Invalid email format"</a:t>
            </a:r>
          </a:p>
          <a:p>
            <a:pPr algn="just"/>
            <a:endParaRPr lang="en-US" sz="1000" dirty="0">
              <a:latin typeface="Consolas" panose="020B0609020204030204" pitchFamily="49" charset="0"/>
            </a:endParaRP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    if len(password) &lt; 6:</a:t>
            </a: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        return "Password must be at least 6 characters long"</a:t>
            </a:r>
          </a:p>
          <a:p>
            <a:pPr algn="just"/>
            <a:endParaRPr lang="en-US" sz="1000" dirty="0">
              <a:latin typeface="Consolas" panose="020B0609020204030204" pitchFamily="49" charset="0"/>
            </a:endParaRP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    return "Registration successful!"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E6C2C33-EE25-90F9-1D04-072F23B60B82}"/>
              </a:ext>
            </a:extLst>
          </p:cNvPr>
          <p:cNvCxnSpPr>
            <a:cxnSpLocks/>
          </p:cNvCxnSpPr>
          <p:nvPr/>
        </p:nvCxnSpPr>
        <p:spPr>
          <a:xfrm flipV="1">
            <a:off x="3048000" y="4838700"/>
            <a:ext cx="10134600" cy="224790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8F834B71-D828-F805-E0CD-CB8E6CA50731}"/>
              </a:ext>
            </a:extLst>
          </p:cNvPr>
          <p:cNvSpPr/>
          <p:nvPr/>
        </p:nvSpPr>
        <p:spPr>
          <a:xfrm>
            <a:off x="13182600" y="4071892"/>
            <a:ext cx="4527331" cy="164310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800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To use regular expressions, you need to import a built-in library "re".</a:t>
            </a:r>
            <a:endParaRPr lang="en-PH" sz="2800" dirty="0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57012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79C39-11CA-9155-6C8F-6DEDDD7E3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48BD7E9-3897-2D64-1219-DBC08BB52F4D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6F349FC-8E44-6F91-0433-96985D1A24B0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44030EC0-7E56-D845-A069-06493155CA3F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1F708BDC-6E3A-7FFB-823B-2E7F3D41C854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BABD3363-63E3-C3B6-7486-3145DAC13CB9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CA4360B7-9844-FFA1-954F-67CFFC56C70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8593E656-91DA-0C94-3AD8-474D96D4E0B9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Input Validation and Sanitation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A63C128-150F-C43E-0D83-007AEF214FE8}"/>
              </a:ext>
            </a:extLst>
          </p:cNvPr>
          <p:cNvSpPr txBox="1"/>
          <p:nvPr/>
        </p:nvSpPr>
        <p:spPr>
          <a:xfrm>
            <a:off x="177555" y="2095500"/>
            <a:ext cx="17881845" cy="729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b="1" dirty="0">
                <a:latin typeface="Consolas" panose="020B0609020204030204" pitchFamily="49" charset="0"/>
              </a:rPr>
              <a:t>2. Flask Validation and Sanitation installing a Library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Install first these libraries</a:t>
            </a:r>
          </a:p>
          <a:p>
            <a:pPr marL="1028700" lvl="1" indent="-571500" algn="just">
              <a:buFont typeface="Wingdings" panose="05000000000000000000" pitchFamily="2" charset="2"/>
              <a:buChar char="ü"/>
            </a:pPr>
            <a:r>
              <a:rPr lang="en-US" sz="3600" dirty="0">
                <a:latin typeface="Consolas" panose="020B0609020204030204" pitchFamily="49" charset="0"/>
              </a:rPr>
              <a:t>flask-wtf 	- Flask-WTF is an extension for Flask that integrates </a:t>
            </a:r>
            <a:r>
              <a:rPr lang="en-US" sz="3600" dirty="0" err="1">
                <a:latin typeface="Consolas" panose="020B0609020204030204" pitchFamily="49" charset="0"/>
              </a:rPr>
              <a:t>WTForms</a:t>
            </a:r>
            <a:r>
              <a:rPr lang="en-US" sz="3600" dirty="0">
                <a:latin typeface="Consolas" panose="020B0609020204030204" pitchFamily="49" charset="0"/>
              </a:rPr>
              <a:t> with Flask that makes working with forms easier and more secure. It also provides CSRF protection where it automatically generates hidden CSRF tokens for your forms.</a:t>
            </a:r>
          </a:p>
          <a:p>
            <a:pPr lvl="1" algn="just"/>
            <a:r>
              <a:rPr lang="en-US" sz="3600" b="1" dirty="0">
                <a:latin typeface="Consolas" panose="020B0609020204030204" pitchFamily="49" charset="0"/>
              </a:rPr>
              <a:t>Command: </a:t>
            </a:r>
            <a:r>
              <a:rPr lang="en-US" sz="3600" dirty="0">
                <a:latin typeface="Consolas" panose="020B0609020204030204" pitchFamily="49" charset="0"/>
              </a:rPr>
              <a:t>pip install flask-wtf</a:t>
            </a:r>
          </a:p>
          <a:p>
            <a:pPr lvl="1" algn="just"/>
            <a:endParaRPr lang="en-US" sz="3600" dirty="0">
              <a:latin typeface="Consolas" panose="020B0609020204030204" pitchFamily="49" charset="0"/>
            </a:endParaRPr>
          </a:p>
          <a:p>
            <a:pPr marL="1028700" lvl="1" indent="-571500" algn="just">
              <a:buFont typeface="Wingdings" panose="05000000000000000000" pitchFamily="2" charset="2"/>
              <a:buChar char="ü"/>
            </a:pPr>
            <a:r>
              <a:rPr lang="en-US" sz="3600" dirty="0">
                <a:latin typeface="Consolas" panose="020B0609020204030204" pitchFamily="49" charset="0"/>
              </a:rPr>
              <a:t>email-validator - is a Python library specifically for validating email addresses. Works with </a:t>
            </a:r>
            <a:r>
              <a:rPr lang="en-US" sz="3600" dirty="0" err="1">
                <a:latin typeface="Consolas" panose="020B0609020204030204" pitchFamily="49" charset="0"/>
              </a:rPr>
              <a:t>WTForms</a:t>
            </a:r>
            <a:r>
              <a:rPr lang="en-US" sz="3600" dirty="0">
                <a:latin typeface="Consolas" panose="020B0609020204030204" pitchFamily="49" charset="0"/>
              </a:rPr>
              <a:t> Email() validator. It Ensures that someone@example.com is valid but someone@@example is not.</a:t>
            </a:r>
          </a:p>
          <a:p>
            <a:pPr lvl="1" algn="just"/>
            <a:endParaRPr lang="en-US" sz="3600" b="1" dirty="0">
              <a:latin typeface="Consolas" panose="020B0609020204030204" pitchFamily="49" charset="0"/>
            </a:endParaRPr>
          </a:p>
          <a:p>
            <a:pPr lvl="1" algn="just"/>
            <a:r>
              <a:rPr lang="en-US" sz="3600" b="1" dirty="0">
                <a:latin typeface="Consolas" panose="020B0609020204030204" pitchFamily="49" charset="0"/>
              </a:rPr>
              <a:t>Command: </a:t>
            </a:r>
            <a:r>
              <a:rPr lang="en-US" sz="3600" dirty="0">
                <a:latin typeface="Consolas" panose="020B0609020204030204" pitchFamily="49" charset="0"/>
              </a:rPr>
              <a:t>pip install email-validator</a:t>
            </a:r>
          </a:p>
        </p:txBody>
      </p:sp>
    </p:spTree>
    <p:extLst>
      <p:ext uri="{BB962C8B-B14F-4D97-AF65-F5344CB8AC3E}">
        <p14:creationId xmlns:p14="http://schemas.microsoft.com/office/powerpoint/2010/main" val="38185431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107E5-C852-862D-E3DA-57C802FAF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C6C2604-6594-9246-6117-E02F9688640E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1CA56A6-7CEF-9244-821D-AB9A47380958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8821D7D6-901C-AADD-9EB1-67365C159D14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294DF9A-38F0-F075-BB5F-AE2851E775B3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B565DBCB-9C16-7058-EDC1-B4E372C76657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E82B0317-8CAC-1343-5DCD-3B17591DFE47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2649B0AE-D21C-A04E-241D-AAC62FA0C552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Input Validation and Sanitation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2432DA2-2C37-1145-410E-108E435593E9}"/>
              </a:ext>
            </a:extLst>
          </p:cNvPr>
          <p:cNvSpPr txBox="1"/>
          <p:nvPr/>
        </p:nvSpPr>
        <p:spPr>
          <a:xfrm>
            <a:off x="177555" y="2095500"/>
            <a:ext cx="1788184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b="1" dirty="0">
                <a:latin typeface="Consolas" panose="020B0609020204030204" pitchFamily="49" charset="0"/>
              </a:rPr>
              <a:t>2.1. List of Common Validators in Flask-WTF</a:t>
            </a: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C54DC5F-FBD9-345F-B587-9C9F9B7FCB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955767"/>
              </p:ext>
            </p:extLst>
          </p:nvPr>
        </p:nvGraphicFramePr>
        <p:xfrm>
          <a:off x="228600" y="2695664"/>
          <a:ext cx="17297400" cy="7096039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6400800">
                  <a:extLst>
                    <a:ext uri="{9D8B030D-6E8A-4147-A177-3AD203B41FA5}">
                      <a16:colId xmlns:a16="http://schemas.microsoft.com/office/drawing/2014/main" val="3294837866"/>
                    </a:ext>
                  </a:extLst>
                </a:gridCol>
                <a:gridCol w="10896600">
                  <a:extLst>
                    <a:ext uri="{9D8B030D-6E8A-4147-A177-3AD203B41FA5}">
                      <a16:colId xmlns:a16="http://schemas.microsoft.com/office/drawing/2014/main" val="1103619100"/>
                    </a:ext>
                  </a:extLst>
                </a:gridCol>
              </a:tblGrid>
              <a:tr h="7277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3600" b="1">
                          <a:latin typeface="Consolas" panose="020B0609020204030204" pitchFamily="49" charset="0"/>
                        </a:rPr>
                        <a:t>Validator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3600" b="1" dirty="0">
                          <a:latin typeface="Consolas" panose="020B0609020204030204" pitchFamily="49" charset="0"/>
                        </a:rPr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2211270"/>
                  </a:ext>
                </a:extLst>
              </a:tr>
              <a:tr h="7277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3600">
                          <a:latin typeface="Consolas" panose="020B0609020204030204" pitchFamily="49" charset="0"/>
                        </a:rPr>
                        <a:t>DataRequired()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600">
                          <a:latin typeface="Consolas" panose="020B0609020204030204" pitchFamily="49" charset="0"/>
                        </a:rPr>
                        <a:t>Field must not be empty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7235326"/>
                  </a:ext>
                </a:extLst>
              </a:tr>
              <a:tr h="7277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3600">
                          <a:latin typeface="Consolas" panose="020B0609020204030204" pitchFamily="49" charset="0"/>
                        </a:rPr>
                        <a:t>Length(min, max)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3600">
                          <a:latin typeface="Consolas" panose="020B0609020204030204" pitchFamily="49" charset="0"/>
                        </a:rPr>
                        <a:t>Restricts input length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8302744"/>
                  </a:ext>
                </a:extLst>
              </a:tr>
              <a:tr h="7277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3600">
                          <a:latin typeface="Consolas" panose="020B0609020204030204" pitchFamily="49" charset="0"/>
                        </a:rPr>
                        <a:t>Email()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3600">
                          <a:latin typeface="Consolas" panose="020B0609020204030204" pitchFamily="49" charset="0"/>
                        </a:rPr>
                        <a:t>Validates email format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5950663"/>
                  </a:ext>
                </a:extLst>
              </a:tr>
              <a:tr h="12736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3600" dirty="0" err="1">
                          <a:latin typeface="Consolas" panose="020B0609020204030204" pitchFamily="49" charset="0"/>
                        </a:rPr>
                        <a:t>EqualTo</a:t>
                      </a:r>
                      <a:r>
                        <a:rPr lang="en-PH" sz="3600" dirty="0">
                          <a:latin typeface="Consolas" panose="020B0609020204030204" pitchFamily="49" charset="0"/>
                        </a:rPr>
                        <a:t>('field')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600">
                          <a:latin typeface="Consolas" panose="020B0609020204030204" pitchFamily="49" charset="0"/>
                        </a:rPr>
                        <a:t>Matches two fields (e.g., password confirm)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5814139"/>
                  </a:ext>
                </a:extLst>
              </a:tr>
              <a:tr h="7277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3600" dirty="0" err="1">
                          <a:latin typeface="Consolas" panose="020B0609020204030204" pitchFamily="49" charset="0"/>
                        </a:rPr>
                        <a:t>Regexp</a:t>
                      </a:r>
                      <a:r>
                        <a:rPr lang="en-PH" sz="3600" dirty="0">
                          <a:latin typeface="Consolas" panose="020B0609020204030204" pitchFamily="49" charset="0"/>
                        </a:rPr>
                        <a:t>(pattern)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3600">
                          <a:latin typeface="Consolas" panose="020B0609020204030204" pitchFamily="49" charset="0"/>
                        </a:rPr>
                        <a:t>Custom regex validation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6829441"/>
                  </a:ext>
                </a:extLst>
              </a:tr>
              <a:tr h="7277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3600">
                          <a:latin typeface="Consolas" panose="020B0609020204030204" pitchFamily="49" charset="0"/>
                        </a:rPr>
                        <a:t>NumberRange(min, max)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3600">
                          <a:latin typeface="Consolas" panose="020B0609020204030204" pitchFamily="49" charset="0"/>
                        </a:rPr>
                        <a:t>Numeric range validation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2634082"/>
                  </a:ext>
                </a:extLst>
              </a:tr>
              <a:tr h="7277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3600">
                          <a:latin typeface="Consolas" panose="020B0609020204030204" pitchFamily="49" charset="0"/>
                        </a:rPr>
                        <a:t>Optional()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3600">
                          <a:latin typeface="Consolas" panose="020B0609020204030204" pitchFamily="49" charset="0"/>
                        </a:rPr>
                        <a:t>Allows empty input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4274033"/>
                  </a:ext>
                </a:extLst>
              </a:tr>
              <a:tr h="7277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3600">
                          <a:latin typeface="Consolas" panose="020B0609020204030204" pitchFamily="49" charset="0"/>
                        </a:rPr>
                        <a:t>URL()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3600" dirty="0">
                          <a:latin typeface="Consolas" panose="020B0609020204030204" pitchFamily="49" charset="0"/>
                        </a:rPr>
                        <a:t>Validates URL format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02615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80646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7DAF8-337E-C488-A055-67D8E38FF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65B6E57-F591-705A-1173-07125CFD400B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0636887-E5E3-8B86-2BD1-6AB63FC982B0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E181C13-0A83-21B2-858E-2BF5640B37A8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8BCC86A8-5CCD-1E33-451C-00CAA21B34A6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465B34AD-B579-F1FA-2535-D7076DC98250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DEBFE608-42DF-BFCE-580E-2B75454784E3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14F2DD87-0F5C-1046-FE3F-0D0F85402EED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Input Validation and Sanitation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5DA54A7-8EBE-60AA-1614-B0E0FB4D3299}"/>
              </a:ext>
            </a:extLst>
          </p:cNvPr>
          <p:cNvSpPr txBox="1"/>
          <p:nvPr/>
        </p:nvSpPr>
        <p:spPr>
          <a:xfrm>
            <a:off x="172300" y="2095500"/>
            <a:ext cx="178818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b="1" dirty="0">
                <a:latin typeface="Consolas" panose="020B0609020204030204" pitchFamily="49" charset="0"/>
              </a:rPr>
              <a:t>2.2. List of Field Types in </a:t>
            </a:r>
            <a:r>
              <a:rPr lang="en-US" sz="3600" b="1" dirty="0" err="1">
                <a:latin typeface="Consolas" panose="020B0609020204030204" pitchFamily="49" charset="0"/>
              </a:rPr>
              <a:t>WTForms</a:t>
            </a:r>
            <a:endParaRPr lang="en-US" sz="3600" dirty="0">
              <a:latin typeface="Consolas" panose="020B0609020204030204" pitchFamily="49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931ECC6-5F05-6BF9-0284-E8BD188D3CE6}"/>
              </a:ext>
            </a:extLst>
          </p:cNvPr>
          <p:cNvGraphicFramePr>
            <a:graphicFrameLocks noGrp="1"/>
          </p:cNvGraphicFramePr>
          <p:nvPr/>
        </p:nvGraphicFramePr>
        <p:xfrm>
          <a:off x="269327" y="2711939"/>
          <a:ext cx="17749345" cy="705536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4983563">
                  <a:extLst>
                    <a:ext uri="{9D8B030D-6E8A-4147-A177-3AD203B41FA5}">
                      <a16:colId xmlns:a16="http://schemas.microsoft.com/office/drawing/2014/main" val="3366976460"/>
                    </a:ext>
                  </a:extLst>
                </a:gridCol>
                <a:gridCol w="12765782">
                  <a:extLst>
                    <a:ext uri="{9D8B030D-6E8A-4147-A177-3AD203B41FA5}">
                      <a16:colId xmlns:a16="http://schemas.microsoft.com/office/drawing/2014/main" val="1996774432"/>
                    </a:ext>
                  </a:extLst>
                </a:gridCol>
              </a:tblGrid>
              <a:tr h="7055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3200" b="1" dirty="0">
                          <a:latin typeface="Consolas" panose="020B0609020204030204" pitchFamily="49" charset="0"/>
                        </a:rPr>
                        <a:t>Field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3200" b="1" dirty="0">
                          <a:latin typeface="Consolas" panose="020B0609020204030204" pitchFamily="49" charset="0"/>
                        </a:rPr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4365404"/>
                  </a:ext>
                </a:extLst>
              </a:tr>
              <a:tr h="7055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3200" dirty="0" err="1">
                          <a:latin typeface="Consolas" panose="020B0609020204030204" pitchFamily="49" charset="0"/>
                        </a:rPr>
                        <a:t>StringField</a:t>
                      </a:r>
                      <a:endParaRPr lang="en-PH" sz="32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>
                          <a:latin typeface="Consolas" panose="020B0609020204030204" pitchFamily="49" charset="0"/>
                        </a:rPr>
                        <a:t>Single-line text input (e.g., username, name)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2640866"/>
                  </a:ext>
                </a:extLst>
              </a:tr>
              <a:tr h="7055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3200" dirty="0" err="1">
                          <a:latin typeface="Consolas" panose="020B0609020204030204" pitchFamily="49" charset="0"/>
                        </a:rPr>
                        <a:t>TextAreaField</a:t>
                      </a:r>
                      <a:endParaRPr lang="en-PH" sz="32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>
                          <a:latin typeface="Consolas" panose="020B0609020204030204" pitchFamily="49" charset="0"/>
                        </a:rPr>
                        <a:t>Multi-line text input (e.g., comments, bio)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8949147"/>
                  </a:ext>
                </a:extLst>
              </a:tr>
              <a:tr h="7055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3200">
                          <a:latin typeface="Consolas" panose="020B0609020204030204" pitchFamily="49" charset="0"/>
                        </a:rPr>
                        <a:t>PasswordField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>
                          <a:latin typeface="Consolas" panose="020B0609020204030204" pitchFamily="49" charset="0"/>
                        </a:rPr>
                        <a:t>Single-line text input that hides input (for passwords)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781933"/>
                  </a:ext>
                </a:extLst>
              </a:tr>
              <a:tr h="7055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3200">
                          <a:latin typeface="Consolas" panose="020B0609020204030204" pitchFamily="49" charset="0"/>
                        </a:rPr>
                        <a:t>HiddenField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>
                          <a:latin typeface="Consolas" panose="020B0609020204030204" pitchFamily="49" charset="0"/>
                        </a:rPr>
                        <a:t>Hidden input, not visible to user (e.g., for CSRF token)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6349197"/>
                  </a:ext>
                </a:extLst>
              </a:tr>
              <a:tr h="7055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3200">
                          <a:latin typeface="Consolas" panose="020B0609020204030204" pitchFamily="49" charset="0"/>
                        </a:rPr>
                        <a:t>SearchField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>
                          <a:latin typeface="Consolas" panose="020B0609020204030204" pitchFamily="49" charset="0"/>
                        </a:rPr>
                        <a:t>Single-line text input for search queries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7766450"/>
                  </a:ext>
                </a:extLst>
              </a:tr>
              <a:tr h="7055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3200" dirty="0" err="1">
                          <a:latin typeface="Consolas" panose="020B0609020204030204" pitchFamily="49" charset="0"/>
                        </a:rPr>
                        <a:t>EmailField</a:t>
                      </a:r>
                      <a:endParaRPr lang="en-PH" sz="32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3200" dirty="0">
                          <a:latin typeface="Consolas" panose="020B0609020204030204" pitchFamily="49" charset="0"/>
                        </a:rPr>
                        <a:t>Input for email addresses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2526749"/>
                  </a:ext>
                </a:extLst>
              </a:tr>
              <a:tr h="7055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3200" dirty="0" err="1">
                          <a:latin typeface="Consolas" panose="020B0609020204030204" pitchFamily="49" charset="0"/>
                        </a:rPr>
                        <a:t>SelectField</a:t>
                      </a:r>
                      <a:endParaRPr lang="en-PH" sz="32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>
                          <a:latin typeface="Consolas" panose="020B0609020204030204" pitchFamily="49" charset="0"/>
                        </a:rPr>
                        <a:t>Dropdown select box (single choice)</a:t>
                      </a:r>
                      <a:endParaRPr lang="en-PH" sz="32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0531416"/>
                  </a:ext>
                </a:extLst>
              </a:tr>
              <a:tr h="7055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3200" dirty="0" err="1">
                          <a:latin typeface="Consolas" panose="020B0609020204030204" pitchFamily="49" charset="0"/>
                        </a:rPr>
                        <a:t>SelectMultipleField</a:t>
                      </a:r>
                      <a:endParaRPr lang="en-PH" sz="32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3200" dirty="0">
                          <a:latin typeface="Consolas" panose="020B0609020204030204" pitchFamily="49" charset="0"/>
                        </a:rPr>
                        <a:t>Dropdown with multiple selection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8000058"/>
                  </a:ext>
                </a:extLst>
              </a:tr>
              <a:tr h="7055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3200" dirty="0" err="1">
                          <a:latin typeface="Consolas" panose="020B0609020204030204" pitchFamily="49" charset="0"/>
                        </a:rPr>
                        <a:t>RadioField</a:t>
                      </a:r>
                      <a:endParaRPr lang="en-PH" sz="32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>
                          <a:latin typeface="Consolas" panose="020B0609020204030204" pitchFamily="49" charset="0"/>
                        </a:rPr>
                        <a:t>Radio button selection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00583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58956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43A7C-1DB7-A2AF-0437-240ADC47F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0FDB051-7F5A-F487-7635-C47EE45B490F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860BC8C-740B-40F8-FBB0-DE3EF9689192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3B8FC37-5633-6DCC-2586-AE85A845B47D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9D2AC64F-75E4-2CD7-0E4A-944A6EBDD79C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24BA8CE2-E80B-32A1-3510-5C618ADB5811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B8CD4207-FF62-594C-A1FB-FD9E8EF9083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57CE6A2A-820C-7D3C-CA4C-3F02D0B4DB83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Input Validation and Sanitation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727BB5F-A0E3-88C3-1124-CF2246001677}"/>
              </a:ext>
            </a:extLst>
          </p:cNvPr>
          <p:cNvSpPr txBox="1"/>
          <p:nvPr/>
        </p:nvSpPr>
        <p:spPr>
          <a:xfrm>
            <a:off x="172300" y="2095500"/>
            <a:ext cx="178818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b="1" dirty="0">
                <a:latin typeface="Consolas" panose="020B0609020204030204" pitchFamily="49" charset="0"/>
              </a:rPr>
              <a:t>2.2. List of Field Types in </a:t>
            </a:r>
            <a:r>
              <a:rPr lang="en-US" sz="3600" b="1" dirty="0" err="1">
                <a:latin typeface="Consolas" panose="020B0609020204030204" pitchFamily="49" charset="0"/>
              </a:rPr>
              <a:t>WTForms</a:t>
            </a:r>
            <a:endParaRPr lang="en-US" sz="3600" dirty="0">
              <a:latin typeface="Consolas" panose="020B0609020204030204" pitchFamily="49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CE065AE-1A6B-DA53-66C4-534C79E726D3}"/>
              </a:ext>
            </a:extLst>
          </p:cNvPr>
          <p:cNvGraphicFramePr>
            <a:graphicFrameLocks noGrp="1"/>
          </p:cNvGraphicFramePr>
          <p:nvPr/>
        </p:nvGraphicFramePr>
        <p:xfrm>
          <a:off x="304799" y="2881776"/>
          <a:ext cx="17749345" cy="705536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5791201">
                  <a:extLst>
                    <a:ext uri="{9D8B030D-6E8A-4147-A177-3AD203B41FA5}">
                      <a16:colId xmlns:a16="http://schemas.microsoft.com/office/drawing/2014/main" val="3366976460"/>
                    </a:ext>
                  </a:extLst>
                </a:gridCol>
                <a:gridCol w="11958144">
                  <a:extLst>
                    <a:ext uri="{9D8B030D-6E8A-4147-A177-3AD203B41FA5}">
                      <a16:colId xmlns:a16="http://schemas.microsoft.com/office/drawing/2014/main" val="1996774432"/>
                    </a:ext>
                  </a:extLst>
                </a:gridCol>
              </a:tblGrid>
              <a:tr h="7055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3200" b="1" dirty="0">
                          <a:latin typeface="Consolas" panose="020B0609020204030204" pitchFamily="49" charset="0"/>
                        </a:rPr>
                        <a:t>Field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3200" b="1" dirty="0">
                          <a:latin typeface="Consolas" panose="020B0609020204030204" pitchFamily="49" charset="0"/>
                        </a:rPr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4365404"/>
                  </a:ext>
                </a:extLst>
              </a:tr>
              <a:tr h="7055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3200" dirty="0" err="1">
                          <a:latin typeface="Consolas" panose="020B0609020204030204" pitchFamily="49" charset="0"/>
                        </a:rPr>
                        <a:t>BooleanField</a:t>
                      </a:r>
                      <a:endParaRPr lang="en-PH" sz="32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>
                          <a:latin typeface="Consolas" panose="020B0609020204030204" pitchFamily="49" charset="0"/>
                        </a:rPr>
                        <a:t>Checkbox (true/false)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8949147"/>
                  </a:ext>
                </a:extLst>
              </a:tr>
              <a:tr h="7055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3200" dirty="0" err="1">
                          <a:latin typeface="Consolas" panose="020B0609020204030204" pitchFamily="49" charset="0"/>
                        </a:rPr>
                        <a:t>IntegerField</a:t>
                      </a:r>
                      <a:endParaRPr lang="en-PH" sz="32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>
                          <a:latin typeface="Consolas" panose="020B0609020204030204" pitchFamily="49" charset="0"/>
                        </a:rPr>
                        <a:t>Accepts integer numbers only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781933"/>
                  </a:ext>
                </a:extLst>
              </a:tr>
              <a:tr h="7055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3200" dirty="0" err="1">
                          <a:latin typeface="Consolas" panose="020B0609020204030204" pitchFamily="49" charset="0"/>
                        </a:rPr>
                        <a:t>DecimalField</a:t>
                      </a:r>
                      <a:endParaRPr lang="en-PH" sz="32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>
                          <a:latin typeface="Consolas" panose="020B0609020204030204" pitchFamily="49" charset="0"/>
                        </a:rPr>
                        <a:t>Accepts decimal numbers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6349197"/>
                  </a:ext>
                </a:extLst>
              </a:tr>
              <a:tr h="7055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3200" dirty="0" err="1">
                          <a:latin typeface="Consolas" panose="020B0609020204030204" pitchFamily="49" charset="0"/>
                        </a:rPr>
                        <a:t>FloatField</a:t>
                      </a:r>
                      <a:endParaRPr lang="en-PH" sz="32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>
                          <a:latin typeface="Consolas" panose="020B0609020204030204" pitchFamily="49" charset="0"/>
                        </a:rPr>
                        <a:t>Accepts floating-point numbers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7766450"/>
                  </a:ext>
                </a:extLst>
              </a:tr>
              <a:tr h="7055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3200" dirty="0" err="1">
                          <a:latin typeface="Consolas" panose="020B0609020204030204" pitchFamily="49" charset="0"/>
                        </a:rPr>
                        <a:t>DateField</a:t>
                      </a:r>
                      <a:endParaRPr lang="en-PH" sz="32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>
                          <a:latin typeface="Consolas" panose="020B0609020204030204" pitchFamily="49" charset="0"/>
                        </a:rPr>
                        <a:t>Accepts a date input (YYYY-MM-DD)</a:t>
                      </a:r>
                      <a:endParaRPr lang="en-PH" sz="32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2526749"/>
                  </a:ext>
                </a:extLst>
              </a:tr>
              <a:tr h="7055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3200" dirty="0" err="1">
                          <a:latin typeface="Consolas" panose="020B0609020204030204" pitchFamily="49" charset="0"/>
                        </a:rPr>
                        <a:t>DateTimeField</a:t>
                      </a:r>
                      <a:endParaRPr lang="en-PH" sz="32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>
                          <a:latin typeface="Consolas" panose="020B0609020204030204" pitchFamily="49" charset="0"/>
                        </a:rPr>
                        <a:t>Accepts a date and time input</a:t>
                      </a:r>
                      <a:endParaRPr lang="en-PH" sz="32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0531416"/>
                  </a:ext>
                </a:extLst>
              </a:tr>
              <a:tr h="7055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3200" dirty="0" err="1">
                          <a:latin typeface="Consolas" panose="020B0609020204030204" pitchFamily="49" charset="0"/>
                        </a:rPr>
                        <a:t>TimeField</a:t>
                      </a:r>
                      <a:endParaRPr lang="en-PH" sz="32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>
                          <a:latin typeface="Consolas" panose="020B0609020204030204" pitchFamily="49" charset="0"/>
                        </a:rPr>
                        <a:t>Accepts a time input (HH:MM)</a:t>
                      </a:r>
                      <a:endParaRPr lang="en-PH" sz="32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8000058"/>
                  </a:ext>
                </a:extLst>
              </a:tr>
              <a:tr h="7055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3200" dirty="0" err="1">
                          <a:latin typeface="Consolas" panose="020B0609020204030204" pitchFamily="49" charset="0"/>
                        </a:rPr>
                        <a:t>FileField</a:t>
                      </a:r>
                      <a:endParaRPr lang="en-PH" sz="32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>
                          <a:latin typeface="Consolas" panose="020B0609020204030204" pitchFamily="49" charset="0"/>
                        </a:rPr>
                        <a:t>Upload files through the form</a:t>
                      </a:r>
                      <a:endParaRPr lang="en-PH" sz="32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6991791"/>
                  </a:ext>
                </a:extLst>
              </a:tr>
              <a:tr h="7055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3200" dirty="0" err="1">
                          <a:latin typeface="Consolas" panose="020B0609020204030204" pitchFamily="49" charset="0"/>
                        </a:rPr>
                        <a:t>SubmitField</a:t>
                      </a:r>
                      <a:r>
                        <a:rPr lang="en-PH" sz="3200" dirty="0">
                          <a:latin typeface="Consolas" panose="020B0609020204030204" pitchFamily="49" charset="0"/>
                        </a:rPr>
                        <a:t> / </a:t>
                      </a:r>
                      <a:r>
                        <a:rPr lang="en-PH" sz="3200" dirty="0" err="1">
                          <a:latin typeface="Consolas" panose="020B0609020204030204" pitchFamily="49" charset="0"/>
                        </a:rPr>
                        <a:t>ResetField</a:t>
                      </a:r>
                      <a:endParaRPr lang="en-PH" sz="32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3200" dirty="0">
                          <a:latin typeface="Consolas" panose="020B0609020204030204" pitchFamily="49" charset="0"/>
                        </a:rPr>
                        <a:t>Submit button / Reset button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93562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0319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B30B0-194C-9737-7470-290B9CD31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DFDEF17-32A1-8056-01BF-AE970608874B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C512C1F-B3BE-EA87-73C3-78F0F5CCADC4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0442D4F-D0D3-D4D0-5AA4-6C22D5FC3D2C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C0DC3AF0-701E-4775-0975-52F7784C1CB5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0F6631F6-0B3B-EFD9-89A6-9D69EE0ECE49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40E5A073-FC5A-315B-5E3C-07C1783320FA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C34BB220-D46A-62C0-CBDC-4D4814522326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Input Validation and Sanitation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224D998-0D34-6307-EFA2-B994152E6478}"/>
              </a:ext>
            </a:extLst>
          </p:cNvPr>
          <p:cNvSpPr txBox="1"/>
          <p:nvPr/>
        </p:nvSpPr>
        <p:spPr>
          <a:xfrm>
            <a:off x="177555" y="2095500"/>
            <a:ext cx="17881845" cy="8279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000" b="1" dirty="0">
                <a:latin typeface="Consolas" panose="020B0609020204030204" pitchFamily="49" charset="0"/>
              </a:rPr>
              <a:t>Example app.py: </a:t>
            </a:r>
            <a:r>
              <a:rPr lang="en-US" sz="3000" dirty="0">
                <a:latin typeface="Consolas" panose="020B0609020204030204" pitchFamily="49" charset="0"/>
              </a:rPr>
              <a:t>Using Flask-WTF, we define a form as a Python class:</a:t>
            </a:r>
          </a:p>
          <a:p>
            <a:pPr algn="just"/>
            <a:r>
              <a:rPr lang="en-US" sz="2800" dirty="0">
                <a:latin typeface="Consolas" panose="020B0609020204030204" pitchFamily="49" charset="0"/>
              </a:rPr>
              <a:t>from flask import Flask, </a:t>
            </a:r>
            <a:r>
              <a:rPr lang="en-US" sz="2800" dirty="0" err="1">
                <a:latin typeface="Consolas" panose="020B0609020204030204" pitchFamily="49" charset="0"/>
              </a:rPr>
              <a:t>render_template</a:t>
            </a:r>
            <a:endParaRPr lang="en-US" sz="2800" dirty="0">
              <a:latin typeface="Consolas" panose="020B0609020204030204" pitchFamily="49" charset="0"/>
            </a:endParaRPr>
          </a:p>
          <a:p>
            <a:pPr algn="just"/>
            <a:r>
              <a:rPr lang="en-US" sz="2800" dirty="0">
                <a:latin typeface="Consolas" panose="020B0609020204030204" pitchFamily="49" charset="0"/>
              </a:rPr>
              <a:t>from </a:t>
            </a:r>
            <a:r>
              <a:rPr lang="en-US" sz="2800" dirty="0" err="1">
                <a:latin typeface="Consolas" panose="020B0609020204030204" pitchFamily="49" charset="0"/>
              </a:rPr>
              <a:t>flask_wtf</a:t>
            </a:r>
            <a:r>
              <a:rPr lang="en-US" sz="2800" dirty="0">
                <a:latin typeface="Consolas" panose="020B0609020204030204" pitchFamily="49" charset="0"/>
              </a:rPr>
              <a:t> import </a:t>
            </a:r>
            <a:r>
              <a:rPr lang="en-US" sz="2800" dirty="0" err="1">
                <a:latin typeface="Consolas" panose="020B0609020204030204" pitchFamily="49" charset="0"/>
              </a:rPr>
              <a:t>FlaskForm</a:t>
            </a:r>
            <a:endParaRPr lang="en-US" sz="2800" dirty="0">
              <a:latin typeface="Consolas" panose="020B0609020204030204" pitchFamily="49" charset="0"/>
            </a:endParaRPr>
          </a:p>
          <a:p>
            <a:pPr algn="just"/>
            <a:r>
              <a:rPr lang="en-US" sz="2800" dirty="0">
                <a:latin typeface="Consolas" panose="020B0609020204030204" pitchFamily="49" charset="0"/>
              </a:rPr>
              <a:t>from </a:t>
            </a:r>
            <a:r>
              <a:rPr lang="en-US" sz="2800" dirty="0" err="1">
                <a:latin typeface="Consolas" panose="020B0609020204030204" pitchFamily="49" charset="0"/>
              </a:rPr>
              <a:t>wtforms</a:t>
            </a:r>
            <a:r>
              <a:rPr lang="en-US" sz="2800" dirty="0">
                <a:latin typeface="Consolas" panose="020B0609020204030204" pitchFamily="49" charset="0"/>
              </a:rPr>
              <a:t> import </a:t>
            </a:r>
            <a:r>
              <a:rPr lang="en-US" sz="2800" dirty="0" err="1">
                <a:latin typeface="Consolas" panose="020B0609020204030204" pitchFamily="49" charset="0"/>
              </a:rPr>
              <a:t>StringField</a:t>
            </a:r>
            <a:r>
              <a:rPr lang="en-US" sz="2800" dirty="0">
                <a:latin typeface="Consolas" panose="020B0609020204030204" pitchFamily="49" charset="0"/>
              </a:rPr>
              <a:t>, </a:t>
            </a:r>
            <a:r>
              <a:rPr lang="en-US" sz="2800" dirty="0" err="1">
                <a:latin typeface="Consolas" panose="020B0609020204030204" pitchFamily="49" charset="0"/>
              </a:rPr>
              <a:t>PasswordField</a:t>
            </a:r>
            <a:r>
              <a:rPr lang="en-US" sz="2800" dirty="0">
                <a:latin typeface="Consolas" panose="020B0609020204030204" pitchFamily="49" charset="0"/>
              </a:rPr>
              <a:t>, </a:t>
            </a:r>
            <a:r>
              <a:rPr lang="en-US" sz="2800" dirty="0" err="1">
                <a:latin typeface="Consolas" panose="020B0609020204030204" pitchFamily="49" charset="0"/>
              </a:rPr>
              <a:t>SubmitField</a:t>
            </a:r>
            <a:endParaRPr lang="en-US" sz="2800" dirty="0">
              <a:latin typeface="Consolas" panose="020B0609020204030204" pitchFamily="49" charset="0"/>
            </a:endParaRPr>
          </a:p>
          <a:p>
            <a:pPr algn="just"/>
            <a:r>
              <a:rPr lang="en-US" sz="2800" dirty="0">
                <a:latin typeface="Consolas" panose="020B0609020204030204" pitchFamily="49" charset="0"/>
              </a:rPr>
              <a:t>from </a:t>
            </a:r>
            <a:r>
              <a:rPr lang="en-US" sz="2800" dirty="0" err="1">
                <a:latin typeface="Consolas" panose="020B0609020204030204" pitchFamily="49" charset="0"/>
              </a:rPr>
              <a:t>wtforms.validators</a:t>
            </a:r>
            <a:r>
              <a:rPr lang="en-US" sz="2800" dirty="0">
                <a:latin typeface="Consolas" panose="020B0609020204030204" pitchFamily="49" charset="0"/>
              </a:rPr>
              <a:t> import </a:t>
            </a:r>
            <a:r>
              <a:rPr lang="en-US" sz="2800" dirty="0" err="1">
                <a:latin typeface="Consolas" panose="020B0609020204030204" pitchFamily="49" charset="0"/>
              </a:rPr>
              <a:t>DataRequired</a:t>
            </a:r>
            <a:r>
              <a:rPr lang="en-US" sz="2800" dirty="0">
                <a:latin typeface="Consolas" panose="020B0609020204030204" pitchFamily="49" charset="0"/>
              </a:rPr>
              <a:t>, Length, Email</a:t>
            </a:r>
          </a:p>
          <a:p>
            <a:pPr algn="just"/>
            <a:endParaRPr lang="en-US" sz="900" dirty="0">
              <a:latin typeface="Consolas" panose="020B0609020204030204" pitchFamily="49" charset="0"/>
            </a:endParaRPr>
          </a:p>
          <a:p>
            <a:pPr algn="just"/>
            <a:r>
              <a:rPr lang="en-US" sz="2800" dirty="0">
                <a:latin typeface="Consolas" panose="020B0609020204030204" pitchFamily="49" charset="0"/>
              </a:rPr>
              <a:t>class </a:t>
            </a:r>
            <a:r>
              <a:rPr lang="en-US" sz="2800" dirty="0" err="1">
                <a:latin typeface="Consolas" panose="020B0609020204030204" pitchFamily="49" charset="0"/>
              </a:rPr>
              <a:t>RegisterForm</a:t>
            </a:r>
            <a:r>
              <a:rPr lang="en-US" sz="2800" dirty="0">
                <a:latin typeface="Consolas" panose="020B0609020204030204" pitchFamily="49" charset="0"/>
              </a:rPr>
              <a:t>(</a:t>
            </a:r>
            <a:r>
              <a:rPr lang="en-US" sz="2800" dirty="0" err="1">
                <a:latin typeface="Consolas" panose="020B0609020204030204" pitchFamily="49" charset="0"/>
              </a:rPr>
              <a:t>FlaskForm</a:t>
            </a:r>
            <a:r>
              <a:rPr lang="en-US" sz="2800" dirty="0">
                <a:latin typeface="Consolas" panose="020B0609020204030204" pitchFamily="49" charset="0"/>
              </a:rPr>
              <a:t>):</a:t>
            </a:r>
          </a:p>
          <a:p>
            <a:pPr algn="just"/>
            <a:r>
              <a:rPr lang="en-US" sz="2800" dirty="0">
                <a:latin typeface="Consolas" panose="020B0609020204030204" pitchFamily="49" charset="0"/>
              </a:rPr>
              <a:t>    username = </a:t>
            </a:r>
            <a:r>
              <a:rPr lang="en-US" sz="2800" dirty="0" err="1">
                <a:latin typeface="Consolas" panose="020B0609020204030204" pitchFamily="49" charset="0"/>
              </a:rPr>
              <a:t>StringField</a:t>
            </a:r>
            <a:r>
              <a:rPr lang="en-US" sz="2800" dirty="0">
                <a:latin typeface="Consolas" panose="020B0609020204030204" pitchFamily="49" charset="0"/>
              </a:rPr>
              <a:t>('Username', validators=[</a:t>
            </a:r>
          </a:p>
          <a:p>
            <a:pPr algn="just"/>
            <a:r>
              <a:rPr lang="en-US" sz="2800" dirty="0">
                <a:latin typeface="Consolas" panose="020B0609020204030204" pitchFamily="49" charset="0"/>
              </a:rPr>
              <a:t>        </a:t>
            </a:r>
            <a:r>
              <a:rPr lang="en-US" sz="2800" dirty="0" err="1">
                <a:latin typeface="Consolas" panose="020B0609020204030204" pitchFamily="49" charset="0"/>
              </a:rPr>
              <a:t>DataRequired</a:t>
            </a:r>
            <a:r>
              <a:rPr lang="en-US" sz="2800" dirty="0">
                <a:latin typeface="Consolas" panose="020B0609020204030204" pitchFamily="49" charset="0"/>
              </a:rPr>
              <a:t>(),       </a:t>
            </a:r>
          </a:p>
          <a:p>
            <a:pPr algn="just"/>
            <a:r>
              <a:rPr lang="en-US" sz="2800" dirty="0">
                <a:latin typeface="Consolas" panose="020B0609020204030204" pitchFamily="49" charset="0"/>
              </a:rPr>
              <a:t>        Length(min=4, max=20)</a:t>
            </a:r>
          </a:p>
          <a:p>
            <a:pPr algn="just"/>
            <a:r>
              <a:rPr lang="en-US" sz="2800" dirty="0">
                <a:latin typeface="Consolas" panose="020B0609020204030204" pitchFamily="49" charset="0"/>
              </a:rPr>
              <a:t>    ])</a:t>
            </a:r>
          </a:p>
          <a:p>
            <a:pPr algn="just"/>
            <a:r>
              <a:rPr lang="en-US" sz="2800" dirty="0">
                <a:latin typeface="Consolas" panose="020B0609020204030204" pitchFamily="49" charset="0"/>
              </a:rPr>
              <a:t>    email = </a:t>
            </a:r>
            <a:r>
              <a:rPr lang="en-US" sz="2800" dirty="0" err="1">
                <a:latin typeface="Consolas" panose="020B0609020204030204" pitchFamily="49" charset="0"/>
              </a:rPr>
              <a:t>StringField</a:t>
            </a:r>
            <a:r>
              <a:rPr lang="en-US" sz="2800" dirty="0">
                <a:latin typeface="Consolas" panose="020B0609020204030204" pitchFamily="49" charset="0"/>
              </a:rPr>
              <a:t>('Email', validators=[</a:t>
            </a:r>
          </a:p>
          <a:p>
            <a:pPr algn="just"/>
            <a:r>
              <a:rPr lang="en-US" sz="2800" dirty="0">
                <a:latin typeface="Consolas" panose="020B0609020204030204" pitchFamily="49" charset="0"/>
              </a:rPr>
              <a:t>        </a:t>
            </a:r>
            <a:r>
              <a:rPr lang="en-US" sz="2800" dirty="0" err="1">
                <a:latin typeface="Consolas" panose="020B0609020204030204" pitchFamily="49" charset="0"/>
              </a:rPr>
              <a:t>DataRequired</a:t>
            </a:r>
            <a:r>
              <a:rPr lang="en-US" sz="2800" dirty="0">
                <a:latin typeface="Consolas" panose="020B0609020204030204" pitchFamily="49" charset="0"/>
              </a:rPr>
              <a:t>(),       </a:t>
            </a:r>
          </a:p>
          <a:p>
            <a:pPr algn="just"/>
            <a:r>
              <a:rPr lang="en-US" sz="2800" dirty="0">
                <a:latin typeface="Consolas" panose="020B0609020204030204" pitchFamily="49" charset="0"/>
              </a:rPr>
              <a:t>        Email()</a:t>
            </a:r>
          </a:p>
          <a:p>
            <a:pPr algn="just"/>
            <a:r>
              <a:rPr lang="en-US" sz="2800" dirty="0">
                <a:latin typeface="Consolas" panose="020B0609020204030204" pitchFamily="49" charset="0"/>
              </a:rPr>
              <a:t>    ])</a:t>
            </a:r>
          </a:p>
          <a:p>
            <a:pPr algn="just"/>
            <a:r>
              <a:rPr lang="en-US" sz="2800" dirty="0">
                <a:latin typeface="Consolas" panose="020B0609020204030204" pitchFamily="49" charset="0"/>
              </a:rPr>
              <a:t>    password = </a:t>
            </a:r>
            <a:r>
              <a:rPr lang="en-US" sz="2800" dirty="0" err="1">
                <a:latin typeface="Consolas" panose="020B0609020204030204" pitchFamily="49" charset="0"/>
              </a:rPr>
              <a:t>PasswordField</a:t>
            </a:r>
            <a:r>
              <a:rPr lang="en-US" sz="2800" dirty="0">
                <a:latin typeface="Consolas" panose="020B0609020204030204" pitchFamily="49" charset="0"/>
              </a:rPr>
              <a:t>('Password', validators=[</a:t>
            </a:r>
          </a:p>
          <a:p>
            <a:pPr algn="just"/>
            <a:r>
              <a:rPr lang="en-US" sz="2800" dirty="0">
                <a:latin typeface="Consolas" panose="020B0609020204030204" pitchFamily="49" charset="0"/>
              </a:rPr>
              <a:t>        </a:t>
            </a:r>
            <a:r>
              <a:rPr lang="en-US" sz="2800" dirty="0" err="1">
                <a:latin typeface="Consolas" panose="020B0609020204030204" pitchFamily="49" charset="0"/>
              </a:rPr>
              <a:t>DataRequired</a:t>
            </a:r>
            <a:r>
              <a:rPr lang="en-US" sz="2800" dirty="0">
                <a:latin typeface="Consolas" panose="020B0609020204030204" pitchFamily="49" charset="0"/>
              </a:rPr>
              <a:t>(),</a:t>
            </a:r>
          </a:p>
          <a:p>
            <a:pPr algn="just"/>
            <a:r>
              <a:rPr lang="en-US" sz="2800" dirty="0">
                <a:latin typeface="Consolas" panose="020B0609020204030204" pitchFamily="49" charset="0"/>
              </a:rPr>
              <a:t>        Length(min=6) ])</a:t>
            </a:r>
          </a:p>
          <a:p>
            <a:pPr algn="just"/>
            <a:r>
              <a:rPr lang="en-US" sz="2800" dirty="0">
                <a:latin typeface="Consolas" panose="020B0609020204030204" pitchFamily="49" charset="0"/>
              </a:rPr>
              <a:t>    submit = </a:t>
            </a:r>
            <a:r>
              <a:rPr lang="en-US" sz="2800" dirty="0" err="1">
                <a:latin typeface="Consolas" panose="020B0609020204030204" pitchFamily="49" charset="0"/>
              </a:rPr>
              <a:t>SubmitField</a:t>
            </a:r>
            <a:r>
              <a:rPr lang="en-US" sz="2800" dirty="0">
                <a:latin typeface="Consolas" panose="020B0609020204030204" pitchFamily="49" charset="0"/>
              </a:rPr>
              <a:t>('Register')</a:t>
            </a:r>
          </a:p>
        </p:txBody>
      </p:sp>
    </p:spTree>
    <p:extLst>
      <p:ext uri="{BB962C8B-B14F-4D97-AF65-F5344CB8AC3E}">
        <p14:creationId xmlns:p14="http://schemas.microsoft.com/office/powerpoint/2010/main" val="36975155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584F4-EEC9-9376-0496-3D0D12BF9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A122DDC-E287-91F7-F240-30FD3557640F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E40BEA2-2CE7-FA4F-635D-0863A05EF70D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C4123E7B-4707-9426-F69D-937968AB66CE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09A91BCA-C54F-5B57-8137-D13FE8C4DE6C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4383A55C-2A30-0115-45B8-C335FBA7F42A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43F0655A-7CD8-4C47-C4DB-1FD6CE24380E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2E3BAB1F-68E4-1A32-79E1-C4E97616A7B8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Input Validation and Sanitation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83CBCBB-21E5-1FB9-99B5-81E275DE5D0D}"/>
              </a:ext>
            </a:extLst>
          </p:cNvPr>
          <p:cNvSpPr txBox="1"/>
          <p:nvPr/>
        </p:nvSpPr>
        <p:spPr>
          <a:xfrm>
            <a:off x="177555" y="2095500"/>
            <a:ext cx="17881845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b="1" dirty="0">
                <a:latin typeface="Consolas" panose="020B0609020204030204" pitchFamily="49" charset="0"/>
              </a:rPr>
              <a:t>Explanation:</a:t>
            </a:r>
          </a:p>
          <a:p>
            <a:r>
              <a:rPr lang="en-US" sz="3600" dirty="0">
                <a:latin typeface="Consolas" panose="020B0609020204030204" pitchFamily="49" charset="0"/>
              </a:rPr>
              <a:t>Each form field is a class attribute (</a:t>
            </a:r>
            <a:r>
              <a:rPr lang="en-US" sz="3600" dirty="0" err="1">
                <a:latin typeface="Consolas" panose="020B0609020204030204" pitchFamily="49" charset="0"/>
              </a:rPr>
              <a:t>StringField</a:t>
            </a:r>
            <a:r>
              <a:rPr lang="en-US" sz="3600" dirty="0">
                <a:latin typeface="Consolas" panose="020B0609020204030204" pitchFamily="49" charset="0"/>
              </a:rPr>
              <a:t>, </a:t>
            </a:r>
            <a:r>
              <a:rPr lang="en-US" sz="3600" dirty="0" err="1">
                <a:latin typeface="Consolas" panose="020B0609020204030204" pitchFamily="49" charset="0"/>
              </a:rPr>
              <a:t>PasswordField</a:t>
            </a:r>
            <a:r>
              <a:rPr lang="en-US" sz="3600" dirty="0">
                <a:latin typeface="Consolas" panose="020B0609020204030204" pitchFamily="49" charset="0"/>
              </a:rPr>
              <a:t>).</a:t>
            </a:r>
          </a:p>
          <a:p>
            <a:r>
              <a:rPr lang="en-US" sz="3600" dirty="0">
                <a:latin typeface="Consolas" panose="020B0609020204030204" pitchFamily="49" charset="0"/>
              </a:rPr>
              <a:t>validators define the rules:</a:t>
            </a:r>
          </a:p>
          <a:p>
            <a:pPr marL="1028700" lvl="1" indent="-571500">
              <a:buFont typeface="Wingdings" panose="05000000000000000000" pitchFamily="2" charset="2"/>
              <a:buChar char="ü"/>
            </a:pPr>
            <a:r>
              <a:rPr lang="en-US" sz="3600" dirty="0" err="1">
                <a:latin typeface="Consolas" panose="020B0609020204030204" pitchFamily="49" charset="0"/>
              </a:rPr>
              <a:t>DataRequired</a:t>
            </a:r>
            <a:r>
              <a:rPr lang="en-US" sz="3600" dirty="0">
                <a:latin typeface="Consolas" panose="020B0609020204030204" pitchFamily="49" charset="0"/>
              </a:rPr>
              <a:t>() -&gt; Field cannot be empty</a:t>
            </a:r>
          </a:p>
          <a:p>
            <a:pPr marL="1028700" lvl="1" indent="-571500">
              <a:buFont typeface="Wingdings" panose="05000000000000000000" pitchFamily="2" charset="2"/>
              <a:buChar char="ü"/>
            </a:pPr>
            <a:r>
              <a:rPr lang="en-US" sz="3600" dirty="0">
                <a:latin typeface="Consolas" panose="020B0609020204030204" pitchFamily="49" charset="0"/>
              </a:rPr>
              <a:t>Length(min, max) -&gt; Restricts the number of characters</a:t>
            </a:r>
          </a:p>
          <a:p>
            <a:pPr marL="1028700" lvl="1" indent="-571500">
              <a:buFont typeface="Wingdings" panose="05000000000000000000" pitchFamily="2" charset="2"/>
              <a:buChar char="ü"/>
            </a:pPr>
            <a:r>
              <a:rPr lang="en-US" sz="3600" dirty="0">
                <a:latin typeface="Consolas" panose="020B0609020204030204" pitchFamily="49" charset="0"/>
              </a:rPr>
              <a:t>Email() -&gt; Uses </a:t>
            </a:r>
            <a:r>
              <a:rPr lang="en-US" sz="3600" b="1" dirty="0">
                <a:latin typeface="Consolas" panose="020B0609020204030204" pitchFamily="49" charset="0"/>
              </a:rPr>
              <a:t>email-validator</a:t>
            </a:r>
            <a:r>
              <a:rPr lang="en-US" sz="3600" dirty="0">
                <a:latin typeface="Consolas" panose="020B0609020204030204" pitchFamily="49" charset="0"/>
              </a:rPr>
              <a:t> to check email format</a:t>
            </a:r>
          </a:p>
          <a:p>
            <a:endParaRPr lang="en-US" sz="3600" dirty="0">
              <a:latin typeface="Consolas" panose="020B0609020204030204" pitchFamily="49" charset="0"/>
            </a:endParaRPr>
          </a:p>
          <a:p>
            <a:r>
              <a:rPr lang="en-US" sz="3600" dirty="0">
                <a:latin typeface="Consolas" panose="020B0609020204030204" pitchFamily="49" charset="0"/>
              </a:rPr>
              <a:t>When the user submits the form, Flask-WTF automatically checks these rules.</a:t>
            </a: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76613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23F4B-ED33-C265-5C5D-E13DAE122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E93E74F-4AA3-C33A-DD87-510423C36DD2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B990B0C-68C7-A46F-2557-4F4FCF354380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13AE3C7-3BFF-335B-46AE-CFA60BA1C7A6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1EC3850-13CF-A29C-E121-E3F25D882FE4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AEBAAC67-8013-ACA4-273E-33E4B714058C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3EA139E4-2C71-C12C-B645-7D11927F1763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3328D919-7382-9266-374D-A0259F96785A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Input Validation and Sanitation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9EF7279-5C3B-8E50-EE7A-63FDFA8BE635}"/>
              </a:ext>
            </a:extLst>
          </p:cNvPr>
          <p:cNvSpPr txBox="1"/>
          <p:nvPr/>
        </p:nvSpPr>
        <p:spPr>
          <a:xfrm>
            <a:off x="177555" y="2095500"/>
            <a:ext cx="17881845" cy="8094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b="1" dirty="0">
                <a:latin typeface="Consolas" panose="020B0609020204030204" pitchFamily="49" charset="0"/>
              </a:rPr>
              <a:t>Example: Rendering the form in register.html</a:t>
            </a:r>
          </a:p>
          <a:p>
            <a:pPr algn="just"/>
            <a:r>
              <a:rPr lang="en-US" sz="2800" dirty="0">
                <a:latin typeface="Consolas" panose="020B0609020204030204" pitchFamily="49" charset="0"/>
              </a:rPr>
              <a:t>&lt;form method="post"&gt;</a:t>
            </a:r>
          </a:p>
          <a:p>
            <a:pPr algn="just"/>
            <a:r>
              <a:rPr lang="en-US" sz="2800" dirty="0">
                <a:latin typeface="Consolas" panose="020B0609020204030204" pitchFamily="49" charset="0"/>
              </a:rPr>
              <a:t>    {{ </a:t>
            </a:r>
            <a:r>
              <a:rPr lang="en-US" sz="2800" dirty="0" err="1">
                <a:latin typeface="Consolas" panose="020B0609020204030204" pitchFamily="49" charset="0"/>
              </a:rPr>
              <a:t>form.hidden_tag</a:t>
            </a:r>
            <a:r>
              <a:rPr lang="en-US" sz="2800" dirty="0">
                <a:latin typeface="Consolas" panose="020B0609020204030204" pitchFamily="49" charset="0"/>
              </a:rPr>
              <a:t>() }}</a:t>
            </a:r>
            <a:endParaRPr lang="en-US" sz="1000" dirty="0">
              <a:latin typeface="Consolas" panose="020B0609020204030204" pitchFamily="49" charset="0"/>
            </a:endParaRPr>
          </a:p>
          <a:p>
            <a:pPr algn="just"/>
            <a:r>
              <a:rPr lang="en-US" sz="2800" dirty="0">
                <a:latin typeface="Consolas" panose="020B0609020204030204" pitchFamily="49" charset="0"/>
              </a:rPr>
              <a:t>    {{ </a:t>
            </a:r>
            <a:r>
              <a:rPr lang="en-US" sz="2800" dirty="0" err="1">
                <a:latin typeface="Consolas" panose="020B0609020204030204" pitchFamily="49" charset="0"/>
              </a:rPr>
              <a:t>form.username.label</a:t>
            </a:r>
            <a:r>
              <a:rPr lang="en-US" sz="2800" dirty="0">
                <a:latin typeface="Consolas" panose="020B0609020204030204" pitchFamily="49" charset="0"/>
              </a:rPr>
              <a:t> }} {{ </a:t>
            </a:r>
            <a:r>
              <a:rPr lang="en-US" sz="2800" dirty="0" err="1">
                <a:latin typeface="Consolas" panose="020B0609020204030204" pitchFamily="49" charset="0"/>
              </a:rPr>
              <a:t>form.username</a:t>
            </a:r>
            <a:r>
              <a:rPr lang="en-US" sz="2800" dirty="0">
                <a:latin typeface="Consolas" panose="020B0609020204030204" pitchFamily="49" charset="0"/>
              </a:rPr>
              <a:t> }}&lt;</a:t>
            </a:r>
            <a:r>
              <a:rPr lang="en-US" sz="2800" dirty="0" err="1">
                <a:latin typeface="Consolas" panose="020B0609020204030204" pitchFamily="49" charset="0"/>
              </a:rPr>
              <a:t>br</a:t>
            </a:r>
            <a:r>
              <a:rPr lang="en-US" sz="2800" dirty="0">
                <a:latin typeface="Consolas" panose="020B0609020204030204" pitchFamily="49" charset="0"/>
              </a:rPr>
              <a:t>&gt;</a:t>
            </a:r>
          </a:p>
          <a:p>
            <a:pPr algn="just"/>
            <a:r>
              <a:rPr lang="en-US" sz="2800" dirty="0">
                <a:latin typeface="Consolas" panose="020B0609020204030204" pitchFamily="49" charset="0"/>
              </a:rPr>
              <a:t>    {% for error in </a:t>
            </a:r>
            <a:r>
              <a:rPr lang="en-US" sz="2800" dirty="0" err="1">
                <a:latin typeface="Consolas" panose="020B0609020204030204" pitchFamily="49" charset="0"/>
              </a:rPr>
              <a:t>form.username.errors</a:t>
            </a:r>
            <a:r>
              <a:rPr lang="en-US" sz="2800" dirty="0">
                <a:latin typeface="Consolas" panose="020B0609020204030204" pitchFamily="49" charset="0"/>
              </a:rPr>
              <a:t> %}</a:t>
            </a:r>
          </a:p>
          <a:p>
            <a:pPr algn="just"/>
            <a:r>
              <a:rPr lang="en-US" sz="2800" dirty="0">
                <a:latin typeface="Consolas" panose="020B0609020204030204" pitchFamily="49" charset="0"/>
              </a:rPr>
              <a:t>        &lt;span style="</a:t>
            </a:r>
            <a:r>
              <a:rPr lang="en-US" sz="2800" dirty="0" err="1">
                <a:latin typeface="Consolas" panose="020B0609020204030204" pitchFamily="49" charset="0"/>
              </a:rPr>
              <a:t>color:red</a:t>
            </a:r>
            <a:r>
              <a:rPr lang="en-US" sz="2800" dirty="0">
                <a:latin typeface="Consolas" panose="020B0609020204030204" pitchFamily="49" charset="0"/>
              </a:rPr>
              <a:t>;"&gt;{{ error }}&lt;/span&gt;</a:t>
            </a:r>
          </a:p>
          <a:p>
            <a:pPr algn="just"/>
            <a:r>
              <a:rPr lang="en-US" sz="2800" dirty="0">
                <a:latin typeface="Consolas" panose="020B0609020204030204" pitchFamily="49" charset="0"/>
              </a:rPr>
              <a:t>    {% </a:t>
            </a:r>
            <a:r>
              <a:rPr lang="en-US" sz="2800" dirty="0" err="1">
                <a:latin typeface="Consolas" panose="020B0609020204030204" pitchFamily="49" charset="0"/>
              </a:rPr>
              <a:t>endfor</a:t>
            </a:r>
            <a:r>
              <a:rPr lang="en-US" sz="2800" dirty="0">
                <a:latin typeface="Consolas" panose="020B0609020204030204" pitchFamily="49" charset="0"/>
              </a:rPr>
              <a:t> %}</a:t>
            </a:r>
          </a:p>
          <a:p>
            <a:pPr algn="just"/>
            <a:endParaRPr lang="en-US" sz="1000" dirty="0">
              <a:latin typeface="Consolas" panose="020B0609020204030204" pitchFamily="49" charset="0"/>
            </a:endParaRPr>
          </a:p>
          <a:p>
            <a:pPr algn="just"/>
            <a:r>
              <a:rPr lang="en-US" sz="2800" dirty="0">
                <a:latin typeface="Consolas" panose="020B0609020204030204" pitchFamily="49" charset="0"/>
              </a:rPr>
              <a:t>    {{ </a:t>
            </a:r>
            <a:r>
              <a:rPr lang="en-US" sz="2800" dirty="0" err="1">
                <a:latin typeface="Consolas" panose="020B0609020204030204" pitchFamily="49" charset="0"/>
              </a:rPr>
              <a:t>form.email.label</a:t>
            </a:r>
            <a:r>
              <a:rPr lang="en-US" sz="2800" dirty="0">
                <a:latin typeface="Consolas" panose="020B0609020204030204" pitchFamily="49" charset="0"/>
              </a:rPr>
              <a:t> }} {{ </a:t>
            </a:r>
            <a:r>
              <a:rPr lang="en-US" sz="2800" dirty="0" err="1">
                <a:latin typeface="Consolas" panose="020B0609020204030204" pitchFamily="49" charset="0"/>
              </a:rPr>
              <a:t>form.email</a:t>
            </a:r>
            <a:r>
              <a:rPr lang="en-US" sz="2800" dirty="0">
                <a:latin typeface="Consolas" panose="020B0609020204030204" pitchFamily="49" charset="0"/>
              </a:rPr>
              <a:t> }}&lt;</a:t>
            </a:r>
            <a:r>
              <a:rPr lang="en-US" sz="2800" dirty="0" err="1">
                <a:latin typeface="Consolas" panose="020B0609020204030204" pitchFamily="49" charset="0"/>
              </a:rPr>
              <a:t>br</a:t>
            </a:r>
            <a:r>
              <a:rPr lang="en-US" sz="2800" dirty="0">
                <a:latin typeface="Consolas" panose="020B0609020204030204" pitchFamily="49" charset="0"/>
              </a:rPr>
              <a:t>&gt;</a:t>
            </a:r>
          </a:p>
          <a:p>
            <a:pPr algn="just"/>
            <a:r>
              <a:rPr lang="en-US" sz="2800" dirty="0">
                <a:latin typeface="Consolas" panose="020B0609020204030204" pitchFamily="49" charset="0"/>
              </a:rPr>
              <a:t>    {% for error in </a:t>
            </a:r>
            <a:r>
              <a:rPr lang="en-US" sz="2800" dirty="0" err="1">
                <a:latin typeface="Consolas" panose="020B0609020204030204" pitchFamily="49" charset="0"/>
              </a:rPr>
              <a:t>form.email.errors</a:t>
            </a:r>
            <a:r>
              <a:rPr lang="en-US" sz="2800" dirty="0">
                <a:latin typeface="Consolas" panose="020B0609020204030204" pitchFamily="49" charset="0"/>
              </a:rPr>
              <a:t> %}</a:t>
            </a:r>
          </a:p>
          <a:p>
            <a:pPr algn="just"/>
            <a:r>
              <a:rPr lang="en-US" sz="2800" dirty="0">
                <a:latin typeface="Consolas" panose="020B0609020204030204" pitchFamily="49" charset="0"/>
              </a:rPr>
              <a:t>        &lt;span style="</a:t>
            </a:r>
            <a:r>
              <a:rPr lang="en-US" sz="2800" dirty="0" err="1">
                <a:latin typeface="Consolas" panose="020B0609020204030204" pitchFamily="49" charset="0"/>
              </a:rPr>
              <a:t>color:red</a:t>
            </a:r>
            <a:r>
              <a:rPr lang="en-US" sz="2800" dirty="0">
                <a:latin typeface="Consolas" panose="020B0609020204030204" pitchFamily="49" charset="0"/>
              </a:rPr>
              <a:t>;"&gt;{{ error }}&lt;/span&gt;</a:t>
            </a:r>
          </a:p>
          <a:p>
            <a:pPr algn="just"/>
            <a:r>
              <a:rPr lang="en-US" sz="2800" dirty="0">
                <a:latin typeface="Consolas" panose="020B0609020204030204" pitchFamily="49" charset="0"/>
              </a:rPr>
              <a:t>    {% </a:t>
            </a:r>
            <a:r>
              <a:rPr lang="en-US" sz="2800" dirty="0" err="1">
                <a:latin typeface="Consolas" panose="020B0609020204030204" pitchFamily="49" charset="0"/>
              </a:rPr>
              <a:t>endfor</a:t>
            </a:r>
            <a:r>
              <a:rPr lang="en-US" sz="2800" dirty="0">
                <a:latin typeface="Consolas" panose="020B0609020204030204" pitchFamily="49" charset="0"/>
              </a:rPr>
              <a:t> %}</a:t>
            </a:r>
          </a:p>
          <a:p>
            <a:pPr algn="just"/>
            <a:endParaRPr lang="en-US" sz="1000" dirty="0">
              <a:latin typeface="Consolas" panose="020B0609020204030204" pitchFamily="49" charset="0"/>
            </a:endParaRPr>
          </a:p>
          <a:p>
            <a:pPr algn="just"/>
            <a:r>
              <a:rPr lang="en-US" sz="2800" dirty="0">
                <a:latin typeface="Consolas" panose="020B0609020204030204" pitchFamily="49" charset="0"/>
              </a:rPr>
              <a:t>    {{ </a:t>
            </a:r>
            <a:r>
              <a:rPr lang="en-US" sz="2800" dirty="0" err="1">
                <a:latin typeface="Consolas" panose="020B0609020204030204" pitchFamily="49" charset="0"/>
              </a:rPr>
              <a:t>form.password.label</a:t>
            </a:r>
            <a:r>
              <a:rPr lang="en-US" sz="2800" dirty="0">
                <a:latin typeface="Consolas" panose="020B0609020204030204" pitchFamily="49" charset="0"/>
              </a:rPr>
              <a:t> }} {{ </a:t>
            </a:r>
            <a:r>
              <a:rPr lang="en-US" sz="2800" dirty="0" err="1">
                <a:latin typeface="Consolas" panose="020B0609020204030204" pitchFamily="49" charset="0"/>
              </a:rPr>
              <a:t>form.password</a:t>
            </a:r>
            <a:r>
              <a:rPr lang="en-US" sz="2800" dirty="0">
                <a:latin typeface="Consolas" panose="020B0609020204030204" pitchFamily="49" charset="0"/>
              </a:rPr>
              <a:t> }}&lt;</a:t>
            </a:r>
            <a:r>
              <a:rPr lang="en-US" sz="2800" dirty="0" err="1">
                <a:latin typeface="Consolas" panose="020B0609020204030204" pitchFamily="49" charset="0"/>
              </a:rPr>
              <a:t>br</a:t>
            </a:r>
            <a:r>
              <a:rPr lang="en-US" sz="2800" dirty="0">
                <a:latin typeface="Consolas" panose="020B0609020204030204" pitchFamily="49" charset="0"/>
              </a:rPr>
              <a:t>&gt;</a:t>
            </a:r>
          </a:p>
          <a:p>
            <a:pPr algn="just"/>
            <a:r>
              <a:rPr lang="en-US" sz="2800" dirty="0">
                <a:latin typeface="Consolas" panose="020B0609020204030204" pitchFamily="49" charset="0"/>
              </a:rPr>
              <a:t>    {% for error in </a:t>
            </a:r>
            <a:r>
              <a:rPr lang="en-US" sz="2800" dirty="0" err="1">
                <a:latin typeface="Consolas" panose="020B0609020204030204" pitchFamily="49" charset="0"/>
              </a:rPr>
              <a:t>form.password.errors</a:t>
            </a:r>
            <a:r>
              <a:rPr lang="en-US" sz="2800" dirty="0">
                <a:latin typeface="Consolas" panose="020B0609020204030204" pitchFamily="49" charset="0"/>
              </a:rPr>
              <a:t> %}</a:t>
            </a:r>
          </a:p>
          <a:p>
            <a:pPr algn="just"/>
            <a:r>
              <a:rPr lang="en-US" sz="2800" dirty="0">
                <a:latin typeface="Consolas" panose="020B0609020204030204" pitchFamily="49" charset="0"/>
              </a:rPr>
              <a:t>        &lt;span style="</a:t>
            </a:r>
            <a:r>
              <a:rPr lang="en-US" sz="2800" dirty="0" err="1">
                <a:latin typeface="Consolas" panose="020B0609020204030204" pitchFamily="49" charset="0"/>
              </a:rPr>
              <a:t>color:red</a:t>
            </a:r>
            <a:r>
              <a:rPr lang="en-US" sz="2800" dirty="0">
                <a:latin typeface="Consolas" panose="020B0609020204030204" pitchFamily="49" charset="0"/>
              </a:rPr>
              <a:t>;"&gt;{{ error }}&lt;/span&gt;</a:t>
            </a:r>
          </a:p>
          <a:p>
            <a:pPr algn="just"/>
            <a:r>
              <a:rPr lang="en-US" sz="2800" dirty="0">
                <a:latin typeface="Consolas" panose="020B0609020204030204" pitchFamily="49" charset="0"/>
              </a:rPr>
              <a:t>    {% </a:t>
            </a:r>
            <a:r>
              <a:rPr lang="en-US" sz="2800" dirty="0" err="1">
                <a:latin typeface="Consolas" panose="020B0609020204030204" pitchFamily="49" charset="0"/>
              </a:rPr>
              <a:t>endfor</a:t>
            </a:r>
            <a:r>
              <a:rPr lang="en-US" sz="2800" dirty="0">
                <a:latin typeface="Consolas" panose="020B0609020204030204" pitchFamily="49" charset="0"/>
              </a:rPr>
              <a:t> %}</a:t>
            </a:r>
          </a:p>
          <a:p>
            <a:pPr algn="just"/>
            <a:endParaRPr lang="en-US" sz="1000" dirty="0">
              <a:latin typeface="Consolas" panose="020B0609020204030204" pitchFamily="49" charset="0"/>
            </a:endParaRPr>
          </a:p>
          <a:p>
            <a:pPr algn="just"/>
            <a:r>
              <a:rPr lang="en-US" sz="2800" dirty="0">
                <a:latin typeface="Consolas" panose="020B0609020204030204" pitchFamily="49" charset="0"/>
              </a:rPr>
              <a:t>    {{ </a:t>
            </a:r>
            <a:r>
              <a:rPr lang="en-US" sz="2800" dirty="0" err="1">
                <a:latin typeface="Consolas" panose="020B0609020204030204" pitchFamily="49" charset="0"/>
              </a:rPr>
              <a:t>form.submit</a:t>
            </a:r>
            <a:r>
              <a:rPr lang="en-US" sz="2800" dirty="0">
                <a:latin typeface="Consolas" panose="020B0609020204030204" pitchFamily="49" charset="0"/>
              </a:rPr>
              <a:t> }}</a:t>
            </a:r>
          </a:p>
          <a:p>
            <a:pPr algn="just"/>
            <a:r>
              <a:rPr lang="en-US" sz="2800" dirty="0">
                <a:latin typeface="Consolas" panose="020B0609020204030204" pitchFamily="49" charset="0"/>
              </a:rPr>
              <a:t>&lt;/form&gt;</a:t>
            </a:r>
          </a:p>
        </p:txBody>
      </p:sp>
    </p:spTree>
    <p:extLst>
      <p:ext uri="{BB962C8B-B14F-4D97-AF65-F5344CB8AC3E}">
        <p14:creationId xmlns:p14="http://schemas.microsoft.com/office/powerpoint/2010/main" val="31340416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E07EE-AD6C-EB21-04F4-64FFC6648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9B91FDD-D3E7-B28A-38F2-F6B2E53B08F0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00FD4C3-1EEF-8347-2DAA-686B7AFF5A52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054168D-6C08-2E75-02EC-8038FAD2440F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C6C400DD-AE0B-171F-A575-EC051D7283A1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F810EE89-4284-75CA-A20B-A8770A6AD8E7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67E220F8-09DA-8C5E-6CC9-8C9F7FBE8BA7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929B4CA6-4573-16E9-832A-FD31A47B9E7A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Input Validation and Sanitation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FE82F3A-9329-D1EF-E0B9-4CFAA67AABD6}"/>
              </a:ext>
            </a:extLst>
          </p:cNvPr>
          <p:cNvSpPr txBox="1"/>
          <p:nvPr/>
        </p:nvSpPr>
        <p:spPr>
          <a:xfrm>
            <a:off x="177555" y="2095500"/>
            <a:ext cx="17881845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just"/>
            <a:r>
              <a:rPr lang="en-US" sz="3600" b="1" dirty="0">
                <a:latin typeface="Consolas" panose="020B0609020204030204" pitchFamily="49" charset="0"/>
              </a:rPr>
              <a:t>Explanation:</a:t>
            </a:r>
          </a:p>
          <a:p>
            <a:pPr marL="1028700" lvl="1" indent="-571500" algn="just">
              <a:buFont typeface="Wingdings" panose="05000000000000000000" pitchFamily="2" charset="2"/>
              <a:buChar char="ü"/>
            </a:pPr>
            <a:r>
              <a:rPr lang="en-US" sz="3600" dirty="0">
                <a:latin typeface="Consolas" panose="020B0609020204030204" pitchFamily="49" charset="0"/>
              </a:rPr>
              <a:t>{{ </a:t>
            </a:r>
            <a:r>
              <a:rPr lang="en-US" sz="3600" dirty="0" err="1">
                <a:latin typeface="Consolas" panose="020B0609020204030204" pitchFamily="49" charset="0"/>
              </a:rPr>
              <a:t>form.hidden_tag</a:t>
            </a:r>
            <a:r>
              <a:rPr lang="en-US" sz="3600" dirty="0">
                <a:latin typeface="Consolas" panose="020B0609020204030204" pitchFamily="49" charset="0"/>
              </a:rPr>
              <a:t>() }} adds a hidden CSRF token to prevent cross-site attacks.</a:t>
            </a:r>
          </a:p>
          <a:p>
            <a:pPr marL="1028700" lvl="1" indent="-571500" algn="just">
              <a:buFont typeface="Wingdings" panose="05000000000000000000" pitchFamily="2" charset="2"/>
              <a:buChar char="ü"/>
            </a:pPr>
            <a:r>
              <a:rPr lang="en-US" sz="3600" dirty="0">
                <a:latin typeface="Consolas" panose="020B0609020204030204" pitchFamily="49" charset="0"/>
              </a:rPr>
              <a:t>{{ </a:t>
            </a:r>
            <a:r>
              <a:rPr lang="en-US" sz="3600" dirty="0" err="1">
                <a:latin typeface="Consolas" panose="020B0609020204030204" pitchFamily="49" charset="0"/>
              </a:rPr>
              <a:t>form.username</a:t>
            </a:r>
            <a:r>
              <a:rPr lang="en-US" sz="3600" dirty="0">
                <a:latin typeface="Consolas" panose="020B0609020204030204" pitchFamily="49" charset="0"/>
              </a:rPr>
              <a:t> }} renders the &lt;input&gt; field.</a:t>
            </a:r>
          </a:p>
          <a:p>
            <a:pPr lvl="1" algn="just"/>
            <a:r>
              <a:rPr lang="en-US" sz="3600" b="1" dirty="0">
                <a:latin typeface="Consolas" panose="020B0609020204030204" pitchFamily="49" charset="0"/>
              </a:rPr>
              <a:t>Example: </a:t>
            </a:r>
            <a:r>
              <a:rPr lang="en-US" sz="3600" dirty="0">
                <a:latin typeface="Consolas" panose="020B0609020204030204" pitchFamily="49" charset="0"/>
              </a:rPr>
              <a:t>&lt;input id="username" name="username" type="text" value=""&gt;</a:t>
            </a:r>
          </a:p>
          <a:p>
            <a:pPr marL="1028700" lvl="1" indent="-571500" algn="just">
              <a:buFont typeface="Wingdings" panose="05000000000000000000" pitchFamily="2" charset="2"/>
              <a:buChar char="ü"/>
            </a:pPr>
            <a:r>
              <a:rPr lang="en-US" sz="3600" dirty="0">
                <a:latin typeface="Consolas" panose="020B0609020204030204" pitchFamily="49" charset="0"/>
              </a:rPr>
              <a:t>{{ </a:t>
            </a:r>
            <a:r>
              <a:rPr lang="en-US" sz="3600" dirty="0" err="1">
                <a:latin typeface="Consolas" panose="020B0609020204030204" pitchFamily="49" charset="0"/>
              </a:rPr>
              <a:t>form.submit</a:t>
            </a:r>
            <a:r>
              <a:rPr lang="en-US" sz="3600" dirty="0">
                <a:latin typeface="Consolas" panose="020B0609020204030204" pitchFamily="49" charset="0"/>
              </a:rPr>
              <a:t> }}</a:t>
            </a:r>
          </a:p>
          <a:p>
            <a:pPr lvl="1" algn="just"/>
            <a:r>
              <a:rPr lang="en-US" sz="3600" b="1" dirty="0">
                <a:latin typeface="Consolas" panose="020B0609020204030204" pitchFamily="49" charset="0"/>
              </a:rPr>
              <a:t>Example: </a:t>
            </a:r>
            <a:r>
              <a:rPr lang="en-PH" sz="3600" dirty="0">
                <a:latin typeface="Consolas" panose="020B0609020204030204" pitchFamily="49" charset="0"/>
              </a:rPr>
              <a:t>&lt;input type="submit"&gt;</a:t>
            </a:r>
          </a:p>
          <a:p>
            <a:pPr marL="1028700" lvl="1" indent="-571500" algn="just">
              <a:buFont typeface="Wingdings" panose="05000000000000000000" pitchFamily="2" charset="2"/>
              <a:buChar char="ü"/>
            </a:pPr>
            <a:r>
              <a:rPr lang="en-US" sz="3600" dirty="0">
                <a:latin typeface="Consolas" panose="020B0609020204030204" pitchFamily="49" charset="0"/>
              </a:rPr>
              <a:t>These are functional, but </a:t>
            </a:r>
            <a:r>
              <a:rPr lang="en-US" sz="3600" dirty="0" err="1">
                <a:latin typeface="Consolas" panose="020B0609020204030204" pitchFamily="49" charset="0"/>
              </a:rPr>
              <a:t>unstyled</a:t>
            </a:r>
            <a:r>
              <a:rPr lang="en-US" sz="3600" dirty="0">
                <a:latin typeface="Consolas" panose="020B0609020204030204" pitchFamily="49" charset="0"/>
              </a:rPr>
              <a:t>.</a:t>
            </a:r>
          </a:p>
          <a:p>
            <a:pPr marL="1028700" lvl="1" indent="-571500" algn="just">
              <a:buFont typeface="Wingdings" panose="05000000000000000000" pitchFamily="2" charset="2"/>
              <a:buChar char="ü"/>
            </a:pPr>
            <a:r>
              <a:rPr lang="en-US" sz="3600" dirty="0">
                <a:latin typeface="Consolas" panose="020B0609020204030204" pitchFamily="49" charset="0"/>
              </a:rPr>
              <a:t>Errors are displayed below each field if validation fails.</a:t>
            </a:r>
          </a:p>
        </p:txBody>
      </p:sp>
    </p:spTree>
    <p:extLst>
      <p:ext uri="{BB962C8B-B14F-4D97-AF65-F5344CB8AC3E}">
        <p14:creationId xmlns:p14="http://schemas.microsoft.com/office/powerpoint/2010/main" val="520943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1097B-3964-B3E0-0AD8-550BA28D5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2324082-B367-E548-B019-27FD7F4917D9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94C6832-3457-04FC-2EE9-ABF3E1289CEA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26CF07A5-AF86-41B3-8373-25ACA2BB8360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6523A467-D23C-268A-7ED4-E924DA55602C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D69AC5D0-8663-42CA-585F-612069958593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083E78E4-FFC8-B08C-F416-FB1838941108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071C99C2-408C-F431-782D-6430622C055D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Input Validation and Sanitation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49C9C85-4D4D-48FF-A223-C04F19ED97AA}"/>
              </a:ext>
            </a:extLst>
          </p:cNvPr>
          <p:cNvSpPr txBox="1"/>
          <p:nvPr/>
        </p:nvSpPr>
        <p:spPr>
          <a:xfrm>
            <a:off x="177555" y="2095500"/>
            <a:ext cx="17881845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b="1" dirty="0">
                <a:latin typeface="Consolas" panose="020B0609020204030204" pitchFamily="49" charset="0"/>
              </a:rPr>
              <a:t>Example: Adding custom HTML attributes</a:t>
            </a:r>
          </a:p>
          <a:p>
            <a:pPr algn="just"/>
            <a:endParaRPr lang="en-US" sz="3200" b="1" dirty="0">
              <a:latin typeface="Consolas" panose="020B0609020204030204" pitchFamily="49" charset="0"/>
            </a:endParaRP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{{ </a:t>
            </a:r>
            <a:r>
              <a:rPr lang="en-US" sz="3200" dirty="0" err="1">
                <a:latin typeface="Consolas" panose="020B0609020204030204" pitchFamily="49" charset="0"/>
              </a:rPr>
              <a:t>form.username</a:t>
            </a:r>
            <a:r>
              <a:rPr lang="en-US" sz="3200" dirty="0">
                <a:latin typeface="Consolas" panose="020B0609020204030204" pitchFamily="49" charset="0"/>
              </a:rPr>
              <a:t>(class="form-control", placeholder="Enter your username") }}</a:t>
            </a: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{{ </a:t>
            </a:r>
            <a:r>
              <a:rPr lang="en-US" sz="3200" dirty="0" err="1">
                <a:latin typeface="Consolas" panose="020B0609020204030204" pitchFamily="49" charset="0"/>
              </a:rPr>
              <a:t>form.email</a:t>
            </a:r>
            <a:r>
              <a:rPr lang="en-US" sz="3200" dirty="0">
                <a:latin typeface="Consolas" panose="020B0609020204030204" pitchFamily="49" charset="0"/>
              </a:rPr>
              <a:t>(class="form-control", placeholder="Enter your email") }}</a:t>
            </a: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{{ </a:t>
            </a:r>
            <a:r>
              <a:rPr lang="en-US" sz="3200" dirty="0" err="1">
                <a:latin typeface="Consolas" panose="020B0609020204030204" pitchFamily="49" charset="0"/>
              </a:rPr>
              <a:t>form.password</a:t>
            </a:r>
            <a:r>
              <a:rPr lang="en-US" sz="3200" dirty="0">
                <a:latin typeface="Consolas" panose="020B0609020204030204" pitchFamily="49" charset="0"/>
              </a:rPr>
              <a:t>(class="form-control", placeholder="Enter your password") }}</a:t>
            </a: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{{ </a:t>
            </a:r>
            <a:r>
              <a:rPr lang="en-US" sz="3200" dirty="0" err="1">
                <a:latin typeface="Consolas" panose="020B0609020204030204" pitchFamily="49" charset="0"/>
              </a:rPr>
              <a:t>form.submit</a:t>
            </a:r>
            <a:r>
              <a:rPr lang="en-US" sz="3200" dirty="0">
                <a:latin typeface="Consolas" panose="020B0609020204030204" pitchFamily="49" charset="0"/>
              </a:rPr>
              <a:t>(class="</a:t>
            </a:r>
            <a:r>
              <a:rPr lang="en-US" sz="3200" dirty="0" err="1">
                <a:latin typeface="Consolas" panose="020B0609020204030204" pitchFamily="49" charset="0"/>
              </a:rPr>
              <a:t>btn</a:t>
            </a:r>
            <a:r>
              <a:rPr lang="en-US" sz="3200" dirty="0">
                <a:latin typeface="Consolas" panose="020B0609020204030204" pitchFamily="49" charset="0"/>
              </a:rPr>
              <a:t> </a:t>
            </a:r>
            <a:r>
              <a:rPr lang="en-US" sz="3200" dirty="0" err="1">
                <a:latin typeface="Consolas" panose="020B0609020204030204" pitchFamily="49" charset="0"/>
              </a:rPr>
              <a:t>btn</a:t>
            </a:r>
            <a:r>
              <a:rPr lang="en-US" sz="3200" dirty="0">
                <a:latin typeface="Consolas" panose="020B0609020204030204" pitchFamily="49" charset="0"/>
              </a:rPr>
              <a:t>-primary") }}</a:t>
            </a:r>
          </a:p>
          <a:p>
            <a:pPr algn="just"/>
            <a:endParaRPr lang="en-US" sz="3200" dirty="0">
              <a:latin typeface="Consolas" panose="020B0609020204030204" pitchFamily="49" charset="0"/>
            </a:endParaRPr>
          </a:p>
          <a:p>
            <a:pPr algn="just"/>
            <a:endParaRPr lang="en-US" sz="3200" dirty="0">
              <a:latin typeface="Consolas" panose="020B0609020204030204" pitchFamily="49" charset="0"/>
            </a:endParaRP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3200" dirty="0">
                <a:latin typeface="Consolas" panose="020B0609020204030204" pitchFamily="49" charset="0"/>
              </a:rPr>
              <a:t>class="form-control" -&gt; allows you to use CSS frameworks like Bootstrap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3200" dirty="0">
                <a:latin typeface="Consolas" panose="020B0609020204030204" pitchFamily="49" charset="0"/>
              </a:rPr>
              <a:t>placeholder="..." -&gt; shows placeholder text inside the input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3200" dirty="0">
                <a:latin typeface="Consolas" panose="020B0609020204030204" pitchFamily="49" charset="0"/>
              </a:rPr>
              <a:t>You can also add id, style, or data-* attributes</a:t>
            </a:r>
          </a:p>
        </p:txBody>
      </p:sp>
    </p:spTree>
    <p:extLst>
      <p:ext uri="{BB962C8B-B14F-4D97-AF65-F5344CB8AC3E}">
        <p14:creationId xmlns:p14="http://schemas.microsoft.com/office/powerpoint/2010/main" val="1681437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FAF4E-7D3C-C05A-0A3D-965069D4E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9DB40E7-C009-4836-B90C-285BCAC27F86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9E691B7-BB17-2F06-D1EF-E5490F1882FC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7CD52CA6-8756-08AE-76F6-C0A72386C0D1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AAABAF10-C5C5-580E-886D-9401EC880242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2437A777-C352-D172-D4E6-F6FC42B60C08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02C5169F-1A0E-9C77-8BA6-086173048D24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C515C9B4-6E64-BCA3-7DCF-A436A2ED9114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Input Validation and Sanitation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840B470-5778-BEB0-2C13-DD14EE52ACCA}"/>
              </a:ext>
            </a:extLst>
          </p:cNvPr>
          <p:cNvSpPr txBox="1"/>
          <p:nvPr/>
        </p:nvSpPr>
        <p:spPr>
          <a:xfrm>
            <a:off x="177555" y="2095500"/>
            <a:ext cx="17881845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b="1" dirty="0">
                <a:latin typeface="Consolas" panose="020B0609020204030204" pitchFamily="49" charset="0"/>
              </a:rPr>
              <a:t>Example: Using HTML templates fully manually in register.html</a:t>
            </a: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&lt;form method="post"&gt;</a:t>
            </a: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	{{ </a:t>
            </a:r>
            <a:r>
              <a:rPr lang="en-US" sz="3200" dirty="0" err="1">
                <a:latin typeface="Consolas" panose="020B0609020204030204" pitchFamily="49" charset="0"/>
              </a:rPr>
              <a:t>form.hidden_tag</a:t>
            </a:r>
            <a:r>
              <a:rPr lang="en-US" sz="3200" dirty="0">
                <a:latin typeface="Consolas" panose="020B0609020204030204" pitchFamily="49" charset="0"/>
              </a:rPr>
              <a:t>() }}</a:t>
            </a: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 </a:t>
            </a: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	&lt;label for="username"&gt;Username&lt;/label&gt;</a:t>
            </a: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	&lt;input type="text" name="username" id="username" value="{{ </a:t>
            </a:r>
            <a:r>
              <a:rPr lang="en-US" sz="3200" dirty="0" err="1">
                <a:latin typeface="Consolas" panose="020B0609020204030204" pitchFamily="49" charset="0"/>
              </a:rPr>
              <a:t>form.username.data</a:t>
            </a:r>
            <a:r>
              <a:rPr lang="en-US" sz="3200" dirty="0">
                <a:latin typeface="Consolas" panose="020B0609020204030204" pitchFamily="49" charset="0"/>
              </a:rPr>
              <a:t> }}" class="form-control"&gt;</a:t>
            </a: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	{% for error in </a:t>
            </a:r>
            <a:r>
              <a:rPr lang="en-US" sz="3200" dirty="0" err="1">
                <a:latin typeface="Consolas" panose="020B0609020204030204" pitchFamily="49" charset="0"/>
              </a:rPr>
              <a:t>form.username.errors</a:t>
            </a:r>
            <a:r>
              <a:rPr lang="en-US" sz="3200" dirty="0">
                <a:latin typeface="Consolas" panose="020B0609020204030204" pitchFamily="49" charset="0"/>
              </a:rPr>
              <a:t> %}</a:t>
            </a: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		&lt;span style="</a:t>
            </a:r>
            <a:r>
              <a:rPr lang="en-US" sz="3200" dirty="0" err="1">
                <a:latin typeface="Consolas" panose="020B0609020204030204" pitchFamily="49" charset="0"/>
              </a:rPr>
              <a:t>color:red</a:t>
            </a:r>
            <a:r>
              <a:rPr lang="en-US" sz="3200" dirty="0">
                <a:latin typeface="Consolas" panose="020B0609020204030204" pitchFamily="49" charset="0"/>
              </a:rPr>
              <a:t>"&gt;{{ error }}&lt;/span&gt;</a:t>
            </a: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	{% </a:t>
            </a:r>
            <a:r>
              <a:rPr lang="en-US" sz="3200" dirty="0" err="1">
                <a:latin typeface="Consolas" panose="020B0609020204030204" pitchFamily="49" charset="0"/>
              </a:rPr>
              <a:t>endfor</a:t>
            </a:r>
            <a:r>
              <a:rPr lang="en-US" sz="3200" dirty="0">
                <a:latin typeface="Consolas" panose="020B0609020204030204" pitchFamily="49" charset="0"/>
              </a:rPr>
              <a:t> %}</a:t>
            </a:r>
          </a:p>
          <a:p>
            <a:pPr algn="just"/>
            <a:endParaRPr lang="en-US" sz="3200" dirty="0">
              <a:latin typeface="Consolas" panose="020B0609020204030204" pitchFamily="49" charset="0"/>
            </a:endParaRP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	&lt;button type="submit" class="</a:t>
            </a:r>
            <a:r>
              <a:rPr lang="en-US" sz="3200" dirty="0" err="1">
                <a:latin typeface="Consolas" panose="020B0609020204030204" pitchFamily="49" charset="0"/>
              </a:rPr>
              <a:t>btn</a:t>
            </a:r>
            <a:r>
              <a:rPr lang="en-US" sz="3200" dirty="0">
                <a:latin typeface="Consolas" panose="020B0609020204030204" pitchFamily="49" charset="0"/>
              </a:rPr>
              <a:t> </a:t>
            </a:r>
            <a:r>
              <a:rPr lang="en-US" sz="3200" dirty="0" err="1">
                <a:latin typeface="Consolas" panose="020B0609020204030204" pitchFamily="49" charset="0"/>
              </a:rPr>
              <a:t>btn</a:t>
            </a:r>
            <a:r>
              <a:rPr lang="en-US" sz="3200" dirty="0">
                <a:latin typeface="Consolas" panose="020B0609020204030204" pitchFamily="49" charset="0"/>
              </a:rPr>
              <a:t>-primary"&gt;Register&lt;/button&gt;</a:t>
            </a: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&lt;/form&gt;</a:t>
            </a:r>
          </a:p>
          <a:p>
            <a:pPr algn="just"/>
            <a:endParaRPr lang="en-US" sz="3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87777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9B79F-E7FC-FE98-807E-925FDA0C5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288286A-D144-C230-1D30-36AD35EFB3F6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D0B3930-DFD4-E73E-4614-CEDF7F68B612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C95CA30D-56E5-B141-BD37-9D1D3D9851FA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E755F3AD-7FDD-AC3A-5BD6-607C9F8BFE31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7EDC6D30-3968-D639-0543-5F40649E7240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D39E85C8-F57C-6389-7AB4-E8B260EB8450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C63B612F-C231-02FA-14A7-65E99FBACFEC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Input Validation and Sanitation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13B0175-703C-52EA-6042-830AC711B229}"/>
              </a:ext>
            </a:extLst>
          </p:cNvPr>
          <p:cNvSpPr txBox="1"/>
          <p:nvPr/>
        </p:nvSpPr>
        <p:spPr>
          <a:xfrm>
            <a:off x="177555" y="2095500"/>
            <a:ext cx="17881845" cy="7971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b="1" dirty="0">
                <a:latin typeface="Consolas" panose="020B0609020204030204" pitchFamily="49" charset="0"/>
              </a:rPr>
              <a:t>Note: </a:t>
            </a:r>
            <a:r>
              <a:rPr lang="en-US" sz="3200" dirty="0">
                <a:latin typeface="Consolas" panose="020B0609020204030204" pitchFamily="49" charset="0"/>
              </a:rPr>
              <a:t>When manually creating your form, you need to bind it to a Flask-WTF Form so that validation and error handling still work.</a:t>
            </a:r>
          </a:p>
          <a:p>
            <a:pPr algn="just"/>
            <a:endParaRPr lang="en-US" sz="3200" b="1" dirty="0">
              <a:latin typeface="Consolas" panose="020B0609020204030204" pitchFamily="49" charset="0"/>
            </a:endParaRPr>
          </a:p>
          <a:p>
            <a:pPr algn="just"/>
            <a:r>
              <a:rPr lang="en-US" sz="3200" b="1" dirty="0">
                <a:latin typeface="Consolas" panose="020B0609020204030204" pitchFamily="49" charset="0"/>
              </a:rPr>
              <a:t>Step 1: Keep name attribute identical to the form field</a:t>
            </a: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Example: &lt;input type="text" name="username" id="username"&gt;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3200" dirty="0">
                <a:latin typeface="Consolas" panose="020B0609020204030204" pitchFamily="49" charset="0"/>
              </a:rPr>
              <a:t>name="username" - must match username = </a:t>
            </a:r>
            <a:r>
              <a:rPr lang="en-US" sz="3200" dirty="0" err="1">
                <a:latin typeface="Consolas" panose="020B0609020204030204" pitchFamily="49" charset="0"/>
              </a:rPr>
              <a:t>StringField</a:t>
            </a:r>
            <a:r>
              <a:rPr lang="en-US" sz="3200" dirty="0">
                <a:latin typeface="Consolas" panose="020B0609020204030204" pitchFamily="49" charset="0"/>
              </a:rPr>
              <a:t>('Username', ...) in your form class.</a:t>
            </a:r>
          </a:p>
          <a:p>
            <a:pPr algn="just"/>
            <a:endParaRPr lang="en-US" sz="3200" dirty="0">
              <a:latin typeface="Consolas" panose="020B0609020204030204" pitchFamily="49" charset="0"/>
            </a:endParaRPr>
          </a:p>
          <a:p>
            <a:pPr algn="just"/>
            <a:r>
              <a:rPr lang="en-US" sz="3200" b="1" dirty="0">
                <a:latin typeface="Consolas" panose="020B0609020204030204" pitchFamily="49" charset="0"/>
              </a:rPr>
              <a:t>Step 2: Populate the field with existing form data </a:t>
            </a:r>
            <a:r>
              <a:rPr lang="en-US" sz="3200" dirty="0">
                <a:latin typeface="Consolas" panose="020B0609020204030204" pitchFamily="49" charset="0"/>
              </a:rPr>
              <a:t>- Use {{ </a:t>
            </a:r>
            <a:r>
              <a:rPr lang="en-US" sz="3200" dirty="0" err="1">
                <a:latin typeface="Consolas" panose="020B0609020204030204" pitchFamily="49" charset="0"/>
              </a:rPr>
              <a:t>form.field.data</a:t>
            </a:r>
            <a:r>
              <a:rPr lang="en-US" sz="3200" dirty="0">
                <a:latin typeface="Consolas" panose="020B0609020204030204" pitchFamily="49" charset="0"/>
              </a:rPr>
              <a:t> }} as the value attribute</a:t>
            </a: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Example:</a:t>
            </a: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&lt;input type="text" name="username" id="username" value="{{ </a:t>
            </a:r>
            <a:r>
              <a:rPr lang="en-US" sz="3200" dirty="0" err="1">
                <a:latin typeface="Consolas" panose="020B0609020204030204" pitchFamily="49" charset="0"/>
              </a:rPr>
              <a:t>form.username.data</a:t>
            </a:r>
            <a:r>
              <a:rPr lang="en-US" sz="3200" dirty="0">
                <a:latin typeface="Consolas" panose="020B0609020204030204" pitchFamily="49" charset="0"/>
              </a:rPr>
              <a:t> }}" class="form-control"&gt;</a:t>
            </a:r>
          </a:p>
          <a:p>
            <a:pPr algn="just"/>
            <a:endParaRPr lang="en-US" sz="3200" dirty="0">
              <a:latin typeface="Consolas" panose="020B0609020204030204" pitchFamily="49" charset="0"/>
            </a:endParaRP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If the user typed something invalid and the page reloads, the previous value stays in the input.</a:t>
            </a:r>
            <a:endParaRPr lang="en-US" sz="3200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96713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59270-7BBB-3921-54AB-4FDA2B084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ADB12C1-2490-C993-9950-E84D1336516B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6A4DAA3-AA07-7586-C9E1-B3EDC1EC3E5C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0AA28CF-812E-5C5F-85AC-E0A161148B3F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1E309FBC-E204-0E45-7493-A3A83169A2BF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CC6E2803-F26B-2517-CC18-10C120012976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C7D72381-99BE-F687-74DA-914036BE7AF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42768846-3BDA-61A1-F8BF-FA5E9FFB9848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Input Validation and Sanitation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7FC1078-4DA0-929C-1CEF-755509F260CB}"/>
              </a:ext>
            </a:extLst>
          </p:cNvPr>
          <p:cNvSpPr txBox="1"/>
          <p:nvPr/>
        </p:nvSpPr>
        <p:spPr>
          <a:xfrm>
            <a:off x="177555" y="2095500"/>
            <a:ext cx="17881845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b="1" dirty="0">
                <a:latin typeface="Consolas" panose="020B0609020204030204" pitchFamily="49" charset="0"/>
              </a:rPr>
              <a:t>Step 3: Display validation errors </a:t>
            </a:r>
            <a:r>
              <a:rPr lang="en-US" sz="3200" dirty="0">
                <a:latin typeface="Consolas" panose="020B0609020204030204" pitchFamily="49" charset="0"/>
              </a:rPr>
              <a:t>- Iterate over </a:t>
            </a:r>
            <a:r>
              <a:rPr lang="en-US" sz="3200" dirty="0" err="1">
                <a:latin typeface="Consolas" panose="020B0609020204030204" pitchFamily="49" charset="0"/>
              </a:rPr>
              <a:t>form.field.errors</a:t>
            </a:r>
            <a:endParaRPr lang="en-US" sz="3200" b="1" dirty="0">
              <a:latin typeface="Consolas" panose="020B0609020204030204" pitchFamily="49" charset="0"/>
            </a:endParaRP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{% for error in </a:t>
            </a:r>
            <a:r>
              <a:rPr lang="en-US" sz="3200" dirty="0" err="1">
                <a:latin typeface="Consolas" panose="020B0609020204030204" pitchFamily="49" charset="0"/>
              </a:rPr>
              <a:t>form.username.errors</a:t>
            </a:r>
            <a:r>
              <a:rPr lang="en-US" sz="3200" dirty="0">
                <a:latin typeface="Consolas" panose="020B0609020204030204" pitchFamily="49" charset="0"/>
              </a:rPr>
              <a:t> %}</a:t>
            </a: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	&lt;span style="</a:t>
            </a:r>
            <a:r>
              <a:rPr lang="en-US" sz="3200" dirty="0" err="1">
                <a:latin typeface="Consolas" panose="020B0609020204030204" pitchFamily="49" charset="0"/>
              </a:rPr>
              <a:t>color:red</a:t>
            </a:r>
            <a:r>
              <a:rPr lang="en-US" sz="3200" dirty="0">
                <a:latin typeface="Consolas" panose="020B0609020204030204" pitchFamily="49" charset="0"/>
              </a:rPr>
              <a:t>"&gt;{{ error }}&lt;/span&gt;</a:t>
            </a: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{% </a:t>
            </a:r>
            <a:r>
              <a:rPr lang="en-US" sz="3200" dirty="0" err="1">
                <a:latin typeface="Consolas" panose="020B0609020204030204" pitchFamily="49" charset="0"/>
              </a:rPr>
              <a:t>endfor</a:t>
            </a:r>
            <a:r>
              <a:rPr lang="en-US" sz="3200" dirty="0">
                <a:latin typeface="Consolas" panose="020B0609020204030204" pitchFamily="49" charset="0"/>
              </a:rPr>
              <a:t> %}</a:t>
            </a:r>
          </a:p>
          <a:p>
            <a:pPr algn="just"/>
            <a:endParaRPr lang="en-US" sz="3200" dirty="0">
              <a:latin typeface="Consolas" panose="020B0609020204030204" pitchFamily="49" charset="0"/>
            </a:endParaRPr>
          </a:p>
          <a:p>
            <a:pPr algn="just"/>
            <a:r>
              <a:rPr lang="en-US" sz="3200" b="1" dirty="0">
                <a:latin typeface="Consolas" panose="020B0609020204030204" pitchFamily="49" charset="0"/>
              </a:rPr>
              <a:t>Step 4: Keep CSRF protection </a:t>
            </a:r>
            <a:r>
              <a:rPr lang="en-US" sz="3200" dirty="0">
                <a:latin typeface="Consolas" panose="020B0609020204030204" pitchFamily="49" charset="0"/>
              </a:rPr>
              <a:t>- Always include {{ </a:t>
            </a:r>
            <a:r>
              <a:rPr lang="en-US" sz="3200" dirty="0" err="1">
                <a:latin typeface="Consolas" panose="020B0609020204030204" pitchFamily="49" charset="0"/>
              </a:rPr>
              <a:t>form.hidden_tag</a:t>
            </a:r>
            <a:r>
              <a:rPr lang="en-US" sz="3200" dirty="0">
                <a:latin typeface="Consolas" panose="020B0609020204030204" pitchFamily="49" charset="0"/>
              </a:rPr>
              <a:t>() }} that adds a hidden field with a CSRF token, needed for POST requests. </a:t>
            </a:r>
            <a:endParaRPr lang="en-US" sz="3200" b="1" dirty="0">
              <a:latin typeface="Consolas" panose="020B0609020204030204" pitchFamily="49" charset="0"/>
            </a:endParaRPr>
          </a:p>
          <a:p>
            <a:pPr algn="just"/>
            <a:endParaRPr lang="en-US" sz="3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53497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C3689-EC4C-9623-239C-763F17496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A4F4229-B6B4-6271-95A7-4C07DCA2C490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310B3F4-3A88-4131-876E-7BEE48B9771A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259E098-830F-F992-89DC-5F55189D55ED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E8766B94-C5E7-1B31-0FF3-180C4DD028B6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34C62DDF-D003-34BA-8909-C0AE0E68D383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9BF7EF43-15DA-8EF0-CB10-6318414FA643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06E3F813-D67F-58DD-C79E-3BF58470EF65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Input Validation and Sanitation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290BE37-B314-A969-BDB0-4377DA4A5C77}"/>
              </a:ext>
            </a:extLst>
          </p:cNvPr>
          <p:cNvSpPr txBox="1"/>
          <p:nvPr/>
        </p:nvSpPr>
        <p:spPr>
          <a:xfrm>
            <a:off x="177555" y="2095500"/>
            <a:ext cx="17881845" cy="76328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b="1" dirty="0">
                <a:latin typeface="Consolas" panose="020B0609020204030204" pitchFamily="49" charset="0"/>
              </a:rPr>
              <a:t>Example: Handling form submission on your Flask route</a:t>
            </a:r>
          </a:p>
          <a:p>
            <a:pPr algn="just"/>
            <a:r>
              <a:rPr lang="en-US" sz="2800" dirty="0">
                <a:latin typeface="Consolas" panose="020B0609020204030204" pitchFamily="49" charset="0"/>
              </a:rPr>
              <a:t>app = Flask(__name__)</a:t>
            </a:r>
          </a:p>
          <a:p>
            <a:pPr algn="just"/>
            <a:r>
              <a:rPr lang="en-US" sz="2800" dirty="0" err="1">
                <a:latin typeface="Consolas" panose="020B0609020204030204" pitchFamily="49" charset="0"/>
              </a:rPr>
              <a:t>app.config</a:t>
            </a:r>
            <a:r>
              <a:rPr lang="en-US" sz="2800" dirty="0">
                <a:latin typeface="Consolas" panose="020B0609020204030204" pitchFamily="49" charset="0"/>
              </a:rPr>
              <a:t>['SECRET_KEY'] = 'secret123'</a:t>
            </a:r>
          </a:p>
          <a:p>
            <a:pPr algn="just"/>
            <a:endParaRPr lang="en-US" sz="1400" dirty="0">
              <a:latin typeface="Consolas" panose="020B0609020204030204" pitchFamily="49" charset="0"/>
            </a:endParaRPr>
          </a:p>
          <a:p>
            <a:pPr algn="just"/>
            <a:r>
              <a:rPr lang="en-US" sz="2800" dirty="0">
                <a:latin typeface="Consolas" panose="020B0609020204030204" pitchFamily="49" charset="0"/>
              </a:rPr>
              <a:t>@app.route('/register', methods=['GET', 'POST'])</a:t>
            </a:r>
          </a:p>
          <a:p>
            <a:pPr algn="just"/>
            <a:r>
              <a:rPr lang="en-US" sz="2800" dirty="0">
                <a:latin typeface="Consolas" panose="020B0609020204030204" pitchFamily="49" charset="0"/>
              </a:rPr>
              <a:t>def register():</a:t>
            </a:r>
          </a:p>
          <a:p>
            <a:pPr algn="just"/>
            <a:r>
              <a:rPr lang="en-US" sz="2800" dirty="0">
                <a:latin typeface="Consolas" panose="020B0609020204030204" pitchFamily="49" charset="0"/>
              </a:rPr>
              <a:t>    form = </a:t>
            </a:r>
            <a:r>
              <a:rPr lang="en-US" sz="2800" dirty="0" err="1">
                <a:latin typeface="Consolas" panose="020B0609020204030204" pitchFamily="49" charset="0"/>
              </a:rPr>
              <a:t>RegisterForm</a:t>
            </a:r>
            <a:r>
              <a:rPr lang="en-US" sz="2800" dirty="0">
                <a:latin typeface="Consolas" panose="020B0609020204030204" pitchFamily="49" charset="0"/>
              </a:rPr>
              <a:t>()</a:t>
            </a:r>
          </a:p>
          <a:p>
            <a:pPr algn="just"/>
            <a:endParaRPr lang="en-US" sz="2800" dirty="0">
              <a:latin typeface="Consolas" panose="020B0609020204030204" pitchFamily="49" charset="0"/>
            </a:endParaRPr>
          </a:p>
          <a:p>
            <a:pPr algn="just"/>
            <a:r>
              <a:rPr lang="en-US" sz="2800" dirty="0">
                <a:latin typeface="Consolas" panose="020B0609020204030204" pitchFamily="49" charset="0"/>
              </a:rPr>
              <a:t>    if </a:t>
            </a:r>
            <a:r>
              <a:rPr lang="en-US" sz="2800" dirty="0" err="1">
                <a:latin typeface="Consolas" panose="020B0609020204030204" pitchFamily="49" charset="0"/>
              </a:rPr>
              <a:t>form.validate_on_submit</a:t>
            </a:r>
            <a:r>
              <a:rPr lang="en-US" sz="2800" dirty="0">
                <a:latin typeface="Consolas" panose="020B0609020204030204" pitchFamily="49" charset="0"/>
              </a:rPr>
              <a:t>():</a:t>
            </a:r>
          </a:p>
          <a:p>
            <a:pPr algn="just"/>
            <a:r>
              <a:rPr lang="en-US" sz="2800" dirty="0">
                <a:latin typeface="Consolas" panose="020B0609020204030204" pitchFamily="49" charset="0"/>
              </a:rPr>
              <a:t>        username = </a:t>
            </a:r>
            <a:r>
              <a:rPr lang="en-US" sz="2800" dirty="0" err="1">
                <a:latin typeface="Consolas" panose="020B0609020204030204" pitchFamily="49" charset="0"/>
              </a:rPr>
              <a:t>form.username.data</a:t>
            </a:r>
            <a:endParaRPr lang="en-US" sz="2800" dirty="0">
              <a:latin typeface="Consolas" panose="020B0609020204030204" pitchFamily="49" charset="0"/>
            </a:endParaRPr>
          </a:p>
          <a:p>
            <a:pPr algn="just"/>
            <a:r>
              <a:rPr lang="en-US" sz="2800" dirty="0">
                <a:latin typeface="Consolas" panose="020B0609020204030204" pitchFamily="49" charset="0"/>
              </a:rPr>
              <a:t>        email = </a:t>
            </a:r>
            <a:r>
              <a:rPr lang="en-US" sz="2800" dirty="0" err="1">
                <a:latin typeface="Consolas" panose="020B0609020204030204" pitchFamily="49" charset="0"/>
              </a:rPr>
              <a:t>form.email.data</a:t>
            </a:r>
            <a:endParaRPr lang="en-US" sz="2800" dirty="0">
              <a:latin typeface="Consolas" panose="020B0609020204030204" pitchFamily="49" charset="0"/>
            </a:endParaRPr>
          </a:p>
          <a:p>
            <a:pPr algn="just"/>
            <a:r>
              <a:rPr lang="en-US" sz="2800" dirty="0">
                <a:latin typeface="Consolas" panose="020B0609020204030204" pitchFamily="49" charset="0"/>
              </a:rPr>
              <a:t>        password = </a:t>
            </a:r>
            <a:r>
              <a:rPr lang="en-US" sz="2800" dirty="0" err="1">
                <a:latin typeface="Consolas" panose="020B0609020204030204" pitchFamily="49" charset="0"/>
              </a:rPr>
              <a:t>form.password.data</a:t>
            </a:r>
            <a:endParaRPr lang="en-US" sz="2800" dirty="0">
              <a:latin typeface="Consolas" panose="020B0609020204030204" pitchFamily="49" charset="0"/>
            </a:endParaRPr>
          </a:p>
          <a:p>
            <a:pPr algn="just"/>
            <a:endParaRPr lang="en-US" sz="2800" dirty="0">
              <a:latin typeface="Consolas" panose="020B0609020204030204" pitchFamily="49" charset="0"/>
            </a:endParaRPr>
          </a:p>
          <a:p>
            <a:pPr algn="just"/>
            <a:r>
              <a:rPr lang="en-US" sz="2800" dirty="0">
                <a:latin typeface="Consolas" panose="020B0609020204030204" pitchFamily="49" charset="0"/>
              </a:rPr>
              <a:t>        return </a:t>
            </a:r>
            <a:r>
              <a:rPr lang="en-US" sz="2800" dirty="0" err="1">
                <a:latin typeface="Consolas" panose="020B0609020204030204" pitchFamily="49" charset="0"/>
              </a:rPr>
              <a:t>f"Registration</a:t>
            </a:r>
            <a:r>
              <a:rPr lang="en-US" sz="2800" dirty="0">
                <a:latin typeface="Consolas" panose="020B0609020204030204" pitchFamily="49" charset="0"/>
              </a:rPr>
              <a:t> successful! Username: {username}, Email: {email}"</a:t>
            </a:r>
          </a:p>
          <a:p>
            <a:pPr algn="just"/>
            <a:endParaRPr lang="en-US" sz="2800" dirty="0">
              <a:latin typeface="Consolas" panose="020B0609020204030204" pitchFamily="49" charset="0"/>
            </a:endParaRPr>
          </a:p>
          <a:p>
            <a:pPr algn="just"/>
            <a:r>
              <a:rPr lang="en-US" sz="2800" dirty="0">
                <a:latin typeface="Consolas" panose="020B0609020204030204" pitchFamily="49" charset="0"/>
              </a:rPr>
              <a:t>    return </a:t>
            </a:r>
            <a:r>
              <a:rPr lang="en-US" sz="2800" dirty="0" err="1">
                <a:latin typeface="Consolas" panose="020B0609020204030204" pitchFamily="49" charset="0"/>
              </a:rPr>
              <a:t>render_template</a:t>
            </a:r>
            <a:r>
              <a:rPr lang="en-US" sz="2800" dirty="0">
                <a:latin typeface="Consolas" panose="020B0609020204030204" pitchFamily="49" charset="0"/>
              </a:rPr>
              <a:t>('register.html', form=form)</a:t>
            </a:r>
          </a:p>
          <a:p>
            <a:pPr algn="just"/>
            <a:r>
              <a:rPr lang="en-US" sz="2800" dirty="0">
                <a:latin typeface="Consolas" panose="020B0609020204030204" pitchFamily="49" charset="0"/>
              </a:rPr>
              <a:t>if __name__ == '__main__':</a:t>
            </a:r>
          </a:p>
          <a:p>
            <a:pPr algn="just"/>
            <a:r>
              <a:rPr lang="en-US" sz="2800" dirty="0">
                <a:latin typeface="Consolas" panose="020B0609020204030204" pitchFamily="49" charset="0"/>
              </a:rPr>
              <a:t>    </a:t>
            </a:r>
            <a:r>
              <a:rPr lang="en-US" sz="2800" dirty="0" err="1">
                <a:latin typeface="Consolas" panose="020B0609020204030204" pitchFamily="49" charset="0"/>
              </a:rPr>
              <a:t>app.run</a:t>
            </a:r>
            <a:r>
              <a:rPr lang="en-US" sz="2800" dirty="0">
                <a:latin typeface="Consolas" panose="020B0609020204030204" pitchFamily="49" charset="0"/>
              </a:rPr>
              <a:t>(debug=True)</a:t>
            </a:r>
          </a:p>
        </p:txBody>
      </p:sp>
    </p:spTree>
    <p:extLst>
      <p:ext uri="{BB962C8B-B14F-4D97-AF65-F5344CB8AC3E}">
        <p14:creationId xmlns:p14="http://schemas.microsoft.com/office/powerpoint/2010/main" val="40159393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CADF0-1E75-9E13-84B9-CB6B625CC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4527753-79C9-F4DC-3CBA-ACC899FFB44B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695229C-8826-2CBE-3E44-F6E7DA85BBBF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9181647-EB37-C451-726F-D49D980DCE67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50FAE5FD-64E9-A4AE-D1F6-754B54DFD2AC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08B098A4-5927-D4E1-22AC-C67965D83E54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62F67E3D-595B-76EC-B171-C790B05C3160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1D7D7AB0-01C2-DC6E-874C-46BA3E87BBA4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Input Validation and Sanitation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9D01C80-543C-E552-44F1-DD45FCEA6A97}"/>
              </a:ext>
            </a:extLst>
          </p:cNvPr>
          <p:cNvSpPr txBox="1"/>
          <p:nvPr/>
        </p:nvSpPr>
        <p:spPr>
          <a:xfrm>
            <a:off x="177555" y="2095500"/>
            <a:ext cx="17881845" cy="76328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just"/>
            <a:r>
              <a:rPr lang="en-US" sz="3500" b="1" dirty="0">
                <a:latin typeface="Consolas" panose="020B0609020204030204" pitchFamily="49" charset="0"/>
              </a:rPr>
              <a:t>Explanation:</a:t>
            </a:r>
          </a:p>
          <a:p>
            <a:pPr marL="1028700" lvl="1" indent="-571500" algn="just">
              <a:buFont typeface="Wingdings" panose="05000000000000000000" pitchFamily="2" charset="2"/>
              <a:buChar char="ü"/>
            </a:pPr>
            <a:r>
              <a:rPr lang="en-US" sz="3500" dirty="0" err="1">
                <a:latin typeface="Consolas" panose="020B0609020204030204" pitchFamily="49" charset="0"/>
              </a:rPr>
              <a:t>app.config</a:t>
            </a:r>
            <a:r>
              <a:rPr lang="en-US" sz="3500" dirty="0">
                <a:latin typeface="Consolas" panose="020B0609020204030204" pitchFamily="49" charset="0"/>
              </a:rPr>
              <a:t>['SECRET_KEY'] = 'secret123’ -&gt; The SECRET_KEY is a random string used by Flask to securely sign data. In real applications, you should use a strong random string, not a simple word, to prevent attackers from guessing it. Also, to prevent CSRF attacks.</a:t>
            </a:r>
          </a:p>
          <a:p>
            <a:pPr marL="1028700" lvl="1" indent="-571500" algn="just">
              <a:buFont typeface="Wingdings" panose="05000000000000000000" pitchFamily="2" charset="2"/>
              <a:buChar char="ü"/>
            </a:pPr>
            <a:r>
              <a:rPr lang="en-US" sz="3500" dirty="0">
                <a:latin typeface="Consolas" panose="020B0609020204030204" pitchFamily="49" charset="0"/>
              </a:rPr>
              <a:t>form = </a:t>
            </a:r>
            <a:r>
              <a:rPr lang="en-US" sz="3500" dirty="0" err="1">
                <a:latin typeface="Consolas" panose="020B0609020204030204" pitchFamily="49" charset="0"/>
              </a:rPr>
              <a:t>RegisterForm</a:t>
            </a:r>
            <a:r>
              <a:rPr lang="en-US" sz="3500" dirty="0">
                <a:latin typeface="Consolas" panose="020B0609020204030204" pitchFamily="49" charset="0"/>
              </a:rPr>
              <a:t>() -&gt; Creates an instance of the form.</a:t>
            </a:r>
          </a:p>
          <a:p>
            <a:pPr marL="1028700" lvl="1" indent="-571500" algn="just">
              <a:buFont typeface="Wingdings" panose="05000000000000000000" pitchFamily="2" charset="2"/>
              <a:buChar char="ü"/>
            </a:pPr>
            <a:r>
              <a:rPr lang="en-US" sz="3500" dirty="0" err="1">
                <a:latin typeface="Consolas" panose="020B0609020204030204" pitchFamily="49" charset="0"/>
              </a:rPr>
              <a:t>validate_on_submit</a:t>
            </a:r>
            <a:r>
              <a:rPr lang="en-US" sz="3500" dirty="0">
                <a:latin typeface="Consolas" panose="020B0609020204030204" pitchFamily="49" charset="0"/>
              </a:rPr>
              <a:t>() -&gt; Checks:</a:t>
            </a:r>
          </a:p>
          <a:p>
            <a:pPr marL="1485900" lvl="2" indent="-571500" algn="just">
              <a:buFont typeface="Arial" panose="020B0604020202020204" pitchFamily="34" charset="0"/>
              <a:buChar char="•"/>
            </a:pPr>
            <a:r>
              <a:rPr lang="en-US" sz="3500" dirty="0">
                <a:latin typeface="Consolas" panose="020B0609020204030204" pitchFamily="49" charset="0"/>
              </a:rPr>
              <a:t>Request is POST</a:t>
            </a:r>
          </a:p>
          <a:p>
            <a:pPr marL="1485900" lvl="2" indent="-571500" algn="just">
              <a:buFont typeface="Arial" panose="020B0604020202020204" pitchFamily="34" charset="0"/>
              <a:buChar char="•"/>
            </a:pPr>
            <a:r>
              <a:rPr lang="en-US" sz="3500" dirty="0">
                <a:latin typeface="Consolas" panose="020B0609020204030204" pitchFamily="49" charset="0"/>
              </a:rPr>
              <a:t>All validators pass (</a:t>
            </a:r>
            <a:r>
              <a:rPr lang="en-US" sz="3500" dirty="0" err="1">
                <a:latin typeface="Consolas" panose="020B0609020204030204" pitchFamily="49" charset="0"/>
              </a:rPr>
              <a:t>DataRequired</a:t>
            </a:r>
            <a:r>
              <a:rPr lang="en-US" sz="3500" dirty="0">
                <a:latin typeface="Consolas" panose="020B0609020204030204" pitchFamily="49" charset="0"/>
              </a:rPr>
              <a:t>, Length, Email)</a:t>
            </a:r>
          </a:p>
          <a:p>
            <a:pPr marL="1485900" lvl="2" indent="-571500" algn="just">
              <a:buFont typeface="Arial" panose="020B0604020202020204" pitchFamily="34" charset="0"/>
              <a:buChar char="•"/>
            </a:pPr>
            <a:r>
              <a:rPr lang="en-US" sz="3500" dirty="0">
                <a:latin typeface="Consolas" panose="020B0609020204030204" pitchFamily="49" charset="0"/>
              </a:rPr>
              <a:t>If valid -&gt; form data is safe to use</a:t>
            </a:r>
          </a:p>
          <a:p>
            <a:pPr lvl="2" algn="just"/>
            <a:endParaRPr lang="en-US" sz="3500" dirty="0">
              <a:latin typeface="Consolas" panose="020B0609020204030204" pitchFamily="49" charset="0"/>
            </a:endParaRPr>
          </a:p>
          <a:p>
            <a:pPr marL="1028700" lvl="1" indent="-571500" algn="just">
              <a:buFont typeface="Wingdings" panose="05000000000000000000" pitchFamily="2" charset="2"/>
              <a:buChar char="ü"/>
            </a:pPr>
            <a:r>
              <a:rPr lang="en-US" sz="3500" dirty="0" err="1">
                <a:latin typeface="Consolas" panose="020B0609020204030204" pitchFamily="49" charset="0"/>
              </a:rPr>
              <a:t>form.username.data</a:t>
            </a:r>
            <a:r>
              <a:rPr lang="en-US" sz="3500" dirty="0">
                <a:latin typeface="Consolas" panose="020B0609020204030204" pitchFamily="49" charset="0"/>
              </a:rPr>
              <a:t> -&gt; Sanitized value (whitespace trimmed, safe characters)</a:t>
            </a:r>
          </a:p>
          <a:p>
            <a:pPr marL="1028700" lvl="1" indent="-571500" algn="just">
              <a:buFont typeface="Wingdings" panose="05000000000000000000" pitchFamily="2" charset="2"/>
              <a:buChar char="ü"/>
            </a:pPr>
            <a:r>
              <a:rPr lang="en-US" sz="3500" dirty="0">
                <a:latin typeface="Consolas" panose="020B0609020204030204" pitchFamily="49" charset="0"/>
              </a:rPr>
              <a:t>If invalid -&gt; errors are automatically stored in form.&lt;field&gt;.errors</a:t>
            </a:r>
          </a:p>
        </p:txBody>
      </p:sp>
    </p:spTree>
    <p:extLst>
      <p:ext uri="{BB962C8B-B14F-4D97-AF65-F5344CB8AC3E}">
        <p14:creationId xmlns:p14="http://schemas.microsoft.com/office/powerpoint/2010/main" val="17451430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1C3EB-B206-565D-C8B7-D266E9D45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37AD8CB-F207-32DF-9ACF-04D57E0976A8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EB83B44-40E4-A367-774A-1FBD67C48EB7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820BC773-33D6-0F0E-47CF-BE8F8A1DD0CD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7DF3416E-382D-1D33-0CEA-D57519A4752A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17FE098E-27C8-C698-416D-16CEFD2B0122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3E6A1CE8-56AA-3893-7365-27E24685FF10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6D802F44-1DAF-56F1-35E1-09391855F05D}"/>
              </a:ext>
            </a:extLst>
          </p:cNvPr>
          <p:cNvSpPr txBox="1"/>
          <p:nvPr/>
        </p:nvSpPr>
        <p:spPr>
          <a:xfrm>
            <a:off x="953437" y="713865"/>
            <a:ext cx="16381125" cy="6771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4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Learning Activity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777F64-93FB-C040-B03B-B04D79F682FF}"/>
              </a:ext>
            </a:extLst>
          </p:cNvPr>
          <p:cNvSpPr txBox="1"/>
          <p:nvPr/>
        </p:nvSpPr>
        <p:spPr>
          <a:xfrm>
            <a:off x="380999" y="2305734"/>
            <a:ext cx="1744980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b="1" dirty="0">
                <a:latin typeface="Consolas" panose="020B0609020204030204" pitchFamily="49" charset="0"/>
              </a:rPr>
              <a:t>Instruction: </a:t>
            </a:r>
            <a:r>
              <a:rPr lang="en-US" sz="3600" dirty="0">
                <a:latin typeface="Consolas" panose="020B0609020204030204" pitchFamily="49" charset="0"/>
              </a:rPr>
              <a:t>Create a Flask application that handles user registration and login. Use a simple login credential validation first. No need to use a database. </a:t>
            </a:r>
          </a:p>
        </p:txBody>
      </p:sp>
    </p:spTree>
    <p:extLst>
      <p:ext uri="{BB962C8B-B14F-4D97-AF65-F5344CB8AC3E}">
        <p14:creationId xmlns:p14="http://schemas.microsoft.com/office/powerpoint/2010/main" val="5890473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4CFFF-D6FE-23A7-9EA0-67249B96F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 descr="A blue and orange square&#10;&#10;Description automatically generated">
            <a:extLst>
              <a:ext uri="{FF2B5EF4-FFF2-40B4-BE49-F238E27FC236}">
                <a16:creationId xmlns:a16="http://schemas.microsoft.com/office/drawing/2014/main" id="{59CB9151-800F-8A2D-07C5-35C39DF3969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64" r="12208"/>
          <a:stretch/>
        </p:blipFill>
        <p:spPr>
          <a:xfrm>
            <a:off x="1" y="2939231"/>
            <a:ext cx="18287999" cy="4408536"/>
          </a:xfrm>
          <a:prstGeom prst="rect">
            <a:avLst/>
          </a:prstGeom>
        </p:spPr>
      </p:pic>
      <p:sp>
        <p:nvSpPr>
          <p:cNvPr id="20" name="Freeform 20">
            <a:extLst>
              <a:ext uri="{FF2B5EF4-FFF2-40B4-BE49-F238E27FC236}">
                <a16:creationId xmlns:a16="http://schemas.microsoft.com/office/drawing/2014/main" id="{F7CD063B-E2AF-FCE3-B10D-2CB85857FF6B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4850FF4A-8B79-4C46-1302-A252D80BDB00}"/>
              </a:ext>
            </a:extLst>
          </p:cNvPr>
          <p:cNvSpPr txBox="1"/>
          <p:nvPr/>
        </p:nvSpPr>
        <p:spPr>
          <a:xfrm>
            <a:off x="1144875" y="3665274"/>
            <a:ext cx="15998250" cy="147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57"/>
              </a:lnSpc>
            </a:pPr>
            <a:r>
              <a:rPr lang="en-US" sz="7200" spc="-360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</a:rPr>
              <a:t>Serving Static Files</a:t>
            </a:r>
          </a:p>
        </p:txBody>
      </p:sp>
      <p:grpSp>
        <p:nvGrpSpPr>
          <p:cNvPr id="34" name="Group 13">
            <a:extLst>
              <a:ext uri="{FF2B5EF4-FFF2-40B4-BE49-F238E27FC236}">
                <a16:creationId xmlns:a16="http://schemas.microsoft.com/office/drawing/2014/main" id="{A9B7B8A4-D934-215C-749F-C8D0074A1874}"/>
              </a:ext>
            </a:extLst>
          </p:cNvPr>
          <p:cNvGrpSpPr/>
          <p:nvPr/>
        </p:nvGrpSpPr>
        <p:grpSpPr>
          <a:xfrm>
            <a:off x="152400" y="211586"/>
            <a:ext cx="6840467" cy="1321138"/>
            <a:chOff x="0" y="0"/>
            <a:chExt cx="15396444" cy="3066458"/>
          </a:xfrm>
        </p:grpSpPr>
        <p:sp>
          <p:nvSpPr>
            <p:cNvPr id="35" name="Freeform 14">
              <a:extLst>
                <a:ext uri="{FF2B5EF4-FFF2-40B4-BE49-F238E27FC236}">
                  <a16:creationId xmlns:a16="http://schemas.microsoft.com/office/drawing/2014/main" id="{35267AAF-7347-7DB5-20BD-34614F879CBE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6" name="Freeform 15">
              <a:extLst>
                <a:ext uri="{FF2B5EF4-FFF2-40B4-BE49-F238E27FC236}">
                  <a16:creationId xmlns:a16="http://schemas.microsoft.com/office/drawing/2014/main" id="{DDAA5C06-18DC-266D-5932-A431BF261CBA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7" name="Freeform 16">
              <a:extLst>
                <a:ext uri="{FF2B5EF4-FFF2-40B4-BE49-F238E27FC236}">
                  <a16:creationId xmlns:a16="http://schemas.microsoft.com/office/drawing/2014/main" id="{4136DC26-D5DA-31D2-4146-86C32820029D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8" name="Freeform 17">
              <a:extLst>
                <a:ext uri="{FF2B5EF4-FFF2-40B4-BE49-F238E27FC236}">
                  <a16:creationId xmlns:a16="http://schemas.microsoft.com/office/drawing/2014/main" id="{D3B8900B-07C9-F48E-C8B7-0FF449FCD033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9" name="Freeform 18">
              <a:extLst>
                <a:ext uri="{FF2B5EF4-FFF2-40B4-BE49-F238E27FC236}">
                  <a16:creationId xmlns:a16="http://schemas.microsoft.com/office/drawing/2014/main" id="{BC8D8803-FD9E-E59B-D302-9D67BA137614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0" name="Freeform 19">
              <a:extLst>
                <a:ext uri="{FF2B5EF4-FFF2-40B4-BE49-F238E27FC236}">
                  <a16:creationId xmlns:a16="http://schemas.microsoft.com/office/drawing/2014/main" id="{1C42DAFC-444A-AE56-E27E-1507243FA0D9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2" name="Group 2">
            <a:extLst>
              <a:ext uri="{FF2B5EF4-FFF2-40B4-BE49-F238E27FC236}">
                <a16:creationId xmlns:a16="http://schemas.microsoft.com/office/drawing/2014/main" id="{7B5DD934-8DDC-0AC3-9483-1C9DAFCE66BD}"/>
              </a:ext>
            </a:extLst>
          </p:cNvPr>
          <p:cNvGrpSpPr/>
          <p:nvPr/>
        </p:nvGrpSpPr>
        <p:grpSpPr>
          <a:xfrm>
            <a:off x="14554200" y="6438900"/>
            <a:ext cx="3886200" cy="38481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B752BED-0FB2-94AC-9F13-511B1E45A4AB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83BEE714-0D54-C3DD-A7E8-2572353B6CF1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6C9D77C3-F667-3AA8-4434-27307FF7ACBC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</p:spTree>
    <p:extLst>
      <p:ext uri="{BB962C8B-B14F-4D97-AF65-F5344CB8AC3E}">
        <p14:creationId xmlns:p14="http://schemas.microsoft.com/office/powerpoint/2010/main" val="8567202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D1787-6C15-5ADF-B524-BCB1A2180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E97BB30-2557-858E-B7E7-239283856984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1DCFB51-BE0B-EDAE-9652-13919777AF8C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7211E370-4E1F-BEDB-C696-52AD293AF625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C9E1F99C-FE82-43E6-7EA3-3F49B23583F3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53690134-5E0D-9113-12FE-93E5D9491EE3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825CE709-20AB-7273-9D26-D5FC979D6103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7AC56823-BB55-018F-B36B-92E9CF03A250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Serving Static Files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807F1D1-4D50-BF56-2632-29EF7B51C283}"/>
              </a:ext>
            </a:extLst>
          </p:cNvPr>
          <p:cNvSpPr txBox="1"/>
          <p:nvPr/>
        </p:nvSpPr>
        <p:spPr>
          <a:xfrm>
            <a:off x="177555" y="2095500"/>
            <a:ext cx="1788184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PH" sz="3600" dirty="0">
                <a:latin typeface="Consolas" panose="020B0609020204030204" pitchFamily="49" charset="0"/>
              </a:rPr>
              <a:t>Static files are files that don’t change dynamically in response to a user request. Examples include:</a:t>
            </a:r>
          </a:p>
          <a:p>
            <a:pPr marL="1028700" lvl="1" indent="-571500" algn="just">
              <a:buFont typeface="Wingdings" panose="05000000000000000000" pitchFamily="2" charset="2"/>
              <a:buChar char="ü"/>
            </a:pPr>
            <a:r>
              <a:rPr lang="en-PH" sz="3600" dirty="0">
                <a:latin typeface="Consolas" panose="020B0609020204030204" pitchFamily="49" charset="0"/>
              </a:rPr>
              <a:t>CSS files -&gt; control styling and layout</a:t>
            </a:r>
          </a:p>
          <a:p>
            <a:pPr marL="1028700" lvl="1" indent="-571500" algn="just">
              <a:buFont typeface="Wingdings" panose="05000000000000000000" pitchFamily="2" charset="2"/>
              <a:buChar char="ü"/>
            </a:pPr>
            <a:r>
              <a:rPr lang="en-PH" sz="3600" dirty="0">
                <a:latin typeface="Consolas" panose="020B0609020204030204" pitchFamily="49" charset="0"/>
              </a:rPr>
              <a:t>JavaScript files -&gt; add interactivity</a:t>
            </a:r>
          </a:p>
          <a:p>
            <a:pPr marL="1028700" lvl="1" indent="-571500" algn="just">
              <a:buFont typeface="Wingdings" panose="05000000000000000000" pitchFamily="2" charset="2"/>
              <a:buChar char="ü"/>
            </a:pPr>
            <a:r>
              <a:rPr lang="en-PH" sz="3600" dirty="0">
                <a:latin typeface="Consolas" panose="020B0609020204030204" pitchFamily="49" charset="0"/>
              </a:rPr>
              <a:t>Images -&gt; logos, photos, icons</a:t>
            </a:r>
          </a:p>
          <a:p>
            <a:pPr marL="1028700" lvl="1" indent="-571500" algn="just">
              <a:buFont typeface="Wingdings" panose="05000000000000000000" pitchFamily="2" charset="2"/>
              <a:buChar char="ü"/>
            </a:pPr>
            <a:r>
              <a:rPr lang="en-PH" sz="3600" dirty="0">
                <a:latin typeface="Consolas" panose="020B0609020204030204" pitchFamily="49" charset="0"/>
              </a:rPr>
              <a:t>Fonts, PDFs, videos, or any assets</a:t>
            </a:r>
          </a:p>
          <a:p>
            <a:pPr algn="just"/>
            <a:endParaRPr lang="en-PH" sz="3600" dirty="0">
              <a:latin typeface="Consolas" panose="020B0609020204030204" pitchFamily="49" charset="0"/>
            </a:endParaRPr>
          </a:p>
          <a:p>
            <a:pPr algn="just"/>
            <a:r>
              <a:rPr lang="en-PH" sz="3600" dirty="0">
                <a:latin typeface="Consolas" panose="020B0609020204030204" pitchFamily="49" charset="0"/>
              </a:rPr>
              <a:t>In Flask, these files are served as-is, without processing.</a:t>
            </a:r>
          </a:p>
        </p:txBody>
      </p:sp>
    </p:spTree>
    <p:extLst>
      <p:ext uri="{BB962C8B-B14F-4D97-AF65-F5344CB8AC3E}">
        <p14:creationId xmlns:p14="http://schemas.microsoft.com/office/powerpoint/2010/main" val="21688985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F07FB-1780-CDA4-5323-231D3466C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3B8B755-5955-5BB7-394A-D5507DB7B8B2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84E9ECF-A7B2-16EB-48CA-BA8C45AE72E4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047F5F13-E79A-EDE3-5346-C9A46B6404F2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E40818CB-0209-BBA6-5E27-081804881EE9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4A425B0B-CDFB-314D-39D0-3248CC9880BF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DCE69CD2-EFB1-9E39-0D72-8A7511829C44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D66A65CA-167E-9534-1ED1-1B57BEC8A75C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Default Static Folder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614210B-7F38-DA77-26D2-AE67EAB47D92}"/>
              </a:ext>
            </a:extLst>
          </p:cNvPr>
          <p:cNvSpPr txBox="1"/>
          <p:nvPr/>
        </p:nvSpPr>
        <p:spPr>
          <a:xfrm>
            <a:off x="177555" y="2095500"/>
            <a:ext cx="17881845" cy="8002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dirty="0">
                <a:latin typeface="Consolas" panose="020B0609020204030204" pitchFamily="49" charset="0"/>
              </a:rPr>
              <a:t>Flask automatically looks for a folder named static/ in your project root. Any file you put here can be accessed via /static/&lt;filename&gt; URL.</a:t>
            </a:r>
          </a:p>
          <a:p>
            <a:pPr algn="just"/>
            <a:endParaRPr lang="en-US" sz="1000" dirty="0">
              <a:latin typeface="Consolas" panose="020B0609020204030204" pitchFamily="49" charset="0"/>
            </a:endParaRP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To reference static files in your templates,</a:t>
            </a:r>
            <a:r>
              <a:rPr lang="en-PH" sz="3600" dirty="0">
                <a:latin typeface="Consolas" panose="020B0609020204030204" pitchFamily="49" charset="0"/>
              </a:rPr>
              <a:t> use the </a:t>
            </a:r>
            <a:r>
              <a:rPr lang="en-PH" sz="3600" dirty="0" err="1">
                <a:latin typeface="Consolas" panose="020B0609020204030204" pitchFamily="49" charset="0"/>
              </a:rPr>
              <a:t>url_for</a:t>
            </a:r>
            <a:r>
              <a:rPr lang="en-PH" sz="3600" dirty="0">
                <a:latin typeface="Consolas" panose="020B0609020204030204" pitchFamily="49" charset="0"/>
              </a:rPr>
              <a:t>().</a:t>
            </a:r>
          </a:p>
          <a:p>
            <a:pPr algn="just"/>
            <a:r>
              <a:rPr lang="en-US" sz="3000" dirty="0">
                <a:latin typeface="Consolas" panose="020B0609020204030204" pitchFamily="49" charset="0"/>
              </a:rPr>
              <a:t>&lt;!DOCTYPE html&gt;</a:t>
            </a:r>
          </a:p>
          <a:p>
            <a:pPr algn="just"/>
            <a:r>
              <a:rPr lang="en-US" sz="3000" dirty="0">
                <a:latin typeface="Consolas" panose="020B0609020204030204" pitchFamily="49" charset="0"/>
              </a:rPr>
              <a:t>&lt;html&gt;</a:t>
            </a:r>
          </a:p>
          <a:p>
            <a:pPr algn="just"/>
            <a:r>
              <a:rPr lang="en-US" sz="3000" dirty="0">
                <a:latin typeface="Consolas" panose="020B0609020204030204" pitchFamily="49" charset="0"/>
              </a:rPr>
              <a:t>&lt;head&gt;</a:t>
            </a:r>
          </a:p>
          <a:p>
            <a:pPr algn="just"/>
            <a:r>
              <a:rPr lang="en-US" sz="3000" dirty="0">
                <a:latin typeface="Consolas" panose="020B0609020204030204" pitchFamily="49" charset="0"/>
              </a:rPr>
              <a:t>	&lt;title&gt;Static Example&lt;/title&gt;</a:t>
            </a:r>
          </a:p>
          <a:p>
            <a:pPr algn="just"/>
            <a:r>
              <a:rPr lang="en-US" sz="3000" dirty="0">
                <a:latin typeface="Consolas" panose="020B0609020204030204" pitchFamily="49" charset="0"/>
              </a:rPr>
              <a:t>	&lt;link </a:t>
            </a:r>
            <a:r>
              <a:rPr lang="en-US" sz="3000" dirty="0" err="1">
                <a:latin typeface="Consolas" panose="020B0609020204030204" pitchFamily="49" charset="0"/>
              </a:rPr>
              <a:t>rel</a:t>
            </a:r>
            <a:r>
              <a:rPr lang="en-US" sz="3000" dirty="0">
                <a:latin typeface="Consolas" panose="020B0609020204030204" pitchFamily="49" charset="0"/>
              </a:rPr>
              <a:t>="stylesheet" </a:t>
            </a:r>
            <a:r>
              <a:rPr lang="en-US" sz="3000" dirty="0" err="1">
                <a:latin typeface="Consolas" panose="020B0609020204030204" pitchFamily="49" charset="0"/>
              </a:rPr>
              <a:t>href</a:t>
            </a:r>
            <a:r>
              <a:rPr lang="en-US" sz="3000" dirty="0">
                <a:latin typeface="Consolas" panose="020B0609020204030204" pitchFamily="49" charset="0"/>
              </a:rPr>
              <a:t>="{{ </a:t>
            </a:r>
            <a:r>
              <a:rPr lang="en-US" sz="3000" b="1" dirty="0" err="1">
                <a:latin typeface="Consolas" panose="020B0609020204030204" pitchFamily="49" charset="0"/>
              </a:rPr>
              <a:t>url_for</a:t>
            </a:r>
            <a:r>
              <a:rPr lang="en-US" sz="3000" dirty="0">
                <a:latin typeface="Consolas" panose="020B0609020204030204" pitchFamily="49" charset="0"/>
              </a:rPr>
              <a:t>('static', filename='</a:t>
            </a:r>
            <a:r>
              <a:rPr lang="en-US" sz="3000" dirty="0" err="1">
                <a:latin typeface="Consolas" panose="020B0609020204030204" pitchFamily="49" charset="0"/>
              </a:rPr>
              <a:t>css</a:t>
            </a:r>
            <a:r>
              <a:rPr lang="en-US" sz="3000" dirty="0">
                <a:latin typeface="Consolas" panose="020B0609020204030204" pitchFamily="49" charset="0"/>
              </a:rPr>
              <a:t>/style.css') }}"&gt;</a:t>
            </a:r>
          </a:p>
          <a:p>
            <a:pPr algn="just"/>
            <a:r>
              <a:rPr lang="en-US" sz="3000" dirty="0">
                <a:latin typeface="Consolas" panose="020B0609020204030204" pitchFamily="49" charset="0"/>
              </a:rPr>
              <a:t>&lt;/head&gt;</a:t>
            </a:r>
          </a:p>
          <a:p>
            <a:pPr algn="just"/>
            <a:r>
              <a:rPr lang="en-US" sz="3000" dirty="0">
                <a:latin typeface="Consolas" panose="020B0609020204030204" pitchFamily="49" charset="0"/>
              </a:rPr>
              <a:t>&lt;body&gt;</a:t>
            </a:r>
          </a:p>
          <a:p>
            <a:pPr algn="just"/>
            <a:r>
              <a:rPr lang="en-US" sz="3000" dirty="0">
                <a:latin typeface="Consolas" panose="020B0609020204030204" pitchFamily="49" charset="0"/>
              </a:rPr>
              <a:t>    &lt;h1&gt;Welcome to My Flask App&lt;/h1&gt;</a:t>
            </a:r>
          </a:p>
          <a:p>
            <a:pPr algn="just"/>
            <a:r>
              <a:rPr lang="en-US" sz="3000" dirty="0">
                <a:latin typeface="Consolas" panose="020B0609020204030204" pitchFamily="49" charset="0"/>
              </a:rPr>
              <a:t>    &lt;</a:t>
            </a:r>
            <a:r>
              <a:rPr lang="en-US" sz="3000" dirty="0" err="1">
                <a:latin typeface="Consolas" panose="020B0609020204030204" pitchFamily="49" charset="0"/>
              </a:rPr>
              <a:t>img</a:t>
            </a:r>
            <a:r>
              <a:rPr lang="en-US" sz="3000" dirty="0">
                <a:latin typeface="Consolas" panose="020B0609020204030204" pitchFamily="49" charset="0"/>
              </a:rPr>
              <a:t> </a:t>
            </a:r>
            <a:r>
              <a:rPr lang="en-US" sz="3000" dirty="0" err="1">
                <a:latin typeface="Consolas" panose="020B0609020204030204" pitchFamily="49" charset="0"/>
              </a:rPr>
              <a:t>src</a:t>
            </a:r>
            <a:r>
              <a:rPr lang="en-US" sz="3000" dirty="0">
                <a:latin typeface="Consolas" panose="020B0609020204030204" pitchFamily="49" charset="0"/>
              </a:rPr>
              <a:t>="{{ </a:t>
            </a:r>
            <a:r>
              <a:rPr lang="en-US" sz="3000" b="1" dirty="0" err="1">
                <a:latin typeface="Consolas" panose="020B0609020204030204" pitchFamily="49" charset="0"/>
              </a:rPr>
              <a:t>url_for</a:t>
            </a:r>
            <a:r>
              <a:rPr lang="en-US" sz="3000" dirty="0">
                <a:latin typeface="Consolas" panose="020B0609020204030204" pitchFamily="49" charset="0"/>
              </a:rPr>
              <a:t>('static', filename='</a:t>
            </a:r>
            <a:r>
              <a:rPr lang="en-US" sz="3000" dirty="0" err="1">
                <a:latin typeface="Consolas" panose="020B0609020204030204" pitchFamily="49" charset="0"/>
              </a:rPr>
              <a:t>img</a:t>
            </a:r>
            <a:r>
              <a:rPr lang="en-US" sz="3000" dirty="0">
                <a:latin typeface="Consolas" panose="020B0609020204030204" pitchFamily="49" charset="0"/>
              </a:rPr>
              <a:t>/logo.png') }}" alt="Logo"&gt;</a:t>
            </a:r>
          </a:p>
          <a:p>
            <a:pPr algn="just"/>
            <a:r>
              <a:rPr lang="en-US" sz="3000" dirty="0">
                <a:latin typeface="Consolas" panose="020B0609020204030204" pitchFamily="49" charset="0"/>
              </a:rPr>
              <a:t>    &lt;script </a:t>
            </a:r>
            <a:r>
              <a:rPr lang="en-US" sz="3000" dirty="0" err="1">
                <a:latin typeface="Consolas" panose="020B0609020204030204" pitchFamily="49" charset="0"/>
              </a:rPr>
              <a:t>src</a:t>
            </a:r>
            <a:r>
              <a:rPr lang="en-US" sz="3000" dirty="0">
                <a:latin typeface="Consolas" panose="020B0609020204030204" pitchFamily="49" charset="0"/>
              </a:rPr>
              <a:t>="{{ </a:t>
            </a:r>
            <a:r>
              <a:rPr lang="en-US" sz="3000" b="1" dirty="0" err="1">
                <a:latin typeface="Consolas" panose="020B0609020204030204" pitchFamily="49" charset="0"/>
              </a:rPr>
              <a:t>url_for</a:t>
            </a:r>
            <a:r>
              <a:rPr lang="en-US" sz="3000" dirty="0">
                <a:latin typeface="Consolas" panose="020B0609020204030204" pitchFamily="49" charset="0"/>
              </a:rPr>
              <a:t>('static', filename='</a:t>
            </a:r>
            <a:r>
              <a:rPr lang="en-US" sz="3000" dirty="0" err="1">
                <a:latin typeface="Consolas" panose="020B0609020204030204" pitchFamily="49" charset="0"/>
              </a:rPr>
              <a:t>js</a:t>
            </a:r>
            <a:r>
              <a:rPr lang="en-US" sz="3000" dirty="0">
                <a:latin typeface="Consolas" panose="020B0609020204030204" pitchFamily="49" charset="0"/>
              </a:rPr>
              <a:t>/script.js') }}"&gt;&lt;/script&gt;</a:t>
            </a:r>
          </a:p>
          <a:p>
            <a:pPr algn="just"/>
            <a:r>
              <a:rPr lang="en-US" sz="3000" dirty="0">
                <a:latin typeface="Consolas" panose="020B0609020204030204" pitchFamily="49" charset="0"/>
              </a:rPr>
              <a:t>&lt;/body&gt;</a:t>
            </a:r>
          </a:p>
          <a:p>
            <a:pPr algn="just"/>
            <a:r>
              <a:rPr lang="en-US" sz="3000" dirty="0">
                <a:latin typeface="Consolas" panose="020B0609020204030204" pitchFamily="49" charset="0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31192339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48A66-B279-16DD-11B3-5BCEA1A89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A87D6F3-62D8-B0E8-3B8E-4A978E8350E4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9BE2726-9525-DFD2-F881-67C4F5CD3E67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F90B1CDC-EDF9-3856-2B7D-7CAB2B8D4033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36468CE3-FB21-2A59-7EF3-0391EC616C31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FE7D4726-B7F8-0027-9C4E-F2DF0B36B892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ACDA27D3-9BB1-AEE3-E3A3-8AC434264296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711013C3-D3B8-A9B3-C13B-AD9258991B8E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Using a Custom Static Folder (Optional)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9C1A460-7E7E-1CA4-D2ED-E2F77C1C25F3}"/>
              </a:ext>
            </a:extLst>
          </p:cNvPr>
          <p:cNvSpPr txBox="1"/>
          <p:nvPr/>
        </p:nvSpPr>
        <p:spPr>
          <a:xfrm>
            <a:off x="177555" y="2095500"/>
            <a:ext cx="1788184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dirty="0">
                <a:latin typeface="Consolas" panose="020B0609020204030204" pitchFamily="49" charset="0"/>
              </a:rPr>
              <a:t>If you want a different folder name, you can specify it when creating the Flask app:</a:t>
            </a:r>
          </a:p>
          <a:p>
            <a:pPr algn="just"/>
            <a:r>
              <a:rPr lang="en-US" sz="3600" b="1" dirty="0">
                <a:latin typeface="Consolas" panose="020B0609020204030204" pitchFamily="49" charset="0"/>
              </a:rPr>
              <a:t>Example: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app = Flask(__name__, </a:t>
            </a:r>
            <a:r>
              <a:rPr lang="en-US" sz="3600" dirty="0" err="1">
                <a:latin typeface="Consolas" panose="020B0609020204030204" pitchFamily="49" charset="0"/>
              </a:rPr>
              <a:t>static_folder</a:t>
            </a:r>
            <a:r>
              <a:rPr lang="en-US" sz="3600" dirty="0">
                <a:latin typeface="Consolas" panose="020B0609020204030204" pitchFamily="49" charset="0"/>
              </a:rPr>
              <a:t>='assets’)</a:t>
            </a: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Then Flask will look for static files in the assets/ folder instead of static/. Access them the same way with </a:t>
            </a:r>
            <a:r>
              <a:rPr lang="en-US" sz="3600" dirty="0" err="1">
                <a:latin typeface="Consolas" panose="020B0609020204030204" pitchFamily="49" charset="0"/>
              </a:rPr>
              <a:t>url_for</a:t>
            </a:r>
            <a:r>
              <a:rPr lang="en-US" sz="3600" dirty="0">
                <a:latin typeface="Consolas" panose="020B0609020204030204" pitchFamily="49" charset="0"/>
              </a:rPr>
              <a:t>('static', filename='...').</a:t>
            </a:r>
          </a:p>
        </p:txBody>
      </p:sp>
    </p:spTree>
    <p:extLst>
      <p:ext uri="{BB962C8B-B14F-4D97-AF65-F5344CB8AC3E}">
        <p14:creationId xmlns:p14="http://schemas.microsoft.com/office/powerpoint/2010/main" val="1202916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BCAA2-C6FE-DC1E-95C8-CA423A7D3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 descr="A blue and orange square&#10;&#10;Description automatically generated">
            <a:extLst>
              <a:ext uri="{FF2B5EF4-FFF2-40B4-BE49-F238E27FC236}">
                <a16:creationId xmlns:a16="http://schemas.microsoft.com/office/drawing/2014/main" id="{76983F0D-AB89-9C06-9B42-CB818D6294D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64" r="12208"/>
          <a:stretch/>
        </p:blipFill>
        <p:spPr>
          <a:xfrm>
            <a:off x="1" y="2939231"/>
            <a:ext cx="18287999" cy="4408536"/>
          </a:xfrm>
          <a:prstGeom prst="rect">
            <a:avLst/>
          </a:prstGeom>
        </p:spPr>
      </p:pic>
      <p:sp>
        <p:nvSpPr>
          <p:cNvPr id="20" name="Freeform 20">
            <a:extLst>
              <a:ext uri="{FF2B5EF4-FFF2-40B4-BE49-F238E27FC236}">
                <a16:creationId xmlns:a16="http://schemas.microsoft.com/office/drawing/2014/main" id="{38CAEE1C-EA99-B8DB-4F76-FA5CC9601DC8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E55A0EA-ACE1-0560-9CB8-12DBA44A9A1B}"/>
              </a:ext>
            </a:extLst>
          </p:cNvPr>
          <p:cNvSpPr txBox="1"/>
          <p:nvPr/>
        </p:nvSpPr>
        <p:spPr>
          <a:xfrm>
            <a:off x="1144875" y="3665274"/>
            <a:ext cx="15998250" cy="147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57"/>
              </a:lnSpc>
            </a:pPr>
            <a:r>
              <a:rPr lang="en-US" sz="7200" spc="-360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</a:rPr>
              <a:t>MySQL Database Integration</a:t>
            </a:r>
          </a:p>
        </p:txBody>
      </p:sp>
      <p:grpSp>
        <p:nvGrpSpPr>
          <p:cNvPr id="34" name="Group 13">
            <a:extLst>
              <a:ext uri="{FF2B5EF4-FFF2-40B4-BE49-F238E27FC236}">
                <a16:creationId xmlns:a16="http://schemas.microsoft.com/office/drawing/2014/main" id="{D76FC885-EB54-409D-1ED1-51D044B0801C}"/>
              </a:ext>
            </a:extLst>
          </p:cNvPr>
          <p:cNvGrpSpPr/>
          <p:nvPr/>
        </p:nvGrpSpPr>
        <p:grpSpPr>
          <a:xfrm>
            <a:off x="152400" y="211586"/>
            <a:ext cx="6840467" cy="1321138"/>
            <a:chOff x="0" y="0"/>
            <a:chExt cx="15396444" cy="3066458"/>
          </a:xfrm>
        </p:grpSpPr>
        <p:sp>
          <p:nvSpPr>
            <p:cNvPr id="35" name="Freeform 14">
              <a:extLst>
                <a:ext uri="{FF2B5EF4-FFF2-40B4-BE49-F238E27FC236}">
                  <a16:creationId xmlns:a16="http://schemas.microsoft.com/office/drawing/2014/main" id="{3A187652-6143-511B-456F-29EA925B6586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6" name="Freeform 15">
              <a:extLst>
                <a:ext uri="{FF2B5EF4-FFF2-40B4-BE49-F238E27FC236}">
                  <a16:creationId xmlns:a16="http://schemas.microsoft.com/office/drawing/2014/main" id="{DD36AF28-68E5-0E30-3247-DFECF051FFFE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7" name="Freeform 16">
              <a:extLst>
                <a:ext uri="{FF2B5EF4-FFF2-40B4-BE49-F238E27FC236}">
                  <a16:creationId xmlns:a16="http://schemas.microsoft.com/office/drawing/2014/main" id="{75976744-F755-2D81-06C8-DBE0806849DB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8" name="Freeform 17">
              <a:extLst>
                <a:ext uri="{FF2B5EF4-FFF2-40B4-BE49-F238E27FC236}">
                  <a16:creationId xmlns:a16="http://schemas.microsoft.com/office/drawing/2014/main" id="{366EF58B-E184-CBAB-A726-94E1363F94A9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9" name="Freeform 18">
              <a:extLst>
                <a:ext uri="{FF2B5EF4-FFF2-40B4-BE49-F238E27FC236}">
                  <a16:creationId xmlns:a16="http://schemas.microsoft.com/office/drawing/2014/main" id="{F2F19A95-672B-579A-A9C4-74D54FCA0293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0" name="Freeform 19">
              <a:extLst>
                <a:ext uri="{FF2B5EF4-FFF2-40B4-BE49-F238E27FC236}">
                  <a16:creationId xmlns:a16="http://schemas.microsoft.com/office/drawing/2014/main" id="{38644CB4-5BAF-9720-02AC-47CF3E088B01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2" name="Group 2">
            <a:extLst>
              <a:ext uri="{FF2B5EF4-FFF2-40B4-BE49-F238E27FC236}">
                <a16:creationId xmlns:a16="http://schemas.microsoft.com/office/drawing/2014/main" id="{F75B1BCE-2208-5BFF-DE8F-FD2D3E944363}"/>
              </a:ext>
            </a:extLst>
          </p:cNvPr>
          <p:cNvGrpSpPr/>
          <p:nvPr/>
        </p:nvGrpSpPr>
        <p:grpSpPr>
          <a:xfrm>
            <a:off x="14554200" y="6438900"/>
            <a:ext cx="3886200" cy="38481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911EBE1-6C45-086E-8023-1E150EAD0CF9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7AC59BAF-2660-4725-E1FF-293973570EFA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B5EFEFB3-9437-C20E-B60B-974193BE9D85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</p:spTree>
    <p:extLst>
      <p:ext uri="{BB962C8B-B14F-4D97-AF65-F5344CB8AC3E}">
        <p14:creationId xmlns:p14="http://schemas.microsoft.com/office/powerpoint/2010/main" val="22788329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685FF-8F9D-D5EB-F96E-13C9CA706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6ABCFFE-89DA-D04F-92F2-FC5C5D8CC086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5326EC7-1A77-9F1E-5E96-2977377D62B1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CC30FE43-A24F-5316-86CE-CB3920EB408E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2B6127CC-9B8D-5E52-295B-953E03970500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885E1DD9-E7E9-FB8E-27B5-722C642967AD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59E0716A-5C70-C0E1-7975-7CA38BFA59FD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D292088C-F719-DF66-D7FA-4EDC754DDA0E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What is </a:t>
            </a:r>
            <a:r>
              <a:rPr lang="en-US" sz="4800" i="1" spc="-360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flask_mysqldb</a:t>
            </a: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?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59BF052-0EBF-6C36-8E0E-6F12580EF249}"/>
              </a:ext>
            </a:extLst>
          </p:cNvPr>
          <p:cNvSpPr txBox="1"/>
          <p:nvPr/>
        </p:nvSpPr>
        <p:spPr>
          <a:xfrm>
            <a:off x="177555" y="2095500"/>
            <a:ext cx="1788184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dirty="0" err="1">
                <a:latin typeface="Consolas" panose="020B0609020204030204" pitchFamily="49" charset="0"/>
              </a:rPr>
              <a:t>flask_mysqldb</a:t>
            </a:r>
            <a:r>
              <a:rPr lang="en-US" sz="3600" dirty="0">
                <a:latin typeface="Consolas" panose="020B0609020204030204" pitchFamily="49" charset="0"/>
              </a:rPr>
              <a:t> is a Flask extension that makes it easy to connect Flask to MySQL databases. It provides:</a:t>
            </a:r>
          </a:p>
          <a:p>
            <a:pPr marL="1028700" lvl="1" indent="-571500" algn="just">
              <a:buFont typeface="Wingdings" panose="05000000000000000000" pitchFamily="2" charset="2"/>
              <a:buChar char="ü"/>
            </a:pPr>
            <a:r>
              <a:rPr lang="en-US" sz="3600" dirty="0">
                <a:latin typeface="Consolas" panose="020B0609020204030204" pitchFamily="49" charset="0"/>
              </a:rPr>
              <a:t>Simple connection setup</a:t>
            </a:r>
          </a:p>
          <a:p>
            <a:pPr marL="1028700" lvl="1" indent="-571500" algn="just">
              <a:buFont typeface="Wingdings" panose="05000000000000000000" pitchFamily="2" charset="2"/>
              <a:buChar char="ü"/>
            </a:pPr>
            <a:r>
              <a:rPr lang="en-US" sz="3600" dirty="0">
                <a:latin typeface="Consolas" panose="020B0609020204030204" pitchFamily="49" charset="0"/>
              </a:rPr>
              <a:t>Cursor-based operations</a:t>
            </a:r>
          </a:p>
          <a:p>
            <a:pPr marL="1028700" lvl="1" indent="-571500" algn="just">
              <a:buFont typeface="Wingdings" panose="05000000000000000000" pitchFamily="2" charset="2"/>
              <a:buChar char="ü"/>
            </a:pPr>
            <a:r>
              <a:rPr lang="en-US" sz="3600" dirty="0">
                <a:latin typeface="Consolas" panose="020B0609020204030204" pitchFamily="49" charset="0"/>
              </a:rPr>
              <a:t>Integration with Flask app context</a:t>
            </a: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r>
              <a:rPr lang="en-US" sz="3600" b="1" dirty="0">
                <a:latin typeface="Consolas" panose="020B0609020204030204" pitchFamily="49" charset="0"/>
              </a:rPr>
              <a:t>Installation: </a:t>
            </a:r>
            <a:r>
              <a:rPr lang="en-US" sz="3600" dirty="0">
                <a:latin typeface="Consolas" panose="020B0609020204030204" pitchFamily="49" charset="0"/>
              </a:rPr>
              <a:t>pip install </a:t>
            </a:r>
            <a:r>
              <a:rPr lang="en-US" sz="3600" dirty="0" err="1">
                <a:latin typeface="Consolas" panose="020B0609020204030204" pitchFamily="49" charset="0"/>
              </a:rPr>
              <a:t>flask_mysqldb</a:t>
            </a:r>
            <a:endParaRPr lang="en-US" sz="3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5120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B1397-3010-916C-BD59-251958260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A978AC2-5AB7-765A-99B4-EA300E3D2921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EB488C3-63BC-E471-8034-D76A50AD63E0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1744C964-94B7-BC66-6224-069BDE45E79D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C23AD9BA-336C-195B-0891-64F74DCCF354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81407D48-4EBE-D00C-CB8C-7197A6DB192F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E5AE064B-5C10-4474-C139-86E8BA530F17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E9680BDF-BB69-62E3-64A3-37FB13316895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Configuring MySQL in Flask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E9F1E92-DA59-BB00-903E-8161BB223005}"/>
              </a:ext>
            </a:extLst>
          </p:cNvPr>
          <p:cNvSpPr txBox="1"/>
          <p:nvPr/>
        </p:nvSpPr>
        <p:spPr>
          <a:xfrm>
            <a:off x="177555" y="2095500"/>
            <a:ext cx="17881845" cy="7201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b="1" dirty="0">
                <a:latin typeface="Consolas" panose="020B0609020204030204" pitchFamily="49" charset="0"/>
              </a:rPr>
              <a:t>Example: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from flask import Flask, </a:t>
            </a:r>
            <a:r>
              <a:rPr lang="en-US" sz="3600" dirty="0" err="1">
                <a:latin typeface="Consolas" panose="020B0609020204030204" pitchFamily="49" charset="0"/>
              </a:rPr>
              <a:t>render_template</a:t>
            </a:r>
            <a:endParaRPr lang="en-US" sz="3600" dirty="0">
              <a:latin typeface="Consolas" panose="020B0609020204030204" pitchFamily="49" charset="0"/>
            </a:endParaRP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from </a:t>
            </a:r>
            <a:r>
              <a:rPr lang="en-US" sz="3600" dirty="0" err="1">
                <a:latin typeface="Consolas" panose="020B0609020204030204" pitchFamily="49" charset="0"/>
              </a:rPr>
              <a:t>flask_mysqldb</a:t>
            </a:r>
            <a:r>
              <a:rPr lang="en-US" sz="3600" dirty="0">
                <a:latin typeface="Consolas" panose="020B0609020204030204" pitchFamily="49" charset="0"/>
              </a:rPr>
              <a:t> import MySQL</a:t>
            </a:r>
          </a:p>
          <a:p>
            <a:pPr algn="just"/>
            <a:endParaRPr lang="en-US" sz="1000" dirty="0">
              <a:latin typeface="Consolas" panose="020B0609020204030204" pitchFamily="49" charset="0"/>
            </a:endParaRP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app = Flask(__name__)</a:t>
            </a:r>
          </a:p>
          <a:p>
            <a:pPr algn="just"/>
            <a:endParaRPr lang="en-US" sz="1000" dirty="0">
              <a:latin typeface="Consolas" panose="020B0609020204030204" pitchFamily="49" charset="0"/>
            </a:endParaRP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r>
              <a:rPr lang="en-US" sz="3600" dirty="0" err="1">
                <a:latin typeface="Consolas" panose="020B0609020204030204" pitchFamily="49" charset="0"/>
              </a:rPr>
              <a:t>app.config</a:t>
            </a:r>
            <a:r>
              <a:rPr lang="en-US" sz="3600" dirty="0">
                <a:latin typeface="Consolas" panose="020B0609020204030204" pitchFamily="49" charset="0"/>
              </a:rPr>
              <a:t>['MYSQL_HOST'] = 'localhost'</a:t>
            </a:r>
          </a:p>
          <a:p>
            <a:pPr algn="just"/>
            <a:r>
              <a:rPr lang="en-US" sz="3600" dirty="0" err="1">
                <a:latin typeface="Consolas" panose="020B0609020204030204" pitchFamily="49" charset="0"/>
              </a:rPr>
              <a:t>app.config</a:t>
            </a:r>
            <a:r>
              <a:rPr lang="en-US" sz="3600" dirty="0">
                <a:latin typeface="Consolas" panose="020B0609020204030204" pitchFamily="49" charset="0"/>
              </a:rPr>
              <a:t>['MYSQL_USER'] = 'root'</a:t>
            </a:r>
          </a:p>
          <a:p>
            <a:pPr algn="just"/>
            <a:r>
              <a:rPr lang="en-US" sz="3600" dirty="0" err="1">
                <a:latin typeface="Consolas" panose="020B0609020204030204" pitchFamily="49" charset="0"/>
              </a:rPr>
              <a:t>app.config</a:t>
            </a:r>
            <a:r>
              <a:rPr lang="en-US" sz="3600" dirty="0">
                <a:latin typeface="Consolas" panose="020B0609020204030204" pitchFamily="49" charset="0"/>
              </a:rPr>
              <a:t>['MYSQL_PASSWORD'] = '</a:t>
            </a:r>
            <a:r>
              <a:rPr lang="en-US" sz="3600" dirty="0" err="1">
                <a:latin typeface="Consolas" panose="020B0609020204030204" pitchFamily="49" charset="0"/>
              </a:rPr>
              <a:t>yourpassword</a:t>
            </a:r>
            <a:r>
              <a:rPr lang="en-US" sz="3600" dirty="0">
                <a:latin typeface="Consolas" panose="020B0609020204030204" pitchFamily="49" charset="0"/>
              </a:rPr>
              <a:t>'</a:t>
            </a:r>
          </a:p>
          <a:p>
            <a:pPr algn="just"/>
            <a:r>
              <a:rPr lang="en-US" sz="3600" dirty="0" err="1">
                <a:latin typeface="Consolas" panose="020B0609020204030204" pitchFamily="49" charset="0"/>
              </a:rPr>
              <a:t>app.config</a:t>
            </a:r>
            <a:r>
              <a:rPr lang="en-US" sz="3600" dirty="0">
                <a:latin typeface="Consolas" panose="020B0609020204030204" pitchFamily="49" charset="0"/>
              </a:rPr>
              <a:t>['MYSQL_DB'] = '</a:t>
            </a:r>
            <a:r>
              <a:rPr lang="en-US" sz="3600" dirty="0" err="1">
                <a:latin typeface="Consolas" panose="020B0609020204030204" pitchFamily="49" charset="0"/>
              </a:rPr>
              <a:t>flask_demo</a:t>
            </a:r>
            <a:r>
              <a:rPr lang="en-US" sz="3600" dirty="0">
                <a:latin typeface="Consolas" panose="020B0609020204030204" pitchFamily="49" charset="0"/>
              </a:rPr>
              <a:t>'</a:t>
            </a:r>
          </a:p>
          <a:p>
            <a:pPr algn="just"/>
            <a:r>
              <a:rPr lang="en-US" sz="3600" dirty="0" err="1">
                <a:latin typeface="Consolas" panose="020B0609020204030204" pitchFamily="49" charset="0"/>
              </a:rPr>
              <a:t>app.config</a:t>
            </a:r>
            <a:r>
              <a:rPr lang="en-US" sz="3600" dirty="0">
                <a:latin typeface="Consolas" panose="020B0609020204030204" pitchFamily="49" charset="0"/>
              </a:rPr>
              <a:t>['MYSQL_CURSORCLASS'] = '</a:t>
            </a:r>
            <a:r>
              <a:rPr lang="en-US" sz="3600" dirty="0" err="1">
                <a:latin typeface="Consolas" panose="020B0609020204030204" pitchFamily="49" charset="0"/>
              </a:rPr>
              <a:t>DictCursor</a:t>
            </a:r>
            <a:r>
              <a:rPr lang="en-US" sz="3600" dirty="0">
                <a:latin typeface="Consolas" panose="020B0609020204030204" pitchFamily="49" charset="0"/>
              </a:rPr>
              <a:t>'</a:t>
            </a: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endParaRPr lang="en-US" sz="1000" dirty="0">
              <a:latin typeface="Consolas" panose="020B0609020204030204" pitchFamily="49" charset="0"/>
            </a:endParaRPr>
          </a:p>
          <a:p>
            <a:pPr algn="just"/>
            <a:r>
              <a:rPr lang="en-US" sz="3600" dirty="0" err="1">
                <a:latin typeface="Consolas" panose="020B0609020204030204" pitchFamily="49" charset="0"/>
              </a:rPr>
              <a:t>mysql</a:t>
            </a:r>
            <a:r>
              <a:rPr lang="en-US" sz="3600" dirty="0">
                <a:latin typeface="Consolas" panose="020B0609020204030204" pitchFamily="49" charset="0"/>
              </a:rPr>
              <a:t> = MySQL(app)</a:t>
            </a:r>
          </a:p>
        </p:txBody>
      </p:sp>
    </p:spTree>
    <p:extLst>
      <p:ext uri="{BB962C8B-B14F-4D97-AF65-F5344CB8AC3E}">
        <p14:creationId xmlns:p14="http://schemas.microsoft.com/office/powerpoint/2010/main" val="38017817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D91CD-7A37-55BA-249C-17634C2EC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CF34003-D95E-6908-2513-A10C7919DE10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5DD3516-8944-B60D-E517-B7489C8FB3EF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6FF8D4EA-1A5E-DFC0-027F-40DC0D5B62FD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3DA6040B-0B06-7047-EC06-BD1E765B4227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C7D0B01E-E41F-BB86-2C82-5D34500B6972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A4E5E958-FA89-8E1D-93AD-9293D4344235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816CFED9-4177-E924-6182-06F324DED12C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Configuring MySQL in Flask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C18D8D4-C04A-3B48-A9A2-929096283711}"/>
              </a:ext>
            </a:extLst>
          </p:cNvPr>
          <p:cNvSpPr txBox="1"/>
          <p:nvPr/>
        </p:nvSpPr>
        <p:spPr>
          <a:xfrm>
            <a:off x="177555" y="2095500"/>
            <a:ext cx="1788184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b="1" dirty="0">
                <a:latin typeface="Consolas" panose="020B0609020204030204" pitchFamily="49" charset="0"/>
              </a:rPr>
              <a:t>Explanation:</a:t>
            </a:r>
          </a:p>
          <a:p>
            <a:pPr marL="1028700" lvl="1" indent="-571500" algn="just">
              <a:buFont typeface="Wingdings" panose="05000000000000000000" pitchFamily="2" charset="2"/>
              <a:buChar char="ü"/>
            </a:pPr>
            <a:r>
              <a:rPr lang="en-US" sz="3600" dirty="0">
                <a:latin typeface="Consolas" panose="020B0609020204030204" pitchFamily="49" charset="0"/>
              </a:rPr>
              <a:t>MYSQL_HOST -&gt; MySQL server (usually localhost)</a:t>
            </a:r>
          </a:p>
          <a:p>
            <a:pPr marL="1028700" lvl="1" indent="-571500" algn="just">
              <a:buFont typeface="Wingdings" panose="05000000000000000000" pitchFamily="2" charset="2"/>
              <a:buChar char="ü"/>
            </a:pPr>
            <a:r>
              <a:rPr lang="en-US" sz="3600" dirty="0">
                <a:latin typeface="Consolas" panose="020B0609020204030204" pitchFamily="49" charset="0"/>
              </a:rPr>
              <a:t>MYSQL_USER -&gt; MySQL username</a:t>
            </a:r>
          </a:p>
          <a:p>
            <a:pPr marL="1028700" lvl="1" indent="-571500" algn="just">
              <a:buFont typeface="Wingdings" panose="05000000000000000000" pitchFamily="2" charset="2"/>
              <a:buChar char="ü"/>
            </a:pPr>
            <a:r>
              <a:rPr lang="en-US" sz="3600" dirty="0">
                <a:latin typeface="Consolas" panose="020B0609020204030204" pitchFamily="49" charset="0"/>
              </a:rPr>
              <a:t>MYSQL_PASSWORD -&gt; MySQL password</a:t>
            </a:r>
          </a:p>
          <a:p>
            <a:pPr marL="1028700" lvl="1" indent="-571500" algn="just">
              <a:buFont typeface="Wingdings" panose="05000000000000000000" pitchFamily="2" charset="2"/>
              <a:buChar char="ü"/>
            </a:pPr>
            <a:r>
              <a:rPr lang="en-US" sz="3600" dirty="0">
                <a:latin typeface="Consolas" panose="020B0609020204030204" pitchFamily="49" charset="0"/>
              </a:rPr>
              <a:t>MYSQL_DB -&gt; Database name</a:t>
            </a:r>
          </a:p>
          <a:p>
            <a:pPr marL="1028700" lvl="1" indent="-571500" algn="just">
              <a:buFont typeface="Wingdings" panose="05000000000000000000" pitchFamily="2" charset="2"/>
              <a:buChar char="ü"/>
            </a:pPr>
            <a:r>
              <a:rPr lang="en-US" sz="3600" dirty="0">
                <a:latin typeface="Consolas" panose="020B0609020204030204" pitchFamily="49" charset="0"/>
              </a:rPr>
              <a:t>MYSQL_CURSORCLASS = '</a:t>
            </a:r>
            <a:r>
              <a:rPr lang="en-US" sz="3600" dirty="0" err="1">
                <a:latin typeface="Consolas" panose="020B0609020204030204" pitchFamily="49" charset="0"/>
              </a:rPr>
              <a:t>DictCursor</a:t>
            </a:r>
            <a:r>
              <a:rPr lang="en-US" sz="3600" dirty="0">
                <a:latin typeface="Consolas" panose="020B0609020204030204" pitchFamily="49" charset="0"/>
              </a:rPr>
              <a:t>' -&gt; Makes query results </a:t>
            </a:r>
            <a:r>
              <a:rPr lang="en-US" sz="3600" dirty="0" err="1">
                <a:latin typeface="Consolas" panose="020B0609020204030204" pitchFamily="49" charset="0"/>
              </a:rPr>
              <a:t>dicts</a:t>
            </a:r>
            <a:r>
              <a:rPr lang="en-US" sz="3600" dirty="0">
                <a:latin typeface="Consolas" panose="020B0609020204030204" pitchFamily="49" charset="0"/>
              </a:rPr>
              <a:t> instead of tuples (easier to read)</a:t>
            </a:r>
          </a:p>
        </p:txBody>
      </p:sp>
    </p:spTree>
    <p:extLst>
      <p:ext uri="{BB962C8B-B14F-4D97-AF65-F5344CB8AC3E}">
        <p14:creationId xmlns:p14="http://schemas.microsoft.com/office/powerpoint/2010/main" val="225469387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EA5ED-3B8C-03E7-CC46-491A548E0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14E4981-514B-64A8-6ADB-7D86E3E6D0D6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6270129-8BC9-F9F1-C466-DA6FC983D3E8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4B106245-0711-61B5-518E-F3C08D9FB3AA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06AE9F40-25F2-1AD2-283A-6B542D104252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C78895D8-3EED-EBC3-9856-A2B0856B01EE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AA356B1F-70FE-0FFE-A2B4-20DE4A40E4B5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A7B87B24-8A6F-0A74-1FE9-3A48FFDC76AD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Testing Database Connection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A4BE7ED-020A-646E-B0A1-02D0CD156054}"/>
              </a:ext>
            </a:extLst>
          </p:cNvPr>
          <p:cNvSpPr txBox="1"/>
          <p:nvPr/>
        </p:nvSpPr>
        <p:spPr>
          <a:xfrm>
            <a:off x="177555" y="2095500"/>
            <a:ext cx="17881845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b="1" dirty="0">
                <a:latin typeface="Consolas" panose="020B0609020204030204" pitchFamily="49" charset="0"/>
              </a:rPr>
              <a:t>Example: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@app.route('/')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def index():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    cur = </a:t>
            </a:r>
            <a:r>
              <a:rPr lang="en-US" sz="3600" dirty="0" err="1">
                <a:latin typeface="Consolas" panose="020B0609020204030204" pitchFamily="49" charset="0"/>
              </a:rPr>
              <a:t>mysql.connection.cursor</a:t>
            </a:r>
            <a:r>
              <a:rPr lang="en-US" sz="3600" dirty="0">
                <a:latin typeface="Consolas" panose="020B0609020204030204" pitchFamily="49" charset="0"/>
              </a:rPr>
              <a:t>()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    </a:t>
            </a:r>
            <a:r>
              <a:rPr lang="en-US" sz="3600" dirty="0" err="1">
                <a:latin typeface="Consolas" panose="020B0609020204030204" pitchFamily="49" charset="0"/>
              </a:rPr>
              <a:t>cur.execute</a:t>
            </a:r>
            <a:r>
              <a:rPr lang="en-US" sz="3600" dirty="0">
                <a:latin typeface="Consolas" panose="020B0609020204030204" pitchFamily="49" charset="0"/>
              </a:rPr>
              <a:t>("SELECT DATABASE()")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    </a:t>
            </a:r>
            <a:r>
              <a:rPr lang="en-US" sz="3600" dirty="0" err="1">
                <a:latin typeface="Consolas" panose="020B0609020204030204" pitchFamily="49" charset="0"/>
              </a:rPr>
              <a:t>db_name</a:t>
            </a:r>
            <a:r>
              <a:rPr lang="en-US" sz="3600" dirty="0">
                <a:latin typeface="Consolas" panose="020B0609020204030204" pitchFamily="49" charset="0"/>
              </a:rPr>
              <a:t> = </a:t>
            </a:r>
            <a:r>
              <a:rPr lang="en-US" sz="3600" dirty="0" err="1">
                <a:latin typeface="Consolas" panose="020B0609020204030204" pitchFamily="49" charset="0"/>
              </a:rPr>
              <a:t>cur.fetchone</a:t>
            </a:r>
            <a:r>
              <a:rPr lang="en-US" sz="3600" dirty="0">
                <a:latin typeface="Consolas" panose="020B0609020204030204" pitchFamily="49" charset="0"/>
              </a:rPr>
              <a:t>()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    return </a:t>
            </a:r>
            <a:r>
              <a:rPr lang="en-US" sz="3600" dirty="0" err="1">
                <a:latin typeface="Consolas" panose="020B0609020204030204" pitchFamily="49" charset="0"/>
              </a:rPr>
              <a:t>f"Connected</a:t>
            </a:r>
            <a:r>
              <a:rPr lang="en-US" sz="3600" dirty="0">
                <a:latin typeface="Consolas" panose="020B0609020204030204" pitchFamily="49" charset="0"/>
              </a:rPr>
              <a:t> to database: {</a:t>
            </a:r>
            <a:r>
              <a:rPr lang="en-US" sz="3600" dirty="0" err="1">
                <a:latin typeface="Consolas" panose="020B0609020204030204" pitchFamily="49" charset="0"/>
              </a:rPr>
              <a:t>db_name</a:t>
            </a:r>
            <a:r>
              <a:rPr lang="en-US" sz="3600" dirty="0">
                <a:latin typeface="Consolas" panose="020B0609020204030204" pitchFamily="49" charset="0"/>
              </a:rPr>
              <a:t>['DATABASE()’]}”</a:t>
            </a: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This will confirm the connection to MySQL is working.</a:t>
            </a:r>
          </a:p>
        </p:txBody>
      </p:sp>
    </p:spTree>
    <p:extLst>
      <p:ext uri="{BB962C8B-B14F-4D97-AF65-F5344CB8AC3E}">
        <p14:creationId xmlns:p14="http://schemas.microsoft.com/office/powerpoint/2010/main" val="24768944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699F5-1991-6F4C-B447-B0B462D6C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41FDBFE-120D-829E-45E4-F7D693307431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008F51C-A044-D1CD-CBCC-81FA314D3763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32CE96E-60D9-ED26-21F5-D4032EAFA063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6842EC16-ADEB-FE60-042E-24A7FA92064E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FD284A98-B631-E349-8F44-E1DFF67660EE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F056DE6B-8EC0-52C7-47DB-E4AA48C6BB07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DECDA8C2-33FC-A84C-9252-4AE68C6C3BE8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Different </a:t>
            </a:r>
            <a:r>
              <a:rPr lang="en-US" sz="4800" i="1" spc="-360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flask_mysqldb</a:t>
            </a: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 methods and concepts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C4EF02-8696-C5B1-3D8F-4ECD87D025BA}"/>
              </a:ext>
            </a:extLst>
          </p:cNvPr>
          <p:cNvSpPr txBox="1"/>
          <p:nvPr/>
        </p:nvSpPr>
        <p:spPr>
          <a:xfrm>
            <a:off x="177555" y="2095500"/>
            <a:ext cx="17881845" cy="7848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b="1" dirty="0">
                <a:latin typeface="Consolas" panose="020B0609020204030204" pitchFamily="49" charset="0"/>
              </a:rPr>
              <a:t>1. Getting a Cursor </a:t>
            </a:r>
            <a:r>
              <a:rPr lang="en-US" sz="3600" dirty="0">
                <a:latin typeface="Consolas" panose="020B0609020204030204" pitchFamily="49" charset="0"/>
              </a:rPr>
              <a:t>- The cursor is like a pointer to the database, used to execute queries.</a:t>
            </a:r>
          </a:p>
          <a:p>
            <a:pPr algn="just"/>
            <a:r>
              <a:rPr lang="en-US" sz="3600" b="1" dirty="0">
                <a:latin typeface="Consolas" panose="020B0609020204030204" pitchFamily="49" charset="0"/>
              </a:rPr>
              <a:t>Example: 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cur = </a:t>
            </a:r>
            <a:r>
              <a:rPr lang="en-US" sz="3600" dirty="0" err="1">
                <a:latin typeface="Consolas" panose="020B0609020204030204" pitchFamily="49" charset="0"/>
              </a:rPr>
              <a:t>mysql.connection.cursor</a:t>
            </a:r>
            <a:r>
              <a:rPr lang="en-US" sz="3600" dirty="0">
                <a:latin typeface="Consolas" panose="020B0609020204030204" pitchFamily="49" charset="0"/>
              </a:rPr>
              <a:t>()</a:t>
            </a: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To get dictionary-like results: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from </a:t>
            </a:r>
            <a:r>
              <a:rPr lang="en-US" sz="3600" dirty="0" err="1">
                <a:latin typeface="Consolas" panose="020B0609020204030204" pitchFamily="49" charset="0"/>
              </a:rPr>
              <a:t>MySQLdb.cursors</a:t>
            </a:r>
            <a:r>
              <a:rPr lang="en-US" sz="3600" dirty="0">
                <a:latin typeface="Consolas" panose="020B0609020204030204" pitchFamily="49" charset="0"/>
              </a:rPr>
              <a:t> import </a:t>
            </a:r>
            <a:r>
              <a:rPr lang="en-US" sz="3600" dirty="0" err="1">
                <a:latin typeface="Consolas" panose="020B0609020204030204" pitchFamily="49" charset="0"/>
              </a:rPr>
              <a:t>DictCursor</a:t>
            </a:r>
            <a:endParaRPr lang="en-US" sz="3600" dirty="0">
              <a:latin typeface="Consolas" panose="020B0609020204030204" pitchFamily="49" charset="0"/>
            </a:endParaRP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cur = </a:t>
            </a:r>
            <a:r>
              <a:rPr lang="en-US" sz="3600" dirty="0" err="1">
                <a:latin typeface="Consolas" panose="020B0609020204030204" pitchFamily="49" charset="0"/>
              </a:rPr>
              <a:t>mysql.connection.cursor</a:t>
            </a:r>
            <a:r>
              <a:rPr lang="en-US" sz="3600" dirty="0">
                <a:latin typeface="Consolas" panose="020B0609020204030204" pitchFamily="49" charset="0"/>
              </a:rPr>
              <a:t>(</a:t>
            </a:r>
            <a:r>
              <a:rPr lang="en-US" sz="3600" dirty="0" err="1">
                <a:latin typeface="Consolas" panose="020B0609020204030204" pitchFamily="49" charset="0"/>
              </a:rPr>
              <a:t>DictCursor</a:t>
            </a:r>
            <a:r>
              <a:rPr lang="en-US" sz="3600" dirty="0">
                <a:latin typeface="Consolas" panose="020B0609020204030204" pitchFamily="49" charset="0"/>
              </a:rPr>
              <a:t>)</a:t>
            </a: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r>
              <a:rPr lang="en-US" sz="3600" dirty="0" err="1">
                <a:latin typeface="Consolas" panose="020B0609020204030204" pitchFamily="49" charset="0"/>
              </a:rPr>
              <a:t>DictCursor</a:t>
            </a:r>
            <a:r>
              <a:rPr lang="en-US" sz="3600" dirty="0">
                <a:latin typeface="Consolas" panose="020B0609020204030204" pitchFamily="49" charset="0"/>
              </a:rPr>
              <a:t> allows you to access results by column name instead of index. You don’t need to do this if it is already configured on </a:t>
            </a:r>
            <a:r>
              <a:rPr lang="en-US" sz="3600" dirty="0" err="1">
                <a:latin typeface="Consolas" panose="020B0609020204030204" pitchFamily="49" charset="0"/>
              </a:rPr>
              <a:t>mysql.config</a:t>
            </a:r>
            <a:r>
              <a:rPr lang="en-US" sz="3600" dirty="0">
                <a:latin typeface="Consolas" panose="020B0609020204030204" pitchFamily="49" charset="0"/>
              </a:rPr>
              <a:t>.</a:t>
            </a:r>
          </a:p>
          <a:p>
            <a:pPr algn="just"/>
            <a:r>
              <a:rPr lang="en-US" sz="3600" b="1" dirty="0">
                <a:latin typeface="Consolas" panose="020B0609020204030204" pitchFamily="49" charset="0"/>
              </a:rPr>
              <a:t>Example: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row['email']  instead of row[1]</a:t>
            </a:r>
          </a:p>
        </p:txBody>
      </p:sp>
    </p:spTree>
    <p:extLst>
      <p:ext uri="{BB962C8B-B14F-4D97-AF65-F5344CB8AC3E}">
        <p14:creationId xmlns:p14="http://schemas.microsoft.com/office/powerpoint/2010/main" val="557567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4421C-24F0-E488-5D73-6A077B1B1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7A1495C-1645-36A2-2F2A-F24594A12CDB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BD2FE4D-54D5-1C92-2AD5-66848FA169FA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7B111FB8-536A-BABD-9BA3-B3D23BF3B660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D1B416EF-8511-8EDF-CC25-E74016CE111E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1CEEDEF1-01BD-366D-DA15-2FAF59072A14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9A625C4B-E6D3-5EE6-504C-7FB102A874E9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EE4D0F18-C112-934A-BFDA-88E7D9ABAEA5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Different </a:t>
            </a:r>
            <a:r>
              <a:rPr lang="en-US" sz="4800" i="1" spc="-360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flask_mysqldb</a:t>
            </a: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 methods and concepts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59A3D37-7791-5DC5-1EC9-D5C4C5F4EDE8}"/>
              </a:ext>
            </a:extLst>
          </p:cNvPr>
          <p:cNvSpPr txBox="1"/>
          <p:nvPr/>
        </p:nvSpPr>
        <p:spPr>
          <a:xfrm>
            <a:off x="177555" y="2095500"/>
            <a:ext cx="17881845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b="1" dirty="0">
                <a:latin typeface="Consolas" panose="020B0609020204030204" pitchFamily="49" charset="0"/>
              </a:rPr>
              <a:t>2. Executing Queries </a:t>
            </a:r>
            <a:r>
              <a:rPr lang="en-US" sz="3600" dirty="0">
                <a:latin typeface="Consolas" panose="020B0609020204030204" pitchFamily="49" charset="0"/>
              </a:rPr>
              <a:t>- Once you have a cursor, you can execute SQL queries.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a. execute() - %s is a placeholder for parameters. Always pass parameters as a tuple (value,) to prevent SQL injection.</a:t>
            </a:r>
          </a:p>
          <a:p>
            <a:pPr algn="just"/>
            <a:r>
              <a:rPr lang="en-US" sz="3600" b="1" dirty="0">
                <a:latin typeface="Consolas" panose="020B0609020204030204" pitchFamily="49" charset="0"/>
              </a:rPr>
              <a:t>Example: </a:t>
            </a:r>
            <a:endParaRPr lang="en-US" sz="3600" dirty="0">
              <a:latin typeface="Consolas" panose="020B0609020204030204" pitchFamily="49" charset="0"/>
            </a:endParaRPr>
          </a:p>
          <a:p>
            <a:pPr algn="just"/>
            <a:r>
              <a:rPr lang="en-US" sz="3600" dirty="0" err="1">
                <a:latin typeface="Consolas" panose="020B0609020204030204" pitchFamily="49" charset="0"/>
              </a:rPr>
              <a:t>cur.execute</a:t>
            </a:r>
            <a:r>
              <a:rPr lang="en-US" sz="3600" dirty="0">
                <a:latin typeface="Consolas" panose="020B0609020204030204" pitchFamily="49" charset="0"/>
              </a:rPr>
              <a:t>("SELECT * FROM users WHERE id = %s", (1,))</a:t>
            </a: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b. </a:t>
            </a:r>
            <a:r>
              <a:rPr lang="en-US" sz="3600" dirty="0" err="1">
                <a:latin typeface="Consolas" panose="020B0609020204030204" pitchFamily="49" charset="0"/>
              </a:rPr>
              <a:t>executemany</a:t>
            </a:r>
            <a:r>
              <a:rPr lang="en-US" sz="3600" dirty="0">
                <a:latin typeface="Consolas" panose="020B0609020204030204" pitchFamily="49" charset="0"/>
              </a:rPr>
              <a:t>() - Use this to insert or update multiple rows at once.</a:t>
            </a:r>
          </a:p>
          <a:p>
            <a:pPr algn="just"/>
            <a:r>
              <a:rPr lang="en-US" sz="3600" b="1" dirty="0">
                <a:latin typeface="Consolas" panose="020B0609020204030204" pitchFamily="49" charset="0"/>
              </a:rPr>
              <a:t>Example: </a:t>
            </a:r>
            <a:endParaRPr lang="en-US" sz="3600" dirty="0">
              <a:latin typeface="Consolas" panose="020B0609020204030204" pitchFamily="49" charset="0"/>
            </a:endParaRP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data = [(1, 'Alice'), (2, 'Bob')]</a:t>
            </a:r>
          </a:p>
          <a:p>
            <a:pPr algn="just"/>
            <a:r>
              <a:rPr lang="en-US" sz="3600" dirty="0" err="1">
                <a:latin typeface="Consolas" panose="020B0609020204030204" pitchFamily="49" charset="0"/>
              </a:rPr>
              <a:t>cur.executemany</a:t>
            </a:r>
            <a:r>
              <a:rPr lang="en-US" sz="3600" dirty="0">
                <a:latin typeface="Consolas" panose="020B0609020204030204" pitchFamily="49" charset="0"/>
              </a:rPr>
              <a:t>("INSERT INTO users(id, name) VALUES(%s, %s)", data)</a:t>
            </a:r>
          </a:p>
        </p:txBody>
      </p:sp>
    </p:spTree>
    <p:extLst>
      <p:ext uri="{BB962C8B-B14F-4D97-AF65-F5344CB8AC3E}">
        <p14:creationId xmlns:p14="http://schemas.microsoft.com/office/powerpoint/2010/main" val="255429831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33DEA-09D4-C9B9-E8E2-DCD0C313C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AAC045B-9A5C-6324-C1E4-E6C92EE4BFD5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589ED9B-9C65-F1AE-F52D-E20147149327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CBB42A0F-A746-A98E-6C0B-D499FF223A5B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E9F68504-DDB9-8314-0500-4F8FB3FF6E2B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3B3FAF65-49DD-54AB-2E11-E372500BCBE5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E596947C-1202-5639-01B3-36D9B09E38F0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DDA980D3-E442-CE6E-48B9-2F397A93E248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Different </a:t>
            </a:r>
            <a:r>
              <a:rPr lang="en-US" sz="4800" i="1" spc="-360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flask_mysqldb</a:t>
            </a: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 methods and concepts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23121C-B2B4-1040-0C4B-371FF5D5AB6F}"/>
              </a:ext>
            </a:extLst>
          </p:cNvPr>
          <p:cNvSpPr txBox="1"/>
          <p:nvPr/>
        </p:nvSpPr>
        <p:spPr>
          <a:xfrm>
            <a:off x="177555" y="2095500"/>
            <a:ext cx="17881845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b="1" dirty="0">
                <a:latin typeface="Consolas" panose="020B0609020204030204" pitchFamily="49" charset="0"/>
              </a:rPr>
              <a:t>3. Fetching Data </a:t>
            </a:r>
            <a:r>
              <a:rPr lang="en-US" sz="3600" dirty="0">
                <a:latin typeface="Consolas" panose="020B0609020204030204" pitchFamily="49" charset="0"/>
              </a:rPr>
              <a:t>- After a SELECT query:</a:t>
            </a:r>
          </a:p>
          <a:p>
            <a:pPr marL="1028700" lvl="1" indent="-571500" algn="just">
              <a:buFont typeface="Wingdings" panose="05000000000000000000" pitchFamily="2" charset="2"/>
              <a:buChar char="ü"/>
            </a:pPr>
            <a:r>
              <a:rPr lang="en-US" sz="3600" dirty="0" err="1">
                <a:latin typeface="Consolas" panose="020B0609020204030204" pitchFamily="49" charset="0"/>
              </a:rPr>
              <a:t>fetchone</a:t>
            </a:r>
            <a:r>
              <a:rPr lang="en-US" sz="3600" dirty="0">
                <a:latin typeface="Consolas" panose="020B0609020204030204" pitchFamily="49" charset="0"/>
              </a:rPr>
              <a:t>() -&gt; gets a single row</a:t>
            </a:r>
          </a:p>
          <a:p>
            <a:pPr lvl="1" algn="just"/>
            <a:r>
              <a:rPr lang="en-US" sz="3600" b="1" dirty="0">
                <a:latin typeface="Consolas" panose="020B0609020204030204" pitchFamily="49" charset="0"/>
              </a:rPr>
              <a:t>Example: </a:t>
            </a:r>
          </a:p>
          <a:p>
            <a:pPr lvl="1" algn="just"/>
            <a:r>
              <a:rPr lang="en-US" sz="3600" dirty="0">
                <a:latin typeface="Consolas" panose="020B0609020204030204" pitchFamily="49" charset="0"/>
              </a:rPr>
              <a:t>row = </a:t>
            </a:r>
            <a:r>
              <a:rPr lang="en-US" sz="3600" dirty="0" err="1">
                <a:latin typeface="Consolas" panose="020B0609020204030204" pitchFamily="49" charset="0"/>
              </a:rPr>
              <a:t>cur.fetchone</a:t>
            </a:r>
            <a:r>
              <a:rPr lang="en-US" sz="3600" dirty="0">
                <a:latin typeface="Consolas" panose="020B0609020204030204" pitchFamily="49" charset="0"/>
              </a:rPr>
              <a:t>()</a:t>
            </a:r>
          </a:p>
          <a:p>
            <a:pPr lvl="1" algn="just"/>
            <a:endParaRPr lang="en-US" sz="3600" dirty="0">
              <a:latin typeface="Consolas" panose="020B0609020204030204" pitchFamily="49" charset="0"/>
            </a:endParaRPr>
          </a:p>
          <a:p>
            <a:pPr marL="1028700" lvl="1" indent="-571500" algn="just">
              <a:buFont typeface="Wingdings" panose="05000000000000000000" pitchFamily="2" charset="2"/>
              <a:buChar char="ü"/>
            </a:pPr>
            <a:r>
              <a:rPr lang="en-US" sz="3600" dirty="0" err="1">
                <a:latin typeface="Consolas" panose="020B0609020204030204" pitchFamily="49" charset="0"/>
              </a:rPr>
              <a:t>fetchall</a:t>
            </a:r>
            <a:r>
              <a:rPr lang="en-US" sz="3600" dirty="0">
                <a:latin typeface="Consolas" panose="020B0609020204030204" pitchFamily="49" charset="0"/>
              </a:rPr>
              <a:t>() - gets all rows</a:t>
            </a:r>
          </a:p>
          <a:p>
            <a:pPr lvl="1" algn="just"/>
            <a:r>
              <a:rPr lang="en-US" sz="3600" b="1" dirty="0">
                <a:latin typeface="Consolas" panose="020B0609020204030204" pitchFamily="49" charset="0"/>
              </a:rPr>
              <a:t>Example: </a:t>
            </a:r>
          </a:p>
          <a:p>
            <a:pPr lvl="1" algn="just"/>
            <a:r>
              <a:rPr lang="en-US" sz="3600" dirty="0">
                <a:latin typeface="Consolas" panose="020B0609020204030204" pitchFamily="49" charset="0"/>
              </a:rPr>
              <a:t>rows = </a:t>
            </a:r>
            <a:r>
              <a:rPr lang="en-US" sz="3600" dirty="0" err="1">
                <a:latin typeface="Consolas" panose="020B0609020204030204" pitchFamily="49" charset="0"/>
              </a:rPr>
              <a:t>cur.fetchall</a:t>
            </a:r>
            <a:r>
              <a:rPr lang="en-US" sz="3600" dirty="0">
                <a:latin typeface="Consolas" panose="020B0609020204030204" pitchFamily="49" charset="0"/>
              </a:rPr>
              <a:t>()</a:t>
            </a:r>
          </a:p>
          <a:p>
            <a:pPr lvl="1" algn="just"/>
            <a:endParaRPr lang="en-US" sz="3600" dirty="0">
              <a:latin typeface="Consolas" panose="020B0609020204030204" pitchFamily="49" charset="0"/>
            </a:endParaRPr>
          </a:p>
          <a:p>
            <a:pPr marL="1028700" lvl="1" indent="-571500" algn="just">
              <a:buFont typeface="Wingdings" panose="05000000000000000000" pitchFamily="2" charset="2"/>
              <a:buChar char="ü"/>
            </a:pPr>
            <a:r>
              <a:rPr lang="en-US" sz="3600" dirty="0" err="1">
                <a:latin typeface="Consolas" panose="020B0609020204030204" pitchFamily="49" charset="0"/>
              </a:rPr>
              <a:t>fetchmany</a:t>
            </a:r>
            <a:r>
              <a:rPr lang="en-US" sz="3600" dirty="0">
                <a:latin typeface="Consolas" panose="020B0609020204030204" pitchFamily="49" charset="0"/>
              </a:rPr>
              <a:t>(size) - gets a specific number of rows</a:t>
            </a:r>
          </a:p>
          <a:p>
            <a:pPr lvl="1" algn="just"/>
            <a:r>
              <a:rPr lang="en-US" sz="3600" b="1" dirty="0">
                <a:latin typeface="Consolas" panose="020B0609020204030204" pitchFamily="49" charset="0"/>
              </a:rPr>
              <a:t>Example: </a:t>
            </a:r>
          </a:p>
          <a:p>
            <a:pPr lvl="1" algn="just"/>
            <a:r>
              <a:rPr lang="en-US" sz="3600" dirty="0">
                <a:latin typeface="Consolas" panose="020B0609020204030204" pitchFamily="49" charset="0"/>
              </a:rPr>
              <a:t>rows = </a:t>
            </a:r>
            <a:r>
              <a:rPr lang="en-US" sz="3600" dirty="0" err="1">
                <a:latin typeface="Consolas" panose="020B0609020204030204" pitchFamily="49" charset="0"/>
              </a:rPr>
              <a:t>cur.fetchmany</a:t>
            </a:r>
            <a:r>
              <a:rPr lang="en-US" sz="3600" dirty="0">
                <a:latin typeface="Consolas" panose="020B0609020204030204" pitchFamily="49" charset="0"/>
              </a:rPr>
              <a:t>(3)</a:t>
            </a:r>
          </a:p>
        </p:txBody>
      </p:sp>
    </p:spTree>
    <p:extLst>
      <p:ext uri="{BB962C8B-B14F-4D97-AF65-F5344CB8AC3E}">
        <p14:creationId xmlns:p14="http://schemas.microsoft.com/office/powerpoint/2010/main" val="93848529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C05D1-2D6A-5D58-FAA4-5C63C2EE1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953D09B-0044-A89A-1502-DC15C73B2C7D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8B3D86A-72EC-D962-6014-F227C46141A6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C3FC2CA-D6CF-7815-12D6-18CE29BFCD06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A1860724-4B62-9D24-6068-4EC2F9BF2B98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43EF5701-1378-8506-45C9-4E71E2ECC972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28431D1A-5F8E-B05C-C6DD-FC043D1E8F63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6802F74B-E985-1C67-F59D-0C817A48E495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Different </a:t>
            </a:r>
            <a:r>
              <a:rPr lang="en-US" sz="4800" i="1" spc="-360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flask_mysqldb</a:t>
            </a: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 methods and concepts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E8D8071-8FCB-3674-6259-FCE8BE18560F}"/>
              </a:ext>
            </a:extLst>
          </p:cNvPr>
          <p:cNvSpPr txBox="1"/>
          <p:nvPr/>
        </p:nvSpPr>
        <p:spPr>
          <a:xfrm>
            <a:off x="177555" y="2095500"/>
            <a:ext cx="17881845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b="1" dirty="0">
                <a:latin typeface="Consolas" panose="020B0609020204030204" pitchFamily="49" charset="0"/>
              </a:rPr>
              <a:t>4. Committing Changes </a:t>
            </a:r>
            <a:r>
              <a:rPr lang="en-US" sz="3600" dirty="0">
                <a:latin typeface="Consolas" panose="020B0609020204030204" pitchFamily="49" charset="0"/>
              </a:rPr>
              <a:t>- For INSERT, UPDATE, or DELETE queries, you need to commit the transaction:</a:t>
            </a:r>
          </a:p>
          <a:p>
            <a:pPr algn="just"/>
            <a:r>
              <a:rPr lang="en-US" sz="3600" b="1" dirty="0">
                <a:latin typeface="Consolas" panose="020B0609020204030204" pitchFamily="49" charset="0"/>
              </a:rPr>
              <a:t>Example:</a:t>
            </a:r>
          </a:p>
          <a:p>
            <a:pPr algn="just"/>
            <a:r>
              <a:rPr lang="en-US" sz="3600" dirty="0" err="1">
                <a:latin typeface="Consolas" panose="020B0609020204030204" pitchFamily="49" charset="0"/>
              </a:rPr>
              <a:t>mysql.connection.commit</a:t>
            </a:r>
            <a:r>
              <a:rPr lang="en-US" sz="3600" dirty="0">
                <a:latin typeface="Consolas" panose="020B0609020204030204" pitchFamily="49" charset="0"/>
              </a:rPr>
              <a:t>()</a:t>
            </a: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Without commit(), the changes will not be saved in the database.</a:t>
            </a: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r>
              <a:rPr lang="en-US" sz="3600" b="1" dirty="0">
                <a:latin typeface="Consolas" panose="020B0609020204030204" pitchFamily="49" charset="0"/>
              </a:rPr>
              <a:t>5. Closing Cursor </a:t>
            </a:r>
            <a:r>
              <a:rPr lang="en-US" sz="3600" dirty="0">
                <a:latin typeface="Consolas" panose="020B0609020204030204" pitchFamily="49" charset="0"/>
              </a:rPr>
              <a:t>- Always close the cursor after use to free resources.</a:t>
            </a:r>
          </a:p>
          <a:p>
            <a:pPr algn="just"/>
            <a:r>
              <a:rPr lang="en-US" sz="3600" b="1" dirty="0">
                <a:latin typeface="Consolas" panose="020B0609020204030204" pitchFamily="49" charset="0"/>
              </a:rPr>
              <a:t>Example:</a:t>
            </a:r>
          </a:p>
          <a:p>
            <a:pPr algn="just"/>
            <a:r>
              <a:rPr lang="en-US" sz="3600" dirty="0" err="1">
                <a:latin typeface="Consolas" panose="020B0609020204030204" pitchFamily="49" charset="0"/>
              </a:rPr>
              <a:t>cur.close</a:t>
            </a:r>
            <a:r>
              <a:rPr lang="en-US" sz="3600" dirty="0">
                <a:latin typeface="Consolas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86197206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440D5-6226-3C82-B129-5FA9097E4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2EECBF4-7C97-8686-EA3C-8310BA007929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5CB89BC-D37E-E212-A4D6-7508B4BB420E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BD43CD95-1A77-FA58-5F5A-EF04DE1DFB49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D76A36D1-B534-06F1-1255-CDDC029A8181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DD9BDE93-689D-B844-7AC6-048FC7DCA76D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348ED554-7CB4-D5BC-4024-CF06B495B5DA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840CBF49-CD50-337F-3BD8-7A70780D4889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Flash Messages in Flask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139AC2B-65CE-5E93-57BA-B28DA07630BE}"/>
              </a:ext>
            </a:extLst>
          </p:cNvPr>
          <p:cNvSpPr txBox="1"/>
          <p:nvPr/>
        </p:nvSpPr>
        <p:spPr>
          <a:xfrm>
            <a:off x="177555" y="2095500"/>
            <a:ext cx="17881845" cy="7940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dirty="0">
                <a:latin typeface="Consolas" panose="020B0609020204030204" pitchFamily="49" charset="0"/>
              </a:rPr>
              <a:t>Flask provides a way to give feedback to a user with the flashing system. It makes it possible to record a message at the end of a request and access it next request and only next request. To do this, you need a secret key.</a:t>
            </a:r>
          </a:p>
          <a:p>
            <a:pPr algn="just"/>
            <a:r>
              <a:rPr lang="en-US" sz="3200" b="1" dirty="0">
                <a:latin typeface="Consolas" panose="020B0609020204030204" pitchFamily="49" charset="0"/>
              </a:rPr>
              <a:t>Syntax: </a:t>
            </a:r>
            <a:r>
              <a:rPr lang="en-US" sz="3200" dirty="0">
                <a:latin typeface="Consolas" panose="020B0609020204030204" pitchFamily="49" charset="0"/>
              </a:rPr>
              <a:t>flash(message, category) </a:t>
            </a:r>
          </a:p>
          <a:p>
            <a:pPr algn="just"/>
            <a:endParaRPr lang="en-US" sz="1000" dirty="0">
              <a:latin typeface="Consolas" panose="020B0609020204030204" pitchFamily="49" charset="0"/>
            </a:endParaRP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Where:</a:t>
            </a:r>
          </a:p>
          <a:p>
            <a:pPr marL="1028700" lvl="1" indent="-571500" algn="just">
              <a:buFont typeface="Wingdings" panose="05000000000000000000" pitchFamily="2" charset="2"/>
              <a:buChar char="ü"/>
            </a:pPr>
            <a:r>
              <a:rPr lang="en-US" sz="3200" dirty="0">
                <a:latin typeface="Consolas" panose="020B0609020204030204" pitchFamily="49" charset="0"/>
              </a:rPr>
              <a:t>category is optional. </a:t>
            </a:r>
          </a:p>
          <a:p>
            <a:pPr lvl="1" algn="just"/>
            <a:r>
              <a:rPr lang="en-US" sz="3200" dirty="0">
                <a:latin typeface="Consolas" panose="020B0609020204030204" pitchFamily="49" charset="0"/>
              </a:rPr>
              <a:t>	</a:t>
            </a:r>
            <a:r>
              <a:rPr lang="en-US" sz="3200" b="1" dirty="0">
                <a:latin typeface="Consolas" panose="020B0609020204030204" pitchFamily="49" charset="0"/>
              </a:rPr>
              <a:t>Common Bootstrap classes</a:t>
            </a:r>
            <a:r>
              <a:rPr lang="en-US" sz="3200" dirty="0">
                <a:latin typeface="Consolas" panose="020B0609020204030204" pitchFamily="49" charset="0"/>
              </a:rPr>
              <a:t>: success, danger, warning, info.</a:t>
            </a:r>
          </a:p>
          <a:p>
            <a:pPr marL="0" lvl="1" algn="just"/>
            <a:r>
              <a:rPr lang="en-US" sz="3200" b="1" dirty="0">
                <a:latin typeface="Consolas" panose="020B0609020204030204" pitchFamily="49" charset="0"/>
              </a:rPr>
              <a:t>Example:</a:t>
            </a:r>
          </a:p>
          <a:p>
            <a:pPr marL="0" lvl="1" algn="just"/>
            <a:r>
              <a:rPr lang="en-US" sz="3200" dirty="0">
                <a:latin typeface="Consolas" panose="020B0609020204030204" pitchFamily="49" charset="0"/>
              </a:rPr>
              <a:t>from flask import Flask, flash, </a:t>
            </a:r>
            <a:r>
              <a:rPr lang="en-US" sz="3200" dirty="0" err="1">
                <a:latin typeface="Consolas" panose="020B0609020204030204" pitchFamily="49" charset="0"/>
              </a:rPr>
              <a:t>render_template</a:t>
            </a:r>
            <a:r>
              <a:rPr lang="en-US" sz="3200" dirty="0">
                <a:latin typeface="Consolas" panose="020B0609020204030204" pitchFamily="49" charset="0"/>
              </a:rPr>
              <a:t>, redirect, </a:t>
            </a:r>
            <a:r>
              <a:rPr lang="en-US" sz="3200" dirty="0" err="1">
                <a:latin typeface="Consolas" panose="020B0609020204030204" pitchFamily="49" charset="0"/>
              </a:rPr>
              <a:t>url_for</a:t>
            </a:r>
            <a:endParaRPr lang="en-US" sz="3200" dirty="0">
              <a:latin typeface="Consolas" panose="020B0609020204030204" pitchFamily="49" charset="0"/>
            </a:endParaRPr>
          </a:p>
          <a:p>
            <a:pPr marL="0" lvl="1" algn="just"/>
            <a:endParaRPr lang="en-US" sz="1000" dirty="0">
              <a:latin typeface="Consolas" panose="020B0609020204030204" pitchFamily="49" charset="0"/>
            </a:endParaRPr>
          </a:p>
          <a:p>
            <a:pPr marL="0" lvl="1" algn="just"/>
            <a:r>
              <a:rPr lang="en-US" sz="3200" dirty="0">
                <a:latin typeface="Consolas" panose="020B0609020204030204" pitchFamily="49" charset="0"/>
              </a:rPr>
              <a:t>app = Flask(__name__)</a:t>
            </a:r>
          </a:p>
          <a:p>
            <a:pPr marL="0" lvl="1" algn="just"/>
            <a:r>
              <a:rPr lang="en-US" sz="3200" dirty="0" err="1">
                <a:latin typeface="Consolas" panose="020B0609020204030204" pitchFamily="49" charset="0"/>
              </a:rPr>
              <a:t>app.secret_key</a:t>
            </a:r>
            <a:r>
              <a:rPr lang="en-US" sz="3200" dirty="0">
                <a:latin typeface="Consolas" panose="020B0609020204030204" pitchFamily="49" charset="0"/>
              </a:rPr>
              <a:t> = 'mysecret123'</a:t>
            </a:r>
          </a:p>
          <a:p>
            <a:pPr marL="0" lvl="1" algn="just"/>
            <a:endParaRPr lang="en-US" sz="1000" dirty="0">
              <a:latin typeface="Consolas" panose="020B0609020204030204" pitchFamily="49" charset="0"/>
            </a:endParaRPr>
          </a:p>
          <a:p>
            <a:pPr marL="0" lvl="1" algn="just"/>
            <a:r>
              <a:rPr lang="en-US" sz="3200" dirty="0">
                <a:latin typeface="Consolas" panose="020B0609020204030204" pitchFamily="49" charset="0"/>
              </a:rPr>
              <a:t>@app.route('/')</a:t>
            </a:r>
          </a:p>
          <a:p>
            <a:pPr marL="0" lvl="1" algn="just"/>
            <a:r>
              <a:rPr lang="en-US" sz="3200" dirty="0">
                <a:latin typeface="Consolas" panose="020B0609020204030204" pitchFamily="49" charset="0"/>
              </a:rPr>
              <a:t>def index():</a:t>
            </a:r>
          </a:p>
          <a:p>
            <a:pPr marL="0" lvl="1" algn="just"/>
            <a:r>
              <a:rPr lang="en-US" sz="3200" dirty="0">
                <a:latin typeface="Consolas" panose="020B0609020204030204" pitchFamily="49" charset="0"/>
              </a:rPr>
              <a:t>    flash("Welcome to Flask!", "success")</a:t>
            </a:r>
          </a:p>
          <a:p>
            <a:pPr marL="0" lvl="1" algn="just"/>
            <a:r>
              <a:rPr lang="en-US" sz="3200" dirty="0">
                <a:latin typeface="Consolas" panose="020B0609020204030204" pitchFamily="49" charset="0"/>
              </a:rPr>
              <a:t>    return </a:t>
            </a:r>
            <a:r>
              <a:rPr lang="en-US" sz="3200" dirty="0" err="1">
                <a:latin typeface="Consolas" panose="020B0609020204030204" pitchFamily="49" charset="0"/>
              </a:rPr>
              <a:t>render_template</a:t>
            </a:r>
            <a:r>
              <a:rPr lang="en-US" sz="3200" dirty="0">
                <a:latin typeface="Consolas" panose="020B0609020204030204" pitchFamily="49" charset="0"/>
              </a:rPr>
              <a:t>('index.html')</a:t>
            </a:r>
          </a:p>
        </p:txBody>
      </p:sp>
    </p:spTree>
    <p:extLst>
      <p:ext uri="{BB962C8B-B14F-4D97-AF65-F5344CB8AC3E}">
        <p14:creationId xmlns:p14="http://schemas.microsoft.com/office/powerpoint/2010/main" val="406044393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34E26-82BD-2251-54DB-C99447B00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A7C4DC1-6309-E3AC-E758-97C76BFEA6AA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52327AA-5353-3C93-7D10-37A16038E4E5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2EED3F73-F98F-685B-9BA3-5517A9D0DA1E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BD26A003-3906-90FA-AF1A-A7CF9F25DE5C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5B5B01D6-23B0-3503-3CC3-53C3C9C37C01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426EA356-3142-4035-6735-5D42B2B48C66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BA02D087-2BE1-CF30-F383-A1ECF831E4E6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Checking Flash Messages in HTML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585950C-BD08-77C0-B296-5D5F4A7BB00D}"/>
              </a:ext>
            </a:extLst>
          </p:cNvPr>
          <p:cNvSpPr txBox="1"/>
          <p:nvPr/>
        </p:nvSpPr>
        <p:spPr>
          <a:xfrm>
            <a:off x="177555" y="2095500"/>
            <a:ext cx="17881845" cy="7232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000" dirty="0">
                <a:latin typeface="Consolas" panose="020B0609020204030204" pitchFamily="49" charset="0"/>
              </a:rPr>
              <a:t>{% with messages = </a:t>
            </a:r>
            <a:r>
              <a:rPr lang="en-US" sz="3000" dirty="0" err="1">
                <a:latin typeface="Consolas" panose="020B0609020204030204" pitchFamily="49" charset="0"/>
              </a:rPr>
              <a:t>get_flashed_messages</a:t>
            </a:r>
            <a:r>
              <a:rPr lang="en-US" sz="3000" dirty="0">
                <a:latin typeface="Consolas" panose="020B0609020204030204" pitchFamily="49" charset="0"/>
              </a:rPr>
              <a:t>(</a:t>
            </a:r>
            <a:r>
              <a:rPr lang="en-US" sz="3000" dirty="0" err="1">
                <a:latin typeface="Consolas" panose="020B0609020204030204" pitchFamily="49" charset="0"/>
              </a:rPr>
              <a:t>with_categories</a:t>
            </a:r>
            <a:r>
              <a:rPr lang="en-US" sz="3000" dirty="0">
                <a:latin typeface="Consolas" panose="020B0609020204030204" pitchFamily="49" charset="0"/>
              </a:rPr>
              <a:t>=true) %}</a:t>
            </a:r>
          </a:p>
          <a:p>
            <a:pPr algn="just"/>
            <a:r>
              <a:rPr lang="en-US" sz="3000" dirty="0">
                <a:latin typeface="Consolas" panose="020B0609020204030204" pitchFamily="49" charset="0"/>
              </a:rPr>
              <a:t>	{% if messages %}</a:t>
            </a:r>
          </a:p>
          <a:p>
            <a:pPr algn="just"/>
            <a:r>
              <a:rPr lang="en-US" sz="3000" dirty="0">
                <a:latin typeface="Consolas" panose="020B0609020204030204" pitchFamily="49" charset="0"/>
              </a:rPr>
              <a:t>		{% for category, message in messages %}</a:t>
            </a:r>
          </a:p>
          <a:p>
            <a:pPr algn="just"/>
            <a:r>
              <a:rPr lang="en-US" sz="2400" dirty="0">
                <a:latin typeface="Consolas" panose="020B0609020204030204" pitchFamily="49" charset="0"/>
              </a:rPr>
              <a:t>			</a:t>
            </a:r>
            <a:r>
              <a:rPr lang="en-US" sz="2600" dirty="0">
                <a:latin typeface="Consolas" panose="020B0609020204030204" pitchFamily="49" charset="0"/>
              </a:rPr>
              <a:t>&lt;div class="alert alert-{{ category }} alert-dismissible fade show" role="alert"&gt;</a:t>
            </a:r>
          </a:p>
          <a:p>
            <a:pPr algn="just"/>
            <a:r>
              <a:rPr lang="en-US" sz="3000" dirty="0">
                <a:latin typeface="Consolas" panose="020B0609020204030204" pitchFamily="49" charset="0"/>
              </a:rPr>
              <a:t>				{{ message }}</a:t>
            </a:r>
          </a:p>
          <a:p>
            <a:pPr lvl="2" algn="just"/>
            <a:r>
              <a:rPr lang="en-US" sz="2400" dirty="0">
                <a:latin typeface="Consolas" panose="020B0609020204030204" pitchFamily="49" charset="0"/>
              </a:rPr>
              <a:t>			&lt;button type="button" class="</a:t>
            </a:r>
            <a:r>
              <a:rPr lang="en-US" sz="2400" dirty="0" err="1">
                <a:latin typeface="Consolas" panose="020B0609020204030204" pitchFamily="49" charset="0"/>
              </a:rPr>
              <a:t>btn</a:t>
            </a:r>
            <a:r>
              <a:rPr lang="en-US" sz="2400" dirty="0">
                <a:latin typeface="Consolas" panose="020B0609020204030204" pitchFamily="49" charset="0"/>
              </a:rPr>
              <a:t>-close" data-bs-dismiss="alert" aria-label="Close"&gt;</a:t>
            </a:r>
          </a:p>
          <a:p>
            <a:pPr lvl="2" algn="just"/>
            <a:r>
              <a:rPr lang="en-US" sz="2400" dirty="0">
                <a:latin typeface="Consolas" panose="020B0609020204030204" pitchFamily="49" charset="0"/>
              </a:rPr>
              <a:t>			&lt;/button&gt;</a:t>
            </a:r>
          </a:p>
          <a:p>
            <a:pPr algn="just"/>
            <a:r>
              <a:rPr lang="en-US" sz="3000" dirty="0">
                <a:latin typeface="Consolas" panose="020B0609020204030204" pitchFamily="49" charset="0"/>
              </a:rPr>
              <a:t>			&lt;/div&gt;</a:t>
            </a:r>
          </a:p>
          <a:p>
            <a:pPr algn="just"/>
            <a:r>
              <a:rPr lang="en-US" sz="3000" dirty="0">
                <a:latin typeface="Consolas" panose="020B0609020204030204" pitchFamily="49" charset="0"/>
              </a:rPr>
              <a:t>		{% </a:t>
            </a:r>
            <a:r>
              <a:rPr lang="en-US" sz="3000" dirty="0" err="1">
                <a:latin typeface="Consolas" panose="020B0609020204030204" pitchFamily="49" charset="0"/>
              </a:rPr>
              <a:t>endfor</a:t>
            </a:r>
            <a:r>
              <a:rPr lang="en-US" sz="3000" dirty="0">
                <a:latin typeface="Consolas" panose="020B0609020204030204" pitchFamily="49" charset="0"/>
              </a:rPr>
              <a:t> %}</a:t>
            </a:r>
          </a:p>
          <a:p>
            <a:pPr lvl="2" algn="just"/>
            <a:r>
              <a:rPr lang="en-US" sz="3000" dirty="0">
                <a:latin typeface="Consolas" panose="020B0609020204030204" pitchFamily="49" charset="0"/>
              </a:rPr>
              <a:t>{% endif %}</a:t>
            </a:r>
          </a:p>
          <a:p>
            <a:pPr algn="just"/>
            <a:r>
              <a:rPr lang="en-US" sz="3000" dirty="0">
                <a:latin typeface="Consolas" panose="020B0609020204030204" pitchFamily="49" charset="0"/>
              </a:rPr>
              <a:t>{% </a:t>
            </a:r>
            <a:r>
              <a:rPr lang="en-US" sz="3000" dirty="0" err="1">
                <a:latin typeface="Consolas" panose="020B0609020204030204" pitchFamily="49" charset="0"/>
              </a:rPr>
              <a:t>endwith</a:t>
            </a:r>
            <a:r>
              <a:rPr lang="en-US" sz="3000" dirty="0">
                <a:latin typeface="Consolas" panose="020B0609020204030204" pitchFamily="49" charset="0"/>
              </a:rPr>
              <a:t> %}</a:t>
            </a:r>
          </a:p>
          <a:p>
            <a:pPr algn="just"/>
            <a:endParaRPr lang="en-US" sz="3000" dirty="0">
              <a:latin typeface="Consolas" panose="020B0609020204030204" pitchFamily="49" charset="0"/>
            </a:endParaRP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r>
              <a:rPr lang="en-US" sz="3000" dirty="0" err="1">
                <a:latin typeface="Consolas" panose="020B0609020204030204" pitchFamily="49" charset="0"/>
              </a:rPr>
              <a:t>get_flashed_messages</a:t>
            </a:r>
            <a:r>
              <a:rPr lang="en-US" sz="3000" dirty="0">
                <a:latin typeface="Consolas" panose="020B0609020204030204" pitchFamily="49" charset="0"/>
              </a:rPr>
              <a:t>(</a:t>
            </a:r>
            <a:r>
              <a:rPr lang="en-US" sz="3000" dirty="0" err="1">
                <a:latin typeface="Consolas" panose="020B0609020204030204" pitchFamily="49" charset="0"/>
              </a:rPr>
              <a:t>with_categories</a:t>
            </a:r>
            <a:r>
              <a:rPr lang="en-US" sz="3000" dirty="0">
                <a:latin typeface="Consolas" panose="020B0609020204030204" pitchFamily="49" charset="0"/>
              </a:rPr>
              <a:t>=True) -&gt; Returns a list of (category, message) tuples.</a:t>
            </a: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r>
              <a:rPr lang="en-US" sz="3000" dirty="0">
                <a:latin typeface="Consolas" panose="020B0609020204030204" pitchFamily="49" charset="0"/>
              </a:rPr>
              <a:t>Loop through each message and display it using Bootstrap’s alert component.</a:t>
            </a: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r>
              <a:rPr lang="en-US" sz="3000" dirty="0">
                <a:latin typeface="Consolas" panose="020B0609020204030204" pitchFamily="49" charset="0"/>
              </a:rPr>
              <a:t>fade show classes -&gt; Makes the alert dismissible with fade effect.</a:t>
            </a:r>
          </a:p>
        </p:txBody>
      </p:sp>
    </p:spTree>
    <p:extLst>
      <p:ext uri="{BB962C8B-B14F-4D97-AF65-F5344CB8AC3E}">
        <p14:creationId xmlns:p14="http://schemas.microsoft.com/office/powerpoint/2010/main" val="165802075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A205B-BE12-FB9B-9C15-B56113945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3A43FBE-D0CC-4654-0C6F-A90C07A10FF7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F8013A2-42E5-3FC2-828D-3D9902D39854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3C8F47E1-CEB1-1C59-B944-0183A16B44C3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191C80FD-8A21-FDAC-51AA-CB41777AD4EA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C1BBA2E3-5D15-BFFA-AA50-09E32B8C26FB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4ABDC487-E5B4-EDC7-C61A-AF57DDE6908D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07D039FB-4A03-124D-23AC-D8577BE344D1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Sessions in Flask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25D11FC-05DB-9EC9-D3FB-1D901B4AF1CA}"/>
              </a:ext>
            </a:extLst>
          </p:cNvPr>
          <p:cNvSpPr txBox="1"/>
          <p:nvPr/>
        </p:nvSpPr>
        <p:spPr>
          <a:xfrm>
            <a:off x="177555" y="2095500"/>
            <a:ext cx="17881845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dirty="0">
                <a:latin typeface="Consolas" panose="020B0609020204030204" pitchFamily="49" charset="0"/>
              </a:rPr>
              <a:t>A session in Flask is a way to store information about a user across multiple requests.</a:t>
            </a: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r>
              <a:rPr lang="en-US" sz="3600" b="1" dirty="0">
                <a:latin typeface="Consolas" panose="020B0609020204030204" pitchFamily="49" charset="0"/>
              </a:rPr>
              <a:t>Setting-up sessions </a:t>
            </a:r>
            <a:r>
              <a:rPr lang="en-US" sz="3600" dirty="0">
                <a:latin typeface="Consolas" panose="020B0609020204030204" pitchFamily="49" charset="0"/>
              </a:rPr>
              <a:t>- You need to set a secret key in your app.</a:t>
            </a:r>
          </a:p>
          <a:p>
            <a:pPr algn="just"/>
            <a:r>
              <a:rPr lang="en-US" sz="3600" b="1" dirty="0">
                <a:latin typeface="Consolas" panose="020B0609020204030204" pitchFamily="49" charset="0"/>
              </a:rPr>
              <a:t>Example: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from flask import Flask, session</a:t>
            </a: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app = Flask(__name__)</a:t>
            </a:r>
          </a:p>
          <a:p>
            <a:pPr algn="just"/>
            <a:r>
              <a:rPr lang="en-US" sz="3600" dirty="0" err="1">
                <a:latin typeface="Consolas" panose="020B0609020204030204" pitchFamily="49" charset="0"/>
              </a:rPr>
              <a:t>app.secret_key</a:t>
            </a:r>
            <a:r>
              <a:rPr lang="en-US" sz="3600" dirty="0">
                <a:latin typeface="Consolas" panose="020B0609020204030204" pitchFamily="49" charset="0"/>
              </a:rPr>
              <a:t> = 'mysecretkey123'</a:t>
            </a: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31980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77556-BD1D-9111-B5AD-1059C01FD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F1D73B1-033D-932A-A6E3-E08B056268EC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11E7E05-4FC8-3E39-2158-CF9D47B5264C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C3D7FC0B-58EA-B25A-FBC7-21F702DD4B97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54D731F8-EB86-C9B3-3987-7520A130F716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6342B7DB-6C2C-AABE-E00F-5661AC2E6EB6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A60F103A-C7DB-73C4-A93C-7715C1ECD4D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C255D7BC-E0F5-1DC8-BF6B-593D92D08F22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Sessions in Flask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8871C36-8362-F3F9-100B-94BAC053A3C8}"/>
              </a:ext>
            </a:extLst>
          </p:cNvPr>
          <p:cNvSpPr txBox="1"/>
          <p:nvPr/>
        </p:nvSpPr>
        <p:spPr>
          <a:xfrm>
            <a:off x="177555" y="2095500"/>
            <a:ext cx="17881845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b="1" dirty="0">
                <a:latin typeface="Consolas" panose="020B0609020204030204" pitchFamily="49" charset="0"/>
              </a:rPr>
              <a:t>a. Storing Session</a:t>
            </a:r>
          </a:p>
          <a:p>
            <a:pPr algn="just"/>
            <a:r>
              <a:rPr lang="en-US" sz="3600" b="1" dirty="0">
                <a:latin typeface="Consolas" panose="020B0609020204030204" pitchFamily="49" charset="0"/>
              </a:rPr>
              <a:t>Example: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@app.route('/login', methods=['POST'])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def login():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    username = "Mark"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    session['username'] = username  # store data in session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    session['</a:t>
            </a:r>
            <a:r>
              <a:rPr lang="en-US" sz="3600" dirty="0" err="1">
                <a:latin typeface="Consolas" panose="020B0609020204030204" pitchFamily="49" charset="0"/>
              </a:rPr>
              <a:t>logged_in</a:t>
            </a:r>
            <a:r>
              <a:rPr lang="en-US" sz="3600" dirty="0">
                <a:latin typeface="Consolas" panose="020B0609020204030204" pitchFamily="49" charset="0"/>
              </a:rPr>
              <a:t>'] = True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    return "User logged in!“</a:t>
            </a: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session['key'] = value -&gt; Save data in the session.</a:t>
            </a:r>
          </a:p>
        </p:txBody>
      </p:sp>
    </p:spTree>
    <p:extLst>
      <p:ext uri="{BB962C8B-B14F-4D97-AF65-F5344CB8AC3E}">
        <p14:creationId xmlns:p14="http://schemas.microsoft.com/office/powerpoint/2010/main" val="105147729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49378-40CC-D4EB-7B51-8BECEB867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E3E9C07-CFF4-D0CC-A59C-6B210D98D6EE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5218038-1FEC-2907-C64D-814B180844A1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029CEDE4-F870-2D00-A732-6C7BA35F16F2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2C3288F1-EE51-C500-6239-46D1FC86BBB2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A8679314-A0BE-B22E-F302-4F6F0793D223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8B29634D-9CB8-4F2E-2573-60957C3581D0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3C8D9A99-EE96-A8BF-58CF-CED01F466E26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Sessions in Flask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326A2E-952B-FF63-B3CF-D8BE7E7B03FC}"/>
              </a:ext>
            </a:extLst>
          </p:cNvPr>
          <p:cNvSpPr txBox="1"/>
          <p:nvPr/>
        </p:nvSpPr>
        <p:spPr>
          <a:xfrm>
            <a:off x="177555" y="2095500"/>
            <a:ext cx="17881845" cy="729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b="1" dirty="0">
                <a:latin typeface="Consolas" panose="020B0609020204030204" pitchFamily="49" charset="0"/>
              </a:rPr>
              <a:t>b. Retrieving Session</a:t>
            </a:r>
          </a:p>
          <a:p>
            <a:pPr algn="just"/>
            <a:r>
              <a:rPr lang="en-US" sz="3600" b="1" dirty="0">
                <a:latin typeface="Consolas" panose="020B0609020204030204" pitchFamily="49" charset="0"/>
              </a:rPr>
              <a:t>Example: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@app.route('/profile')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def profile():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    if '</a:t>
            </a:r>
            <a:r>
              <a:rPr lang="en-US" sz="3600" dirty="0" err="1">
                <a:latin typeface="Consolas" panose="020B0609020204030204" pitchFamily="49" charset="0"/>
              </a:rPr>
              <a:t>logged_in</a:t>
            </a:r>
            <a:r>
              <a:rPr lang="en-US" sz="3600" dirty="0">
                <a:latin typeface="Consolas" panose="020B0609020204030204" pitchFamily="49" charset="0"/>
              </a:rPr>
              <a:t>' in session: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        username = session['username']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        return </a:t>
            </a:r>
            <a:r>
              <a:rPr lang="en-US" sz="3600" dirty="0" err="1">
                <a:latin typeface="Consolas" panose="020B0609020204030204" pitchFamily="49" charset="0"/>
              </a:rPr>
              <a:t>f"Hello</a:t>
            </a:r>
            <a:r>
              <a:rPr lang="en-US" sz="3600" dirty="0">
                <a:latin typeface="Consolas" panose="020B0609020204030204" pitchFamily="49" charset="0"/>
              </a:rPr>
              <a:t>, {username}! Welcome to your profile."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    else: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        return "You are not logged in.“</a:t>
            </a: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r>
              <a:rPr lang="en-US" sz="3600" b="1" dirty="0">
                <a:latin typeface="Consolas" panose="020B0609020204030204" pitchFamily="49" charset="0"/>
              </a:rPr>
              <a:t>In html,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{% if </a:t>
            </a:r>
            <a:r>
              <a:rPr lang="en-US" sz="3600" dirty="0" err="1">
                <a:latin typeface="Consolas" panose="020B0609020204030204" pitchFamily="49" charset="0"/>
              </a:rPr>
              <a:t>session.logged_in</a:t>
            </a:r>
            <a:r>
              <a:rPr lang="en-US" sz="3600" dirty="0">
                <a:latin typeface="Consolas" panose="020B0609020204030204" pitchFamily="49" charset="0"/>
              </a:rPr>
              <a:t> %}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{% endif %}</a:t>
            </a:r>
          </a:p>
        </p:txBody>
      </p:sp>
    </p:spTree>
    <p:extLst>
      <p:ext uri="{BB962C8B-B14F-4D97-AF65-F5344CB8AC3E}">
        <p14:creationId xmlns:p14="http://schemas.microsoft.com/office/powerpoint/2010/main" val="302306510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AB5DF-91CD-CEFC-2C3B-C53FABD47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3368811-679C-0536-EC66-931026A757A8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759A013-1F34-0AF9-54B5-28B90F60B74A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F5B4978B-B937-0235-800E-EEB33BDC2DFB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341217CC-5A08-081B-FD07-B5C6D2BD51A7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6D992104-C81B-8EF0-50FF-E60B6D718365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EB3BCFEE-52F1-7ED0-9E7B-E684320095C4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EEEE7FD9-646C-29FC-72D0-1075E7C9D7F1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Sessions in Flask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3000A6B-320F-B9D6-4A06-0E1058C521FC}"/>
              </a:ext>
            </a:extLst>
          </p:cNvPr>
          <p:cNvSpPr txBox="1"/>
          <p:nvPr/>
        </p:nvSpPr>
        <p:spPr>
          <a:xfrm>
            <a:off x="177555" y="2095500"/>
            <a:ext cx="1788184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b="1" dirty="0">
                <a:latin typeface="Consolas" panose="020B0609020204030204" pitchFamily="49" charset="0"/>
              </a:rPr>
              <a:t>c. Removing Session</a:t>
            </a:r>
          </a:p>
          <a:p>
            <a:pPr algn="just"/>
            <a:r>
              <a:rPr lang="en-US" sz="3600" b="1" dirty="0">
                <a:latin typeface="Consolas" panose="020B0609020204030204" pitchFamily="49" charset="0"/>
              </a:rPr>
              <a:t>To remove a specific session:</a:t>
            </a:r>
          </a:p>
          <a:p>
            <a:pPr algn="just"/>
            <a:r>
              <a:rPr lang="en-US" sz="3600" dirty="0" err="1">
                <a:latin typeface="Consolas" panose="020B0609020204030204" pitchFamily="49" charset="0"/>
              </a:rPr>
              <a:t>session.pop</a:t>
            </a:r>
            <a:r>
              <a:rPr lang="en-US" sz="3600" dirty="0">
                <a:latin typeface="Consolas" panose="020B0609020204030204" pitchFamily="49" charset="0"/>
              </a:rPr>
              <a:t>('username', None)  </a:t>
            </a: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r>
              <a:rPr lang="en-US" sz="3600" b="1" dirty="0">
                <a:latin typeface="Consolas" panose="020B0609020204030204" pitchFamily="49" charset="0"/>
              </a:rPr>
              <a:t>To remove all sessions.</a:t>
            </a:r>
          </a:p>
          <a:p>
            <a:pPr algn="just"/>
            <a:r>
              <a:rPr lang="en-US" sz="3600" dirty="0" err="1">
                <a:latin typeface="Consolas" panose="020B0609020204030204" pitchFamily="49" charset="0"/>
              </a:rPr>
              <a:t>session.clear</a:t>
            </a:r>
            <a:r>
              <a:rPr lang="en-US" sz="3600" dirty="0">
                <a:latin typeface="Consolas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99463939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194FF-8BFF-EBCC-854D-7AF64764C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DE74A72-9E81-236F-81C4-550829C7DC01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E15AE97-54FC-562D-142D-EA1925A503F7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8A489154-1BE1-4142-4430-CE1FFC389B63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42542933-C16C-7AC1-06BF-1D5D27F9094C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C4A84FB8-2CBF-D6CA-52A2-8D3EE5C9214C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CCAE7B7E-EAFA-EC07-530E-1CDC0E85D2B6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5C59A42A-56C7-C1BF-E8B5-DF0B21A72AFD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Sessions in Flask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0545897-FC63-37B4-2200-6C8EA97C860F}"/>
              </a:ext>
            </a:extLst>
          </p:cNvPr>
          <p:cNvSpPr txBox="1"/>
          <p:nvPr/>
        </p:nvSpPr>
        <p:spPr>
          <a:xfrm>
            <a:off x="177555" y="2095500"/>
            <a:ext cx="17881845" cy="7602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b="1" dirty="0">
                <a:latin typeface="Consolas" panose="020B0609020204030204" pitchFamily="49" charset="0"/>
              </a:rPr>
              <a:t>Example:</a:t>
            </a:r>
          </a:p>
          <a:p>
            <a:pPr algn="just"/>
            <a:r>
              <a:rPr lang="en-US" sz="2400" dirty="0">
                <a:latin typeface="Consolas" panose="020B0609020204030204" pitchFamily="49" charset="0"/>
              </a:rPr>
              <a:t>from flask import Flask, </a:t>
            </a:r>
            <a:r>
              <a:rPr lang="en-US" sz="2400" dirty="0" err="1">
                <a:latin typeface="Consolas" panose="020B0609020204030204" pitchFamily="49" charset="0"/>
              </a:rPr>
              <a:t>render_template</a:t>
            </a:r>
            <a:r>
              <a:rPr lang="en-US" sz="2400" dirty="0">
                <a:latin typeface="Consolas" panose="020B0609020204030204" pitchFamily="49" charset="0"/>
              </a:rPr>
              <a:t>, request, redirect, </a:t>
            </a:r>
            <a:r>
              <a:rPr lang="en-US" sz="2400" dirty="0" err="1">
                <a:latin typeface="Consolas" panose="020B0609020204030204" pitchFamily="49" charset="0"/>
              </a:rPr>
              <a:t>url_for</a:t>
            </a:r>
            <a:r>
              <a:rPr lang="en-US" sz="2400" dirty="0">
                <a:latin typeface="Consolas" panose="020B0609020204030204" pitchFamily="49" charset="0"/>
              </a:rPr>
              <a:t>, session, flash</a:t>
            </a:r>
          </a:p>
          <a:p>
            <a:pPr algn="just"/>
            <a:endParaRPr lang="en-US" sz="1000" dirty="0">
              <a:latin typeface="Consolas" panose="020B0609020204030204" pitchFamily="49" charset="0"/>
            </a:endParaRPr>
          </a:p>
          <a:p>
            <a:pPr algn="just"/>
            <a:r>
              <a:rPr lang="en-US" sz="2400" dirty="0">
                <a:latin typeface="Consolas" panose="020B0609020204030204" pitchFamily="49" charset="0"/>
              </a:rPr>
              <a:t>app = Flask(__name__)</a:t>
            </a:r>
          </a:p>
          <a:p>
            <a:pPr algn="just"/>
            <a:r>
              <a:rPr lang="en-US" sz="2400" dirty="0" err="1">
                <a:latin typeface="Consolas" panose="020B0609020204030204" pitchFamily="49" charset="0"/>
              </a:rPr>
              <a:t>app.secret_key</a:t>
            </a:r>
            <a:r>
              <a:rPr lang="en-US" sz="2400" dirty="0">
                <a:latin typeface="Consolas" panose="020B0609020204030204" pitchFamily="49" charset="0"/>
              </a:rPr>
              <a:t> = 'mysecret123'</a:t>
            </a:r>
          </a:p>
          <a:p>
            <a:pPr algn="just"/>
            <a:endParaRPr lang="en-US" sz="1000" dirty="0">
              <a:latin typeface="Consolas" panose="020B0609020204030204" pitchFamily="49" charset="0"/>
            </a:endParaRPr>
          </a:p>
          <a:p>
            <a:pPr algn="just"/>
            <a:r>
              <a:rPr lang="en-US" sz="2400" dirty="0">
                <a:latin typeface="Consolas" panose="020B0609020204030204" pitchFamily="49" charset="0"/>
              </a:rPr>
              <a:t>@app.route('/login', methods=['GET', 'POST'])</a:t>
            </a:r>
          </a:p>
          <a:p>
            <a:pPr algn="just"/>
            <a:r>
              <a:rPr lang="en-US" sz="2400" dirty="0">
                <a:latin typeface="Consolas" panose="020B0609020204030204" pitchFamily="49" charset="0"/>
              </a:rPr>
              <a:t>def login():</a:t>
            </a:r>
          </a:p>
          <a:p>
            <a:pPr algn="just"/>
            <a:r>
              <a:rPr lang="en-US" sz="2400" dirty="0">
                <a:latin typeface="Consolas" panose="020B0609020204030204" pitchFamily="49" charset="0"/>
              </a:rPr>
              <a:t>    if </a:t>
            </a:r>
            <a:r>
              <a:rPr lang="en-US" sz="2400" dirty="0" err="1">
                <a:latin typeface="Consolas" panose="020B0609020204030204" pitchFamily="49" charset="0"/>
              </a:rPr>
              <a:t>request.method</a:t>
            </a:r>
            <a:r>
              <a:rPr lang="en-US" sz="2400" dirty="0">
                <a:latin typeface="Consolas" panose="020B0609020204030204" pitchFamily="49" charset="0"/>
              </a:rPr>
              <a:t> == 'POST':</a:t>
            </a:r>
          </a:p>
          <a:p>
            <a:pPr algn="just"/>
            <a:r>
              <a:rPr lang="en-US" sz="2400" dirty="0">
                <a:latin typeface="Consolas" panose="020B0609020204030204" pitchFamily="49" charset="0"/>
              </a:rPr>
              <a:t>        username = </a:t>
            </a:r>
            <a:r>
              <a:rPr lang="en-US" sz="2400" dirty="0" err="1">
                <a:latin typeface="Consolas" panose="020B0609020204030204" pitchFamily="49" charset="0"/>
              </a:rPr>
              <a:t>request.form</a:t>
            </a:r>
            <a:r>
              <a:rPr lang="en-US" sz="2400" dirty="0">
                <a:latin typeface="Consolas" panose="020B0609020204030204" pitchFamily="49" charset="0"/>
              </a:rPr>
              <a:t>['username']</a:t>
            </a:r>
          </a:p>
          <a:p>
            <a:pPr algn="just"/>
            <a:r>
              <a:rPr lang="en-US" sz="2400" dirty="0">
                <a:latin typeface="Consolas" panose="020B0609020204030204" pitchFamily="49" charset="0"/>
              </a:rPr>
              <a:t>        password = </a:t>
            </a:r>
            <a:r>
              <a:rPr lang="en-US" sz="2400" dirty="0" err="1">
                <a:latin typeface="Consolas" panose="020B0609020204030204" pitchFamily="49" charset="0"/>
              </a:rPr>
              <a:t>request.form</a:t>
            </a:r>
            <a:r>
              <a:rPr lang="en-US" sz="2400" dirty="0">
                <a:latin typeface="Consolas" panose="020B0609020204030204" pitchFamily="49" charset="0"/>
              </a:rPr>
              <a:t>['password']</a:t>
            </a:r>
          </a:p>
          <a:p>
            <a:pPr algn="just"/>
            <a:r>
              <a:rPr lang="en-US" sz="1000" dirty="0">
                <a:latin typeface="Consolas" panose="020B0609020204030204" pitchFamily="49" charset="0"/>
              </a:rPr>
              <a:t>      </a:t>
            </a:r>
          </a:p>
          <a:p>
            <a:pPr algn="just"/>
            <a:r>
              <a:rPr lang="en-US" sz="2400" dirty="0">
                <a:latin typeface="Consolas" panose="020B0609020204030204" pitchFamily="49" charset="0"/>
              </a:rPr>
              <a:t>        if username == "admin" and password == "123":</a:t>
            </a:r>
          </a:p>
          <a:p>
            <a:pPr algn="just"/>
            <a:r>
              <a:rPr lang="en-US" sz="2400" dirty="0">
                <a:latin typeface="Consolas" panose="020B0609020204030204" pitchFamily="49" charset="0"/>
              </a:rPr>
              <a:t>            session['username'] = username</a:t>
            </a:r>
          </a:p>
          <a:p>
            <a:pPr algn="just"/>
            <a:r>
              <a:rPr lang="en-US" sz="2400" dirty="0">
                <a:latin typeface="Consolas" panose="020B0609020204030204" pitchFamily="49" charset="0"/>
              </a:rPr>
              <a:t>            session['</a:t>
            </a:r>
            <a:r>
              <a:rPr lang="en-US" sz="2400" dirty="0" err="1">
                <a:latin typeface="Consolas" panose="020B0609020204030204" pitchFamily="49" charset="0"/>
              </a:rPr>
              <a:t>logged_in</a:t>
            </a:r>
            <a:r>
              <a:rPr lang="en-US" sz="2400" dirty="0">
                <a:latin typeface="Consolas" panose="020B0609020204030204" pitchFamily="49" charset="0"/>
              </a:rPr>
              <a:t>'] = True</a:t>
            </a:r>
          </a:p>
          <a:p>
            <a:pPr algn="just"/>
            <a:r>
              <a:rPr lang="en-US" sz="2400" dirty="0">
                <a:latin typeface="Consolas" panose="020B0609020204030204" pitchFamily="49" charset="0"/>
              </a:rPr>
              <a:t>            flash('Logged in successfully!', 'success')</a:t>
            </a:r>
          </a:p>
          <a:p>
            <a:pPr algn="just"/>
            <a:r>
              <a:rPr lang="en-US" sz="2400" dirty="0">
                <a:latin typeface="Consolas" panose="020B0609020204030204" pitchFamily="49" charset="0"/>
              </a:rPr>
              <a:t>            return redirect(</a:t>
            </a:r>
            <a:r>
              <a:rPr lang="en-US" sz="2400" dirty="0" err="1">
                <a:latin typeface="Consolas" panose="020B0609020204030204" pitchFamily="49" charset="0"/>
              </a:rPr>
              <a:t>url_for</a:t>
            </a:r>
            <a:r>
              <a:rPr lang="en-US" sz="2400" dirty="0">
                <a:latin typeface="Consolas" panose="020B0609020204030204" pitchFamily="49" charset="0"/>
              </a:rPr>
              <a:t>('dashboard'))</a:t>
            </a:r>
          </a:p>
          <a:p>
            <a:pPr algn="just"/>
            <a:r>
              <a:rPr lang="en-US" sz="2400" dirty="0">
                <a:latin typeface="Consolas" panose="020B0609020204030204" pitchFamily="49" charset="0"/>
              </a:rPr>
              <a:t>        else:</a:t>
            </a:r>
          </a:p>
          <a:p>
            <a:pPr algn="just"/>
            <a:r>
              <a:rPr lang="en-US" sz="2400" dirty="0">
                <a:latin typeface="Consolas" panose="020B0609020204030204" pitchFamily="49" charset="0"/>
              </a:rPr>
              <a:t>            flash('Invalid credentials', 'danger')</a:t>
            </a:r>
          </a:p>
          <a:p>
            <a:pPr algn="just"/>
            <a:r>
              <a:rPr lang="en-US" sz="2400" dirty="0">
                <a:latin typeface="Consolas" panose="020B0609020204030204" pitchFamily="49" charset="0"/>
              </a:rPr>
              <a:t>            return redirect(</a:t>
            </a:r>
            <a:r>
              <a:rPr lang="en-US" sz="2400" dirty="0" err="1">
                <a:latin typeface="Consolas" panose="020B0609020204030204" pitchFamily="49" charset="0"/>
              </a:rPr>
              <a:t>url_for</a:t>
            </a:r>
            <a:r>
              <a:rPr lang="en-US" sz="2400" dirty="0">
                <a:latin typeface="Consolas" panose="020B0609020204030204" pitchFamily="49" charset="0"/>
              </a:rPr>
              <a:t>('login'))</a:t>
            </a:r>
          </a:p>
          <a:p>
            <a:pPr algn="just"/>
            <a:r>
              <a:rPr lang="en-US" sz="2400" dirty="0">
                <a:latin typeface="Consolas" panose="020B0609020204030204" pitchFamily="49" charset="0"/>
              </a:rPr>
              <a:t>    return </a:t>
            </a:r>
            <a:r>
              <a:rPr lang="en-US" sz="2400" dirty="0" err="1">
                <a:latin typeface="Consolas" panose="020B0609020204030204" pitchFamily="49" charset="0"/>
              </a:rPr>
              <a:t>render_template</a:t>
            </a:r>
            <a:r>
              <a:rPr lang="en-US" sz="2400" dirty="0">
                <a:latin typeface="Consolas" panose="020B0609020204030204" pitchFamily="49" charset="0"/>
              </a:rPr>
              <a:t>('login.html')</a:t>
            </a:r>
            <a:endParaRPr lang="en-US" sz="2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24768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8DAC9-6259-0EE1-C310-233DE55E2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8C80B2F-91A8-1C1E-A01B-89EC5C7FA364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8E260E8-8D2D-2FCC-5048-2C7644971768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A9C07105-4B60-553A-21DA-8B3BB77D3D0C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EFABB487-52CB-523F-30A0-C3EE9D713382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B0C91950-D165-BAA8-FFEA-5D8A9BD571E0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BC13DFC1-2709-A3FF-B6DE-D50B2FC2E167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574FB797-92A7-47FA-424D-352C7FD77E38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Sessions in Flask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3948326-5291-3FA9-F1D4-10EC4958D7D4}"/>
              </a:ext>
            </a:extLst>
          </p:cNvPr>
          <p:cNvSpPr txBox="1"/>
          <p:nvPr/>
        </p:nvSpPr>
        <p:spPr>
          <a:xfrm>
            <a:off x="177555" y="2095500"/>
            <a:ext cx="17881845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dirty="0">
                <a:latin typeface="Consolas" panose="020B0609020204030204" pitchFamily="49" charset="0"/>
              </a:rPr>
              <a:t>@app.route('/dashboard')</a:t>
            </a:r>
          </a:p>
          <a:p>
            <a:pPr algn="just"/>
            <a:r>
              <a:rPr lang="en-US" sz="2800" dirty="0">
                <a:latin typeface="Consolas" panose="020B0609020204030204" pitchFamily="49" charset="0"/>
              </a:rPr>
              <a:t>def dashboard():</a:t>
            </a:r>
          </a:p>
          <a:p>
            <a:pPr algn="just"/>
            <a:r>
              <a:rPr lang="en-US" sz="2800" dirty="0">
                <a:latin typeface="Consolas" panose="020B0609020204030204" pitchFamily="49" charset="0"/>
              </a:rPr>
              <a:t>    if '</a:t>
            </a:r>
            <a:r>
              <a:rPr lang="en-US" sz="2800" dirty="0" err="1">
                <a:latin typeface="Consolas" panose="020B0609020204030204" pitchFamily="49" charset="0"/>
              </a:rPr>
              <a:t>logged_in</a:t>
            </a:r>
            <a:r>
              <a:rPr lang="en-US" sz="2800" dirty="0">
                <a:latin typeface="Consolas" panose="020B0609020204030204" pitchFamily="49" charset="0"/>
              </a:rPr>
              <a:t>' in session:</a:t>
            </a:r>
          </a:p>
          <a:p>
            <a:pPr algn="just"/>
            <a:r>
              <a:rPr lang="en-US" sz="2800" dirty="0">
                <a:latin typeface="Consolas" panose="020B0609020204030204" pitchFamily="49" charset="0"/>
              </a:rPr>
              <a:t>        return </a:t>
            </a:r>
            <a:r>
              <a:rPr lang="en-US" sz="2800" dirty="0" err="1">
                <a:latin typeface="Consolas" panose="020B0609020204030204" pitchFamily="49" charset="0"/>
              </a:rPr>
              <a:t>f"Welcome</a:t>
            </a:r>
            <a:r>
              <a:rPr lang="en-US" sz="2800" dirty="0">
                <a:latin typeface="Consolas" panose="020B0609020204030204" pitchFamily="49" charset="0"/>
              </a:rPr>
              <a:t>, {session['username']}!"</a:t>
            </a:r>
          </a:p>
          <a:p>
            <a:pPr algn="just"/>
            <a:r>
              <a:rPr lang="en-US" sz="2800" dirty="0">
                <a:latin typeface="Consolas" panose="020B0609020204030204" pitchFamily="49" charset="0"/>
              </a:rPr>
              <a:t>    else:</a:t>
            </a:r>
          </a:p>
          <a:p>
            <a:pPr algn="just"/>
            <a:r>
              <a:rPr lang="en-US" sz="2800" dirty="0">
                <a:latin typeface="Consolas" panose="020B0609020204030204" pitchFamily="49" charset="0"/>
              </a:rPr>
              <a:t>        flash('Please log in first', 'warning')</a:t>
            </a:r>
          </a:p>
          <a:p>
            <a:pPr algn="just"/>
            <a:r>
              <a:rPr lang="en-US" sz="2800" dirty="0">
                <a:latin typeface="Consolas" panose="020B0609020204030204" pitchFamily="49" charset="0"/>
              </a:rPr>
              <a:t>        return redirect(</a:t>
            </a:r>
            <a:r>
              <a:rPr lang="en-US" sz="2800" dirty="0" err="1">
                <a:latin typeface="Consolas" panose="020B0609020204030204" pitchFamily="49" charset="0"/>
              </a:rPr>
              <a:t>url_for</a:t>
            </a:r>
            <a:r>
              <a:rPr lang="en-US" sz="2800" dirty="0">
                <a:latin typeface="Consolas" panose="020B0609020204030204" pitchFamily="49" charset="0"/>
              </a:rPr>
              <a:t>('login'))</a:t>
            </a:r>
          </a:p>
          <a:p>
            <a:pPr algn="just"/>
            <a:endParaRPr lang="en-US" sz="2800" dirty="0">
              <a:latin typeface="Consolas" panose="020B0609020204030204" pitchFamily="49" charset="0"/>
            </a:endParaRPr>
          </a:p>
          <a:p>
            <a:pPr algn="just"/>
            <a:r>
              <a:rPr lang="en-US" sz="2800" dirty="0">
                <a:latin typeface="Consolas" panose="020B0609020204030204" pitchFamily="49" charset="0"/>
              </a:rPr>
              <a:t>@app.route('/logout')</a:t>
            </a:r>
          </a:p>
          <a:p>
            <a:pPr algn="just"/>
            <a:r>
              <a:rPr lang="en-US" sz="2800" dirty="0">
                <a:latin typeface="Consolas" panose="020B0609020204030204" pitchFamily="49" charset="0"/>
              </a:rPr>
              <a:t>def logout():</a:t>
            </a:r>
          </a:p>
          <a:p>
            <a:pPr algn="just"/>
            <a:r>
              <a:rPr lang="en-US" sz="2800" dirty="0">
                <a:latin typeface="Consolas" panose="020B0609020204030204" pitchFamily="49" charset="0"/>
              </a:rPr>
              <a:t>    </a:t>
            </a:r>
            <a:r>
              <a:rPr lang="en-US" sz="2800" dirty="0" err="1">
                <a:latin typeface="Consolas" panose="020B0609020204030204" pitchFamily="49" charset="0"/>
              </a:rPr>
              <a:t>session.clear</a:t>
            </a:r>
            <a:r>
              <a:rPr lang="en-US" sz="2800" dirty="0">
                <a:latin typeface="Consolas" panose="020B0609020204030204" pitchFamily="49" charset="0"/>
              </a:rPr>
              <a:t>()</a:t>
            </a:r>
          </a:p>
          <a:p>
            <a:pPr algn="just"/>
            <a:r>
              <a:rPr lang="en-US" sz="2800" dirty="0">
                <a:latin typeface="Consolas" panose="020B0609020204030204" pitchFamily="49" charset="0"/>
              </a:rPr>
              <a:t>    flash('You have been logged out', 'info')</a:t>
            </a:r>
          </a:p>
          <a:p>
            <a:pPr algn="just"/>
            <a:r>
              <a:rPr lang="en-US" sz="2800" dirty="0">
                <a:latin typeface="Consolas" panose="020B0609020204030204" pitchFamily="49" charset="0"/>
              </a:rPr>
              <a:t>    return redirect(</a:t>
            </a:r>
            <a:r>
              <a:rPr lang="en-US" sz="2800" dirty="0" err="1">
                <a:latin typeface="Consolas" panose="020B0609020204030204" pitchFamily="49" charset="0"/>
              </a:rPr>
              <a:t>url_for</a:t>
            </a:r>
            <a:r>
              <a:rPr lang="en-US" sz="2800" dirty="0">
                <a:latin typeface="Consolas" panose="020B0609020204030204" pitchFamily="49" charset="0"/>
              </a:rPr>
              <a:t>('login'))</a:t>
            </a:r>
            <a:endParaRPr lang="en-US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751134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94EF1-8114-8034-B37C-B4E6DF527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481E3F2-4213-1A20-5784-8916FC8A8727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C7EFFB8-9E5E-C7BA-6E6F-D46814F6E905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E7F7A75-56B6-5F70-B112-1F6F670665E9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A229134B-ECA0-E416-44BD-888CE811528B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887DA9E6-6A5E-1CF5-4D19-3D82A6703D7C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CCCB1951-6E1E-08DC-D8B0-9032AC819FEF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7274EADF-6CBC-6A8D-352B-0C9CDF264D64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Sessions in Flask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024204A-DFCE-E3F3-1E72-80C11B7728EF}"/>
              </a:ext>
            </a:extLst>
          </p:cNvPr>
          <p:cNvSpPr txBox="1"/>
          <p:nvPr/>
        </p:nvSpPr>
        <p:spPr>
          <a:xfrm>
            <a:off x="177555" y="2095500"/>
            <a:ext cx="17881845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dirty="0">
                <a:latin typeface="Consolas" panose="020B0609020204030204" pitchFamily="49" charset="0"/>
              </a:rPr>
              <a:t>&lt;!DOCTYPE html&gt;</a:t>
            </a:r>
          </a:p>
          <a:p>
            <a:pPr algn="just"/>
            <a:r>
              <a:rPr lang="en-US" sz="2800" dirty="0">
                <a:latin typeface="Consolas" panose="020B0609020204030204" pitchFamily="49" charset="0"/>
              </a:rPr>
              <a:t>&lt;html lang="</a:t>
            </a:r>
            <a:r>
              <a:rPr lang="en-US" sz="2800" dirty="0" err="1">
                <a:latin typeface="Consolas" panose="020B0609020204030204" pitchFamily="49" charset="0"/>
              </a:rPr>
              <a:t>en</a:t>
            </a:r>
            <a:r>
              <a:rPr lang="en-US" sz="2800" dirty="0">
                <a:latin typeface="Consolas" panose="020B0609020204030204" pitchFamily="49" charset="0"/>
              </a:rPr>
              <a:t>"&gt;</a:t>
            </a:r>
          </a:p>
          <a:p>
            <a:pPr algn="just"/>
            <a:r>
              <a:rPr lang="en-US" sz="2800" dirty="0">
                <a:latin typeface="Consolas" panose="020B0609020204030204" pitchFamily="49" charset="0"/>
              </a:rPr>
              <a:t>&lt;head&gt;</a:t>
            </a:r>
          </a:p>
          <a:p>
            <a:pPr algn="just"/>
            <a:r>
              <a:rPr lang="en-US" sz="2800" dirty="0">
                <a:latin typeface="Consolas" panose="020B0609020204030204" pitchFamily="49" charset="0"/>
              </a:rPr>
              <a:t>    &lt;meta charset="UTF-8"&gt;</a:t>
            </a:r>
          </a:p>
          <a:p>
            <a:pPr algn="just"/>
            <a:r>
              <a:rPr lang="en-US" sz="2800" dirty="0">
                <a:latin typeface="Consolas" panose="020B0609020204030204" pitchFamily="49" charset="0"/>
              </a:rPr>
              <a:t>    &lt;title&gt;Login&lt;/title&gt;</a:t>
            </a:r>
          </a:p>
          <a:p>
            <a:pPr algn="just"/>
            <a:r>
              <a:rPr lang="en-US" sz="2800" dirty="0">
                <a:latin typeface="Consolas" panose="020B0609020204030204" pitchFamily="49" charset="0"/>
              </a:rPr>
              <a:t>    &lt;link </a:t>
            </a:r>
            <a:r>
              <a:rPr lang="en-US" sz="2800" dirty="0" err="1">
                <a:latin typeface="Consolas" panose="020B0609020204030204" pitchFamily="49" charset="0"/>
              </a:rPr>
              <a:t>href</a:t>
            </a:r>
            <a:r>
              <a:rPr lang="en-US" sz="2800" dirty="0">
                <a:latin typeface="Consolas" panose="020B0609020204030204" pitchFamily="49" charset="0"/>
              </a:rPr>
              <a:t>="https://cdn.jsdelivr.net/</a:t>
            </a:r>
            <a:r>
              <a:rPr lang="en-US" sz="2800" dirty="0" err="1">
                <a:latin typeface="Consolas" panose="020B0609020204030204" pitchFamily="49" charset="0"/>
              </a:rPr>
              <a:t>npm</a:t>
            </a:r>
            <a:r>
              <a:rPr lang="en-US" sz="2800" dirty="0">
                <a:latin typeface="Consolas" panose="020B0609020204030204" pitchFamily="49" charset="0"/>
              </a:rPr>
              <a:t>/bootstrap@5.3.0/</a:t>
            </a:r>
            <a:r>
              <a:rPr lang="en-US" sz="2800" dirty="0" err="1">
                <a:latin typeface="Consolas" panose="020B0609020204030204" pitchFamily="49" charset="0"/>
              </a:rPr>
              <a:t>dist</a:t>
            </a:r>
            <a:r>
              <a:rPr lang="en-US" sz="2800" dirty="0">
                <a:latin typeface="Consolas" panose="020B0609020204030204" pitchFamily="49" charset="0"/>
              </a:rPr>
              <a:t>/</a:t>
            </a:r>
            <a:r>
              <a:rPr lang="en-US" sz="2800" dirty="0" err="1">
                <a:latin typeface="Consolas" panose="020B0609020204030204" pitchFamily="49" charset="0"/>
              </a:rPr>
              <a:t>css</a:t>
            </a:r>
            <a:r>
              <a:rPr lang="en-US" sz="2800" dirty="0">
                <a:latin typeface="Consolas" panose="020B0609020204030204" pitchFamily="49" charset="0"/>
              </a:rPr>
              <a:t>/bootstrap.min.css" </a:t>
            </a:r>
            <a:r>
              <a:rPr lang="en-US" sz="2800" dirty="0" err="1">
                <a:latin typeface="Consolas" panose="020B0609020204030204" pitchFamily="49" charset="0"/>
              </a:rPr>
              <a:t>rel</a:t>
            </a:r>
            <a:r>
              <a:rPr lang="en-US" sz="2800" dirty="0">
                <a:latin typeface="Consolas" panose="020B0609020204030204" pitchFamily="49" charset="0"/>
              </a:rPr>
              <a:t>="stylesheet"&gt;</a:t>
            </a:r>
          </a:p>
          <a:p>
            <a:pPr algn="just"/>
            <a:r>
              <a:rPr lang="en-US" sz="2800" dirty="0">
                <a:latin typeface="Consolas" panose="020B0609020204030204" pitchFamily="49" charset="0"/>
              </a:rPr>
              <a:t>&lt;/head&gt;</a:t>
            </a:r>
          </a:p>
          <a:p>
            <a:pPr algn="just"/>
            <a:r>
              <a:rPr lang="en-US" sz="2800" dirty="0">
                <a:latin typeface="Consolas" panose="020B0609020204030204" pitchFamily="49" charset="0"/>
              </a:rPr>
              <a:t>&lt;body&gt;</a:t>
            </a:r>
          </a:p>
          <a:p>
            <a:pPr algn="just"/>
            <a:r>
              <a:rPr lang="en-US" sz="2800" dirty="0">
                <a:latin typeface="Consolas" panose="020B0609020204030204" pitchFamily="49" charset="0"/>
              </a:rPr>
              <a:t>&lt;div class="container mt-5" style="max-width: 500px;"&gt;</a:t>
            </a:r>
          </a:p>
          <a:p>
            <a:pPr algn="just"/>
            <a:r>
              <a:rPr lang="en-US" sz="2800" dirty="0">
                <a:latin typeface="Consolas" panose="020B0609020204030204" pitchFamily="49" charset="0"/>
              </a:rPr>
              <a:t>    &lt;h2 class="mb-4 text-center"&gt;Login&lt;/h2&gt;</a:t>
            </a:r>
            <a:endParaRPr lang="en-US" sz="1600" dirty="0">
              <a:latin typeface="Consolas" panose="020B0609020204030204" pitchFamily="49" charset="0"/>
            </a:endParaRPr>
          </a:p>
          <a:p>
            <a:pPr algn="just"/>
            <a:endParaRPr lang="en-US" sz="28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924570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CE2C3-4DA6-8376-E046-0A4E04B74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25420E9-75B2-A9B7-2F53-1D7D9E251AAD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473A2C9-DA70-1AEF-B6EF-BE9707027E67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B2D4D55A-94F2-F4DF-DF4F-C86778A1C8BD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4775AAD1-9FCF-049E-0889-8CB43520F6FD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5FC6F05D-3477-AE22-0FEA-4F2B8A5A8023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2ED4D61A-B13E-D394-4C20-771C35840DDA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FB2F81DC-28DD-759D-1A9C-5C2E2C8B06BB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Sessions in Flask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CFF8E4C-A5B1-008B-8327-BD2D76104492}"/>
              </a:ext>
            </a:extLst>
          </p:cNvPr>
          <p:cNvSpPr txBox="1"/>
          <p:nvPr/>
        </p:nvSpPr>
        <p:spPr>
          <a:xfrm>
            <a:off x="177555" y="2095500"/>
            <a:ext cx="17881845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dirty="0">
                <a:latin typeface="Consolas" panose="020B0609020204030204" pitchFamily="49" charset="0"/>
              </a:rPr>
              <a:t>{% with messages = </a:t>
            </a:r>
            <a:r>
              <a:rPr lang="en-US" sz="2800" dirty="0" err="1">
                <a:latin typeface="Consolas" panose="020B0609020204030204" pitchFamily="49" charset="0"/>
              </a:rPr>
              <a:t>get_flashed_messages</a:t>
            </a:r>
            <a:r>
              <a:rPr lang="en-US" sz="2800" dirty="0">
                <a:latin typeface="Consolas" panose="020B0609020204030204" pitchFamily="49" charset="0"/>
              </a:rPr>
              <a:t>(</a:t>
            </a:r>
            <a:r>
              <a:rPr lang="en-US" sz="2800" dirty="0" err="1">
                <a:latin typeface="Consolas" panose="020B0609020204030204" pitchFamily="49" charset="0"/>
              </a:rPr>
              <a:t>with_categories</a:t>
            </a:r>
            <a:r>
              <a:rPr lang="en-US" sz="2800" dirty="0">
                <a:latin typeface="Consolas" panose="020B0609020204030204" pitchFamily="49" charset="0"/>
              </a:rPr>
              <a:t>=true) %}</a:t>
            </a:r>
          </a:p>
          <a:p>
            <a:pPr algn="just"/>
            <a:r>
              <a:rPr lang="en-US" sz="2800" dirty="0">
                <a:latin typeface="Consolas" panose="020B0609020204030204" pitchFamily="49" charset="0"/>
              </a:rPr>
              <a:t>	{% if messages %}</a:t>
            </a:r>
          </a:p>
          <a:p>
            <a:pPr algn="just"/>
            <a:r>
              <a:rPr lang="en-US" sz="2800" dirty="0">
                <a:latin typeface="Consolas" panose="020B0609020204030204" pitchFamily="49" charset="0"/>
              </a:rPr>
              <a:t>		{% for category, message in messages %}</a:t>
            </a:r>
          </a:p>
          <a:p>
            <a:pPr lvl="1" algn="just"/>
            <a:r>
              <a:rPr lang="en-US" sz="2800" dirty="0">
                <a:latin typeface="Consolas" panose="020B0609020204030204" pitchFamily="49" charset="0"/>
              </a:rPr>
              <a:t>			</a:t>
            </a:r>
            <a:r>
              <a:rPr lang="en-US" sz="2600" dirty="0">
                <a:latin typeface="Consolas" panose="020B0609020204030204" pitchFamily="49" charset="0"/>
              </a:rPr>
              <a:t>&lt;div class="alert alert-{{ category }} alert-dismissible fade show" role="alert"&gt;</a:t>
            </a:r>
          </a:p>
          <a:p>
            <a:pPr algn="just"/>
            <a:r>
              <a:rPr lang="en-US" sz="2800" dirty="0">
                <a:latin typeface="Consolas" panose="020B0609020204030204" pitchFamily="49" charset="0"/>
              </a:rPr>
              <a:t>			{{ message }}</a:t>
            </a:r>
          </a:p>
          <a:p>
            <a:pPr algn="just"/>
            <a:r>
              <a:rPr lang="en-US" sz="2800" dirty="0">
                <a:latin typeface="Consolas" panose="020B0609020204030204" pitchFamily="49" charset="0"/>
              </a:rPr>
              <a:t>			</a:t>
            </a:r>
            <a:r>
              <a:rPr lang="en-US" sz="2600" dirty="0">
                <a:latin typeface="Consolas" panose="020B0609020204030204" pitchFamily="49" charset="0"/>
              </a:rPr>
              <a:t>&lt;button type="button" class="</a:t>
            </a:r>
            <a:r>
              <a:rPr lang="en-US" sz="2600" dirty="0" err="1">
                <a:latin typeface="Consolas" panose="020B0609020204030204" pitchFamily="49" charset="0"/>
              </a:rPr>
              <a:t>btn</a:t>
            </a:r>
            <a:r>
              <a:rPr lang="en-US" sz="2600" dirty="0">
                <a:latin typeface="Consolas" panose="020B0609020204030204" pitchFamily="49" charset="0"/>
              </a:rPr>
              <a:t>-close" data-bs-dismiss="alert" aria-label="Close"&gt;&lt;/button&gt;</a:t>
            </a:r>
          </a:p>
          <a:p>
            <a:pPr algn="just"/>
            <a:r>
              <a:rPr lang="en-US" sz="2800" dirty="0">
                <a:latin typeface="Consolas" panose="020B0609020204030204" pitchFamily="49" charset="0"/>
              </a:rPr>
              <a:t>			&lt;/div&gt;</a:t>
            </a:r>
          </a:p>
          <a:p>
            <a:pPr algn="just"/>
            <a:r>
              <a:rPr lang="en-US" sz="2800" dirty="0">
                <a:latin typeface="Consolas" panose="020B0609020204030204" pitchFamily="49" charset="0"/>
              </a:rPr>
              <a:t>		{% </a:t>
            </a:r>
            <a:r>
              <a:rPr lang="en-US" sz="2800" dirty="0" err="1">
                <a:latin typeface="Consolas" panose="020B0609020204030204" pitchFamily="49" charset="0"/>
              </a:rPr>
              <a:t>endfor</a:t>
            </a:r>
            <a:r>
              <a:rPr lang="en-US" sz="2800" dirty="0">
                <a:latin typeface="Consolas" panose="020B0609020204030204" pitchFamily="49" charset="0"/>
              </a:rPr>
              <a:t> %}</a:t>
            </a:r>
          </a:p>
          <a:p>
            <a:pPr algn="just"/>
            <a:r>
              <a:rPr lang="en-US" sz="2800" dirty="0">
                <a:latin typeface="Consolas" panose="020B0609020204030204" pitchFamily="49" charset="0"/>
              </a:rPr>
              <a:t>	{% endif %}</a:t>
            </a:r>
          </a:p>
          <a:p>
            <a:pPr algn="just"/>
            <a:r>
              <a:rPr lang="en-US" sz="2800" dirty="0">
                <a:latin typeface="Consolas" panose="020B0609020204030204" pitchFamily="49" charset="0"/>
              </a:rPr>
              <a:t>{% </a:t>
            </a:r>
            <a:r>
              <a:rPr lang="en-US" sz="2800" dirty="0" err="1">
                <a:latin typeface="Consolas" panose="020B0609020204030204" pitchFamily="49" charset="0"/>
              </a:rPr>
              <a:t>endwith</a:t>
            </a:r>
            <a:r>
              <a:rPr lang="en-US" sz="2800" dirty="0">
                <a:latin typeface="Consolas" panose="020B0609020204030204" pitchFamily="49" charset="0"/>
              </a:rPr>
              <a:t> %}</a:t>
            </a:r>
          </a:p>
        </p:txBody>
      </p:sp>
    </p:spTree>
    <p:extLst>
      <p:ext uri="{BB962C8B-B14F-4D97-AF65-F5344CB8AC3E}">
        <p14:creationId xmlns:p14="http://schemas.microsoft.com/office/powerpoint/2010/main" val="234704576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6F592-7B4F-2F33-2885-26018C328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D338D06-5D68-9981-238E-F7BED0724C76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1E1BFC6-7477-60F8-2E3F-21D313F22E20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CDA4CAC-6DE1-B720-9EEB-1CC1B1616256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00EAC468-7753-A76E-5640-007260E62891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BE71CEC0-E6EF-9567-21ED-A58B23C61E9F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1D008FB0-6E89-D2A8-90AA-E5C6313ACF25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F9A47A03-A767-8669-D63F-16AA134E0FE8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Sessions in Flask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968E6DC-FC8E-A0ED-CFD1-6397EACCB2EB}"/>
              </a:ext>
            </a:extLst>
          </p:cNvPr>
          <p:cNvSpPr txBox="1"/>
          <p:nvPr/>
        </p:nvSpPr>
        <p:spPr>
          <a:xfrm>
            <a:off x="177555" y="2095500"/>
            <a:ext cx="17881845" cy="7417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dirty="0">
                <a:latin typeface="Consolas" panose="020B0609020204030204" pitchFamily="49" charset="0"/>
              </a:rPr>
              <a:t>&lt;form method="POST" action="{{ </a:t>
            </a:r>
            <a:r>
              <a:rPr lang="en-US" sz="2800" dirty="0" err="1">
                <a:latin typeface="Consolas" panose="020B0609020204030204" pitchFamily="49" charset="0"/>
              </a:rPr>
              <a:t>url_for</a:t>
            </a:r>
            <a:r>
              <a:rPr lang="en-US" sz="2800" dirty="0">
                <a:latin typeface="Consolas" panose="020B0609020204030204" pitchFamily="49" charset="0"/>
              </a:rPr>
              <a:t>('login') }}"&gt;</a:t>
            </a:r>
          </a:p>
          <a:p>
            <a:pPr algn="just"/>
            <a:r>
              <a:rPr lang="en-US" sz="2800" dirty="0">
                <a:latin typeface="Consolas" panose="020B0609020204030204" pitchFamily="49" charset="0"/>
              </a:rPr>
              <a:t>	&lt;div class="mb-3"&gt;</a:t>
            </a:r>
          </a:p>
          <a:p>
            <a:pPr algn="just"/>
            <a:r>
              <a:rPr lang="en-US" sz="2800" dirty="0">
                <a:latin typeface="Consolas" panose="020B0609020204030204" pitchFamily="49" charset="0"/>
              </a:rPr>
              <a:t>		&lt;label for="username" class="form-label"&gt;Username&lt;/label&gt;</a:t>
            </a:r>
          </a:p>
          <a:p>
            <a:pPr algn="just"/>
            <a:r>
              <a:rPr lang="en-US" sz="2800" dirty="0">
                <a:latin typeface="Consolas" panose="020B0609020204030204" pitchFamily="49" charset="0"/>
              </a:rPr>
              <a:t>		&lt;input type="text" class="form-control" id="username" name="username"&gt;</a:t>
            </a:r>
          </a:p>
          <a:p>
            <a:pPr lvl="1" algn="just"/>
            <a:r>
              <a:rPr lang="en-US" sz="2800" dirty="0">
                <a:latin typeface="Consolas" panose="020B0609020204030204" pitchFamily="49" charset="0"/>
              </a:rPr>
              <a:t>	&lt;/div&gt;</a:t>
            </a:r>
          </a:p>
          <a:p>
            <a:pPr lvl="1" algn="just"/>
            <a:r>
              <a:rPr lang="en-US" sz="2800" dirty="0">
                <a:latin typeface="Consolas" panose="020B0609020204030204" pitchFamily="49" charset="0"/>
              </a:rPr>
              <a:t>	&lt;div class="mb-3"&gt;</a:t>
            </a:r>
          </a:p>
          <a:p>
            <a:pPr algn="just"/>
            <a:r>
              <a:rPr lang="en-US" sz="2800" dirty="0">
                <a:latin typeface="Consolas" panose="020B0609020204030204" pitchFamily="49" charset="0"/>
              </a:rPr>
              <a:t>		&lt;label for="password" class="form-label"&gt;Password&lt;/label&gt;</a:t>
            </a:r>
          </a:p>
          <a:p>
            <a:pPr lvl="1" algn="just"/>
            <a:r>
              <a:rPr lang="en-US" sz="2800" dirty="0">
                <a:latin typeface="Consolas" panose="020B0609020204030204" pitchFamily="49" charset="0"/>
              </a:rPr>
              <a:t>		&lt;input type="password" class="form-control" id="password" name="password"&gt;</a:t>
            </a:r>
          </a:p>
          <a:p>
            <a:pPr algn="just"/>
            <a:r>
              <a:rPr lang="en-US" sz="2800" dirty="0">
                <a:latin typeface="Consolas" panose="020B0609020204030204" pitchFamily="49" charset="0"/>
              </a:rPr>
              <a:t>	&lt;/div&gt;</a:t>
            </a:r>
          </a:p>
          <a:p>
            <a:pPr lvl="1" algn="just"/>
            <a:r>
              <a:rPr lang="en-US" sz="2800" dirty="0">
                <a:latin typeface="Consolas" panose="020B0609020204030204" pitchFamily="49" charset="0"/>
              </a:rPr>
              <a:t>	&lt;button type="submit" class="</a:t>
            </a:r>
            <a:r>
              <a:rPr lang="en-US" sz="2800" dirty="0" err="1">
                <a:latin typeface="Consolas" panose="020B0609020204030204" pitchFamily="49" charset="0"/>
              </a:rPr>
              <a:t>btn</a:t>
            </a:r>
            <a:r>
              <a:rPr lang="en-US" sz="2800" dirty="0">
                <a:latin typeface="Consolas" panose="020B0609020204030204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</a:rPr>
              <a:t>btn</a:t>
            </a:r>
            <a:r>
              <a:rPr lang="en-US" sz="2800" dirty="0">
                <a:latin typeface="Consolas" panose="020B0609020204030204" pitchFamily="49" charset="0"/>
              </a:rPr>
              <a:t>-primary w-100"&gt;Login&lt;/button&gt;</a:t>
            </a:r>
          </a:p>
          <a:p>
            <a:pPr algn="just"/>
            <a:r>
              <a:rPr lang="en-US" sz="2800" dirty="0">
                <a:latin typeface="Consolas" panose="020B0609020204030204" pitchFamily="49" charset="0"/>
              </a:rPr>
              <a:t>&lt;/form&gt;</a:t>
            </a:r>
          </a:p>
          <a:p>
            <a:pPr algn="just"/>
            <a:r>
              <a:rPr lang="en-US" sz="2800" dirty="0">
                <a:latin typeface="Consolas" panose="020B0609020204030204" pitchFamily="49" charset="0"/>
              </a:rPr>
              <a:t>&lt;/div&gt;</a:t>
            </a:r>
          </a:p>
          <a:p>
            <a:pPr algn="just"/>
            <a:r>
              <a:rPr lang="en-US" sz="2800" dirty="0">
                <a:latin typeface="Consolas" panose="020B0609020204030204" pitchFamily="49" charset="0"/>
              </a:rPr>
              <a:t>&lt;script </a:t>
            </a:r>
            <a:r>
              <a:rPr lang="en-US" sz="2800" dirty="0" err="1">
                <a:latin typeface="Consolas" panose="020B0609020204030204" pitchFamily="49" charset="0"/>
              </a:rPr>
              <a:t>src</a:t>
            </a:r>
            <a:r>
              <a:rPr lang="en-US" sz="2800" dirty="0">
                <a:latin typeface="Consolas" panose="020B0609020204030204" pitchFamily="49" charset="0"/>
              </a:rPr>
              <a:t>="https://cdn.jsdelivr.net/</a:t>
            </a:r>
            <a:r>
              <a:rPr lang="en-US" sz="2800" dirty="0" err="1">
                <a:latin typeface="Consolas" panose="020B0609020204030204" pitchFamily="49" charset="0"/>
              </a:rPr>
              <a:t>npm</a:t>
            </a:r>
            <a:r>
              <a:rPr lang="en-US" sz="2800" dirty="0">
                <a:latin typeface="Consolas" panose="020B0609020204030204" pitchFamily="49" charset="0"/>
              </a:rPr>
              <a:t>/bootstrap@5.3.0/</a:t>
            </a:r>
            <a:r>
              <a:rPr lang="en-US" sz="2800" dirty="0" err="1">
                <a:latin typeface="Consolas" panose="020B0609020204030204" pitchFamily="49" charset="0"/>
              </a:rPr>
              <a:t>dist</a:t>
            </a:r>
            <a:r>
              <a:rPr lang="en-US" sz="2800" dirty="0">
                <a:latin typeface="Consolas" panose="020B0609020204030204" pitchFamily="49" charset="0"/>
              </a:rPr>
              <a:t>/</a:t>
            </a:r>
            <a:r>
              <a:rPr lang="en-US" sz="2800" dirty="0" err="1">
                <a:latin typeface="Consolas" panose="020B0609020204030204" pitchFamily="49" charset="0"/>
              </a:rPr>
              <a:t>js</a:t>
            </a:r>
            <a:r>
              <a:rPr lang="en-US" sz="2800" dirty="0">
                <a:latin typeface="Consolas" panose="020B0609020204030204" pitchFamily="49" charset="0"/>
              </a:rPr>
              <a:t>/bootstrap.bundle.min.js"&gt;</a:t>
            </a:r>
          </a:p>
          <a:p>
            <a:pPr algn="just"/>
            <a:r>
              <a:rPr lang="en-US" sz="2800" dirty="0">
                <a:latin typeface="Consolas" panose="020B0609020204030204" pitchFamily="49" charset="0"/>
              </a:rPr>
              <a:t>&lt;/script&gt;</a:t>
            </a:r>
          </a:p>
          <a:p>
            <a:pPr algn="just"/>
            <a:r>
              <a:rPr lang="en-US" sz="2800" dirty="0">
                <a:latin typeface="Consolas" panose="020B0609020204030204" pitchFamily="49" charset="0"/>
              </a:rPr>
              <a:t>&lt;/body&gt;</a:t>
            </a:r>
          </a:p>
          <a:p>
            <a:pPr algn="just"/>
            <a:r>
              <a:rPr lang="en-US" sz="2800" dirty="0">
                <a:latin typeface="Consolas" panose="020B0609020204030204" pitchFamily="49" charset="0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3650969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6AE21-CCF5-A5C1-62DE-BFBB9614C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34C0B0D-E379-8B07-302B-EE8DF764E805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696EC02-2797-5444-3216-8556F0B0BF62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AD2D049B-61A5-B9DA-B927-4D0E4182D465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53BF457-8D1C-D778-7A49-F02D799A387E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EA47C5F6-3BEC-F143-6A8B-628D9FF90F7D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52D5518C-7580-593C-25D6-DF0E851ABD3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5E4872F7-17C0-8A25-EE4A-30C840D19B92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CRUD Operation Example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3CE8EAB-E963-36F4-F08F-2405861E0D4D}"/>
              </a:ext>
            </a:extLst>
          </p:cNvPr>
          <p:cNvSpPr txBox="1"/>
          <p:nvPr/>
        </p:nvSpPr>
        <p:spPr>
          <a:xfrm>
            <a:off x="177555" y="2095500"/>
            <a:ext cx="17881845" cy="7786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b="1" dirty="0">
                <a:latin typeface="Consolas" panose="020B0609020204030204" pitchFamily="49" charset="0"/>
              </a:rPr>
              <a:t>1. Database Set-up</a:t>
            </a:r>
          </a:p>
          <a:p>
            <a:pPr marL="1028700" lvl="1" indent="-571500" algn="just">
              <a:buFont typeface="Wingdings" panose="05000000000000000000" pitchFamily="2" charset="2"/>
              <a:buChar char="ü"/>
            </a:pPr>
            <a:r>
              <a:rPr lang="en-US" sz="3600" dirty="0">
                <a:latin typeface="Consolas" panose="020B0609020204030204" pitchFamily="49" charset="0"/>
              </a:rPr>
              <a:t>Create </a:t>
            </a:r>
            <a:r>
              <a:rPr lang="en-US" sz="3600" dirty="0" err="1">
                <a:latin typeface="Consolas" panose="020B0609020204030204" pitchFamily="49" charset="0"/>
              </a:rPr>
              <a:t>flask_db</a:t>
            </a:r>
            <a:r>
              <a:rPr lang="en-US" sz="3600" dirty="0">
                <a:latin typeface="Consolas" panose="020B0609020204030204" pitchFamily="49" charset="0"/>
              </a:rPr>
              <a:t> database</a:t>
            </a:r>
          </a:p>
          <a:p>
            <a:pPr marL="1028700" lvl="1" indent="-571500" algn="just">
              <a:buFont typeface="Wingdings" panose="05000000000000000000" pitchFamily="2" charset="2"/>
              <a:buChar char="ü"/>
            </a:pPr>
            <a:r>
              <a:rPr lang="en-US" sz="3600" dirty="0">
                <a:latin typeface="Consolas" panose="020B0609020204030204" pitchFamily="49" charset="0"/>
              </a:rPr>
              <a:t>Create users table (id, </a:t>
            </a:r>
            <a:r>
              <a:rPr lang="en-US" sz="3600" dirty="0" err="1">
                <a:latin typeface="Consolas" panose="020B0609020204030204" pitchFamily="49" charset="0"/>
              </a:rPr>
              <a:t>fullname</a:t>
            </a:r>
            <a:r>
              <a:rPr lang="en-US" sz="3600" dirty="0">
                <a:latin typeface="Consolas" panose="020B0609020204030204" pitchFamily="49" charset="0"/>
              </a:rPr>
              <a:t>, email, </a:t>
            </a:r>
            <a:r>
              <a:rPr lang="en-US" sz="3600" dirty="0" err="1">
                <a:latin typeface="Consolas" panose="020B0609020204030204" pitchFamily="49" charset="0"/>
              </a:rPr>
              <a:t>usr_pwd</a:t>
            </a:r>
            <a:r>
              <a:rPr lang="en-US" sz="3600" dirty="0">
                <a:latin typeface="Consolas" panose="020B0609020204030204" pitchFamily="49" charset="0"/>
              </a:rPr>
              <a:t>)</a:t>
            </a:r>
          </a:p>
          <a:p>
            <a:pPr marL="0" lvl="1" algn="just"/>
            <a:endParaRPr lang="en-US" sz="3600" dirty="0">
              <a:latin typeface="Consolas" panose="020B0609020204030204" pitchFamily="49" charset="0"/>
            </a:endParaRPr>
          </a:p>
          <a:p>
            <a:pPr marL="0" lvl="1" algn="just"/>
            <a:r>
              <a:rPr lang="en-US" sz="3600" b="1" dirty="0">
                <a:latin typeface="Consolas" panose="020B0609020204030204" pitchFamily="49" charset="0"/>
              </a:rPr>
              <a:t>2. Project Structure</a:t>
            </a:r>
          </a:p>
          <a:p>
            <a:pPr marL="0" lvl="1" algn="just"/>
            <a:r>
              <a:rPr lang="en-US" sz="3200" dirty="0" err="1">
                <a:latin typeface="Consolas" panose="020B0609020204030204" pitchFamily="49" charset="0"/>
              </a:rPr>
              <a:t>flask_app</a:t>
            </a:r>
            <a:r>
              <a:rPr lang="en-US" sz="3200" dirty="0">
                <a:latin typeface="Consolas" panose="020B0609020204030204" pitchFamily="49" charset="0"/>
              </a:rPr>
              <a:t>/</a:t>
            </a:r>
          </a:p>
          <a:p>
            <a:pPr marL="0" lvl="1" algn="just"/>
            <a:r>
              <a:rPr lang="en-US" sz="3200" dirty="0">
                <a:latin typeface="Consolas" panose="020B0609020204030204" pitchFamily="49" charset="0"/>
              </a:rPr>
              <a:t>	app.py</a:t>
            </a:r>
          </a:p>
          <a:p>
            <a:pPr marL="0" lvl="1" algn="just"/>
            <a:r>
              <a:rPr lang="en-US" sz="3200" dirty="0">
                <a:latin typeface="Consolas" panose="020B0609020204030204" pitchFamily="49" charset="0"/>
              </a:rPr>
              <a:t>	forms.py</a:t>
            </a:r>
          </a:p>
          <a:p>
            <a:pPr marL="0" lvl="1" algn="just"/>
            <a:r>
              <a:rPr lang="en-US" sz="3200" dirty="0">
                <a:latin typeface="Consolas" panose="020B0609020204030204" pitchFamily="49" charset="0"/>
              </a:rPr>
              <a:t>	templates/</a:t>
            </a:r>
          </a:p>
          <a:p>
            <a:pPr marL="0" lvl="1" algn="just"/>
            <a:r>
              <a:rPr lang="en-US" sz="3200" dirty="0">
                <a:latin typeface="Consolas" panose="020B0609020204030204" pitchFamily="49" charset="0"/>
              </a:rPr>
              <a:t>		base.html</a:t>
            </a:r>
          </a:p>
          <a:p>
            <a:pPr marL="0" lvl="1" algn="just"/>
            <a:r>
              <a:rPr lang="en-US" sz="3200" dirty="0">
                <a:latin typeface="Consolas" panose="020B0609020204030204" pitchFamily="49" charset="0"/>
              </a:rPr>
              <a:t>		add_user.html</a:t>
            </a:r>
          </a:p>
          <a:p>
            <a:pPr marL="0" lvl="1" algn="just"/>
            <a:r>
              <a:rPr lang="en-US" sz="3200" dirty="0">
                <a:latin typeface="Consolas" panose="020B0609020204030204" pitchFamily="49" charset="0"/>
              </a:rPr>
              <a:t>		list_users.html</a:t>
            </a:r>
          </a:p>
          <a:p>
            <a:pPr marL="0" lvl="1" algn="just"/>
            <a:r>
              <a:rPr lang="en-US" sz="3200" dirty="0">
                <a:latin typeface="Consolas" panose="020B0609020204030204" pitchFamily="49" charset="0"/>
              </a:rPr>
              <a:t>		update_user.html</a:t>
            </a:r>
          </a:p>
          <a:p>
            <a:pPr marL="0" lvl="1" algn="just"/>
            <a:r>
              <a:rPr lang="en-US" sz="3200" dirty="0">
                <a:latin typeface="Consolas" panose="020B0609020204030204" pitchFamily="49" charset="0"/>
              </a:rPr>
              <a:t>	static/</a:t>
            </a:r>
          </a:p>
          <a:p>
            <a:pPr marL="0" lvl="1" algn="just"/>
            <a:r>
              <a:rPr lang="en-US" sz="3200" dirty="0">
                <a:latin typeface="Consolas" panose="020B0609020204030204" pitchFamily="49" charset="0"/>
              </a:rPr>
              <a:t>		style.css (optional)</a:t>
            </a:r>
          </a:p>
        </p:txBody>
      </p:sp>
    </p:spTree>
    <p:extLst>
      <p:ext uri="{BB962C8B-B14F-4D97-AF65-F5344CB8AC3E}">
        <p14:creationId xmlns:p14="http://schemas.microsoft.com/office/powerpoint/2010/main" val="197447821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46268-6D22-F42A-BEA2-3DE83C77C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52E65E0-BC0F-A561-03AE-935BC5F1D18F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3C7C410-3185-3107-1C67-7CBAE72AB2DF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FCA98477-7877-955A-2920-5CCE962D2728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9F62CA10-327C-ED61-1E93-5FDAFEE38170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CF27F7E3-B88D-6365-A157-D42FAF8C3247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27F083C2-FAAF-B0CA-939A-17232BDA3BF4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7B5007DF-FE7B-8AEE-12A0-5D9724496246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CRUD Operation Example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5FFF0D3-81D9-6CD2-A45F-5AA6A306BCE0}"/>
              </a:ext>
            </a:extLst>
          </p:cNvPr>
          <p:cNvSpPr txBox="1"/>
          <p:nvPr/>
        </p:nvSpPr>
        <p:spPr>
          <a:xfrm>
            <a:off x="177555" y="2095500"/>
            <a:ext cx="17881845" cy="5247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b="1" dirty="0">
                <a:latin typeface="Consolas" panose="020B0609020204030204" pitchFamily="49" charset="0"/>
              </a:rPr>
              <a:t>3. forms.py</a:t>
            </a:r>
          </a:p>
          <a:p>
            <a:pPr algn="just"/>
            <a:endParaRPr lang="en-US" sz="3600" b="1" dirty="0">
              <a:latin typeface="Consolas" panose="020B0609020204030204" pitchFamily="49" charset="0"/>
            </a:endParaRP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from </a:t>
            </a:r>
            <a:r>
              <a:rPr lang="en-US" sz="3200" dirty="0" err="1">
                <a:latin typeface="Consolas" panose="020B0609020204030204" pitchFamily="49" charset="0"/>
              </a:rPr>
              <a:t>flask_wtf</a:t>
            </a:r>
            <a:r>
              <a:rPr lang="en-US" sz="3200" dirty="0">
                <a:latin typeface="Consolas" panose="020B0609020204030204" pitchFamily="49" charset="0"/>
              </a:rPr>
              <a:t> import </a:t>
            </a:r>
            <a:r>
              <a:rPr lang="en-US" sz="3200" dirty="0" err="1">
                <a:latin typeface="Consolas" panose="020B0609020204030204" pitchFamily="49" charset="0"/>
              </a:rPr>
              <a:t>FlaskForm</a:t>
            </a:r>
            <a:endParaRPr lang="en-US" sz="3200" dirty="0">
              <a:latin typeface="Consolas" panose="020B0609020204030204" pitchFamily="49" charset="0"/>
            </a:endParaRP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from </a:t>
            </a:r>
            <a:r>
              <a:rPr lang="en-US" sz="3200" dirty="0" err="1">
                <a:latin typeface="Consolas" panose="020B0609020204030204" pitchFamily="49" charset="0"/>
              </a:rPr>
              <a:t>wtforms</a:t>
            </a:r>
            <a:r>
              <a:rPr lang="en-US" sz="3200" dirty="0">
                <a:latin typeface="Consolas" panose="020B0609020204030204" pitchFamily="49" charset="0"/>
              </a:rPr>
              <a:t> import </a:t>
            </a:r>
            <a:r>
              <a:rPr lang="en-US" sz="3200" dirty="0" err="1">
                <a:latin typeface="Consolas" panose="020B0609020204030204" pitchFamily="49" charset="0"/>
              </a:rPr>
              <a:t>StringField</a:t>
            </a:r>
            <a:r>
              <a:rPr lang="en-US" sz="3200" dirty="0">
                <a:latin typeface="Consolas" panose="020B0609020204030204" pitchFamily="49" charset="0"/>
              </a:rPr>
              <a:t>, </a:t>
            </a:r>
            <a:r>
              <a:rPr lang="en-US" sz="3200" dirty="0" err="1">
                <a:latin typeface="Consolas" panose="020B0609020204030204" pitchFamily="49" charset="0"/>
              </a:rPr>
              <a:t>PasswordField</a:t>
            </a:r>
            <a:r>
              <a:rPr lang="en-US" sz="3200" dirty="0">
                <a:latin typeface="Consolas" panose="020B0609020204030204" pitchFamily="49" charset="0"/>
              </a:rPr>
              <a:t>, </a:t>
            </a:r>
            <a:r>
              <a:rPr lang="en-US" sz="3200" dirty="0" err="1">
                <a:latin typeface="Consolas" panose="020B0609020204030204" pitchFamily="49" charset="0"/>
              </a:rPr>
              <a:t>SubmitField</a:t>
            </a:r>
            <a:endParaRPr lang="en-US" sz="3200" dirty="0">
              <a:latin typeface="Consolas" panose="020B0609020204030204" pitchFamily="49" charset="0"/>
            </a:endParaRP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from </a:t>
            </a:r>
            <a:r>
              <a:rPr lang="en-US" sz="3200" dirty="0" err="1">
                <a:latin typeface="Consolas" panose="020B0609020204030204" pitchFamily="49" charset="0"/>
              </a:rPr>
              <a:t>wtforms.validators</a:t>
            </a:r>
            <a:r>
              <a:rPr lang="en-US" sz="3200" dirty="0">
                <a:latin typeface="Consolas" panose="020B0609020204030204" pitchFamily="49" charset="0"/>
              </a:rPr>
              <a:t> import </a:t>
            </a:r>
            <a:r>
              <a:rPr lang="en-US" sz="3200" dirty="0" err="1">
                <a:latin typeface="Consolas" panose="020B0609020204030204" pitchFamily="49" charset="0"/>
              </a:rPr>
              <a:t>DataRequired</a:t>
            </a:r>
            <a:r>
              <a:rPr lang="en-US" sz="3200" dirty="0">
                <a:latin typeface="Consolas" panose="020B0609020204030204" pitchFamily="49" charset="0"/>
              </a:rPr>
              <a:t>, Email, Length</a:t>
            </a:r>
          </a:p>
          <a:p>
            <a:pPr algn="just"/>
            <a:endParaRPr lang="en-US" sz="3200" dirty="0">
              <a:latin typeface="Consolas" panose="020B0609020204030204" pitchFamily="49" charset="0"/>
            </a:endParaRPr>
          </a:p>
          <a:p>
            <a:pPr algn="just"/>
            <a:r>
              <a:rPr lang="en-US" sz="2700" dirty="0">
                <a:latin typeface="Consolas" panose="020B0609020204030204" pitchFamily="49" charset="0"/>
              </a:rPr>
              <a:t>class </a:t>
            </a:r>
            <a:r>
              <a:rPr lang="en-US" sz="2700" dirty="0" err="1">
                <a:latin typeface="Consolas" panose="020B0609020204030204" pitchFamily="49" charset="0"/>
              </a:rPr>
              <a:t>UserForm</a:t>
            </a:r>
            <a:r>
              <a:rPr lang="en-US" sz="2700" dirty="0">
                <a:latin typeface="Consolas" panose="020B0609020204030204" pitchFamily="49" charset="0"/>
              </a:rPr>
              <a:t>(</a:t>
            </a:r>
            <a:r>
              <a:rPr lang="en-US" sz="2700" dirty="0" err="1">
                <a:latin typeface="Consolas" panose="020B0609020204030204" pitchFamily="49" charset="0"/>
              </a:rPr>
              <a:t>FlaskForm</a:t>
            </a:r>
            <a:r>
              <a:rPr lang="en-US" sz="2700" dirty="0">
                <a:latin typeface="Consolas" panose="020B0609020204030204" pitchFamily="49" charset="0"/>
              </a:rPr>
              <a:t>):</a:t>
            </a:r>
          </a:p>
          <a:p>
            <a:pPr algn="just"/>
            <a:r>
              <a:rPr lang="en-US" sz="2700" dirty="0">
                <a:latin typeface="Consolas" panose="020B0609020204030204" pitchFamily="49" charset="0"/>
              </a:rPr>
              <a:t>    </a:t>
            </a:r>
            <a:r>
              <a:rPr lang="en-US" sz="2700" dirty="0" err="1">
                <a:latin typeface="Consolas" panose="020B0609020204030204" pitchFamily="49" charset="0"/>
              </a:rPr>
              <a:t>fullname</a:t>
            </a:r>
            <a:r>
              <a:rPr lang="en-US" sz="2700" dirty="0">
                <a:latin typeface="Consolas" panose="020B0609020204030204" pitchFamily="49" charset="0"/>
              </a:rPr>
              <a:t> = </a:t>
            </a:r>
            <a:r>
              <a:rPr lang="en-US" sz="2700" dirty="0" err="1">
                <a:latin typeface="Consolas" panose="020B0609020204030204" pitchFamily="49" charset="0"/>
              </a:rPr>
              <a:t>StringField</a:t>
            </a:r>
            <a:r>
              <a:rPr lang="en-US" sz="2700" dirty="0">
                <a:latin typeface="Consolas" panose="020B0609020204030204" pitchFamily="49" charset="0"/>
              </a:rPr>
              <a:t>('Full Name', validators=[</a:t>
            </a:r>
            <a:r>
              <a:rPr lang="en-US" sz="2700" dirty="0" err="1">
                <a:latin typeface="Consolas" panose="020B0609020204030204" pitchFamily="49" charset="0"/>
              </a:rPr>
              <a:t>DataRequired</a:t>
            </a:r>
            <a:r>
              <a:rPr lang="en-US" sz="2700" dirty="0">
                <a:latin typeface="Consolas" panose="020B0609020204030204" pitchFamily="49" charset="0"/>
              </a:rPr>
              <a:t>(), Length(min=3, max=100)])</a:t>
            </a:r>
          </a:p>
          <a:p>
            <a:pPr algn="just"/>
            <a:r>
              <a:rPr lang="en-US" sz="2700" dirty="0">
                <a:latin typeface="Consolas" panose="020B0609020204030204" pitchFamily="49" charset="0"/>
              </a:rPr>
              <a:t>    email = </a:t>
            </a:r>
            <a:r>
              <a:rPr lang="en-US" sz="2700" dirty="0" err="1">
                <a:latin typeface="Consolas" panose="020B0609020204030204" pitchFamily="49" charset="0"/>
              </a:rPr>
              <a:t>StringField</a:t>
            </a:r>
            <a:r>
              <a:rPr lang="en-US" sz="2700" dirty="0">
                <a:latin typeface="Consolas" panose="020B0609020204030204" pitchFamily="49" charset="0"/>
              </a:rPr>
              <a:t>('Email', validators=[</a:t>
            </a:r>
            <a:r>
              <a:rPr lang="en-US" sz="2700" dirty="0" err="1">
                <a:latin typeface="Consolas" panose="020B0609020204030204" pitchFamily="49" charset="0"/>
              </a:rPr>
              <a:t>DataRequired</a:t>
            </a:r>
            <a:r>
              <a:rPr lang="en-US" sz="2700" dirty="0">
                <a:latin typeface="Consolas" panose="020B0609020204030204" pitchFamily="49" charset="0"/>
              </a:rPr>
              <a:t>(), Email()])</a:t>
            </a:r>
          </a:p>
          <a:p>
            <a:pPr algn="just"/>
            <a:r>
              <a:rPr lang="en-US" sz="2700" dirty="0">
                <a:latin typeface="Consolas" panose="020B0609020204030204" pitchFamily="49" charset="0"/>
              </a:rPr>
              <a:t>    </a:t>
            </a:r>
            <a:r>
              <a:rPr lang="en-US" sz="2700" dirty="0" err="1">
                <a:latin typeface="Consolas" panose="020B0609020204030204" pitchFamily="49" charset="0"/>
              </a:rPr>
              <a:t>usr_pwd</a:t>
            </a:r>
            <a:r>
              <a:rPr lang="en-US" sz="2700" dirty="0">
                <a:latin typeface="Consolas" panose="020B0609020204030204" pitchFamily="49" charset="0"/>
              </a:rPr>
              <a:t> = </a:t>
            </a:r>
            <a:r>
              <a:rPr lang="en-US" sz="2700" dirty="0" err="1">
                <a:latin typeface="Consolas" panose="020B0609020204030204" pitchFamily="49" charset="0"/>
              </a:rPr>
              <a:t>PasswordField</a:t>
            </a:r>
            <a:r>
              <a:rPr lang="en-US" sz="2700" dirty="0">
                <a:latin typeface="Consolas" panose="020B0609020204030204" pitchFamily="49" charset="0"/>
              </a:rPr>
              <a:t>('Password', validators=[</a:t>
            </a:r>
            <a:r>
              <a:rPr lang="en-US" sz="2700" dirty="0" err="1">
                <a:latin typeface="Consolas" panose="020B0609020204030204" pitchFamily="49" charset="0"/>
              </a:rPr>
              <a:t>DataRequired</a:t>
            </a:r>
            <a:r>
              <a:rPr lang="en-US" sz="2700" dirty="0">
                <a:latin typeface="Consolas" panose="020B0609020204030204" pitchFamily="49" charset="0"/>
              </a:rPr>
              <a:t>(), Length(min=4, max=100)])</a:t>
            </a:r>
          </a:p>
          <a:p>
            <a:pPr algn="just"/>
            <a:r>
              <a:rPr lang="en-US" sz="2700" dirty="0">
                <a:latin typeface="Consolas" panose="020B0609020204030204" pitchFamily="49" charset="0"/>
              </a:rPr>
              <a:t>    submit = </a:t>
            </a:r>
            <a:r>
              <a:rPr lang="en-US" sz="2700" dirty="0" err="1">
                <a:latin typeface="Consolas" panose="020B0609020204030204" pitchFamily="49" charset="0"/>
              </a:rPr>
              <a:t>SubmitField</a:t>
            </a:r>
            <a:r>
              <a:rPr lang="en-US" sz="2700" dirty="0">
                <a:latin typeface="Consolas" panose="020B0609020204030204" pitchFamily="49" charset="0"/>
              </a:rPr>
              <a:t>('Submit’)</a:t>
            </a:r>
          </a:p>
        </p:txBody>
      </p:sp>
    </p:spTree>
    <p:extLst>
      <p:ext uri="{BB962C8B-B14F-4D97-AF65-F5344CB8AC3E}">
        <p14:creationId xmlns:p14="http://schemas.microsoft.com/office/powerpoint/2010/main" val="375782788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3A830-3A93-EC6E-927F-0079C3B31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12D63A9-1CDD-DC57-4B8C-D155BA8A6309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FA76A7F-F579-EB9F-4CF3-11B12CD854A7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702A9930-22E2-6411-A05F-8584EC33FC4A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28954DD8-DDAF-03DD-B538-0BB626246BCC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31408B7A-193D-052E-63DE-E1AB97C92E24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33C43556-3F26-ABD6-1240-0EA24D48FF7F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57A1A444-3E2C-4C5C-01A8-5632797F1055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CRUD Operation Example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39234E5-5A2A-BA3E-CB11-70E4A31482DA}"/>
              </a:ext>
            </a:extLst>
          </p:cNvPr>
          <p:cNvSpPr txBox="1"/>
          <p:nvPr/>
        </p:nvSpPr>
        <p:spPr>
          <a:xfrm>
            <a:off x="177555" y="2095500"/>
            <a:ext cx="17881845" cy="8017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b="1" dirty="0">
                <a:latin typeface="Consolas" panose="020B0609020204030204" pitchFamily="49" charset="0"/>
              </a:rPr>
              <a:t>4. app.py </a:t>
            </a:r>
            <a:r>
              <a:rPr lang="en-US" sz="3600" dirty="0">
                <a:latin typeface="Consolas" panose="020B0609020204030204" pitchFamily="49" charset="0"/>
              </a:rPr>
              <a:t>-&gt; Database Configuration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from flask import Flask, </a:t>
            </a:r>
            <a:r>
              <a:rPr lang="en-US" sz="3600" dirty="0" err="1">
                <a:latin typeface="Consolas" panose="020B0609020204030204" pitchFamily="49" charset="0"/>
              </a:rPr>
              <a:t>render_template</a:t>
            </a:r>
            <a:r>
              <a:rPr lang="en-US" sz="3600" dirty="0">
                <a:latin typeface="Consolas" panose="020B0609020204030204" pitchFamily="49" charset="0"/>
              </a:rPr>
              <a:t>, redirect, </a:t>
            </a:r>
            <a:r>
              <a:rPr lang="en-US" sz="3600" dirty="0" err="1">
                <a:latin typeface="Consolas" panose="020B0609020204030204" pitchFamily="49" charset="0"/>
              </a:rPr>
              <a:t>url_for</a:t>
            </a:r>
            <a:r>
              <a:rPr lang="en-US" sz="3600" dirty="0">
                <a:latin typeface="Consolas" panose="020B0609020204030204" pitchFamily="49" charset="0"/>
              </a:rPr>
              <a:t>, flash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from </a:t>
            </a:r>
            <a:r>
              <a:rPr lang="en-US" sz="3600" dirty="0" err="1">
                <a:latin typeface="Consolas" panose="020B0609020204030204" pitchFamily="49" charset="0"/>
              </a:rPr>
              <a:t>flask_mysqldb</a:t>
            </a:r>
            <a:r>
              <a:rPr lang="en-US" sz="3600" dirty="0">
                <a:latin typeface="Consolas" panose="020B0609020204030204" pitchFamily="49" charset="0"/>
              </a:rPr>
              <a:t> import MySQL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from forms import </a:t>
            </a:r>
            <a:r>
              <a:rPr lang="en-US" sz="3600" dirty="0" err="1">
                <a:latin typeface="Consolas" panose="020B0609020204030204" pitchFamily="49" charset="0"/>
              </a:rPr>
              <a:t>UserForm</a:t>
            </a:r>
            <a:endParaRPr lang="en-US" sz="3600" dirty="0">
              <a:latin typeface="Consolas" panose="020B0609020204030204" pitchFamily="49" charset="0"/>
            </a:endParaRPr>
          </a:p>
          <a:p>
            <a:pPr algn="just"/>
            <a:endParaRPr lang="en-US" sz="1000" dirty="0">
              <a:latin typeface="Consolas" panose="020B0609020204030204" pitchFamily="49" charset="0"/>
            </a:endParaRP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app = Flask(__name__)</a:t>
            </a:r>
          </a:p>
          <a:p>
            <a:pPr algn="just"/>
            <a:r>
              <a:rPr lang="en-US" sz="3600" dirty="0" err="1">
                <a:latin typeface="Consolas" panose="020B0609020204030204" pitchFamily="49" charset="0"/>
              </a:rPr>
              <a:t>app.config</a:t>
            </a:r>
            <a:r>
              <a:rPr lang="en-US" sz="3600" dirty="0">
                <a:latin typeface="Consolas" panose="020B0609020204030204" pitchFamily="49" charset="0"/>
              </a:rPr>
              <a:t>['SECRET_KEY'] = 'secret123'</a:t>
            </a:r>
          </a:p>
          <a:p>
            <a:pPr algn="just"/>
            <a:r>
              <a:rPr lang="en-US" sz="3600" dirty="0" err="1">
                <a:latin typeface="Consolas" panose="020B0609020204030204" pitchFamily="49" charset="0"/>
              </a:rPr>
              <a:t>app.config</a:t>
            </a:r>
            <a:r>
              <a:rPr lang="en-US" sz="3600" dirty="0">
                <a:latin typeface="Consolas" panose="020B0609020204030204" pitchFamily="49" charset="0"/>
              </a:rPr>
              <a:t>['MYSQL_HOST'] = 'localhost'</a:t>
            </a:r>
          </a:p>
          <a:p>
            <a:pPr algn="just"/>
            <a:r>
              <a:rPr lang="en-US" sz="3600" dirty="0" err="1">
                <a:latin typeface="Consolas" panose="020B0609020204030204" pitchFamily="49" charset="0"/>
              </a:rPr>
              <a:t>app.config</a:t>
            </a:r>
            <a:r>
              <a:rPr lang="en-US" sz="3600" dirty="0">
                <a:latin typeface="Consolas" panose="020B0609020204030204" pitchFamily="49" charset="0"/>
              </a:rPr>
              <a:t>['MYSQL_USER'] = 'root'</a:t>
            </a:r>
          </a:p>
          <a:p>
            <a:pPr algn="just"/>
            <a:r>
              <a:rPr lang="en-US" sz="3600" dirty="0" err="1">
                <a:latin typeface="Consolas" panose="020B0609020204030204" pitchFamily="49" charset="0"/>
              </a:rPr>
              <a:t>app.config</a:t>
            </a:r>
            <a:r>
              <a:rPr lang="en-US" sz="3600" dirty="0">
                <a:latin typeface="Consolas" panose="020B0609020204030204" pitchFamily="49" charset="0"/>
              </a:rPr>
              <a:t>['MYSQL_PASSWORD'] = ''</a:t>
            </a:r>
          </a:p>
          <a:p>
            <a:pPr algn="just"/>
            <a:r>
              <a:rPr lang="en-US" sz="3600" dirty="0" err="1">
                <a:latin typeface="Consolas" panose="020B0609020204030204" pitchFamily="49" charset="0"/>
              </a:rPr>
              <a:t>app.config</a:t>
            </a:r>
            <a:r>
              <a:rPr lang="en-US" sz="3600" dirty="0">
                <a:latin typeface="Consolas" panose="020B0609020204030204" pitchFamily="49" charset="0"/>
              </a:rPr>
              <a:t>['MYSQL_DB'] = '</a:t>
            </a:r>
            <a:r>
              <a:rPr lang="en-US" sz="3600" dirty="0" err="1">
                <a:latin typeface="Consolas" panose="020B0609020204030204" pitchFamily="49" charset="0"/>
              </a:rPr>
              <a:t>flask_db</a:t>
            </a:r>
            <a:r>
              <a:rPr lang="en-US" sz="3600" dirty="0">
                <a:latin typeface="Consolas" panose="020B0609020204030204" pitchFamily="49" charset="0"/>
              </a:rPr>
              <a:t>'</a:t>
            </a:r>
          </a:p>
          <a:p>
            <a:pPr algn="just"/>
            <a:r>
              <a:rPr lang="en-US" sz="3600" dirty="0" err="1">
                <a:latin typeface="Consolas" panose="020B0609020204030204" pitchFamily="49" charset="0"/>
              </a:rPr>
              <a:t>app.config</a:t>
            </a:r>
            <a:r>
              <a:rPr lang="en-US" sz="3600" dirty="0">
                <a:latin typeface="Consolas" panose="020B0609020204030204" pitchFamily="49" charset="0"/>
              </a:rPr>
              <a:t>['MYSQL_CURSORCLASS'] = '</a:t>
            </a:r>
            <a:r>
              <a:rPr lang="en-US" sz="3600" dirty="0" err="1">
                <a:latin typeface="Consolas" panose="020B0609020204030204" pitchFamily="49" charset="0"/>
              </a:rPr>
              <a:t>DictCursor</a:t>
            </a:r>
            <a:r>
              <a:rPr lang="en-US" sz="3600" dirty="0">
                <a:latin typeface="Consolas" panose="020B0609020204030204" pitchFamily="49" charset="0"/>
              </a:rPr>
              <a:t>'</a:t>
            </a: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endParaRPr lang="en-US" sz="1000" dirty="0">
              <a:latin typeface="Consolas" panose="020B0609020204030204" pitchFamily="49" charset="0"/>
            </a:endParaRPr>
          </a:p>
          <a:p>
            <a:pPr algn="just"/>
            <a:r>
              <a:rPr lang="en-US" sz="3600" dirty="0" err="1">
                <a:latin typeface="Consolas" panose="020B0609020204030204" pitchFamily="49" charset="0"/>
              </a:rPr>
              <a:t>mysql</a:t>
            </a:r>
            <a:r>
              <a:rPr lang="en-US" sz="3600" dirty="0">
                <a:latin typeface="Consolas" panose="020B0609020204030204" pitchFamily="49" charset="0"/>
              </a:rPr>
              <a:t> = MySQL(app)</a:t>
            </a:r>
          </a:p>
          <a:p>
            <a:pPr algn="just"/>
            <a:endParaRPr lang="en-US" sz="27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01771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39035-22C7-7D85-647E-F2180102F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35A0930-678F-6C6E-5CBC-07C814C24DE9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F53D202-F0C7-7B8F-6866-ED9EF9F957FB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747828FD-295F-ED44-49FD-A10E234D7C71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353C9F18-6288-67C9-AC28-A9EF97C9183D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6EC6A852-B7F9-E652-A052-C4025BBEC7EC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ACDACD1C-3519-F207-1FD3-E7636F851DAF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66B0C293-FCB7-DB6C-F870-52C611B07B32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CRUD Operation Example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651DC54-408D-B6A6-359E-BE014520D8C3}"/>
              </a:ext>
            </a:extLst>
          </p:cNvPr>
          <p:cNvSpPr txBox="1"/>
          <p:nvPr/>
        </p:nvSpPr>
        <p:spPr>
          <a:xfrm>
            <a:off x="177555" y="2095500"/>
            <a:ext cx="17881845" cy="6432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000" b="1" dirty="0">
                <a:latin typeface="Consolas" panose="020B0609020204030204" pitchFamily="49" charset="0"/>
              </a:rPr>
              <a:t>5. Base Template : base.html</a:t>
            </a:r>
          </a:p>
          <a:p>
            <a:pPr algn="just"/>
            <a:r>
              <a:rPr lang="en-US" sz="3000" dirty="0">
                <a:latin typeface="Consolas" panose="020B0609020204030204" pitchFamily="49" charset="0"/>
              </a:rPr>
              <a:t>&lt;!DOCTYPE html&gt;</a:t>
            </a:r>
          </a:p>
          <a:p>
            <a:pPr algn="just"/>
            <a:r>
              <a:rPr lang="en-US" sz="3000" dirty="0">
                <a:latin typeface="Consolas" panose="020B0609020204030204" pitchFamily="49" charset="0"/>
              </a:rPr>
              <a:t>&lt;html&gt;</a:t>
            </a:r>
          </a:p>
          <a:p>
            <a:pPr algn="just"/>
            <a:r>
              <a:rPr lang="en-US" sz="3000" dirty="0">
                <a:latin typeface="Consolas" panose="020B0609020204030204" pitchFamily="49" charset="0"/>
              </a:rPr>
              <a:t>&lt;head&gt;</a:t>
            </a:r>
          </a:p>
          <a:p>
            <a:pPr algn="just"/>
            <a:r>
              <a:rPr lang="en-US" sz="3000" dirty="0">
                <a:latin typeface="Consolas" panose="020B0609020204030204" pitchFamily="49" charset="0"/>
              </a:rPr>
              <a:t>    &lt;title&gt;Flask CRUD Users&lt;/title&gt;</a:t>
            </a:r>
          </a:p>
          <a:p>
            <a:pPr algn="just"/>
            <a:r>
              <a:rPr lang="en-US" sz="3000" dirty="0">
                <a:latin typeface="Consolas" panose="020B0609020204030204" pitchFamily="49" charset="0"/>
              </a:rPr>
              <a:t>    </a:t>
            </a:r>
            <a:r>
              <a:rPr lang="en-US" sz="2800" dirty="0">
                <a:latin typeface="Consolas" panose="020B0609020204030204" pitchFamily="49" charset="0"/>
              </a:rPr>
              <a:t>&lt;link </a:t>
            </a:r>
            <a:r>
              <a:rPr lang="en-US" sz="2800" dirty="0" err="1">
                <a:latin typeface="Consolas" panose="020B0609020204030204" pitchFamily="49" charset="0"/>
              </a:rPr>
              <a:t>href</a:t>
            </a:r>
            <a:r>
              <a:rPr lang="en-US" sz="2800" dirty="0">
                <a:latin typeface="Consolas" panose="020B0609020204030204" pitchFamily="49" charset="0"/>
              </a:rPr>
              <a:t>="https://cdn.jsdelivr.net/</a:t>
            </a:r>
            <a:r>
              <a:rPr lang="en-US" sz="2800" dirty="0" err="1">
                <a:latin typeface="Consolas" panose="020B0609020204030204" pitchFamily="49" charset="0"/>
              </a:rPr>
              <a:t>npm</a:t>
            </a:r>
            <a:r>
              <a:rPr lang="en-US" sz="2800" dirty="0">
                <a:latin typeface="Consolas" panose="020B0609020204030204" pitchFamily="49" charset="0"/>
              </a:rPr>
              <a:t>/bootstrap@5.3.2/</a:t>
            </a:r>
            <a:r>
              <a:rPr lang="en-US" sz="2800" dirty="0" err="1">
                <a:latin typeface="Consolas" panose="020B0609020204030204" pitchFamily="49" charset="0"/>
              </a:rPr>
              <a:t>dist</a:t>
            </a:r>
            <a:r>
              <a:rPr lang="en-US" sz="2800" dirty="0">
                <a:latin typeface="Consolas" panose="020B0609020204030204" pitchFamily="49" charset="0"/>
              </a:rPr>
              <a:t>/</a:t>
            </a:r>
            <a:r>
              <a:rPr lang="en-US" sz="2800" dirty="0" err="1">
                <a:latin typeface="Consolas" panose="020B0609020204030204" pitchFamily="49" charset="0"/>
              </a:rPr>
              <a:t>css</a:t>
            </a:r>
            <a:r>
              <a:rPr lang="en-US" sz="2800" dirty="0">
                <a:latin typeface="Consolas" panose="020B0609020204030204" pitchFamily="49" charset="0"/>
              </a:rPr>
              <a:t>/bootstrap.min.css" </a:t>
            </a:r>
            <a:r>
              <a:rPr lang="en-US" sz="2800" dirty="0" err="1">
                <a:latin typeface="Consolas" panose="020B0609020204030204" pitchFamily="49" charset="0"/>
              </a:rPr>
              <a:t>rel</a:t>
            </a:r>
            <a:r>
              <a:rPr lang="en-US" sz="2800" dirty="0">
                <a:latin typeface="Consolas" panose="020B0609020204030204" pitchFamily="49" charset="0"/>
              </a:rPr>
              <a:t>="stylesheet"&gt;</a:t>
            </a:r>
          </a:p>
          <a:p>
            <a:pPr algn="just"/>
            <a:r>
              <a:rPr lang="en-US" sz="3000" dirty="0">
                <a:latin typeface="Consolas" panose="020B0609020204030204" pitchFamily="49" charset="0"/>
              </a:rPr>
              <a:t>&lt;/head&gt;</a:t>
            </a:r>
          </a:p>
          <a:p>
            <a:pPr algn="just"/>
            <a:r>
              <a:rPr lang="en-US" sz="3000" dirty="0">
                <a:latin typeface="Consolas" panose="020B0609020204030204" pitchFamily="49" charset="0"/>
              </a:rPr>
              <a:t>&lt;body class="container mt-4"&gt;</a:t>
            </a:r>
          </a:p>
          <a:p>
            <a:pPr algn="just"/>
            <a:endParaRPr lang="en-US" sz="3000" dirty="0">
              <a:latin typeface="Consolas" panose="020B0609020204030204" pitchFamily="49" charset="0"/>
            </a:endParaRPr>
          </a:p>
          <a:p>
            <a:pPr algn="just"/>
            <a:r>
              <a:rPr lang="en-US" sz="2700" dirty="0">
                <a:latin typeface="Consolas" panose="020B0609020204030204" pitchFamily="49" charset="0"/>
              </a:rPr>
              <a:t>&lt;script </a:t>
            </a:r>
            <a:r>
              <a:rPr lang="en-US" sz="2700" dirty="0" err="1">
                <a:latin typeface="Consolas" panose="020B0609020204030204" pitchFamily="49" charset="0"/>
              </a:rPr>
              <a:t>src</a:t>
            </a:r>
            <a:r>
              <a:rPr lang="en-US" sz="2700" dirty="0">
                <a:latin typeface="Consolas" panose="020B0609020204030204" pitchFamily="49" charset="0"/>
              </a:rPr>
              <a:t>="https://cdn.jsdelivr.net/</a:t>
            </a:r>
            <a:r>
              <a:rPr lang="en-US" sz="2700" dirty="0" err="1">
                <a:latin typeface="Consolas" panose="020B0609020204030204" pitchFamily="49" charset="0"/>
              </a:rPr>
              <a:t>npm</a:t>
            </a:r>
            <a:r>
              <a:rPr lang="en-US" sz="2700" dirty="0">
                <a:latin typeface="Consolas" panose="020B0609020204030204" pitchFamily="49" charset="0"/>
              </a:rPr>
              <a:t>/bootstrap@5.3.2/</a:t>
            </a:r>
            <a:r>
              <a:rPr lang="en-US" sz="2700" dirty="0" err="1">
                <a:latin typeface="Consolas" panose="020B0609020204030204" pitchFamily="49" charset="0"/>
              </a:rPr>
              <a:t>dist</a:t>
            </a:r>
            <a:r>
              <a:rPr lang="en-US" sz="2700" dirty="0">
                <a:latin typeface="Consolas" panose="020B0609020204030204" pitchFamily="49" charset="0"/>
              </a:rPr>
              <a:t>/</a:t>
            </a:r>
            <a:r>
              <a:rPr lang="en-US" sz="2700" dirty="0" err="1">
                <a:latin typeface="Consolas" panose="020B0609020204030204" pitchFamily="49" charset="0"/>
              </a:rPr>
              <a:t>js</a:t>
            </a:r>
            <a:r>
              <a:rPr lang="en-US" sz="2700" dirty="0">
                <a:latin typeface="Consolas" panose="020B0609020204030204" pitchFamily="49" charset="0"/>
              </a:rPr>
              <a:t>/bootstrap.bundle.min.js"&gt;&lt;/script&gt;</a:t>
            </a:r>
          </a:p>
          <a:p>
            <a:pPr algn="just"/>
            <a:r>
              <a:rPr lang="en-US" sz="3000" dirty="0">
                <a:latin typeface="Consolas" panose="020B0609020204030204" pitchFamily="49" charset="0"/>
              </a:rPr>
              <a:t>&lt;/body&gt;</a:t>
            </a:r>
          </a:p>
          <a:p>
            <a:pPr algn="just"/>
            <a:r>
              <a:rPr lang="en-US" sz="3000" dirty="0">
                <a:latin typeface="Consolas" panose="020B0609020204030204" pitchFamily="49" charset="0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73301172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2C702-6347-A70C-2593-C0E5E639C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E5250C7-8004-B9D5-823B-8075CFF9A2FE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E96CC44-9F79-4532-F874-B0D8597E00F7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84D27BBB-B25E-4356-FBB4-01B31AC2EE56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4E32D84F-0055-05F3-7E8F-160EEA3193C9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2042CA86-FE05-3E3D-05A3-A04AEF6CF3CA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5134ABEC-22FD-B964-904D-91CCF2D49F94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FBAE67E2-5BD9-3016-4E9F-ACD225CC99B0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CRUD Operation Example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6AF1219-C149-06F6-3FE5-F6BCC65066D0}"/>
              </a:ext>
            </a:extLst>
          </p:cNvPr>
          <p:cNvSpPr txBox="1"/>
          <p:nvPr/>
        </p:nvSpPr>
        <p:spPr>
          <a:xfrm>
            <a:off x="177555" y="2095500"/>
            <a:ext cx="17881845" cy="69249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000" b="1" dirty="0">
                <a:latin typeface="Consolas" panose="020B0609020204030204" pitchFamily="49" charset="0"/>
              </a:rPr>
              <a:t>5. Base Template : base.html -&gt; Inside the &lt;body&gt;</a:t>
            </a:r>
          </a:p>
          <a:p>
            <a:pPr algn="just"/>
            <a:endParaRPr lang="en-US" sz="3000" b="1" dirty="0">
              <a:latin typeface="Consolas" panose="020B0609020204030204" pitchFamily="49" charset="0"/>
            </a:endParaRP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&lt;h1 class="mb-4"&gt;Flask CRUD Users&lt;/h1&gt;</a:t>
            </a: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{% with messages = </a:t>
            </a:r>
            <a:r>
              <a:rPr lang="en-US" sz="3200" dirty="0" err="1">
                <a:latin typeface="Consolas" panose="020B0609020204030204" pitchFamily="49" charset="0"/>
              </a:rPr>
              <a:t>get_flashed_messages</a:t>
            </a:r>
            <a:r>
              <a:rPr lang="en-US" sz="3200" dirty="0">
                <a:latin typeface="Consolas" panose="020B0609020204030204" pitchFamily="49" charset="0"/>
              </a:rPr>
              <a:t>(</a:t>
            </a:r>
            <a:r>
              <a:rPr lang="en-US" sz="3200" dirty="0" err="1">
                <a:latin typeface="Consolas" panose="020B0609020204030204" pitchFamily="49" charset="0"/>
              </a:rPr>
              <a:t>with_categories</a:t>
            </a:r>
            <a:r>
              <a:rPr lang="en-US" sz="3200" dirty="0">
                <a:latin typeface="Consolas" panose="020B0609020204030204" pitchFamily="49" charset="0"/>
              </a:rPr>
              <a:t>=true) %}</a:t>
            </a: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    {% if messages %}</a:t>
            </a: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        {% for category, message in messages %}</a:t>
            </a: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        </a:t>
            </a:r>
            <a:r>
              <a:rPr lang="en-US" sz="2800" dirty="0">
                <a:latin typeface="Consolas" panose="020B0609020204030204" pitchFamily="49" charset="0"/>
              </a:rPr>
              <a:t>&lt;div class="alert alert-{{ category }} alert-dismissible fade show" role="alert"&gt;</a:t>
            </a:r>
            <a:endParaRPr lang="en-US" sz="3200" dirty="0">
              <a:latin typeface="Consolas" panose="020B0609020204030204" pitchFamily="49" charset="0"/>
            </a:endParaRP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            {{ message }}</a:t>
            </a: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            </a:t>
            </a:r>
            <a:r>
              <a:rPr lang="en-US" sz="2800" dirty="0">
                <a:latin typeface="Consolas" panose="020B0609020204030204" pitchFamily="49" charset="0"/>
              </a:rPr>
              <a:t>&lt;button type="button" class="</a:t>
            </a:r>
            <a:r>
              <a:rPr lang="en-US" sz="2800" dirty="0" err="1">
                <a:latin typeface="Consolas" panose="020B0609020204030204" pitchFamily="49" charset="0"/>
              </a:rPr>
              <a:t>btn</a:t>
            </a:r>
            <a:r>
              <a:rPr lang="en-US" sz="2800" dirty="0">
                <a:latin typeface="Consolas" panose="020B0609020204030204" pitchFamily="49" charset="0"/>
              </a:rPr>
              <a:t>-close" data-bs-dismiss="alert"&gt;&lt;/button&gt;</a:t>
            </a: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        &lt;/div&gt;</a:t>
            </a: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        {% </a:t>
            </a:r>
            <a:r>
              <a:rPr lang="en-US" sz="3200" dirty="0" err="1">
                <a:latin typeface="Consolas" panose="020B0609020204030204" pitchFamily="49" charset="0"/>
              </a:rPr>
              <a:t>endfor</a:t>
            </a:r>
            <a:r>
              <a:rPr lang="en-US" sz="3200" dirty="0">
                <a:latin typeface="Consolas" panose="020B0609020204030204" pitchFamily="49" charset="0"/>
              </a:rPr>
              <a:t> %}</a:t>
            </a: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    {% endif %}</a:t>
            </a: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{% </a:t>
            </a:r>
            <a:r>
              <a:rPr lang="en-US" sz="3200" dirty="0" err="1">
                <a:latin typeface="Consolas" panose="020B0609020204030204" pitchFamily="49" charset="0"/>
              </a:rPr>
              <a:t>endwith</a:t>
            </a:r>
            <a:r>
              <a:rPr lang="en-US" sz="3200" dirty="0">
                <a:latin typeface="Consolas" panose="020B0609020204030204" pitchFamily="49" charset="0"/>
              </a:rPr>
              <a:t> %}</a:t>
            </a: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{% block content %}{% </a:t>
            </a:r>
            <a:r>
              <a:rPr lang="en-US" sz="3200" dirty="0" err="1">
                <a:latin typeface="Consolas" panose="020B0609020204030204" pitchFamily="49" charset="0"/>
              </a:rPr>
              <a:t>endblock</a:t>
            </a:r>
            <a:r>
              <a:rPr lang="en-US" sz="3200" dirty="0">
                <a:latin typeface="Consolas" panose="020B0609020204030204" pitchFamily="49" charset="0"/>
              </a:rPr>
              <a:t> %}</a:t>
            </a:r>
          </a:p>
        </p:txBody>
      </p:sp>
    </p:spTree>
    <p:extLst>
      <p:ext uri="{BB962C8B-B14F-4D97-AF65-F5344CB8AC3E}">
        <p14:creationId xmlns:p14="http://schemas.microsoft.com/office/powerpoint/2010/main" val="33521873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5EAE0-3102-7F9D-F653-4CBE3484D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09F1E75-FD21-7383-6499-2B34D9C655BE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653F675-5AAB-BB3A-1CFD-A992900BD95B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16AE25A-6A16-07AA-5E78-41EB393859F1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79395A89-5B7C-E801-F10B-ACB655271172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4875AC88-A20B-6C25-3293-4EDA95748DBE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F455CB36-A98D-1A9A-386F-177BE7C86C3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E29E404D-920E-6C36-3A9D-EEEB1601928D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CRUD Operation Example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4F5611D-49A6-0474-D4E6-10F6AF1794DC}"/>
              </a:ext>
            </a:extLst>
          </p:cNvPr>
          <p:cNvSpPr txBox="1"/>
          <p:nvPr/>
        </p:nvSpPr>
        <p:spPr>
          <a:xfrm>
            <a:off x="177555" y="2095500"/>
            <a:ext cx="17881845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000" b="1" dirty="0">
                <a:latin typeface="Consolas" panose="020B0609020204030204" pitchFamily="49" charset="0"/>
              </a:rPr>
              <a:t>5. Inheriting Templates</a:t>
            </a:r>
          </a:p>
          <a:p>
            <a:pPr algn="just"/>
            <a:endParaRPr lang="en-US" sz="3000" b="1" dirty="0">
              <a:latin typeface="Consolas" panose="020B0609020204030204" pitchFamily="49" charset="0"/>
            </a:endParaRP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{% extends 'base.html' %}</a:t>
            </a: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{% block content %}</a:t>
            </a:r>
          </a:p>
          <a:p>
            <a:pPr algn="just"/>
            <a:endParaRPr lang="en-US" sz="3200" dirty="0">
              <a:latin typeface="Consolas" panose="020B0609020204030204" pitchFamily="49" charset="0"/>
            </a:endParaRP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{% </a:t>
            </a:r>
            <a:r>
              <a:rPr lang="en-US" sz="3200" dirty="0" err="1">
                <a:latin typeface="Consolas" panose="020B0609020204030204" pitchFamily="49" charset="0"/>
              </a:rPr>
              <a:t>endblock</a:t>
            </a:r>
            <a:r>
              <a:rPr lang="en-US" sz="3200" dirty="0">
                <a:latin typeface="Consolas" panose="020B0609020204030204" pitchFamily="49" charset="0"/>
              </a:rPr>
              <a:t> %}</a:t>
            </a:r>
          </a:p>
          <a:p>
            <a:pPr algn="just"/>
            <a:endParaRPr lang="en-US" sz="3200" dirty="0">
              <a:latin typeface="Consolas" panose="020B0609020204030204" pitchFamily="49" charset="0"/>
            </a:endParaRPr>
          </a:p>
          <a:p>
            <a:pPr algn="just"/>
            <a:endParaRPr lang="en-US" sz="3200" dirty="0">
              <a:latin typeface="Consolas" panose="020B0609020204030204" pitchFamily="49" charset="0"/>
            </a:endParaRPr>
          </a:p>
          <a:p>
            <a:pPr algn="just"/>
            <a:endParaRPr lang="en-US" sz="3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286586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02491-694E-85FC-BB1A-B1EC2B99F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C06209B-C7D9-A17B-DDA3-23A48E7A11AC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1E642C4-6E28-1A13-CE31-D54F1E1C18A2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8BC3FFCB-63F7-71AA-9B88-97414B7081B5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9D70E04F-33D9-6024-3DA4-B74DE992E162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7697801F-F31B-2FB5-AFA7-BCEB5460D2B0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3182CF5A-B9D2-AA5B-7031-389F36C4705E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4AC7953B-6BF8-3693-A1D6-C395120D57EB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CRUD Operation Example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A56A89D-3F29-B0AD-D1F2-46D0330DD242}"/>
              </a:ext>
            </a:extLst>
          </p:cNvPr>
          <p:cNvSpPr txBox="1"/>
          <p:nvPr/>
        </p:nvSpPr>
        <p:spPr>
          <a:xfrm>
            <a:off x="177555" y="2095500"/>
            <a:ext cx="17881845" cy="7786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dirty="0">
                <a:latin typeface="Consolas" panose="020B0609020204030204" pitchFamily="49" charset="0"/>
              </a:rPr>
              <a:t>6.1 List User : list_users.html</a:t>
            </a:r>
          </a:p>
          <a:p>
            <a:pPr algn="just"/>
            <a:r>
              <a:rPr lang="en-US" sz="2000" dirty="0">
                <a:latin typeface="Consolas" panose="020B0609020204030204" pitchFamily="49" charset="0"/>
              </a:rPr>
              <a:t>&lt;h2&gt;Users List&lt;/h2&gt;</a:t>
            </a:r>
          </a:p>
          <a:p>
            <a:pPr algn="just"/>
            <a:r>
              <a:rPr lang="en-US" sz="2000" dirty="0">
                <a:latin typeface="Consolas" panose="020B0609020204030204" pitchFamily="49" charset="0"/>
              </a:rPr>
              <a:t>&lt;a </a:t>
            </a:r>
            <a:r>
              <a:rPr lang="en-US" sz="2000" dirty="0" err="1">
                <a:latin typeface="Consolas" panose="020B0609020204030204" pitchFamily="49" charset="0"/>
              </a:rPr>
              <a:t>href</a:t>
            </a:r>
            <a:r>
              <a:rPr lang="en-US" sz="2000" dirty="0">
                <a:latin typeface="Consolas" panose="020B0609020204030204" pitchFamily="49" charset="0"/>
              </a:rPr>
              <a:t>="{{ </a:t>
            </a:r>
            <a:r>
              <a:rPr lang="en-US" sz="2000" dirty="0" err="1">
                <a:latin typeface="Consolas" panose="020B0609020204030204" pitchFamily="49" charset="0"/>
              </a:rPr>
              <a:t>url_for</a:t>
            </a:r>
            <a:r>
              <a:rPr lang="en-US" sz="2000" dirty="0">
                <a:latin typeface="Consolas" panose="020B0609020204030204" pitchFamily="49" charset="0"/>
              </a:rPr>
              <a:t>('</a:t>
            </a:r>
            <a:r>
              <a:rPr lang="en-US" sz="2000" dirty="0" err="1">
                <a:latin typeface="Consolas" panose="020B0609020204030204" pitchFamily="49" charset="0"/>
              </a:rPr>
              <a:t>add_user</a:t>
            </a:r>
            <a:r>
              <a:rPr lang="en-US" sz="2000" dirty="0">
                <a:latin typeface="Consolas" panose="020B0609020204030204" pitchFamily="49" charset="0"/>
              </a:rPr>
              <a:t>') }}" class="</a:t>
            </a:r>
            <a:r>
              <a:rPr lang="en-US" sz="2000" dirty="0" err="1">
                <a:latin typeface="Consolas" panose="020B0609020204030204" pitchFamily="49" charset="0"/>
              </a:rPr>
              <a:t>btn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</a:rPr>
              <a:t>btn</a:t>
            </a:r>
            <a:r>
              <a:rPr lang="en-US" sz="2000" dirty="0">
                <a:latin typeface="Consolas" panose="020B0609020204030204" pitchFamily="49" charset="0"/>
              </a:rPr>
              <a:t>-success mb-3"&gt;Add New User&lt;/a&gt;</a:t>
            </a:r>
          </a:p>
          <a:p>
            <a:pPr algn="just"/>
            <a:r>
              <a:rPr lang="en-US" sz="2000" dirty="0">
                <a:latin typeface="Consolas" panose="020B0609020204030204" pitchFamily="49" charset="0"/>
              </a:rPr>
              <a:t>&lt;table class="table table-bordered table-striped"&gt;</a:t>
            </a:r>
          </a:p>
          <a:p>
            <a:pPr algn="just"/>
            <a:r>
              <a:rPr lang="en-US" sz="2000" dirty="0">
                <a:latin typeface="Consolas" panose="020B0609020204030204" pitchFamily="49" charset="0"/>
              </a:rPr>
              <a:t>	&lt;</a:t>
            </a:r>
            <a:r>
              <a:rPr lang="en-US" sz="2000" dirty="0" err="1">
                <a:latin typeface="Consolas" panose="020B0609020204030204" pitchFamily="49" charset="0"/>
              </a:rPr>
              <a:t>thead</a:t>
            </a:r>
            <a:r>
              <a:rPr lang="en-US" sz="2000" dirty="0">
                <a:latin typeface="Consolas" panose="020B0609020204030204" pitchFamily="49" charset="0"/>
              </a:rPr>
              <a:t> class="table-dark"&gt;</a:t>
            </a:r>
          </a:p>
          <a:p>
            <a:pPr lvl="2" algn="just"/>
            <a:r>
              <a:rPr lang="en-US" sz="2000" dirty="0">
                <a:latin typeface="Consolas" panose="020B0609020204030204" pitchFamily="49" charset="0"/>
              </a:rPr>
              <a:t>	&lt;tr&gt;</a:t>
            </a:r>
          </a:p>
          <a:p>
            <a:pPr lvl="2" algn="just"/>
            <a:r>
              <a:rPr lang="en-US" sz="2000" dirty="0">
                <a:latin typeface="Consolas" panose="020B0609020204030204" pitchFamily="49" charset="0"/>
              </a:rPr>
              <a:t>		&lt;</a:t>
            </a:r>
            <a:r>
              <a:rPr lang="en-US" sz="2000" dirty="0" err="1">
                <a:latin typeface="Consolas" panose="020B0609020204030204" pitchFamily="49" charset="0"/>
              </a:rPr>
              <a:t>th</a:t>
            </a:r>
            <a:r>
              <a:rPr lang="en-US" sz="2000" dirty="0">
                <a:latin typeface="Consolas" panose="020B0609020204030204" pitchFamily="49" charset="0"/>
              </a:rPr>
              <a:t>&gt;ID&lt;/</a:t>
            </a:r>
            <a:r>
              <a:rPr lang="en-US" sz="2000" dirty="0" err="1">
                <a:latin typeface="Consolas" panose="020B0609020204030204" pitchFamily="49" charset="0"/>
              </a:rPr>
              <a:t>th</a:t>
            </a:r>
            <a:r>
              <a:rPr lang="en-US" sz="2000" dirty="0">
                <a:latin typeface="Consolas" panose="020B0609020204030204" pitchFamily="49" charset="0"/>
              </a:rPr>
              <a:t>&gt;&lt;</a:t>
            </a:r>
            <a:r>
              <a:rPr lang="en-US" sz="2000" dirty="0" err="1">
                <a:latin typeface="Consolas" panose="020B0609020204030204" pitchFamily="49" charset="0"/>
              </a:rPr>
              <a:t>th</a:t>
            </a:r>
            <a:r>
              <a:rPr lang="en-US" sz="2000" dirty="0">
                <a:latin typeface="Consolas" panose="020B0609020204030204" pitchFamily="49" charset="0"/>
              </a:rPr>
              <a:t>&gt;Full Name&lt;/</a:t>
            </a:r>
            <a:r>
              <a:rPr lang="en-US" sz="2000" dirty="0" err="1">
                <a:latin typeface="Consolas" panose="020B0609020204030204" pitchFamily="49" charset="0"/>
              </a:rPr>
              <a:t>th</a:t>
            </a:r>
            <a:r>
              <a:rPr lang="en-US" sz="2000" dirty="0">
                <a:latin typeface="Consolas" panose="020B0609020204030204" pitchFamily="49" charset="0"/>
              </a:rPr>
              <a:t>&gt;&lt;</a:t>
            </a:r>
            <a:r>
              <a:rPr lang="en-US" sz="2000" dirty="0" err="1">
                <a:latin typeface="Consolas" panose="020B0609020204030204" pitchFamily="49" charset="0"/>
              </a:rPr>
              <a:t>th</a:t>
            </a:r>
            <a:r>
              <a:rPr lang="en-US" sz="2000" dirty="0">
                <a:latin typeface="Consolas" panose="020B0609020204030204" pitchFamily="49" charset="0"/>
              </a:rPr>
              <a:t>&gt;Email&lt;/</a:t>
            </a:r>
            <a:r>
              <a:rPr lang="en-US" sz="2000" dirty="0" err="1">
                <a:latin typeface="Consolas" panose="020B0609020204030204" pitchFamily="49" charset="0"/>
              </a:rPr>
              <a:t>th</a:t>
            </a:r>
            <a:r>
              <a:rPr lang="en-US" sz="2000" dirty="0">
                <a:latin typeface="Consolas" panose="020B0609020204030204" pitchFamily="49" charset="0"/>
              </a:rPr>
              <a:t>&gt;&lt;</a:t>
            </a:r>
            <a:r>
              <a:rPr lang="en-US" sz="2000" dirty="0" err="1">
                <a:latin typeface="Consolas" panose="020B0609020204030204" pitchFamily="49" charset="0"/>
              </a:rPr>
              <a:t>th</a:t>
            </a:r>
            <a:r>
              <a:rPr lang="en-US" sz="2000" dirty="0">
                <a:latin typeface="Consolas" panose="020B0609020204030204" pitchFamily="49" charset="0"/>
              </a:rPr>
              <a:t>&gt;Password&lt;/</a:t>
            </a:r>
            <a:r>
              <a:rPr lang="en-US" sz="2000" dirty="0" err="1">
                <a:latin typeface="Consolas" panose="020B0609020204030204" pitchFamily="49" charset="0"/>
              </a:rPr>
              <a:t>th</a:t>
            </a:r>
            <a:r>
              <a:rPr lang="en-US" sz="2000" dirty="0">
                <a:latin typeface="Consolas" panose="020B0609020204030204" pitchFamily="49" charset="0"/>
              </a:rPr>
              <a:t>&gt;&lt;</a:t>
            </a:r>
            <a:r>
              <a:rPr lang="en-US" sz="2000" dirty="0" err="1">
                <a:latin typeface="Consolas" panose="020B0609020204030204" pitchFamily="49" charset="0"/>
              </a:rPr>
              <a:t>th</a:t>
            </a:r>
            <a:r>
              <a:rPr lang="en-US" sz="2000" dirty="0">
                <a:latin typeface="Consolas" panose="020B0609020204030204" pitchFamily="49" charset="0"/>
              </a:rPr>
              <a:t>&gt;Actions&lt;/</a:t>
            </a:r>
            <a:r>
              <a:rPr lang="en-US" sz="2000" dirty="0" err="1">
                <a:latin typeface="Consolas" panose="020B0609020204030204" pitchFamily="49" charset="0"/>
              </a:rPr>
              <a:t>th</a:t>
            </a:r>
            <a:r>
              <a:rPr lang="en-US" sz="2000" dirty="0">
                <a:latin typeface="Consolas" panose="020B0609020204030204" pitchFamily="49" charset="0"/>
              </a:rPr>
              <a:t>&gt;</a:t>
            </a:r>
          </a:p>
          <a:p>
            <a:pPr algn="just"/>
            <a:r>
              <a:rPr lang="en-US" sz="2000" dirty="0">
                <a:latin typeface="Consolas" panose="020B0609020204030204" pitchFamily="49" charset="0"/>
              </a:rPr>
              <a:t>		&lt;/tr&gt;</a:t>
            </a:r>
          </a:p>
          <a:p>
            <a:pPr algn="just"/>
            <a:r>
              <a:rPr lang="en-US" sz="2000" dirty="0">
                <a:latin typeface="Consolas" panose="020B0609020204030204" pitchFamily="49" charset="0"/>
              </a:rPr>
              <a:t>	&lt;/</a:t>
            </a:r>
            <a:r>
              <a:rPr lang="en-US" sz="2000" dirty="0" err="1">
                <a:latin typeface="Consolas" panose="020B0609020204030204" pitchFamily="49" charset="0"/>
              </a:rPr>
              <a:t>thead</a:t>
            </a:r>
            <a:r>
              <a:rPr lang="en-US" sz="2000" dirty="0">
                <a:latin typeface="Consolas" panose="020B0609020204030204" pitchFamily="49" charset="0"/>
              </a:rPr>
              <a:t>&gt;</a:t>
            </a:r>
          </a:p>
          <a:p>
            <a:pPr algn="just"/>
            <a:r>
              <a:rPr lang="en-US" sz="2000" dirty="0">
                <a:latin typeface="Consolas" panose="020B0609020204030204" pitchFamily="49" charset="0"/>
              </a:rPr>
              <a:t>	&lt;</a:t>
            </a:r>
            <a:r>
              <a:rPr lang="en-US" sz="2000" dirty="0" err="1">
                <a:latin typeface="Consolas" panose="020B0609020204030204" pitchFamily="49" charset="0"/>
              </a:rPr>
              <a:t>tbody</a:t>
            </a:r>
            <a:r>
              <a:rPr lang="en-US" sz="2000" dirty="0">
                <a:latin typeface="Consolas" panose="020B0609020204030204" pitchFamily="49" charset="0"/>
              </a:rPr>
              <a:t>&gt;</a:t>
            </a:r>
          </a:p>
          <a:p>
            <a:pPr algn="just"/>
            <a:r>
              <a:rPr lang="en-US" sz="2000" dirty="0">
                <a:latin typeface="Consolas" panose="020B0609020204030204" pitchFamily="49" charset="0"/>
              </a:rPr>
              <a:t>	{% for user in users %}</a:t>
            </a:r>
          </a:p>
          <a:p>
            <a:pPr lvl="3" algn="just"/>
            <a:r>
              <a:rPr lang="en-US" sz="2000" dirty="0">
                <a:latin typeface="Consolas" panose="020B0609020204030204" pitchFamily="49" charset="0"/>
              </a:rPr>
              <a:t>&lt;tr&gt;</a:t>
            </a:r>
          </a:p>
          <a:p>
            <a:pPr lvl="4" algn="just"/>
            <a:r>
              <a:rPr lang="en-US" sz="2000" dirty="0">
                <a:latin typeface="Consolas" panose="020B0609020204030204" pitchFamily="49" charset="0"/>
              </a:rPr>
              <a:t>&lt;td&gt;{{ user.id }}&lt;/td&gt;</a:t>
            </a:r>
          </a:p>
          <a:p>
            <a:pPr lvl="4" algn="just"/>
            <a:r>
              <a:rPr lang="en-US" sz="2000" dirty="0">
                <a:latin typeface="Consolas" panose="020B0609020204030204" pitchFamily="49" charset="0"/>
              </a:rPr>
              <a:t>&lt;td&gt;{{ </a:t>
            </a:r>
            <a:r>
              <a:rPr lang="en-US" sz="2000" dirty="0" err="1">
                <a:latin typeface="Consolas" panose="020B0609020204030204" pitchFamily="49" charset="0"/>
              </a:rPr>
              <a:t>user.fullname</a:t>
            </a:r>
            <a:r>
              <a:rPr lang="en-US" sz="2000" dirty="0">
                <a:latin typeface="Consolas" panose="020B0609020204030204" pitchFamily="49" charset="0"/>
              </a:rPr>
              <a:t> }}&lt;/td&gt;</a:t>
            </a:r>
          </a:p>
          <a:p>
            <a:pPr lvl="4" algn="just"/>
            <a:r>
              <a:rPr lang="en-US" sz="2000" dirty="0">
                <a:latin typeface="Consolas" panose="020B0609020204030204" pitchFamily="49" charset="0"/>
              </a:rPr>
              <a:t>&lt;td&gt;{{ </a:t>
            </a:r>
            <a:r>
              <a:rPr lang="en-US" sz="2000" dirty="0" err="1">
                <a:latin typeface="Consolas" panose="020B0609020204030204" pitchFamily="49" charset="0"/>
              </a:rPr>
              <a:t>user.email</a:t>
            </a:r>
            <a:r>
              <a:rPr lang="en-US" sz="2000" dirty="0">
                <a:latin typeface="Consolas" panose="020B0609020204030204" pitchFamily="49" charset="0"/>
              </a:rPr>
              <a:t> }}&lt;/td&gt;</a:t>
            </a:r>
          </a:p>
          <a:p>
            <a:pPr lvl="4" algn="just"/>
            <a:r>
              <a:rPr lang="en-US" sz="2000" dirty="0">
                <a:latin typeface="Consolas" panose="020B0609020204030204" pitchFamily="49" charset="0"/>
              </a:rPr>
              <a:t>&lt;td&gt;{{ </a:t>
            </a:r>
            <a:r>
              <a:rPr lang="en-US" sz="2000" dirty="0" err="1">
                <a:latin typeface="Consolas" panose="020B0609020204030204" pitchFamily="49" charset="0"/>
              </a:rPr>
              <a:t>user.usr_pwd</a:t>
            </a:r>
            <a:r>
              <a:rPr lang="en-US" sz="2000" dirty="0">
                <a:latin typeface="Consolas" panose="020B0609020204030204" pitchFamily="49" charset="0"/>
              </a:rPr>
              <a:t> }}&lt;/td&gt;</a:t>
            </a:r>
          </a:p>
          <a:p>
            <a:pPr lvl="4" algn="just"/>
            <a:r>
              <a:rPr lang="en-US" sz="2000" dirty="0">
                <a:latin typeface="Consolas" panose="020B0609020204030204" pitchFamily="49" charset="0"/>
              </a:rPr>
              <a:t>&lt;td&gt;</a:t>
            </a:r>
          </a:p>
          <a:p>
            <a:pPr lvl="4" algn="just"/>
            <a:r>
              <a:rPr lang="en-US" sz="2000" dirty="0">
                <a:latin typeface="Consolas" panose="020B0609020204030204" pitchFamily="49" charset="0"/>
              </a:rPr>
              <a:t>&lt;a </a:t>
            </a:r>
            <a:r>
              <a:rPr lang="en-US" sz="2000" dirty="0" err="1">
                <a:latin typeface="Consolas" panose="020B0609020204030204" pitchFamily="49" charset="0"/>
              </a:rPr>
              <a:t>href</a:t>
            </a:r>
            <a:r>
              <a:rPr lang="en-US" sz="2000" dirty="0">
                <a:latin typeface="Consolas" panose="020B0609020204030204" pitchFamily="49" charset="0"/>
              </a:rPr>
              <a:t>="{{ </a:t>
            </a:r>
            <a:r>
              <a:rPr lang="en-US" sz="2000" dirty="0" err="1">
                <a:latin typeface="Consolas" panose="020B0609020204030204" pitchFamily="49" charset="0"/>
              </a:rPr>
              <a:t>url_for</a:t>
            </a:r>
            <a:r>
              <a:rPr lang="en-US" sz="2000" dirty="0">
                <a:latin typeface="Consolas" panose="020B0609020204030204" pitchFamily="49" charset="0"/>
              </a:rPr>
              <a:t>('</a:t>
            </a:r>
            <a:r>
              <a:rPr lang="en-US" sz="2000" dirty="0" err="1">
                <a:latin typeface="Consolas" panose="020B0609020204030204" pitchFamily="49" charset="0"/>
              </a:rPr>
              <a:t>update_user</a:t>
            </a:r>
            <a:r>
              <a:rPr lang="en-US" sz="2000" dirty="0">
                <a:latin typeface="Consolas" panose="020B0609020204030204" pitchFamily="49" charset="0"/>
              </a:rPr>
              <a:t>', id=user.id) }}" class="</a:t>
            </a:r>
            <a:r>
              <a:rPr lang="en-US" sz="2000" dirty="0" err="1">
                <a:latin typeface="Consolas" panose="020B0609020204030204" pitchFamily="49" charset="0"/>
              </a:rPr>
              <a:t>btn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</a:rPr>
              <a:t>btn-sm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</a:rPr>
              <a:t>btn</a:t>
            </a:r>
            <a:r>
              <a:rPr lang="en-US" sz="2000" dirty="0">
                <a:latin typeface="Consolas" panose="020B0609020204030204" pitchFamily="49" charset="0"/>
              </a:rPr>
              <a:t>-info"&gt;Edit&lt;/a&gt;</a:t>
            </a:r>
          </a:p>
          <a:p>
            <a:pPr lvl="4" algn="just"/>
            <a:r>
              <a:rPr lang="en-US" sz="2000" dirty="0">
                <a:latin typeface="Consolas" panose="020B0609020204030204" pitchFamily="49" charset="0"/>
              </a:rPr>
              <a:t>&lt;a </a:t>
            </a:r>
            <a:r>
              <a:rPr lang="en-US" sz="2000" dirty="0" err="1">
                <a:latin typeface="Consolas" panose="020B0609020204030204" pitchFamily="49" charset="0"/>
              </a:rPr>
              <a:t>href</a:t>
            </a:r>
            <a:r>
              <a:rPr lang="en-US" sz="2000" dirty="0">
                <a:latin typeface="Consolas" panose="020B0609020204030204" pitchFamily="49" charset="0"/>
              </a:rPr>
              <a:t>="{{ </a:t>
            </a:r>
            <a:r>
              <a:rPr lang="en-US" sz="2000" dirty="0" err="1">
                <a:latin typeface="Consolas" panose="020B0609020204030204" pitchFamily="49" charset="0"/>
              </a:rPr>
              <a:t>url_for</a:t>
            </a:r>
            <a:r>
              <a:rPr lang="en-US" sz="2000" dirty="0">
                <a:latin typeface="Consolas" panose="020B0609020204030204" pitchFamily="49" charset="0"/>
              </a:rPr>
              <a:t>('</a:t>
            </a:r>
            <a:r>
              <a:rPr lang="en-US" sz="2000" dirty="0" err="1">
                <a:latin typeface="Consolas" panose="020B0609020204030204" pitchFamily="49" charset="0"/>
              </a:rPr>
              <a:t>delete_user</a:t>
            </a:r>
            <a:r>
              <a:rPr lang="en-US" sz="2000" dirty="0">
                <a:latin typeface="Consolas" panose="020B0609020204030204" pitchFamily="49" charset="0"/>
              </a:rPr>
              <a:t>', id=user.id) }}" class="</a:t>
            </a:r>
            <a:r>
              <a:rPr lang="en-US" sz="2000" dirty="0" err="1">
                <a:latin typeface="Consolas" panose="020B0609020204030204" pitchFamily="49" charset="0"/>
              </a:rPr>
              <a:t>btn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</a:rPr>
              <a:t>btn-sm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</a:rPr>
              <a:t>btn</a:t>
            </a:r>
            <a:r>
              <a:rPr lang="en-US" sz="2000" dirty="0">
                <a:latin typeface="Consolas" panose="020B0609020204030204" pitchFamily="49" charset="0"/>
              </a:rPr>
              <a:t>-danger" onclick="return confirm('Are you sure?')"&gt;Delete&lt;/a&gt;            </a:t>
            </a:r>
          </a:p>
          <a:p>
            <a:pPr lvl="4" algn="just"/>
            <a:r>
              <a:rPr lang="en-US" sz="2000" dirty="0">
                <a:latin typeface="Consolas" panose="020B0609020204030204" pitchFamily="49" charset="0"/>
              </a:rPr>
              <a:t>&lt;/td&gt;</a:t>
            </a:r>
          </a:p>
          <a:p>
            <a:pPr lvl="3" algn="just"/>
            <a:r>
              <a:rPr lang="en-US" sz="2000" dirty="0">
                <a:latin typeface="Consolas" panose="020B0609020204030204" pitchFamily="49" charset="0"/>
              </a:rPr>
              <a:t>&lt;/tr&gt;</a:t>
            </a:r>
          </a:p>
          <a:p>
            <a:pPr algn="just"/>
            <a:r>
              <a:rPr lang="en-US" sz="2000" dirty="0">
                <a:latin typeface="Consolas" panose="020B0609020204030204" pitchFamily="49" charset="0"/>
              </a:rPr>
              <a:t>	{% </a:t>
            </a:r>
            <a:r>
              <a:rPr lang="en-US" sz="2000" dirty="0" err="1">
                <a:latin typeface="Consolas" panose="020B0609020204030204" pitchFamily="49" charset="0"/>
              </a:rPr>
              <a:t>endfor</a:t>
            </a:r>
            <a:r>
              <a:rPr lang="en-US" sz="2000" dirty="0">
                <a:latin typeface="Consolas" panose="020B0609020204030204" pitchFamily="49" charset="0"/>
              </a:rPr>
              <a:t> %}</a:t>
            </a:r>
          </a:p>
          <a:p>
            <a:pPr algn="just"/>
            <a:r>
              <a:rPr lang="en-US" sz="2000" dirty="0">
                <a:latin typeface="Consolas" panose="020B0609020204030204" pitchFamily="49" charset="0"/>
              </a:rPr>
              <a:t>	&lt;/</a:t>
            </a:r>
            <a:r>
              <a:rPr lang="en-US" sz="2000" dirty="0" err="1">
                <a:latin typeface="Consolas" panose="020B0609020204030204" pitchFamily="49" charset="0"/>
              </a:rPr>
              <a:t>tbody</a:t>
            </a:r>
            <a:r>
              <a:rPr lang="en-US" sz="2000" dirty="0">
                <a:latin typeface="Consolas" panose="020B0609020204030204" pitchFamily="49" charset="0"/>
              </a:rPr>
              <a:t>&gt;</a:t>
            </a:r>
          </a:p>
          <a:p>
            <a:pPr algn="just"/>
            <a:r>
              <a:rPr lang="en-US" sz="2000" dirty="0">
                <a:latin typeface="Consolas" panose="020B0609020204030204" pitchFamily="49" charset="0"/>
              </a:rPr>
              <a:t>&lt;/table&gt;</a:t>
            </a:r>
          </a:p>
        </p:txBody>
      </p:sp>
    </p:spTree>
    <p:extLst>
      <p:ext uri="{BB962C8B-B14F-4D97-AF65-F5344CB8AC3E}">
        <p14:creationId xmlns:p14="http://schemas.microsoft.com/office/powerpoint/2010/main" val="358254777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E21E6-D50B-7750-230C-990A4F91A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AE7C4C6-A242-3730-8D0E-5AB4CB41C0F7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547845F-607D-2556-302E-E6557148F259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63083FDA-D96F-3E78-7480-9B36B9F256A4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6C2C4091-F5F8-93AD-97EC-CB06F25FA200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1276002F-4766-DF0A-2FAE-CDF799E01E05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5D7199D5-57D0-9AC8-DB57-5F8C8121FA59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D3879085-42AF-939D-1E8E-FF744D8595D4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CRUD Operation Example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4DA7581-F005-ED1B-77BC-39F941B970F0}"/>
              </a:ext>
            </a:extLst>
          </p:cNvPr>
          <p:cNvSpPr txBox="1"/>
          <p:nvPr/>
        </p:nvSpPr>
        <p:spPr>
          <a:xfrm>
            <a:off x="177555" y="2095500"/>
            <a:ext cx="17881845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b="1" dirty="0">
                <a:latin typeface="Consolas" panose="020B0609020204030204" pitchFamily="49" charset="0"/>
              </a:rPr>
              <a:t>6.1 List User : app.py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@app.route('/users')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def </a:t>
            </a:r>
            <a:r>
              <a:rPr lang="en-US" sz="3600" dirty="0" err="1">
                <a:latin typeface="Consolas" panose="020B0609020204030204" pitchFamily="49" charset="0"/>
              </a:rPr>
              <a:t>list_users</a:t>
            </a:r>
            <a:r>
              <a:rPr lang="en-US" sz="3600" dirty="0">
                <a:latin typeface="Consolas" panose="020B0609020204030204" pitchFamily="49" charset="0"/>
              </a:rPr>
              <a:t>():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    cur = </a:t>
            </a:r>
            <a:r>
              <a:rPr lang="en-US" sz="3600" dirty="0" err="1">
                <a:latin typeface="Consolas" panose="020B0609020204030204" pitchFamily="49" charset="0"/>
              </a:rPr>
              <a:t>mysql.connection.cursor</a:t>
            </a:r>
            <a:r>
              <a:rPr lang="en-US" sz="3600" dirty="0">
                <a:latin typeface="Consolas" panose="020B0609020204030204" pitchFamily="49" charset="0"/>
              </a:rPr>
              <a:t>()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    </a:t>
            </a:r>
            <a:r>
              <a:rPr lang="en-US" sz="3600" dirty="0" err="1">
                <a:latin typeface="Consolas" panose="020B0609020204030204" pitchFamily="49" charset="0"/>
              </a:rPr>
              <a:t>cur.execute</a:t>
            </a:r>
            <a:r>
              <a:rPr lang="en-US" sz="3600" dirty="0">
                <a:latin typeface="Consolas" panose="020B0609020204030204" pitchFamily="49" charset="0"/>
              </a:rPr>
              <a:t>("SELECT * FROM users")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    users = </a:t>
            </a:r>
            <a:r>
              <a:rPr lang="en-US" sz="3600" dirty="0" err="1">
                <a:latin typeface="Consolas" panose="020B0609020204030204" pitchFamily="49" charset="0"/>
              </a:rPr>
              <a:t>cur.fetchall</a:t>
            </a:r>
            <a:r>
              <a:rPr lang="en-US" sz="3600" dirty="0">
                <a:latin typeface="Consolas" panose="020B0609020204030204" pitchFamily="49" charset="0"/>
              </a:rPr>
              <a:t>()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    </a:t>
            </a:r>
            <a:r>
              <a:rPr lang="en-US" sz="3600" dirty="0" err="1">
                <a:latin typeface="Consolas" panose="020B0609020204030204" pitchFamily="49" charset="0"/>
              </a:rPr>
              <a:t>cur.close</a:t>
            </a:r>
            <a:r>
              <a:rPr lang="en-US" sz="3600" dirty="0">
                <a:latin typeface="Consolas" panose="020B0609020204030204" pitchFamily="49" charset="0"/>
              </a:rPr>
              <a:t>()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    return </a:t>
            </a:r>
            <a:r>
              <a:rPr lang="en-US" sz="3600" dirty="0" err="1">
                <a:latin typeface="Consolas" panose="020B0609020204030204" pitchFamily="49" charset="0"/>
              </a:rPr>
              <a:t>render_template</a:t>
            </a:r>
            <a:r>
              <a:rPr lang="en-US" sz="3600" dirty="0">
                <a:latin typeface="Consolas" panose="020B0609020204030204" pitchFamily="49" charset="0"/>
              </a:rPr>
              <a:t>('list_users.html', users=users)</a:t>
            </a: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909129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FB55C-703A-FFE7-2B04-181414561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3947ECB-5221-0440-4EE5-C19FE6BFD6B3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1B450B5-DA74-09CD-818C-174EFAECD8B4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B02FC515-D21C-BDB0-9EEF-D7B4F8F75E0B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6B2DF36C-18A7-264E-2D32-9FE8E2CB5E4B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04B66286-7E2B-18BB-48F5-E3733619E6CD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354D2F81-133F-2E26-44DF-10BEE46EDA30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A856562F-098E-79F3-6A10-BC07ED0087FD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CRUD Operation Example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97C2F7E-E5CF-AB7A-BFEB-7D5C6AEA7A90}"/>
              </a:ext>
            </a:extLst>
          </p:cNvPr>
          <p:cNvSpPr txBox="1"/>
          <p:nvPr/>
        </p:nvSpPr>
        <p:spPr>
          <a:xfrm>
            <a:off x="177555" y="2095500"/>
            <a:ext cx="17881845" cy="81253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 dirty="0">
                <a:latin typeface="Consolas" panose="020B0609020204030204" pitchFamily="49" charset="0"/>
              </a:rPr>
              <a:t>6.2 Add/Update User : add_user.html / update_user.html</a:t>
            </a:r>
          </a:p>
          <a:p>
            <a:pPr algn="just"/>
            <a:r>
              <a:rPr lang="en-US" dirty="0">
                <a:latin typeface="Consolas" panose="020B0609020204030204" pitchFamily="49" charset="0"/>
              </a:rPr>
              <a:t>&lt;h2&gt;{{ title }}&lt;/h2&gt;</a:t>
            </a:r>
          </a:p>
          <a:p>
            <a:pPr algn="just"/>
            <a:r>
              <a:rPr lang="en-US" dirty="0">
                <a:latin typeface="Consolas" panose="020B0609020204030204" pitchFamily="49" charset="0"/>
              </a:rPr>
              <a:t>&lt;form method="post"&gt;</a:t>
            </a:r>
          </a:p>
          <a:p>
            <a:pPr algn="just"/>
            <a:r>
              <a:rPr lang="en-US" dirty="0">
                <a:latin typeface="Consolas" panose="020B0609020204030204" pitchFamily="49" charset="0"/>
              </a:rPr>
              <a:t>    {{ </a:t>
            </a:r>
            <a:r>
              <a:rPr lang="en-US" dirty="0" err="1">
                <a:latin typeface="Consolas" panose="020B0609020204030204" pitchFamily="49" charset="0"/>
              </a:rPr>
              <a:t>form.hidden_tag</a:t>
            </a:r>
            <a:r>
              <a:rPr lang="en-US" dirty="0">
                <a:latin typeface="Consolas" panose="020B0609020204030204" pitchFamily="49" charset="0"/>
              </a:rPr>
              <a:t>() }}</a:t>
            </a:r>
            <a:endParaRPr lang="en-US" sz="800" dirty="0">
              <a:latin typeface="Consolas" panose="020B0609020204030204" pitchFamily="49" charset="0"/>
            </a:endParaRPr>
          </a:p>
          <a:p>
            <a:pPr algn="just"/>
            <a:r>
              <a:rPr lang="en-US" dirty="0">
                <a:latin typeface="Consolas" panose="020B0609020204030204" pitchFamily="49" charset="0"/>
              </a:rPr>
              <a:t>    &lt;div class="mb-3"&gt;</a:t>
            </a:r>
          </a:p>
          <a:p>
            <a:pPr algn="just"/>
            <a:r>
              <a:rPr lang="en-US" dirty="0">
                <a:latin typeface="Consolas" panose="020B0609020204030204" pitchFamily="49" charset="0"/>
              </a:rPr>
              <a:t>        {{ </a:t>
            </a:r>
            <a:r>
              <a:rPr lang="en-US" dirty="0" err="1">
                <a:latin typeface="Consolas" panose="020B0609020204030204" pitchFamily="49" charset="0"/>
              </a:rPr>
              <a:t>form.fullname.label</a:t>
            </a:r>
            <a:r>
              <a:rPr lang="en-US" dirty="0">
                <a:latin typeface="Consolas" panose="020B0609020204030204" pitchFamily="49" charset="0"/>
              </a:rPr>
              <a:t>(class="form-label") }}</a:t>
            </a:r>
          </a:p>
          <a:p>
            <a:pPr algn="just"/>
            <a:r>
              <a:rPr lang="en-US" dirty="0">
                <a:latin typeface="Consolas" panose="020B0609020204030204" pitchFamily="49" charset="0"/>
              </a:rPr>
              <a:t>        {{ </a:t>
            </a:r>
            <a:r>
              <a:rPr lang="en-US" dirty="0" err="1">
                <a:latin typeface="Consolas" panose="020B0609020204030204" pitchFamily="49" charset="0"/>
              </a:rPr>
              <a:t>form.fullname</a:t>
            </a:r>
            <a:r>
              <a:rPr lang="en-US" dirty="0">
                <a:latin typeface="Consolas" panose="020B0609020204030204" pitchFamily="49" charset="0"/>
              </a:rPr>
              <a:t>(class="form-control", placeholder="Enter full name") }}</a:t>
            </a:r>
          </a:p>
          <a:p>
            <a:pPr algn="just"/>
            <a:r>
              <a:rPr lang="en-US" dirty="0">
                <a:latin typeface="Consolas" panose="020B0609020204030204" pitchFamily="49" charset="0"/>
              </a:rPr>
              <a:t>        {% for error in </a:t>
            </a:r>
            <a:r>
              <a:rPr lang="en-US" dirty="0" err="1">
                <a:latin typeface="Consolas" panose="020B0609020204030204" pitchFamily="49" charset="0"/>
              </a:rPr>
              <a:t>form.fullname.errors</a:t>
            </a:r>
            <a:r>
              <a:rPr lang="en-US" dirty="0">
                <a:latin typeface="Consolas" panose="020B0609020204030204" pitchFamily="49" charset="0"/>
              </a:rPr>
              <a:t> %}</a:t>
            </a:r>
          </a:p>
          <a:p>
            <a:pPr algn="just"/>
            <a:r>
              <a:rPr lang="en-US" dirty="0">
                <a:latin typeface="Consolas" panose="020B0609020204030204" pitchFamily="49" charset="0"/>
              </a:rPr>
              <a:t>            &lt;div class="text-danger small mt-1"&gt;{{ error }}&lt;/div&gt;</a:t>
            </a:r>
          </a:p>
          <a:p>
            <a:pPr algn="just"/>
            <a:r>
              <a:rPr lang="en-US" dirty="0">
                <a:latin typeface="Consolas" panose="020B0609020204030204" pitchFamily="49" charset="0"/>
              </a:rPr>
              <a:t>        {% </a:t>
            </a:r>
            <a:r>
              <a:rPr lang="en-US" dirty="0" err="1">
                <a:latin typeface="Consolas" panose="020B0609020204030204" pitchFamily="49" charset="0"/>
              </a:rPr>
              <a:t>endfor</a:t>
            </a:r>
            <a:r>
              <a:rPr lang="en-US" dirty="0">
                <a:latin typeface="Consolas" panose="020B0609020204030204" pitchFamily="49" charset="0"/>
              </a:rPr>
              <a:t> %}</a:t>
            </a:r>
          </a:p>
          <a:p>
            <a:pPr algn="just"/>
            <a:r>
              <a:rPr lang="en-US" dirty="0">
                <a:latin typeface="Consolas" panose="020B0609020204030204" pitchFamily="49" charset="0"/>
              </a:rPr>
              <a:t>    &lt;/div&gt;</a:t>
            </a:r>
            <a:endParaRPr lang="en-US" sz="700" dirty="0">
              <a:latin typeface="Consolas" panose="020B0609020204030204" pitchFamily="49" charset="0"/>
            </a:endParaRPr>
          </a:p>
          <a:p>
            <a:pPr algn="just"/>
            <a:r>
              <a:rPr lang="en-US" dirty="0">
                <a:latin typeface="Consolas" panose="020B0609020204030204" pitchFamily="49" charset="0"/>
              </a:rPr>
              <a:t>    &lt;div class="mb-3"&gt;</a:t>
            </a:r>
          </a:p>
          <a:p>
            <a:pPr algn="just"/>
            <a:r>
              <a:rPr lang="en-US" dirty="0">
                <a:latin typeface="Consolas" panose="020B0609020204030204" pitchFamily="49" charset="0"/>
              </a:rPr>
              <a:t>        {{ </a:t>
            </a:r>
            <a:r>
              <a:rPr lang="en-US" dirty="0" err="1">
                <a:latin typeface="Consolas" panose="020B0609020204030204" pitchFamily="49" charset="0"/>
              </a:rPr>
              <a:t>form.email.label</a:t>
            </a:r>
            <a:r>
              <a:rPr lang="en-US" dirty="0">
                <a:latin typeface="Consolas" panose="020B0609020204030204" pitchFamily="49" charset="0"/>
              </a:rPr>
              <a:t>(class="form-label") }}</a:t>
            </a:r>
          </a:p>
          <a:p>
            <a:pPr algn="just"/>
            <a:r>
              <a:rPr lang="en-US" dirty="0">
                <a:latin typeface="Consolas" panose="020B0609020204030204" pitchFamily="49" charset="0"/>
              </a:rPr>
              <a:t>        {{ </a:t>
            </a:r>
            <a:r>
              <a:rPr lang="en-US" dirty="0" err="1">
                <a:latin typeface="Consolas" panose="020B0609020204030204" pitchFamily="49" charset="0"/>
              </a:rPr>
              <a:t>form.email</a:t>
            </a:r>
            <a:r>
              <a:rPr lang="en-US" dirty="0">
                <a:latin typeface="Consolas" panose="020B0609020204030204" pitchFamily="49" charset="0"/>
              </a:rPr>
              <a:t>(class="form-control", placeholder="Enter email") }}</a:t>
            </a:r>
          </a:p>
          <a:p>
            <a:pPr algn="just"/>
            <a:r>
              <a:rPr lang="en-US" dirty="0">
                <a:latin typeface="Consolas" panose="020B0609020204030204" pitchFamily="49" charset="0"/>
              </a:rPr>
              <a:t>        {% for error in </a:t>
            </a:r>
            <a:r>
              <a:rPr lang="en-US" dirty="0" err="1">
                <a:latin typeface="Consolas" panose="020B0609020204030204" pitchFamily="49" charset="0"/>
              </a:rPr>
              <a:t>form.email.errors</a:t>
            </a:r>
            <a:r>
              <a:rPr lang="en-US" dirty="0">
                <a:latin typeface="Consolas" panose="020B0609020204030204" pitchFamily="49" charset="0"/>
              </a:rPr>
              <a:t> %}</a:t>
            </a:r>
          </a:p>
          <a:p>
            <a:pPr algn="just"/>
            <a:r>
              <a:rPr lang="en-US" dirty="0">
                <a:latin typeface="Consolas" panose="020B0609020204030204" pitchFamily="49" charset="0"/>
              </a:rPr>
              <a:t>            &lt;div class="text-danger small mt-1"&gt;{{ error }}&lt;/div&gt;</a:t>
            </a:r>
          </a:p>
          <a:p>
            <a:pPr algn="just"/>
            <a:r>
              <a:rPr lang="en-US" dirty="0">
                <a:latin typeface="Consolas" panose="020B0609020204030204" pitchFamily="49" charset="0"/>
              </a:rPr>
              <a:t>        {% </a:t>
            </a:r>
            <a:r>
              <a:rPr lang="en-US" dirty="0" err="1">
                <a:latin typeface="Consolas" panose="020B0609020204030204" pitchFamily="49" charset="0"/>
              </a:rPr>
              <a:t>endfor</a:t>
            </a:r>
            <a:r>
              <a:rPr lang="en-US" dirty="0">
                <a:latin typeface="Consolas" panose="020B0609020204030204" pitchFamily="49" charset="0"/>
              </a:rPr>
              <a:t> %}</a:t>
            </a:r>
          </a:p>
          <a:p>
            <a:pPr algn="just"/>
            <a:r>
              <a:rPr lang="en-US" dirty="0">
                <a:latin typeface="Consolas" panose="020B0609020204030204" pitchFamily="49" charset="0"/>
              </a:rPr>
              <a:t>    &lt;/div&gt;</a:t>
            </a:r>
            <a:endParaRPr lang="en-US" sz="800" dirty="0">
              <a:latin typeface="Consolas" panose="020B0609020204030204" pitchFamily="49" charset="0"/>
            </a:endParaRPr>
          </a:p>
          <a:p>
            <a:pPr algn="just"/>
            <a:r>
              <a:rPr lang="en-US" dirty="0">
                <a:latin typeface="Consolas" panose="020B0609020204030204" pitchFamily="49" charset="0"/>
              </a:rPr>
              <a:t>    &lt;div class="mb-3"&gt;</a:t>
            </a:r>
          </a:p>
          <a:p>
            <a:pPr algn="just"/>
            <a:r>
              <a:rPr lang="en-US" dirty="0">
                <a:latin typeface="Consolas" panose="020B0609020204030204" pitchFamily="49" charset="0"/>
              </a:rPr>
              <a:t>        {{ </a:t>
            </a:r>
            <a:r>
              <a:rPr lang="en-US" dirty="0" err="1">
                <a:latin typeface="Consolas" panose="020B0609020204030204" pitchFamily="49" charset="0"/>
              </a:rPr>
              <a:t>form.usr_pwd.label</a:t>
            </a:r>
            <a:r>
              <a:rPr lang="en-US" dirty="0">
                <a:latin typeface="Consolas" panose="020B0609020204030204" pitchFamily="49" charset="0"/>
              </a:rPr>
              <a:t>(class="form-label") }}</a:t>
            </a:r>
          </a:p>
          <a:p>
            <a:pPr algn="just"/>
            <a:r>
              <a:rPr lang="en-US" dirty="0">
                <a:latin typeface="Consolas" panose="020B0609020204030204" pitchFamily="49" charset="0"/>
              </a:rPr>
              <a:t>        {{ </a:t>
            </a:r>
            <a:r>
              <a:rPr lang="en-US" dirty="0" err="1">
                <a:latin typeface="Consolas" panose="020B0609020204030204" pitchFamily="49" charset="0"/>
              </a:rPr>
              <a:t>form.usr_pwd</a:t>
            </a:r>
            <a:r>
              <a:rPr lang="en-US" dirty="0">
                <a:latin typeface="Consolas" panose="020B0609020204030204" pitchFamily="49" charset="0"/>
              </a:rPr>
              <a:t>(class="form-control", placeholder="Enter password") }}</a:t>
            </a:r>
          </a:p>
          <a:p>
            <a:pPr algn="just"/>
            <a:r>
              <a:rPr lang="en-US" dirty="0">
                <a:latin typeface="Consolas" panose="020B0609020204030204" pitchFamily="49" charset="0"/>
              </a:rPr>
              <a:t>        {% for error in </a:t>
            </a:r>
            <a:r>
              <a:rPr lang="en-US" dirty="0" err="1">
                <a:latin typeface="Consolas" panose="020B0609020204030204" pitchFamily="49" charset="0"/>
              </a:rPr>
              <a:t>form.usr_pwd.errors</a:t>
            </a:r>
            <a:r>
              <a:rPr lang="en-US" dirty="0">
                <a:latin typeface="Consolas" panose="020B0609020204030204" pitchFamily="49" charset="0"/>
              </a:rPr>
              <a:t> %}</a:t>
            </a:r>
          </a:p>
          <a:p>
            <a:pPr algn="just"/>
            <a:r>
              <a:rPr lang="en-US" dirty="0">
                <a:latin typeface="Consolas" panose="020B0609020204030204" pitchFamily="49" charset="0"/>
              </a:rPr>
              <a:t>            &lt;div class="text-danger small mt-1"&gt;{{ error }}&lt;/div&gt;</a:t>
            </a:r>
          </a:p>
          <a:p>
            <a:pPr algn="just"/>
            <a:r>
              <a:rPr lang="en-US" dirty="0">
                <a:latin typeface="Consolas" panose="020B0609020204030204" pitchFamily="49" charset="0"/>
              </a:rPr>
              <a:t>        {% </a:t>
            </a:r>
            <a:r>
              <a:rPr lang="en-US" dirty="0" err="1">
                <a:latin typeface="Consolas" panose="020B0609020204030204" pitchFamily="49" charset="0"/>
              </a:rPr>
              <a:t>endfor</a:t>
            </a:r>
            <a:r>
              <a:rPr lang="en-US" dirty="0">
                <a:latin typeface="Consolas" panose="020B0609020204030204" pitchFamily="49" charset="0"/>
              </a:rPr>
              <a:t> %}</a:t>
            </a:r>
          </a:p>
          <a:p>
            <a:pPr algn="just"/>
            <a:r>
              <a:rPr lang="en-US" dirty="0">
                <a:latin typeface="Consolas" panose="020B0609020204030204" pitchFamily="49" charset="0"/>
              </a:rPr>
              <a:t>    &lt;/div&gt;</a:t>
            </a:r>
            <a:endParaRPr lang="en-US" sz="800" dirty="0">
              <a:latin typeface="Consolas" panose="020B0609020204030204" pitchFamily="49" charset="0"/>
            </a:endParaRPr>
          </a:p>
          <a:p>
            <a:pPr algn="just"/>
            <a:r>
              <a:rPr lang="en-US" dirty="0">
                <a:latin typeface="Consolas" panose="020B0609020204030204" pitchFamily="49" charset="0"/>
              </a:rPr>
              <a:t>    {{ </a:t>
            </a:r>
            <a:r>
              <a:rPr lang="en-US" dirty="0" err="1">
                <a:latin typeface="Consolas" panose="020B0609020204030204" pitchFamily="49" charset="0"/>
              </a:rPr>
              <a:t>form.submit</a:t>
            </a:r>
            <a:r>
              <a:rPr lang="en-US" dirty="0">
                <a:latin typeface="Consolas" panose="020B0609020204030204" pitchFamily="49" charset="0"/>
              </a:rPr>
              <a:t>(class="</a:t>
            </a:r>
            <a:r>
              <a:rPr lang="en-US" dirty="0" err="1">
                <a:latin typeface="Consolas" panose="020B0609020204030204" pitchFamily="49" charset="0"/>
              </a:rPr>
              <a:t>btn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btn</a:t>
            </a:r>
            <a:r>
              <a:rPr lang="en-US" dirty="0">
                <a:latin typeface="Consolas" panose="020B0609020204030204" pitchFamily="49" charset="0"/>
              </a:rPr>
              <a:t>-primary") }}</a:t>
            </a:r>
          </a:p>
          <a:p>
            <a:pPr algn="just"/>
            <a:r>
              <a:rPr lang="en-US" dirty="0">
                <a:latin typeface="Consolas" panose="020B0609020204030204" pitchFamily="49" charset="0"/>
              </a:rPr>
              <a:t>    &lt;a </a:t>
            </a:r>
            <a:r>
              <a:rPr lang="en-US" dirty="0" err="1">
                <a:latin typeface="Consolas" panose="020B0609020204030204" pitchFamily="49" charset="0"/>
              </a:rPr>
              <a:t>href</a:t>
            </a:r>
            <a:r>
              <a:rPr lang="en-US" dirty="0">
                <a:latin typeface="Consolas" panose="020B0609020204030204" pitchFamily="49" charset="0"/>
              </a:rPr>
              <a:t>="{{ </a:t>
            </a:r>
            <a:r>
              <a:rPr lang="en-US" dirty="0" err="1">
                <a:latin typeface="Consolas" panose="020B0609020204030204" pitchFamily="49" charset="0"/>
              </a:rPr>
              <a:t>url_for</a:t>
            </a:r>
            <a:r>
              <a:rPr lang="en-US" dirty="0">
                <a:latin typeface="Consolas" panose="020B0609020204030204" pitchFamily="49" charset="0"/>
              </a:rPr>
              <a:t>('</a:t>
            </a:r>
            <a:r>
              <a:rPr lang="en-US" dirty="0" err="1">
                <a:latin typeface="Consolas" panose="020B0609020204030204" pitchFamily="49" charset="0"/>
              </a:rPr>
              <a:t>list_users</a:t>
            </a:r>
            <a:r>
              <a:rPr lang="en-US" dirty="0">
                <a:latin typeface="Consolas" panose="020B0609020204030204" pitchFamily="49" charset="0"/>
              </a:rPr>
              <a:t>') }}" class="</a:t>
            </a:r>
            <a:r>
              <a:rPr lang="en-US" dirty="0" err="1">
                <a:latin typeface="Consolas" panose="020B0609020204030204" pitchFamily="49" charset="0"/>
              </a:rPr>
              <a:t>btn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btn</a:t>
            </a:r>
            <a:r>
              <a:rPr lang="en-US" dirty="0">
                <a:latin typeface="Consolas" panose="020B0609020204030204" pitchFamily="49" charset="0"/>
              </a:rPr>
              <a:t>-secondary ms-2"&gt;Back&lt;/a&gt;</a:t>
            </a:r>
          </a:p>
          <a:p>
            <a:pPr algn="just"/>
            <a:r>
              <a:rPr lang="en-US" dirty="0">
                <a:latin typeface="Consolas" panose="020B0609020204030204" pitchFamily="49" charset="0"/>
              </a:rPr>
              <a:t>&lt;/form&gt;</a:t>
            </a:r>
          </a:p>
        </p:txBody>
      </p:sp>
    </p:spTree>
    <p:extLst>
      <p:ext uri="{BB962C8B-B14F-4D97-AF65-F5344CB8AC3E}">
        <p14:creationId xmlns:p14="http://schemas.microsoft.com/office/powerpoint/2010/main" val="365464474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720F9-02D8-B484-F21E-0287C0641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CCE08AE-74CA-84D8-D613-9C529B9D4BB3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F198781-E21B-703E-4E10-CB9B2A7C564E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F69CB023-5B4F-9165-6E99-6F3741EA3574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691790F9-9D46-F2D3-01D6-A0F3CB70F73A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BB26FD7E-43E4-954A-94A8-692DFA854AB9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31216745-CD42-DC34-D214-CABA419A184E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5DEB82FD-3E6F-3F43-53A7-3E0933AF908E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CRUD Operation Example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649C5F8-8F3F-3CAB-C9A8-FD68FCA3AF2B}"/>
              </a:ext>
            </a:extLst>
          </p:cNvPr>
          <p:cNvSpPr txBox="1"/>
          <p:nvPr/>
        </p:nvSpPr>
        <p:spPr>
          <a:xfrm>
            <a:off x="177555" y="2095500"/>
            <a:ext cx="17881845" cy="76328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000" b="1" dirty="0">
                <a:latin typeface="Consolas" panose="020B0609020204030204" pitchFamily="49" charset="0"/>
              </a:rPr>
              <a:t>6.2a Add User : app.py</a:t>
            </a:r>
          </a:p>
          <a:p>
            <a:pPr algn="just"/>
            <a:r>
              <a:rPr lang="en-US" sz="3000" dirty="0">
                <a:latin typeface="Consolas" panose="020B0609020204030204" pitchFamily="49" charset="0"/>
              </a:rPr>
              <a:t>@app.route('/add', methods=['GET', 'POST'])</a:t>
            </a:r>
          </a:p>
          <a:p>
            <a:pPr algn="just"/>
            <a:r>
              <a:rPr lang="en-US" sz="3000" dirty="0">
                <a:latin typeface="Consolas" panose="020B0609020204030204" pitchFamily="49" charset="0"/>
              </a:rPr>
              <a:t>def </a:t>
            </a:r>
            <a:r>
              <a:rPr lang="en-US" sz="3000" dirty="0" err="1">
                <a:latin typeface="Consolas" panose="020B0609020204030204" pitchFamily="49" charset="0"/>
              </a:rPr>
              <a:t>add_user</a:t>
            </a:r>
            <a:r>
              <a:rPr lang="en-US" sz="3000" dirty="0">
                <a:latin typeface="Consolas" panose="020B0609020204030204" pitchFamily="49" charset="0"/>
              </a:rPr>
              <a:t>():</a:t>
            </a:r>
          </a:p>
          <a:p>
            <a:pPr algn="just"/>
            <a:r>
              <a:rPr lang="en-US" sz="3000" dirty="0">
                <a:latin typeface="Consolas" panose="020B0609020204030204" pitchFamily="49" charset="0"/>
              </a:rPr>
              <a:t>    form = </a:t>
            </a:r>
            <a:r>
              <a:rPr lang="en-US" sz="3000" dirty="0" err="1">
                <a:latin typeface="Consolas" panose="020B0609020204030204" pitchFamily="49" charset="0"/>
              </a:rPr>
              <a:t>UserForm</a:t>
            </a:r>
            <a:r>
              <a:rPr lang="en-US" sz="3000" dirty="0">
                <a:latin typeface="Consolas" panose="020B0609020204030204" pitchFamily="49" charset="0"/>
              </a:rPr>
              <a:t>()</a:t>
            </a:r>
          </a:p>
          <a:p>
            <a:pPr algn="just"/>
            <a:r>
              <a:rPr lang="en-US" sz="3000" dirty="0">
                <a:latin typeface="Consolas" panose="020B0609020204030204" pitchFamily="49" charset="0"/>
              </a:rPr>
              <a:t>    if </a:t>
            </a:r>
            <a:r>
              <a:rPr lang="en-US" sz="3000" dirty="0" err="1">
                <a:latin typeface="Consolas" panose="020B0609020204030204" pitchFamily="49" charset="0"/>
              </a:rPr>
              <a:t>form.validate_on_submit</a:t>
            </a:r>
            <a:r>
              <a:rPr lang="en-US" sz="3000" dirty="0">
                <a:latin typeface="Consolas" panose="020B0609020204030204" pitchFamily="49" charset="0"/>
              </a:rPr>
              <a:t>():</a:t>
            </a:r>
          </a:p>
          <a:p>
            <a:pPr algn="just"/>
            <a:r>
              <a:rPr lang="en-US" sz="3000" dirty="0">
                <a:latin typeface="Consolas" panose="020B0609020204030204" pitchFamily="49" charset="0"/>
              </a:rPr>
              <a:t>        </a:t>
            </a:r>
            <a:r>
              <a:rPr lang="en-US" sz="3000" dirty="0" err="1">
                <a:latin typeface="Consolas" panose="020B0609020204030204" pitchFamily="49" charset="0"/>
              </a:rPr>
              <a:t>fullname</a:t>
            </a:r>
            <a:r>
              <a:rPr lang="en-US" sz="3000" dirty="0">
                <a:latin typeface="Consolas" panose="020B0609020204030204" pitchFamily="49" charset="0"/>
              </a:rPr>
              <a:t> = </a:t>
            </a:r>
            <a:r>
              <a:rPr lang="en-US" sz="3000" dirty="0" err="1">
                <a:latin typeface="Consolas" panose="020B0609020204030204" pitchFamily="49" charset="0"/>
              </a:rPr>
              <a:t>form.fullname.data</a:t>
            </a:r>
            <a:endParaRPr lang="en-US" sz="3000" dirty="0">
              <a:latin typeface="Consolas" panose="020B0609020204030204" pitchFamily="49" charset="0"/>
            </a:endParaRPr>
          </a:p>
          <a:p>
            <a:pPr algn="just"/>
            <a:r>
              <a:rPr lang="en-US" sz="3000" dirty="0">
                <a:latin typeface="Consolas" panose="020B0609020204030204" pitchFamily="49" charset="0"/>
              </a:rPr>
              <a:t>        email = </a:t>
            </a:r>
            <a:r>
              <a:rPr lang="en-US" sz="3000" dirty="0" err="1">
                <a:latin typeface="Consolas" panose="020B0609020204030204" pitchFamily="49" charset="0"/>
              </a:rPr>
              <a:t>form.email.data</a:t>
            </a:r>
            <a:endParaRPr lang="en-US" sz="3000" dirty="0">
              <a:latin typeface="Consolas" panose="020B0609020204030204" pitchFamily="49" charset="0"/>
            </a:endParaRPr>
          </a:p>
          <a:p>
            <a:pPr algn="just"/>
            <a:r>
              <a:rPr lang="en-US" sz="3000" dirty="0">
                <a:latin typeface="Consolas" panose="020B0609020204030204" pitchFamily="49" charset="0"/>
              </a:rPr>
              <a:t>        </a:t>
            </a:r>
            <a:r>
              <a:rPr lang="en-US" sz="3000" dirty="0" err="1">
                <a:latin typeface="Consolas" panose="020B0609020204030204" pitchFamily="49" charset="0"/>
              </a:rPr>
              <a:t>usr_pwd</a:t>
            </a:r>
            <a:r>
              <a:rPr lang="en-US" sz="3000" dirty="0">
                <a:latin typeface="Consolas" panose="020B0609020204030204" pitchFamily="49" charset="0"/>
              </a:rPr>
              <a:t> = </a:t>
            </a:r>
            <a:r>
              <a:rPr lang="en-US" sz="3000" dirty="0" err="1">
                <a:latin typeface="Consolas" panose="020B0609020204030204" pitchFamily="49" charset="0"/>
              </a:rPr>
              <a:t>form.usr_pwd.data</a:t>
            </a:r>
            <a:endParaRPr lang="en-US" sz="3000" dirty="0">
              <a:latin typeface="Consolas" panose="020B0609020204030204" pitchFamily="49" charset="0"/>
            </a:endParaRPr>
          </a:p>
          <a:p>
            <a:pPr algn="just"/>
            <a:endParaRPr lang="en-US" sz="1000" dirty="0">
              <a:latin typeface="Consolas" panose="020B0609020204030204" pitchFamily="49" charset="0"/>
            </a:endParaRPr>
          </a:p>
          <a:p>
            <a:pPr algn="just"/>
            <a:r>
              <a:rPr lang="en-US" sz="3000" dirty="0">
                <a:latin typeface="Consolas" panose="020B0609020204030204" pitchFamily="49" charset="0"/>
              </a:rPr>
              <a:t>        cur = </a:t>
            </a:r>
            <a:r>
              <a:rPr lang="en-US" sz="3000" dirty="0" err="1">
                <a:latin typeface="Consolas" panose="020B0609020204030204" pitchFamily="49" charset="0"/>
              </a:rPr>
              <a:t>mysql.connection.cursor</a:t>
            </a:r>
            <a:r>
              <a:rPr lang="en-US" sz="3000" dirty="0">
                <a:latin typeface="Consolas" panose="020B0609020204030204" pitchFamily="49" charset="0"/>
              </a:rPr>
              <a:t>()</a:t>
            </a:r>
          </a:p>
          <a:p>
            <a:pPr algn="just"/>
            <a:r>
              <a:rPr lang="en-US" sz="3000" dirty="0">
                <a:latin typeface="Consolas" panose="020B0609020204030204" pitchFamily="49" charset="0"/>
              </a:rPr>
              <a:t>        </a:t>
            </a:r>
            <a:r>
              <a:rPr lang="en-US" sz="3000" dirty="0" err="1">
                <a:latin typeface="Consolas" panose="020B0609020204030204" pitchFamily="49" charset="0"/>
              </a:rPr>
              <a:t>cur.execute</a:t>
            </a:r>
            <a:r>
              <a:rPr lang="en-US" sz="3000" dirty="0">
                <a:latin typeface="Consolas" panose="020B0609020204030204" pitchFamily="49" charset="0"/>
              </a:rPr>
              <a:t>("INSERT INTO users(</a:t>
            </a:r>
            <a:r>
              <a:rPr lang="en-US" sz="3000" dirty="0" err="1">
                <a:latin typeface="Consolas" panose="020B0609020204030204" pitchFamily="49" charset="0"/>
              </a:rPr>
              <a:t>fullname,email,usr_pwd</a:t>
            </a:r>
            <a:r>
              <a:rPr lang="en-US" sz="3000" dirty="0">
                <a:latin typeface="Consolas" panose="020B0609020204030204" pitchFamily="49" charset="0"/>
              </a:rPr>
              <a:t>) VALUES(%</a:t>
            </a:r>
            <a:r>
              <a:rPr lang="en-US" sz="3000" dirty="0" err="1">
                <a:latin typeface="Consolas" panose="020B0609020204030204" pitchFamily="49" charset="0"/>
              </a:rPr>
              <a:t>s,%s,%s</a:t>
            </a:r>
            <a:r>
              <a:rPr lang="en-US" sz="3000" dirty="0">
                <a:latin typeface="Consolas" panose="020B0609020204030204" pitchFamily="49" charset="0"/>
              </a:rPr>
              <a:t>)", (</a:t>
            </a:r>
            <a:r>
              <a:rPr lang="en-US" sz="3000" dirty="0" err="1">
                <a:latin typeface="Consolas" panose="020B0609020204030204" pitchFamily="49" charset="0"/>
              </a:rPr>
              <a:t>fullname,email,usr_pwd</a:t>
            </a:r>
            <a:r>
              <a:rPr lang="en-US" sz="3000" dirty="0">
                <a:latin typeface="Consolas" panose="020B0609020204030204" pitchFamily="49" charset="0"/>
              </a:rPr>
              <a:t>))</a:t>
            </a:r>
          </a:p>
          <a:p>
            <a:pPr algn="just"/>
            <a:r>
              <a:rPr lang="en-US" sz="3000" dirty="0">
                <a:latin typeface="Consolas" panose="020B0609020204030204" pitchFamily="49" charset="0"/>
              </a:rPr>
              <a:t>        </a:t>
            </a:r>
            <a:r>
              <a:rPr lang="en-US" sz="3000" dirty="0" err="1">
                <a:latin typeface="Consolas" panose="020B0609020204030204" pitchFamily="49" charset="0"/>
              </a:rPr>
              <a:t>mysql.connection.commit</a:t>
            </a:r>
            <a:r>
              <a:rPr lang="en-US" sz="3000" dirty="0">
                <a:latin typeface="Consolas" panose="020B0609020204030204" pitchFamily="49" charset="0"/>
              </a:rPr>
              <a:t>()</a:t>
            </a:r>
          </a:p>
          <a:p>
            <a:pPr algn="just"/>
            <a:r>
              <a:rPr lang="en-US" sz="3000" dirty="0">
                <a:latin typeface="Consolas" panose="020B0609020204030204" pitchFamily="49" charset="0"/>
              </a:rPr>
              <a:t>        </a:t>
            </a:r>
            <a:r>
              <a:rPr lang="en-US" sz="3000" dirty="0" err="1">
                <a:latin typeface="Consolas" panose="020B0609020204030204" pitchFamily="49" charset="0"/>
              </a:rPr>
              <a:t>cur.close</a:t>
            </a:r>
            <a:r>
              <a:rPr lang="en-US" sz="3000" dirty="0">
                <a:latin typeface="Consolas" panose="020B0609020204030204" pitchFamily="49" charset="0"/>
              </a:rPr>
              <a:t>()</a:t>
            </a:r>
          </a:p>
          <a:p>
            <a:pPr algn="just"/>
            <a:r>
              <a:rPr lang="en-US" sz="3000" dirty="0">
                <a:latin typeface="Consolas" panose="020B0609020204030204" pitchFamily="49" charset="0"/>
              </a:rPr>
              <a:t>        flash('User added successfully!', 'success')</a:t>
            </a:r>
          </a:p>
          <a:p>
            <a:pPr algn="just"/>
            <a:r>
              <a:rPr lang="en-US" sz="3000" dirty="0">
                <a:latin typeface="Consolas" panose="020B0609020204030204" pitchFamily="49" charset="0"/>
              </a:rPr>
              <a:t>        return redirect(</a:t>
            </a:r>
            <a:r>
              <a:rPr lang="en-US" sz="3000" dirty="0" err="1">
                <a:latin typeface="Consolas" panose="020B0609020204030204" pitchFamily="49" charset="0"/>
              </a:rPr>
              <a:t>url_for</a:t>
            </a:r>
            <a:r>
              <a:rPr lang="en-US" sz="3000" dirty="0">
                <a:latin typeface="Consolas" panose="020B0609020204030204" pitchFamily="49" charset="0"/>
              </a:rPr>
              <a:t>('</a:t>
            </a:r>
            <a:r>
              <a:rPr lang="en-US" sz="3000" dirty="0" err="1">
                <a:latin typeface="Consolas" panose="020B0609020204030204" pitchFamily="49" charset="0"/>
              </a:rPr>
              <a:t>list_users</a:t>
            </a:r>
            <a:r>
              <a:rPr lang="en-US" sz="3000" dirty="0">
                <a:latin typeface="Consolas" panose="020B0609020204030204" pitchFamily="49" charset="0"/>
              </a:rPr>
              <a:t>'))</a:t>
            </a:r>
          </a:p>
          <a:p>
            <a:pPr algn="just"/>
            <a:r>
              <a:rPr lang="en-US" sz="3000" dirty="0">
                <a:latin typeface="Consolas" panose="020B0609020204030204" pitchFamily="49" charset="0"/>
              </a:rPr>
              <a:t>    return </a:t>
            </a:r>
            <a:r>
              <a:rPr lang="en-US" sz="3000" dirty="0" err="1">
                <a:latin typeface="Consolas" panose="020B0609020204030204" pitchFamily="49" charset="0"/>
              </a:rPr>
              <a:t>render_template</a:t>
            </a:r>
            <a:r>
              <a:rPr lang="en-US" sz="3000" dirty="0">
                <a:latin typeface="Consolas" panose="020B0609020204030204" pitchFamily="49" charset="0"/>
              </a:rPr>
              <a:t>('add_user.html', form=form, title="Add User")</a:t>
            </a:r>
          </a:p>
        </p:txBody>
      </p:sp>
    </p:spTree>
    <p:extLst>
      <p:ext uri="{BB962C8B-B14F-4D97-AF65-F5344CB8AC3E}">
        <p14:creationId xmlns:p14="http://schemas.microsoft.com/office/powerpoint/2010/main" val="29503553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A1B39-ED34-C4FA-70FE-C7937B886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F64D8D8-2331-8D89-01C8-9E75A039E77A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A19F635-1600-D5E0-C6A7-55F1CDA0BDD5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F684B4B0-09C9-63A1-CD94-E6536567AB18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EF024957-C84A-A3D8-1C4D-2E3FF749F3D9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3FCCE913-6DAD-BD2A-487E-F8DED48F907F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340BA2DF-7162-5082-3F0C-C3089271CED0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61CC07B2-1057-53FD-273B-FACC14BE130B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CRUD Operation Example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917F504-A4D5-5EB6-B4C0-DDE552F347F9}"/>
              </a:ext>
            </a:extLst>
          </p:cNvPr>
          <p:cNvSpPr txBox="1"/>
          <p:nvPr/>
        </p:nvSpPr>
        <p:spPr>
          <a:xfrm>
            <a:off x="177555" y="2095500"/>
            <a:ext cx="17881845" cy="8094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500" b="1" dirty="0">
                <a:latin typeface="Consolas" panose="020B0609020204030204" pitchFamily="49" charset="0"/>
              </a:rPr>
              <a:t>6.2b Update User : app.py</a:t>
            </a:r>
          </a:p>
          <a:p>
            <a:pPr algn="just"/>
            <a:r>
              <a:rPr lang="en-US" sz="2500" dirty="0">
                <a:latin typeface="Consolas" panose="020B0609020204030204" pitchFamily="49" charset="0"/>
              </a:rPr>
              <a:t>@app.route('/update/&lt;int:id&gt;', methods=['GET', 'POST'])</a:t>
            </a:r>
          </a:p>
          <a:p>
            <a:pPr algn="just"/>
            <a:r>
              <a:rPr lang="en-US" sz="2500" dirty="0">
                <a:latin typeface="Consolas" panose="020B0609020204030204" pitchFamily="49" charset="0"/>
              </a:rPr>
              <a:t>def </a:t>
            </a:r>
            <a:r>
              <a:rPr lang="en-US" sz="2500" dirty="0" err="1">
                <a:latin typeface="Consolas" panose="020B0609020204030204" pitchFamily="49" charset="0"/>
              </a:rPr>
              <a:t>update_user</a:t>
            </a:r>
            <a:r>
              <a:rPr lang="en-US" sz="2500" dirty="0">
                <a:latin typeface="Consolas" panose="020B0609020204030204" pitchFamily="49" charset="0"/>
              </a:rPr>
              <a:t>(id):</a:t>
            </a:r>
          </a:p>
          <a:p>
            <a:pPr algn="just"/>
            <a:r>
              <a:rPr lang="en-US" sz="2500" dirty="0">
                <a:latin typeface="Consolas" panose="020B0609020204030204" pitchFamily="49" charset="0"/>
              </a:rPr>
              <a:t>	cur = </a:t>
            </a:r>
            <a:r>
              <a:rPr lang="en-US" sz="2500" dirty="0" err="1">
                <a:latin typeface="Consolas" panose="020B0609020204030204" pitchFamily="49" charset="0"/>
              </a:rPr>
              <a:t>mysql.connection.cursor</a:t>
            </a:r>
            <a:r>
              <a:rPr lang="en-US" sz="2500" dirty="0">
                <a:latin typeface="Consolas" panose="020B0609020204030204" pitchFamily="49" charset="0"/>
              </a:rPr>
              <a:t>()</a:t>
            </a:r>
          </a:p>
          <a:p>
            <a:pPr algn="just"/>
            <a:r>
              <a:rPr lang="en-US" sz="2500" dirty="0">
                <a:latin typeface="Consolas" panose="020B0609020204030204" pitchFamily="49" charset="0"/>
              </a:rPr>
              <a:t>	</a:t>
            </a:r>
            <a:r>
              <a:rPr lang="en-US" sz="2500" dirty="0" err="1">
                <a:latin typeface="Consolas" panose="020B0609020204030204" pitchFamily="49" charset="0"/>
              </a:rPr>
              <a:t>cur.execute</a:t>
            </a:r>
            <a:r>
              <a:rPr lang="en-US" sz="2500" dirty="0">
                <a:latin typeface="Consolas" panose="020B0609020204030204" pitchFamily="49" charset="0"/>
              </a:rPr>
              <a:t>("SELECT * FROM users WHERE id=%s", (id,))</a:t>
            </a:r>
          </a:p>
          <a:p>
            <a:pPr algn="just"/>
            <a:r>
              <a:rPr lang="en-US" sz="2500" dirty="0">
                <a:latin typeface="Consolas" panose="020B0609020204030204" pitchFamily="49" charset="0"/>
              </a:rPr>
              <a:t>	user = </a:t>
            </a:r>
            <a:r>
              <a:rPr lang="en-US" sz="2500" dirty="0" err="1">
                <a:latin typeface="Consolas" panose="020B0609020204030204" pitchFamily="49" charset="0"/>
              </a:rPr>
              <a:t>cur.fetchone</a:t>
            </a:r>
            <a:r>
              <a:rPr lang="en-US" sz="2500" dirty="0">
                <a:latin typeface="Consolas" panose="020B0609020204030204" pitchFamily="49" charset="0"/>
              </a:rPr>
              <a:t>()</a:t>
            </a:r>
          </a:p>
          <a:p>
            <a:pPr algn="just"/>
            <a:r>
              <a:rPr lang="en-US" sz="2500" dirty="0">
                <a:latin typeface="Consolas" panose="020B0609020204030204" pitchFamily="49" charset="0"/>
              </a:rPr>
              <a:t>	</a:t>
            </a:r>
            <a:r>
              <a:rPr lang="en-US" sz="2500" dirty="0" err="1">
                <a:latin typeface="Consolas" panose="020B0609020204030204" pitchFamily="49" charset="0"/>
              </a:rPr>
              <a:t>cur.close</a:t>
            </a:r>
            <a:r>
              <a:rPr lang="en-US" sz="2500" dirty="0">
                <a:latin typeface="Consolas" panose="020B0609020204030204" pitchFamily="49" charset="0"/>
              </a:rPr>
              <a:t>()</a:t>
            </a:r>
          </a:p>
          <a:p>
            <a:pPr algn="just"/>
            <a:r>
              <a:rPr lang="en-US" sz="2500" dirty="0">
                <a:latin typeface="Consolas" panose="020B0609020204030204" pitchFamily="49" charset="0"/>
              </a:rPr>
              <a:t>	form = </a:t>
            </a:r>
            <a:r>
              <a:rPr lang="en-US" sz="2500" dirty="0" err="1">
                <a:latin typeface="Consolas" panose="020B0609020204030204" pitchFamily="49" charset="0"/>
              </a:rPr>
              <a:t>UserForm</a:t>
            </a:r>
            <a:r>
              <a:rPr lang="en-US" sz="2500" dirty="0">
                <a:latin typeface="Consolas" panose="020B0609020204030204" pitchFamily="49" charset="0"/>
              </a:rPr>
              <a:t>()</a:t>
            </a:r>
          </a:p>
          <a:p>
            <a:pPr algn="just"/>
            <a:r>
              <a:rPr lang="en-US" sz="2500" dirty="0">
                <a:latin typeface="Consolas" panose="020B0609020204030204" pitchFamily="49" charset="0"/>
              </a:rPr>
              <a:t>	if </a:t>
            </a:r>
            <a:r>
              <a:rPr lang="en-US" sz="2500" dirty="0" err="1">
                <a:latin typeface="Consolas" panose="020B0609020204030204" pitchFamily="49" charset="0"/>
              </a:rPr>
              <a:t>form.validate_on_submit</a:t>
            </a:r>
            <a:r>
              <a:rPr lang="en-US" sz="2500" dirty="0">
                <a:latin typeface="Consolas" panose="020B0609020204030204" pitchFamily="49" charset="0"/>
              </a:rPr>
              <a:t>():</a:t>
            </a:r>
          </a:p>
          <a:p>
            <a:pPr algn="just"/>
            <a:r>
              <a:rPr lang="en-US" sz="2500" dirty="0">
                <a:latin typeface="Consolas" panose="020B0609020204030204" pitchFamily="49" charset="0"/>
              </a:rPr>
              <a:t>		cur = </a:t>
            </a:r>
            <a:r>
              <a:rPr lang="en-US" sz="2500" dirty="0" err="1">
                <a:latin typeface="Consolas" panose="020B0609020204030204" pitchFamily="49" charset="0"/>
              </a:rPr>
              <a:t>mysql.connection.cursor</a:t>
            </a:r>
            <a:r>
              <a:rPr lang="en-US" sz="2500" dirty="0">
                <a:latin typeface="Consolas" panose="020B0609020204030204" pitchFamily="49" charset="0"/>
              </a:rPr>
              <a:t>()</a:t>
            </a:r>
          </a:p>
          <a:p>
            <a:pPr algn="just"/>
            <a:r>
              <a:rPr lang="en-US" sz="2500" dirty="0">
                <a:latin typeface="Consolas" panose="020B0609020204030204" pitchFamily="49" charset="0"/>
              </a:rPr>
              <a:t>		</a:t>
            </a:r>
            <a:r>
              <a:rPr lang="en-US" sz="2500" dirty="0" err="1">
                <a:latin typeface="Consolas" panose="020B0609020204030204" pitchFamily="49" charset="0"/>
              </a:rPr>
              <a:t>cur.execute</a:t>
            </a:r>
            <a:r>
              <a:rPr lang="en-US" sz="2500" dirty="0">
                <a:latin typeface="Consolas" panose="020B0609020204030204" pitchFamily="49" charset="0"/>
              </a:rPr>
              <a:t>("UPDATE users SET </a:t>
            </a:r>
            <a:r>
              <a:rPr lang="en-US" sz="2500" dirty="0" err="1">
                <a:latin typeface="Consolas" panose="020B0609020204030204" pitchFamily="49" charset="0"/>
              </a:rPr>
              <a:t>fullname</a:t>
            </a:r>
            <a:r>
              <a:rPr lang="en-US" sz="2500" dirty="0">
                <a:latin typeface="Consolas" panose="020B0609020204030204" pitchFamily="49" charset="0"/>
              </a:rPr>
              <a:t>=%s, email=%s, </a:t>
            </a:r>
            <a:r>
              <a:rPr lang="en-US" sz="2500" dirty="0" err="1">
                <a:latin typeface="Consolas" panose="020B0609020204030204" pitchFamily="49" charset="0"/>
              </a:rPr>
              <a:t>usr_pwd</a:t>
            </a:r>
            <a:r>
              <a:rPr lang="en-US" sz="2500" dirty="0">
                <a:latin typeface="Consolas" panose="020B0609020204030204" pitchFamily="49" charset="0"/>
              </a:rPr>
              <a:t>=%s WHERE id=%s", (</a:t>
            </a:r>
            <a:r>
              <a:rPr lang="en-US" sz="2500" dirty="0" err="1">
                <a:latin typeface="Consolas" panose="020B0609020204030204" pitchFamily="49" charset="0"/>
              </a:rPr>
              <a:t>form.fullname.data</a:t>
            </a:r>
            <a:r>
              <a:rPr lang="en-US" sz="2500" dirty="0">
                <a:latin typeface="Consolas" panose="020B0609020204030204" pitchFamily="49" charset="0"/>
              </a:rPr>
              <a:t>, </a:t>
            </a:r>
            <a:r>
              <a:rPr lang="en-US" sz="2500" dirty="0" err="1">
                <a:latin typeface="Consolas" panose="020B0609020204030204" pitchFamily="49" charset="0"/>
              </a:rPr>
              <a:t>form.email.data</a:t>
            </a:r>
            <a:r>
              <a:rPr lang="en-US" sz="2500" dirty="0">
                <a:latin typeface="Consolas" panose="020B0609020204030204" pitchFamily="49" charset="0"/>
              </a:rPr>
              <a:t>, </a:t>
            </a:r>
            <a:r>
              <a:rPr lang="en-US" sz="2500" dirty="0" err="1">
                <a:latin typeface="Consolas" panose="020B0609020204030204" pitchFamily="49" charset="0"/>
              </a:rPr>
              <a:t>form.usr_pwd.data</a:t>
            </a:r>
            <a:r>
              <a:rPr lang="en-US" sz="2500" dirty="0">
                <a:latin typeface="Consolas" panose="020B0609020204030204" pitchFamily="49" charset="0"/>
              </a:rPr>
              <a:t>, id))</a:t>
            </a:r>
          </a:p>
          <a:p>
            <a:pPr algn="just"/>
            <a:r>
              <a:rPr lang="en-US" sz="2500" dirty="0">
                <a:latin typeface="Consolas" panose="020B0609020204030204" pitchFamily="49" charset="0"/>
              </a:rPr>
              <a:t>		</a:t>
            </a:r>
            <a:r>
              <a:rPr lang="en-US" sz="2500" dirty="0" err="1">
                <a:latin typeface="Consolas" panose="020B0609020204030204" pitchFamily="49" charset="0"/>
              </a:rPr>
              <a:t>mysql.connection.commit</a:t>
            </a:r>
            <a:r>
              <a:rPr lang="en-US" sz="2500" dirty="0">
                <a:latin typeface="Consolas" panose="020B0609020204030204" pitchFamily="49" charset="0"/>
              </a:rPr>
              <a:t>()</a:t>
            </a:r>
          </a:p>
          <a:p>
            <a:pPr algn="just"/>
            <a:r>
              <a:rPr lang="en-US" sz="2500" dirty="0">
                <a:latin typeface="Consolas" panose="020B0609020204030204" pitchFamily="49" charset="0"/>
              </a:rPr>
              <a:t>		</a:t>
            </a:r>
            <a:r>
              <a:rPr lang="en-US" sz="2500" dirty="0" err="1">
                <a:latin typeface="Consolas" panose="020B0609020204030204" pitchFamily="49" charset="0"/>
              </a:rPr>
              <a:t>cur.close</a:t>
            </a:r>
            <a:r>
              <a:rPr lang="en-US" sz="2500" dirty="0">
                <a:latin typeface="Consolas" panose="020B0609020204030204" pitchFamily="49" charset="0"/>
              </a:rPr>
              <a:t>()</a:t>
            </a:r>
          </a:p>
          <a:p>
            <a:pPr algn="just"/>
            <a:r>
              <a:rPr lang="en-US" sz="2500" dirty="0">
                <a:latin typeface="Consolas" panose="020B0609020204030204" pitchFamily="49" charset="0"/>
              </a:rPr>
              <a:t>		flash('User updated successfully!', 'success’)</a:t>
            </a:r>
          </a:p>
          <a:p>
            <a:pPr algn="just"/>
            <a:r>
              <a:rPr lang="en-US" sz="2500" dirty="0">
                <a:latin typeface="Consolas" panose="020B0609020204030204" pitchFamily="49" charset="0"/>
              </a:rPr>
              <a:t>		return redirect(</a:t>
            </a:r>
            <a:r>
              <a:rPr lang="en-US" sz="2500" dirty="0" err="1">
                <a:latin typeface="Consolas" panose="020B0609020204030204" pitchFamily="49" charset="0"/>
              </a:rPr>
              <a:t>url_for</a:t>
            </a:r>
            <a:r>
              <a:rPr lang="en-US" sz="2500" dirty="0">
                <a:latin typeface="Consolas" panose="020B0609020204030204" pitchFamily="49" charset="0"/>
              </a:rPr>
              <a:t>('</a:t>
            </a:r>
            <a:r>
              <a:rPr lang="en-US" sz="2500" dirty="0" err="1">
                <a:latin typeface="Consolas" panose="020B0609020204030204" pitchFamily="49" charset="0"/>
              </a:rPr>
              <a:t>list_users</a:t>
            </a:r>
            <a:r>
              <a:rPr lang="en-US" sz="2500" dirty="0">
                <a:latin typeface="Consolas" panose="020B0609020204030204" pitchFamily="49" charset="0"/>
              </a:rPr>
              <a:t>’))</a:t>
            </a:r>
          </a:p>
          <a:p>
            <a:pPr algn="just"/>
            <a:r>
              <a:rPr lang="en-US" sz="2500" dirty="0">
                <a:latin typeface="Consolas" panose="020B0609020204030204" pitchFamily="49" charset="0"/>
              </a:rPr>
              <a:t>	</a:t>
            </a:r>
            <a:r>
              <a:rPr lang="en-US" sz="2500" dirty="0" err="1">
                <a:latin typeface="Consolas" panose="020B0609020204030204" pitchFamily="49" charset="0"/>
              </a:rPr>
              <a:t>form.fullname.data</a:t>
            </a:r>
            <a:r>
              <a:rPr lang="en-US" sz="2500" dirty="0">
                <a:latin typeface="Consolas" panose="020B0609020204030204" pitchFamily="49" charset="0"/>
              </a:rPr>
              <a:t> = user['</a:t>
            </a:r>
            <a:r>
              <a:rPr lang="en-US" sz="2500" dirty="0" err="1">
                <a:latin typeface="Consolas" panose="020B0609020204030204" pitchFamily="49" charset="0"/>
              </a:rPr>
              <a:t>fullname</a:t>
            </a:r>
            <a:r>
              <a:rPr lang="en-US" sz="2500" dirty="0">
                <a:latin typeface="Consolas" panose="020B0609020204030204" pitchFamily="49" charset="0"/>
              </a:rPr>
              <a:t>’]</a:t>
            </a:r>
          </a:p>
          <a:p>
            <a:pPr algn="just"/>
            <a:r>
              <a:rPr lang="en-US" sz="2500" dirty="0">
                <a:latin typeface="Consolas" panose="020B0609020204030204" pitchFamily="49" charset="0"/>
              </a:rPr>
              <a:t>	</a:t>
            </a:r>
            <a:r>
              <a:rPr lang="en-US" sz="2500" dirty="0" err="1">
                <a:latin typeface="Consolas" panose="020B0609020204030204" pitchFamily="49" charset="0"/>
              </a:rPr>
              <a:t>form.email.data</a:t>
            </a:r>
            <a:r>
              <a:rPr lang="en-US" sz="2500" dirty="0">
                <a:latin typeface="Consolas" panose="020B0609020204030204" pitchFamily="49" charset="0"/>
              </a:rPr>
              <a:t> = user['email’] </a:t>
            </a:r>
          </a:p>
          <a:p>
            <a:pPr algn="just"/>
            <a:r>
              <a:rPr lang="en-US" sz="2500" dirty="0">
                <a:latin typeface="Consolas" panose="020B0609020204030204" pitchFamily="49" charset="0"/>
              </a:rPr>
              <a:t>	</a:t>
            </a:r>
            <a:r>
              <a:rPr lang="en-US" sz="2500" dirty="0" err="1">
                <a:latin typeface="Consolas" panose="020B0609020204030204" pitchFamily="49" charset="0"/>
              </a:rPr>
              <a:t>form.usr_pwd.data</a:t>
            </a:r>
            <a:r>
              <a:rPr lang="en-US" sz="2500" dirty="0">
                <a:latin typeface="Consolas" panose="020B0609020204030204" pitchFamily="49" charset="0"/>
              </a:rPr>
              <a:t> = user['</a:t>
            </a:r>
            <a:r>
              <a:rPr lang="en-US" sz="2500" dirty="0" err="1">
                <a:latin typeface="Consolas" panose="020B0609020204030204" pitchFamily="49" charset="0"/>
              </a:rPr>
              <a:t>usr_pwd</a:t>
            </a:r>
            <a:r>
              <a:rPr lang="en-US" sz="2500" dirty="0">
                <a:latin typeface="Consolas" panose="020B0609020204030204" pitchFamily="49" charset="0"/>
              </a:rPr>
              <a:t>’]</a:t>
            </a:r>
          </a:p>
          <a:p>
            <a:pPr algn="just"/>
            <a:r>
              <a:rPr lang="en-US" sz="2500" dirty="0">
                <a:latin typeface="Consolas" panose="020B0609020204030204" pitchFamily="49" charset="0"/>
              </a:rPr>
              <a:t>	return </a:t>
            </a:r>
            <a:r>
              <a:rPr lang="en-US" sz="2500" dirty="0" err="1">
                <a:latin typeface="Consolas" panose="020B0609020204030204" pitchFamily="49" charset="0"/>
              </a:rPr>
              <a:t>render_template</a:t>
            </a:r>
            <a:r>
              <a:rPr lang="en-US" sz="2500" dirty="0">
                <a:latin typeface="Consolas" panose="020B0609020204030204" pitchFamily="49" charset="0"/>
              </a:rPr>
              <a:t>('update_user.html', form=form, title="Update User")</a:t>
            </a:r>
          </a:p>
        </p:txBody>
      </p:sp>
    </p:spTree>
    <p:extLst>
      <p:ext uri="{BB962C8B-B14F-4D97-AF65-F5344CB8AC3E}">
        <p14:creationId xmlns:p14="http://schemas.microsoft.com/office/powerpoint/2010/main" val="267126876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8F3F1-FEF2-7774-B53A-22783DAAB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644784A-3564-D8F1-B63F-9B06ECA8A288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BA631FF-5AEB-9808-BCCA-F2319A87EFE3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2FA2E5E3-A6CD-5215-ED02-082E1FE4961F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7CEE1E3E-49CB-0DD8-C190-692DB86D0508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B8B9F5F6-7B88-7F15-FA74-1860E069DFD4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81B2FFE6-7EF7-C0EE-05EE-5802B2DB1798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F82FABFF-75C9-CC8A-0F67-1809F18405D8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CRUD Operation Example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CA53370-AD4C-F127-1CDF-F8D46139FD2A}"/>
              </a:ext>
            </a:extLst>
          </p:cNvPr>
          <p:cNvSpPr txBox="1"/>
          <p:nvPr/>
        </p:nvSpPr>
        <p:spPr>
          <a:xfrm>
            <a:off x="177555" y="2095500"/>
            <a:ext cx="17881845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b="1" dirty="0">
                <a:latin typeface="Consolas" panose="020B0609020204030204" pitchFamily="49" charset="0"/>
              </a:rPr>
              <a:t>6.3 Delete user : app.py</a:t>
            </a: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@app.route('/delete/&lt;int:id&gt;')</a:t>
            </a: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def </a:t>
            </a:r>
            <a:r>
              <a:rPr lang="en-US" sz="3200" dirty="0" err="1">
                <a:latin typeface="Consolas" panose="020B0609020204030204" pitchFamily="49" charset="0"/>
              </a:rPr>
              <a:t>delete_user</a:t>
            </a:r>
            <a:r>
              <a:rPr lang="en-US" sz="3200" dirty="0">
                <a:latin typeface="Consolas" panose="020B0609020204030204" pitchFamily="49" charset="0"/>
              </a:rPr>
              <a:t>(id):</a:t>
            </a: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    cur = </a:t>
            </a:r>
            <a:r>
              <a:rPr lang="en-US" sz="3200" dirty="0" err="1">
                <a:latin typeface="Consolas" panose="020B0609020204030204" pitchFamily="49" charset="0"/>
              </a:rPr>
              <a:t>mysql.connection.cursor</a:t>
            </a:r>
            <a:r>
              <a:rPr lang="en-US" sz="3200" dirty="0">
                <a:latin typeface="Consolas" panose="020B0609020204030204" pitchFamily="49" charset="0"/>
              </a:rPr>
              <a:t>()</a:t>
            </a: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    </a:t>
            </a:r>
            <a:r>
              <a:rPr lang="en-US" sz="3200" dirty="0" err="1">
                <a:latin typeface="Consolas" panose="020B0609020204030204" pitchFamily="49" charset="0"/>
              </a:rPr>
              <a:t>cur.execute</a:t>
            </a:r>
            <a:r>
              <a:rPr lang="en-US" sz="3200" dirty="0">
                <a:latin typeface="Consolas" panose="020B0609020204030204" pitchFamily="49" charset="0"/>
              </a:rPr>
              <a:t>("DELETE FROM users WHERE id=%s", (id,))</a:t>
            </a: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    </a:t>
            </a:r>
            <a:r>
              <a:rPr lang="en-US" sz="3200" dirty="0" err="1">
                <a:latin typeface="Consolas" panose="020B0609020204030204" pitchFamily="49" charset="0"/>
              </a:rPr>
              <a:t>mysql.connection.commit</a:t>
            </a:r>
            <a:r>
              <a:rPr lang="en-US" sz="3200" dirty="0">
                <a:latin typeface="Consolas" panose="020B0609020204030204" pitchFamily="49" charset="0"/>
              </a:rPr>
              <a:t>()</a:t>
            </a: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    </a:t>
            </a:r>
            <a:r>
              <a:rPr lang="en-US" sz="3200" dirty="0" err="1">
                <a:latin typeface="Consolas" panose="020B0609020204030204" pitchFamily="49" charset="0"/>
              </a:rPr>
              <a:t>cur.close</a:t>
            </a:r>
            <a:r>
              <a:rPr lang="en-US" sz="3200" dirty="0">
                <a:latin typeface="Consolas" panose="020B0609020204030204" pitchFamily="49" charset="0"/>
              </a:rPr>
              <a:t>()</a:t>
            </a: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    flash('User deleted successfully!', 'success')</a:t>
            </a: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    return redirect(</a:t>
            </a:r>
            <a:r>
              <a:rPr lang="en-US" sz="3200" dirty="0" err="1">
                <a:latin typeface="Consolas" panose="020B0609020204030204" pitchFamily="49" charset="0"/>
              </a:rPr>
              <a:t>url_for</a:t>
            </a:r>
            <a:r>
              <a:rPr lang="en-US" sz="3200" dirty="0">
                <a:latin typeface="Consolas" panose="020B0609020204030204" pitchFamily="49" charset="0"/>
              </a:rPr>
              <a:t>('</a:t>
            </a:r>
            <a:r>
              <a:rPr lang="en-US" sz="3200" dirty="0" err="1">
                <a:latin typeface="Consolas" panose="020B0609020204030204" pitchFamily="49" charset="0"/>
              </a:rPr>
              <a:t>list_users</a:t>
            </a:r>
            <a:r>
              <a:rPr lang="en-US" sz="3200" dirty="0">
                <a:latin typeface="Consolas" panose="020B0609020204030204" pitchFamily="49" charset="0"/>
              </a:rPr>
              <a:t>'))</a:t>
            </a:r>
          </a:p>
          <a:p>
            <a:pPr algn="just"/>
            <a:endParaRPr lang="en-US" sz="3200" dirty="0">
              <a:latin typeface="Consolas" panose="020B0609020204030204" pitchFamily="49" charset="0"/>
            </a:endParaRP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if __name__ == '__main__':</a:t>
            </a: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    </a:t>
            </a:r>
            <a:r>
              <a:rPr lang="en-US" sz="3200" dirty="0" err="1">
                <a:latin typeface="Consolas" panose="020B0609020204030204" pitchFamily="49" charset="0"/>
              </a:rPr>
              <a:t>app.run</a:t>
            </a:r>
            <a:r>
              <a:rPr lang="en-US" sz="3200" dirty="0">
                <a:latin typeface="Consolas" panose="020B0609020204030204" pitchFamily="49" charset="0"/>
              </a:rPr>
              <a:t>(debug=True)</a:t>
            </a:r>
          </a:p>
        </p:txBody>
      </p:sp>
    </p:spTree>
    <p:extLst>
      <p:ext uri="{BB962C8B-B14F-4D97-AF65-F5344CB8AC3E}">
        <p14:creationId xmlns:p14="http://schemas.microsoft.com/office/powerpoint/2010/main" val="15131841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8481</TotalTime>
  <Words>6307</Words>
  <Application>Microsoft Office PowerPoint</Application>
  <PresentationFormat>Custom</PresentationFormat>
  <Paragraphs>847</Paragraphs>
  <Slides>63</Slides>
  <Notes>63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69" baseType="lpstr">
      <vt:lpstr>Calibri</vt:lpstr>
      <vt:lpstr>Arial</vt:lpstr>
      <vt:lpstr>Aptos</vt:lpstr>
      <vt:lpstr>Wingdings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 4 - Lesson 5</dc:title>
  <dc:creator>DENVER</dc:creator>
  <cp:lastModifiedBy>Mark Denver Adora</cp:lastModifiedBy>
  <cp:revision>379</cp:revision>
  <dcterms:created xsi:type="dcterms:W3CDTF">2006-08-16T00:00:00Z</dcterms:created>
  <dcterms:modified xsi:type="dcterms:W3CDTF">2025-12-13T16:18:02Z</dcterms:modified>
  <dc:identifier>DAGH1tVytZk</dc:identifier>
</cp:coreProperties>
</file>