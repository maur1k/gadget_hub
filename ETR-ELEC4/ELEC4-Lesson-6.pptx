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handoutMasterIdLst>
    <p:handoutMasterId r:id="rId37"/>
  </p:handoutMasterIdLst>
  <p:sldIdLst>
    <p:sldId id="256" r:id="rId2"/>
    <p:sldId id="518" r:id="rId3"/>
    <p:sldId id="258" r:id="rId4"/>
    <p:sldId id="520" r:id="rId5"/>
    <p:sldId id="522" r:id="rId6"/>
    <p:sldId id="521" r:id="rId7"/>
    <p:sldId id="523" r:id="rId8"/>
    <p:sldId id="524" r:id="rId9"/>
    <p:sldId id="525" r:id="rId10"/>
    <p:sldId id="526" r:id="rId11"/>
    <p:sldId id="527" r:id="rId12"/>
    <p:sldId id="528" r:id="rId13"/>
    <p:sldId id="529" r:id="rId14"/>
    <p:sldId id="530" r:id="rId15"/>
    <p:sldId id="531" r:id="rId16"/>
    <p:sldId id="532" r:id="rId17"/>
    <p:sldId id="533" r:id="rId18"/>
    <p:sldId id="534" r:id="rId19"/>
    <p:sldId id="492" r:id="rId20"/>
    <p:sldId id="536" r:id="rId21"/>
    <p:sldId id="537" r:id="rId22"/>
    <p:sldId id="538" r:id="rId23"/>
    <p:sldId id="539" r:id="rId24"/>
    <p:sldId id="540" r:id="rId25"/>
    <p:sldId id="542" r:id="rId26"/>
    <p:sldId id="543" r:id="rId27"/>
    <p:sldId id="541" r:id="rId28"/>
    <p:sldId id="544" r:id="rId29"/>
    <p:sldId id="545" r:id="rId30"/>
    <p:sldId id="546" r:id="rId31"/>
    <p:sldId id="547" r:id="rId32"/>
    <p:sldId id="548" r:id="rId33"/>
    <p:sldId id="549" r:id="rId34"/>
    <p:sldId id="550" r:id="rId35"/>
  </p:sldIdLst>
  <p:sldSz cx="18288000" cy="10287000"/>
  <p:notesSz cx="6858000" cy="9144000"/>
  <p:embeddedFontLst>
    <p:embeddedFont>
      <p:font typeface="Consolas" panose="020B0609020204030204" pitchFamily="49"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56" autoAdjust="0"/>
    <p:restoredTop sz="83137" autoAdjust="0"/>
  </p:normalViewPr>
  <p:slideViewPr>
    <p:cSldViewPr>
      <p:cViewPr varScale="1">
        <p:scale>
          <a:sx n="44" d="100"/>
          <a:sy n="44" d="100"/>
        </p:scale>
        <p:origin x="8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22CC0-1243-338F-5CAD-E7A5B1EE0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F84A8E39-795D-D837-9A04-090F9A141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55907F-8ED1-4449-8AB2-425B109C6DAB}" type="datetimeFigureOut">
              <a:rPr lang="en-PH" smtClean="0"/>
              <a:t>11/12/2025</a:t>
            </a:fld>
            <a:endParaRPr lang="en-PH"/>
          </a:p>
        </p:txBody>
      </p:sp>
      <p:sp>
        <p:nvSpPr>
          <p:cNvPr id="4" name="Footer Placeholder 3">
            <a:extLst>
              <a:ext uri="{FF2B5EF4-FFF2-40B4-BE49-F238E27FC236}">
                <a16:creationId xmlns:a16="http://schemas.microsoft.com/office/drawing/2014/main" id="{0B1079AC-EB4A-C6F4-35A4-C5166122BE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323FEE0C-CAF7-534F-B1B6-7CB0184B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C40E73-B33C-482E-B21A-1E3DE061AD46}" type="slidenum">
              <a:rPr lang="en-PH" smtClean="0"/>
              <a:t>‹#›</a:t>
            </a:fld>
            <a:endParaRPr lang="en-PH"/>
          </a:p>
        </p:txBody>
      </p:sp>
    </p:spTree>
    <p:extLst>
      <p:ext uri="{BB962C8B-B14F-4D97-AF65-F5344CB8AC3E}">
        <p14:creationId xmlns:p14="http://schemas.microsoft.com/office/powerpoint/2010/main" val="9482812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21506-B2BE-43BC-8C27-BC2C4DAF9131}" type="datetimeFigureOut">
              <a:rPr lang="en-PH" smtClean="0"/>
              <a:t>11/12/2025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38AF-BC93-4612-8619-54F4BB1E39A6}" type="slidenum">
              <a:rPr lang="en-PH" smtClean="0"/>
              <a:t>‹#›</a:t>
            </a:fld>
            <a:endParaRPr lang="en-PH"/>
          </a:p>
        </p:txBody>
      </p:sp>
    </p:spTree>
    <p:extLst>
      <p:ext uri="{BB962C8B-B14F-4D97-AF65-F5344CB8AC3E}">
        <p14:creationId xmlns:p14="http://schemas.microsoft.com/office/powerpoint/2010/main" val="8546646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27E38AF-BC93-4612-8619-54F4BB1E39A6}" type="slidenum">
              <a:rPr lang="en-PH" smtClean="0"/>
              <a:t>1</a:t>
            </a:fld>
            <a:endParaRPr lang="en-PH"/>
          </a:p>
        </p:txBody>
      </p:sp>
    </p:spTree>
    <p:extLst>
      <p:ext uri="{BB962C8B-B14F-4D97-AF65-F5344CB8AC3E}">
        <p14:creationId xmlns:p14="http://schemas.microsoft.com/office/powerpoint/2010/main" val="144110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782C-BB0E-7B60-DF32-FA58B62A9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A9B98-FDAA-55E8-7590-B85FEA8C1023}"/>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5D69DEE8-D848-DDF5-E164-E19961A4AF9F}"/>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2BA035E7-8719-0A6A-8E70-66FCFDF80EDF}"/>
              </a:ext>
            </a:extLst>
          </p:cNvPr>
          <p:cNvSpPr>
            <a:spLocks noGrp="1"/>
          </p:cNvSpPr>
          <p:nvPr>
            <p:ph type="sldNum" sz="quarter" idx="5"/>
          </p:nvPr>
        </p:nvSpPr>
        <p:spPr/>
        <p:txBody>
          <a:bodyPr/>
          <a:lstStyle/>
          <a:p>
            <a:fld id="{E27E38AF-BC93-4612-8619-54F4BB1E39A6}" type="slidenum">
              <a:rPr lang="en-PH" smtClean="0"/>
              <a:t>2</a:t>
            </a:fld>
            <a:endParaRPr lang="en-PH"/>
          </a:p>
        </p:txBody>
      </p:sp>
    </p:spTree>
    <p:extLst>
      <p:ext uri="{BB962C8B-B14F-4D97-AF65-F5344CB8AC3E}">
        <p14:creationId xmlns:p14="http://schemas.microsoft.com/office/powerpoint/2010/main" val="110339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pPr algn="l"/>
            <a:endParaRPr lang="en-US" sz="1600" dirty="0"/>
          </a:p>
        </p:txBody>
      </p:sp>
      <p:sp>
        <p:nvSpPr>
          <p:cNvPr id="4" name="Slide Number Placeholder 3"/>
          <p:cNvSpPr>
            <a:spLocks noGrp="1"/>
          </p:cNvSpPr>
          <p:nvPr>
            <p:ph type="sldNum" sz="quarter" idx="5"/>
          </p:nvPr>
        </p:nvSpPr>
        <p:spPr/>
        <p:txBody>
          <a:bodyPr/>
          <a:lstStyle/>
          <a:p>
            <a:fld id="{E27E38AF-BC93-4612-8619-54F4BB1E39A6}" type="slidenum">
              <a:rPr lang="en-PH" smtClean="0"/>
              <a:t>3</a:t>
            </a:fld>
            <a:endParaRPr lang="en-PH"/>
          </a:p>
        </p:txBody>
      </p:sp>
    </p:spTree>
    <p:extLst>
      <p:ext uri="{BB962C8B-B14F-4D97-AF65-F5344CB8AC3E}">
        <p14:creationId xmlns:p14="http://schemas.microsoft.com/office/powerpoint/2010/main" val="348598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C3E76-D50D-8E58-92E3-BF50A768D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2F15D-302C-E509-5D90-46FCB8A7A204}"/>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16D315D2-693C-4B13-88E4-1099AC159AEB}"/>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1737BCF8-FE2E-506E-8A54-642E0A201F49}"/>
              </a:ext>
            </a:extLst>
          </p:cNvPr>
          <p:cNvSpPr>
            <a:spLocks noGrp="1"/>
          </p:cNvSpPr>
          <p:nvPr>
            <p:ph type="sldNum" sz="quarter" idx="5"/>
          </p:nvPr>
        </p:nvSpPr>
        <p:spPr/>
        <p:txBody>
          <a:bodyPr/>
          <a:lstStyle/>
          <a:p>
            <a:fld id="{E27E38AF-BC93-4612-8619-54F4BB1E39A6}" type="slidenum">
              <a:rPr lang="en-PH" smtClean="0"/>
              <a:t>4</a:t>
            </a:fld>
            <a:endParaRPr lang="en-PH"/>
          </a:p>
        </p:txBody>
      </p:sp>
    </p:spTree>
    <p:extLst>
      <p:ext uri="{BB962C8B-B14F-4D97-AF65-F5344CB8AC3E}">
        <p14:creationId xmlns:p14="http://schemas.microsoft.com/office/powerpoint/2010/main" val="1918958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42B1-A968-FDB8-B468-D9C5985FA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7EF23-80D9-6ECC-3FAE-135C945FCF4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F8962299-AB6D-7B2F-A1A7-78BDF7CA4C9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10A2E9C-81C7-2BEE-743F-DA16D426DB83}"/>
              </a:ext>
            </a:extLst>
          </p:cNvPr>
          <p:cNvSpPr>
            <a:spLocks noGrp="1"/>
          </p:cNvSpPr>
          <p:nvPr>
            <p:ph type="sldNum" sz="quarter" idx="5"/>
          </p:nvPr>
        </p:nvSpPr>
        <p:spPr/>
        <p:txBody>
          <a:bodyPr/>
          <a:lstStyle/>
          <a:p>
            <a:fld id="{E27E38AF-BC93-4612-8619-54F4BB1E39A6}" type="slidenum">
              <a:rPr lang="en-PH" smtClean="0"/>
              <a:t>5</a:t>
            </a:fld>
            <a:endParaRPr lang="en-PH"/>
          </a:p>
        </p:txBody>
      </p:sp>
    </p:spTree>
    <p:extLst>
      <p:ext uri="{BB962C8B-B14F-4D97-AF65-F5344CB8AC3E}">
        <p14:creationId xmlns:p14="http://schemas.microsoft.com/office/powerpoint/2010/main" val="33994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0C9C-71D4-7BE8-AB0C-1D9202708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335D9-F033-606C-ADB0-903C747968DE}"/>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816AF4C0-0DD8-37E8-38E4-29B048E334C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A087CCF-31D0-7C06-EFDE-A31DAED252EF}"/>
              </a:ext>
            </a:extLst>
          </p:cNvPr>
          <p:cNvSpPr>
            <a:spLocks noGrp="1"/>
          </p:cNvSpPr>
          <p:nvPr>
            <p:ph type="sldNum" sz="quarter" idx="5"/>
          </p:nvPr>
        </p:nvSpPr>
        <p:spPr/>
        <p:txBody>
          <a:bodyPr/>
          <a:lstStyle/>
          <a:p>
            <a:fld id="{E27E38AF-BC93-4612-8619-54F4BB1E39A6}" type="slidenum">
              <a:rPr lang="en-PH" smtClean="0"/>
              <a:t>6</a:t>
            </a:fld>
            <a:endParaRPr lang="en-PH"/>
          </a:p>
        </p:txBody>
      </p:sp>
    </p:spTree>
    <p:extLst>
      <p:ext uri="{BB962C8B-B14F-4D97-AF65-F5344CB8AC3E}">
        <p14:creationId xmlns:p14="http://schemas.microsoft.com/office/powerpoint/2010/main" val="288945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670DD-FDD3-92EA-9457-A7EE697ED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7ACBB-E55C-B4AA-37DD-127286230430}"/>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491BA7CF-5913-1B94-B16F-7C9A7EFA0DD3}"/>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739B031-8099-33B8-20BF-A2B9A047ED20}"/>
              </a:ext>
            </a:extLst>
          </p:cNvPr>
          <p:cNvSpPr>
            <a:spLocks noGrp="1"/>
          </p:cNvSpPr>
          <p:nvPr>
            <p:ph type="sldNum" sz="quarter" idx="5"/>
          </p:nvPr>
        </p:nvSpPr>
        <p:spPr/>
        <p:txBody>
          <a:bodyPr/>
          <a:lstStyle/>
          <a:p>
            <a:fld id="{E27E38AF-BC93-4612-8619-54F4BB1E39A6}" type="slidenum">
              <a:rPr lang="en-PH" smtClean="0"/>
              <a:t>7</a:t>
            </a:fld>
            <a:endParaRPr lang="en-PH"/>
          </a:p>
        </p:txBody>
      </p:sp>
    </p:spTree>
    <p:extLst>
      <p:ext uri="{BB962C8B-B14F-4D97-AF65-F5344CB8AC3E}">
        <p14:creationId xmlns:p14="http://schemas.microsoft.com/office/powerpoint/2010/main" val="2176425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F76D4-4CD4-7922-D8BD-207070700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2DED-8D52-8D65-701A-B0E31F9E503D}"/>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DAE50BCC-95B2-DFAB-F8C9-7C54123624F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348C4E7-E0FC-E11D-528A-092DA7458553}"/>
              </a:ext>
            </a:extLst>
          </p:cNvPr>
          <p:cNvSpPr>
            <a:spLocks noGrp="1"/>
          </p:cNvSpPr>
          <p:nvPr>
            <p:ph type="sldNum" sz="quarter" idx="5"/>
          </p:nvPr>
        </p:nvSpPr>
        <p:spPr/>
        <p:txBody>
          <a:bodyPr/>
          <a:lstStyle/>
          <a:p>
            <a:fld id="{E27E38AF-BC93-4612-8619-54F4BB1E39A6}" type="slidenum">
              <a:rPr lang="en-PH" smtClean="0"/>
              <a:t>8</a:t>
            </a:fld>
            <a:endParaRPr lang="en-PH"/>
          </a:p>
        </p:txBody>
      </p:sp>
    </p:spTree>
    <p:extLst>
      <p:ext uri="{BB962C8B-B14F-4D97-AF65-F5344CB8AC3E}">
        <p14:creationId xmlns:p14="http://schemas.microsoft.com/office/powerpoint/2010/main" val="3661437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B9FDE-2A4F-C4EA-3F9B-956EC2873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424DE-B394-0B1B-DD23-ED45AA009695}"/>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CD238817-5883-3FED-AB3B-7F8107F4B04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33F536F-1848-8B05-45DC-47145BFB2584}"/>
              </a:ext>
            </a:extLst>
          </p:cNvPr>
          <p:cNvSpPr>
            <a:spLocks noGrp="1"/>
          </p:cNvSpPr>
          <p:nvPr>
            <p:ph type="sldNum" sz="quarter" idx="5"/>
          </p:nvPr>
        </p:nvSpPr>
        <p:spPr/>
        <p:txBody>
          <a:bodyPr/>
          <a:lstStyle/>
          <a:p>
            <a:fld id="{E27E38AF-BC93-4612-8619-54F4BB1E39A6}" type="slidenum">
              <a:rPr lang="en-PH" smtClean="0"/>
              <a:t>9</a:t>
            </a:fld>
            <a:endParaRPr lang="en-PH"/>
          </a:p>
        </p:txBody>
      </p:sp>
    </p:spTree>
    <p:extLst>
      <p:ext uri="{BB962C8B-B14F-4D97-AF65-F5344CB8AC3E}">
        <p14:creationId xmlns:p14="http://schemas.microsoft.com/office/powerpoint/2010/main" val="2632579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66B1-D711-20C1-5657-9D0A7CCEA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8C39A-73A4-F6CF-96A6-91079C585C80}"/>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70FCE8A6-5080-F0F2-C0E3-EB7BE8601EA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92F00C5-CEB7-AC7B-A679-00A30196F269}"/>
              </a:ext>
            </a:extLst>
          </p:cNvPr>
          <p:cNvSpPr>
            <a:spLocks noGrp="1"/>
          </p:cNvSpPr>
          <p:nvPr>
            <p:ph type="sldNum" sz="quarter" idx="5"/>
          </p:nvPr>
        </p:nvSpPr>
        <p:spPr/>
        <p:txBody>
          <a:bodyPr/>
          <a:lstStyle/>
          <a:p>
            <a:fld id="{E27E38AF-BC93-4612-8619-54F4BB1E39A6}" type="slidenum">
              <a:rPr lang="en-PH" smtClean="0"/>
              <a:t>10</a:t>
            </a:fld>
            <a:endParaRPr lang="en-PH"/>
          </a:p>
        </p:txBody>
      </p:sp>
    </p:spTree>
    <p:extLst>
      <p:ext uri="{BB962C8B-B14F-4D97-AF65-F5344CB8AC3E}">
        <p14:creationId xmlns:p14="http://schemas.microsoft.com/office/powerpoint/2010/main" val="301413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5338C-8E89-D699-213B-6C16A8166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9A201-9F84-B714-9B7B-CB55059ECDBC}"/>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AEAD9D34-8A76-35C4-FEE8-CC380331BAB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8531F25-3E8D-42A2-CC8E-91F5A476F32C}"/>
              </a:ext>
            </a:extLst>
          </p:cNvPr>
          <p:cNvSpPr>
            <a:spLocks noGrp="1"/>
          </p:cNvSpPr>
          <p:nvPr>
            <p:ph type="sldNum" sz="quarter" idx="5"/>
          </p:nvPr>
        </p:nvSpPr>
        <p:spPr/>
        <p:txBody>
          <a:bodyPr/>
          <a:lstStyle/>
          <a:p>
            <a:fld id="{E27E38AF-BC93-4612-8619-54F4BB1E39A6}" type="slidenum">
              <a:rPr lang="en-PH" smtClean="0"/>
              <a:t>11</a:t>
            </a:fld>
            <a:endParaRPr lang="en-PH"/>
          </a:p>
        </p:txBody>
      </p:sp>
    </p:spTree>
    <p:extLst>
      <p:ext uri="{BB962C8B-B14F-4D97-AF65-F5344CB8AC3E}">
        <p14:creationId xmlns:p14="http://schemas.microsoft.com/office/powerpoint/2010/main" val="1035280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12A12-5095-23C4-35A9-2CD0FEAC2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302B4-E7C3-AF08-E6F7-9D50944BE7F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2034ED1D-329C-BB97-21C6-A03BBC89DD1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3346CE1A-27BB-8759-6C45-8B9748C927E5}"/>
              </a:ext>
            </a:extLst>
          </p:cNvPr>
          <p:cNvSpPr>
            <a:spLocks noGrp="1"/>
          </p:cNvSpPr>
          <p:nvPr>
            <p:ph type="sldNum" sz="quarter" idx="5"/>
          </p:nvPr>
        </p:nvSpPr>
        <p:spPr/>
        <p:txBody>
          <a:bodyPr/>
          <a:lstStyle/>
          <a:p>
            <a:fld id="{E27E38AF-BC93-4612-8619-54F4BB1E39A6}" type="slidenum">
              <a:rPr lang="en-PH" smtClean="0"/>
              <a:t>12</a:t>
            </a:fld>
            <a:endParaRPr lang="en-PH"/>
          </a:p>
        </p:txBody>
      </p:sp>
    </p:spTree>
    <p:extLst>
      <p:ext uri="{BB962C8B-B14F-4D97-AF65-F5344CB8AC3E}">
        <p14:creationId xmlns:p14="http://schemas.microsoft.com/office/powerpoint/2010/main" val="1931655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D7BE-15D9-8DCF-0971-EBDDE53FC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FCE9A-B214-53CB-CC98-A21FF5FF3AE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E8B781BE-AC91-4029-D2D7-4C765819B43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679084EC-CB7E-E8FE-6AB7-65901DB7DFAA}"/>
              </a:ext>
            </a:extLst>
          </p:cNvPr>
          <p:cNvSpPr>
            <a:spLocks noGrp="1"/>
          </p:cNvSpPr>
          <p:nvPr>
            <p:ph type="sldNum" sz="quarter" idx="5"/>
          </p:nvPr>
        </p:nvSpPr>
        <p:spPr/>
        <p:txBody>
          <a:bodyPr/>
          <a:lstStyle/>
          <a:p>
            <a:fld id="{E27E38AF-BC93-4612-8619-54F4BB1E39A6}" type="slidenum">
              <a:rPr lang="en-PH" smtClean="0"/>
              <a:t>13</a:t>
            </a:fld>
            <a:endParaRPr lang="en-PH"/>
          </a:p>
        </p:txBody>
      </p:sp>
    </p:spTree>
    <p:extLst>
      <p:ext uri="{BB962C8B-B14F-4D97-AF65-F5344CB8AC3E}">
        <p14:creationId xmlns:p14="http://schemas.microsoft.com/office/powerpoint/2010/main" val="294074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9828-BF99-C120-30F3-5A8FAD7B8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E7D80-E79C-AFF0-0232-C16F080CFC61}"/>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FBB1B0CD-0986-7456-3C93-1524562FA49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894C24F-C60C-F6CA-C5F7-68124A634BAB}"/>
              </a:ext>
            </a:extLst>
          </p:cNvPr>
          <p:cNvSpPr>
            <a:spLocks noGrp="1"/>
          </p:cNvSpPr>
          <p:nvPr>
            <p:ph type="sldNum" sz="quarter" idx="5"/>
          </p:nvPr>
        </p:nvSpPr>
        <p:spPr/>
        <p:txBody>
          <a:bodyPr/>
          <a:lstStyle/>
          <a:p>
            <a:fld id="{E27E38AF-BC93-4612-8619-54F4BB1E39A6}" type="slidenum">
              <a:rPr lang="en-PH" smtClean="0"/>
              <a:t>14</a:t>
            </a:fld>
            <a:endParaRPr lang="en-PH"/>
          </a:p>
        </p:txBody>
      </p:sp>
    </p:spTree>
    <p:extLst>
      <p:ext uri="{BB962C8B-B14F-4D97-AF65-F5344CB8AC3E}">
        <p14:creationId xmlns:p14="http://schemas.microsoft.com/office/powerpoint/2010/main" val="3146060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7685C-EBC9-1177-6BAF-0AFF9BAA1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30E62-97E9-5F2F-F628-8F5050352A1A}"/>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1A00A676-7A14-9477-7CAB-FB1F3D97E10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DA2FC38-D7F6-1795-770B-CA526779D7D8}"/>
              </a:ext>
            </a:extLst>
          </p:cNvPr>
          <p:cNvSpPr>
            <a:spLocks noGrp="1"/>
          </p:cNvSpPr>
          <p:nvPr>
            <p:ph type="sldNum" sz="quarter" idx="5"/>
          </p:nvPr>
        </p:nvSpPr>
        <p:spPr/>
        <p:txBody>
          <a:bodyPr/>
          <a:lstStyle/>
          <a:p>
            <a:fld id="{E27E38AF-BC93-4612-8619-54F4BB1E39A6}" type="slidenum">
              <a:rPr lang="en-PH" smtClean="0"/>
              <a:t>15</a:t>
            </a:fld>
            <a:endParaRPr lang="en-PH"/>
          </a:p>
        </p:txBody>
      </p:sp>
    </p:spTree>
    <p:extLst>
      <p:ext uri="{BB962C8B-B14F-4D97-AF65-F5344CB8AC3E}">
        <p14:creationId xmlns:p14="http://schemas.microsoft.com/office/powerpoint/2010/main" val="1142060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F8DE-677A-6438-15AD-16F14D437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0BDE5-1015-3CCB-4BB1-8006318C221D}"/>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5097FF21-1954-528F-33D5-BFBB109E940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4D7E024-2AE5-B67A-2029-83A321F6C7D0}"/>
              </a:ext>
            </a:extLst>
          </p:cNvPr>
          <p:cNvSpPr>
            <a:spLocks noGrp="1"/>
          </p:cNvSpPr>
          <p:nvPr>
            <p:ph type="sldNum" sz="quarter" idx="5"/>
          </p:nvPr>
        </p:nvSpPr>
        <p:spPr/>
        <p:txBody>
          <a:bodyPr/>
          <a:lstStyle/>
          <a:p>
            <a:fld id="{E27E38AF-BC93-4612-8619-54F4BB1E39A6}" type="slidenum">
              <a:rPr lang="en-PH" smtClean="0"/>
              <a:t>16</a:t>
            </a:fld>
            <a:endParaRPr lang="en-PH"/>
          </a:p>
        </p:txBody>
      </p:sp>
    </p:spTree>
    <p:extLst>
      <p:ext uri="{BB962C8B-B14F-4D97-AF65-F5344CB8AC3E}">
        <p14:creationId xmlns:p14="http://schemas.microsoft.com/office/powerpoint/2010/main" val="4234954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CED0-5FBC-9808-CF87-9A6F13497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DF74F-5C5C-59B0-16F5-09F0A2EC1BAA}"/>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0E57A292-3E1C-B671-5893-25A23D3A55D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443C941-D712-51ED-C3B6-A0486A03F981}"/>
              </a:ext>
            </a:extLst>
          </p:cNvPr>
          <p:cNvSpPr>
            <a:spLocks noGrp="1"/>
          </p:cNvSpPr>
          <p:nvPr>
            <p:ph type="sldNum" sz="quarter" idx="5"/>
          </p:nvPr>
        </p:nvSpPr>
        <p:spPr/>
        <p:txBody>
          <a:bodyPr/>
          <a:lstStyle/>
          <a:p>
            <a:fld id="{E27E38AF-BC93-4612-8619-54F4BB1E39A6}" type="slidenum">
              <a:rPr lang="en-PH" smtClean="0"/>
              <a:t>17</a:t>
            </a:fld>
            <a:endParaRPr lang="en-PH"/>
          </a:p>
        </p:txBody>
      </p:sp>
    </p:spTree>
    <p:extLst>
      <p:ext uri="{BB962C8B-B14F-4D97-AF65-F5344CB8AC3E}">
        <p14:creationId xmlns:p14="http://schemas.microsoft.com/office/powerpoint/2010/main" val="1093765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86792-D3BA-27F6-9AB9-FA58E3CC4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B85CE-E795-1B70-CA10-E055F282D239}"/>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9210A381-A0E5-9DDA-EF46-4542B59C189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E2EC581-43D0-F4F3-A3E9-769CE3A91E1A}"/>
              </a:ext>
            </a:extLst>
          </p:cNvPr>
          <p:cNvSpPr>
            <a:spLocks noGrp="1"/>
          </p:cNvSpPr>
          <p:nvPr>
            <p:ph type="sldNum" sz="quarter" idx="5"/>
          </p:nvPr>
        </p:nvSpPr>
        <p:spPr/>
        <p:txBody>
          <a:bodyPr/>
          <a:lstStyle/>
          <a:p>
            <a:fld id="{E27E38AF-BC93-4612-8619-54F4BB1E39A6}" type="slidenum">
              <a:rPr lang="en-PH" smtClean="0"/>
              <a:t>18</a:t>
            </a:fld>
            <a:endParaRPr lang="en-PH"/>
          </a:p>
        </p:txBody>
      </p:sp>
    </p:spTree>
    <p:extLst>
      <p:ext uri="{BB962C8B-B14F-4D97-AF65-F5344CB8AC3E}">
        <p14:creationId xmlns:p14="http://schemas.microsoft.com/office/powerpoint/2010/main" val="3515838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5C53-27D5-1B23-8A89-749810D5F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6D1CC-B5CD-444F-EC93-C36896195A31}"/>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E9CF48B4-6C96-97A4-8478-BE43AE5C6C8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756BFE0-9826-3398-C933-7856AED2A8D4}"/>
              </a:ext>
            </a:extLst>
          </p:cNvPr>
          <p:cNvSpPr>
            <a:spLocks noGrp="1"/>
          </p:cNvSpPr>
          <p:nvPr>
            <p:ph type="sldNum" sz="quarter" idx="5"/>
          </p:nvPr>
        </p:nvSpPr>
        <p:spPr/>
        <p:txBody>
          <a:bodyPr/>
          <a:lstStyle/>
          <a:p>
            <a:fld id="{E27E38AF-BC93-4612-8619-54F4BB1E39A6}" type="slidenum">
              <a:rPr lang="en-PH" smtClean="0"/>
              <a:t>19</a:t>
            </a:fld>
            <a:endParaRPr lang="en-PH"/>
          </a:p>
        </p:txBody>
      </p:sp>
    </p:spTree>
    <p:extLst>
      <p:ext uri="{BB962C8B-B14F-4D97-AF65-F5344CB8AC3E}">
        <p14:creationId xmlns:p14="http://schemas.microsoft.com/office/powerpoint/2010/main" val="787434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C7948-D346-8972-8A6C-AB14C7FD3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76EEE-7CDD-D26A-8F27-62D4E904790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1BB38068-8C9E-412E-A21A-3F7A56B982C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164888C7-120F-3B12-FE26-893818BF3CA5}"/>
              </a:ext>
            </a:extLst>
          </p:cNvPr>
          <p:cNvSpPr>
            <a:spLocks noGrp="1"/>
          </p:cNvSpPr>
          <p:nvPr>
            <p:ph type="sldNum" sz="quarter" idx="5"/>
          </p:nvPr>
        </p:nvSpPr>
        <p:spPr/>
        <p:txBody>
          <a:bodyPr/>
          <a:lstStyle/>
          <a:p>
            <a:fld id="{E27E38AF-BC93-4612-8619-54F4BB1E39A6}" type="slidenum">
              <a:rPr lang="en-PH" smtClean="0"/>
              <a:t>20</a:t>
            </a:fld>
            <a:endParaRPr lang="en-PH"/>
          </a:p>
        </p:txBody>
      </p:sp>
    </p:spTree>
    <p:extLst>
      <p:ext uri="{BB962C8B-B14F-4D97-AF65-F5344CB8AC3E}">
        <p14:creationId xmlns:p14="http://schemas.microsoft.com/office/powerpoint/2010/main" val="2787605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30EC7-79A7-732A-9421-E07251AAF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350DB-6403-4266-93B6-52CA0E82D2E0}"/>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983703B5-263D-048A-DA2D-88258E3F6593}"/>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3EB8A6C4-8587-32B3-195B-B1E4A94E4F2A}"/>
              </a:ext>
            </a:extLst>
          </p:cNvPr>
          <p:cNvSpPr>
            <a:spLocks noGrp="1"/>
          </p:cNvSpPr>
          <p:nvPr>
            <p:ph type="sldNum" sz="quarter" idx="5"/>
          </p:nvPr>
        </p:nvSpPr>
        <p:spPr/>
        <p:txBody>
          <a:bodyPr/>
          <a:lstStyle/>
          <a:p>
            <a:fld id="{E27E38AF-BC93-4612-8619-54F4BB1E39A6}" type="slidenum">
              <a:rPr lang="en-PH" smtClean="0"/>
              <a:t>21</a:t>
            </a:fld>
            <a:endParaRPr lang="en-PH"/>
          </a:p>
        </p:txBody>
      </p:sp>
    </p:spTree>
    <p:extLst>
      <p:ext uri="{BB962C8B-B14F-4D97-AF65-F5344CB8AC3E}">
        <p14:creationId xmlns:p14="http://schemas.microsoft.com/office/powerpoint/2010/main" val="3084630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72FE-E911-6483-76BC-3177BE15C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DF84D-FEB1-2657-5676-ACE9C4D8A9AD}"/>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543753F2-01A4-E4E9-CE92-DA306915C7C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ED84A74-C057-B2E8-D2E3-DE518944B716}"/>
              </a:ext>
            </a:extLst>
          </p:cNvPr>
          <p:cNvSpPr>
            <a:spLocks noGrp="1"/>
          </p:cNvSpPr>
          <p:nvPr>
            <p:ph type="sldNum" sz="quarter" idx="5"/>
          </p:nvPr>
        </p:nvSpPr>
        <p:spPr/>
        <p:txBody>
          <a:bodyPr/>
          <a:lstStyle/>
          <a:p>
            <a:fld id="{E27E38AF-BC93-4612-8619-54F4BB1E39A6}" type="slidenum">
              <a:rPr lang="en-PH" smtClean="0"/>
              <a:t>22</a:t>
            </a:fld>
            <a:endParaRPr lang="en-PH"/>
          </a:p>
        </p:txBody>
      </p:sp>
    </p:spTree>
    <p:extLst>
      <p:ext uri="{BB962C8B-B14F-4D97-AF65-F5344CB8AC3E}">
        <p14:creationId xmlns:p14="http://schemas.microsoft.com/office/powerpoint/2010/main" val="2959824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1D089-D7BC-2A6B-7ADC-40601CD58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45639-7F89-9AE6-80A0-F0C109C31D49}"/>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2F9701C3-F7C9-40CA-44C3-BAE844ABDB0D}"/>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B068FFF6-8292-483A-9813-065944716C64}"/>
              </a:ext>
            </a:extLst>
          </p:cNvPr>
          <p:cNvSpPr>
            <a:spLocks noGrp="1"/>
          </p:cNvSpPr>
          <p:nvPr>
            <p:ph type="sldNum" sz="quarter" idx="5"/>
          </p:nvPr>
        </p:nvSpPr>
        <p:spPr/>
        <p:txBody>
          <a:bodyPr/>
          <a:lstStyle/>
          <a:p>
            <a:fld id="{E27E38AF-BC93-4612-8619-54F4BB1E39A6}" type="slidenum">
              <a:rPr lang="en-PH" smtClean="0"/>
              <a:t>23</a:t>
            </a:fld>
            <a:endParaRPr lang="en-PH"/>
          </a:p>
        </p:txBody>
      </p:sp>
    </p:spTree>
    <p:extLst>
      <p:ext uri="{BB962C8B-B14F-4D97-AF65-F5344CB8AC3E}">
        <p14:creationId xmlns:p14="http://schemas.microsoft.com/office/powerpoint/2010/main" val="3885122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38D3-DD45-E821-62B4-918B2A2FD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5B63B-30A3-1268-77BE-AB5540351165}"/>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430131EB-D66A-5B38-0608-E44FBE91830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658370E-1BB2-FCC1-6CDC-B25460F6EFB3}"/>
              </a:ext>
            </a:extLst>
          </p:cNvPr>
          <p:cNvSpPr>
            <a:spLocks noGrp="1"/>
          </p:cNvSpPr>
          <p:nvPr>
            <p:ph type="sldNum" sz="quarter" idx="5"/>
          </p:nvPr>
        </p:nvSpPr>
        <p:spPr/>
        <p:txBody>
          <a:bodyPr/>
          <a:lstStyle/>
          <a:p>
            <a:fld id="{E27E38AF-BC93-4612-8619-54F4BB1E39A6}" type="slidenum">
              <a:rPr lang="en-PH" smtClean="0"/>
              <a:t>24</a:t>
            </a:fld>
            <a:endParaRPr lang="en-PH"/>
          </a:p>
        </p:txBody>
      </p:sp>
    </p:spTree>
    <p:extLst>
      <p:ext uri="{BB962C8B-B14F-4D97-AF65-F5344CB8AC3E}">
        <p14:creationId xmlns:p14="http://schemas.microsoft.com/office/powerpoint/2010/main" val="2903904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282C5-F3BC-9754-D623-D68730AA7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DA47F-B2C4-D70D-B5F1-4A3CBB927BD6}"/>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D8C27DBA-9E8C-CB67-96E3-C134284CDED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7DFF767-A56D-4EEE-DFDA-ACC4B6A74EB3}"/>
              </a:ext>
            </a:extLst>
          </p:cNvPr>
          <p:cNvSpPr>
            <a:spLocks noGrp="1"/>
          </p:cNvSpPr>
          <p:nvPr>
            <p:ph type="sldNum" sz="quarter" idx="5"/>
          </p:nvPr>
        </p:nvSpPr>
        <p:spPr/>
        <p:txBody>
          <a:bodyPr/>
          <a:lstStyle/>
          <a:p>
            <a:fld id="{E27E38AF-BC93-4612-8619-54F4BB1E39A6}" type="slidenum">
              <a:rPr lang="en-PH" smtClean="0"/>
              <a:t>25</a:t>
            </a:fld>
            <a:endParaRPr lang="en-PH"/>
          </a:p>
        </p:txBody>
      </p:sp>
    </p:spTree>
    <p:extLst>
      <p:ext uri="{BB962C8B-B14F-4D97-AF65-F5344CB8AC3E}">
        <p14:creationId xmlns:p14="http://schemas.microsoft.com/office/powerpoint/2010/main" val="2029841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9576-D79F-67AE-0E7B-EFF835B7A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87154-EFC0-CA7E-6142-C82E48B434A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3D702CA6-2FB2-1AEE-0485-1D72551C6CC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727B69A-8E8D-F8B6-475C-C109AA80BCBB}"/>
              </a:ext>
            </a:extLst>
          </p:cNvPr>
          <p:cNvSpPr>
            <a:spLocks noGrp="1"/>
          </p:cNvSpPr>
          <p:nvPr>
            <p:ph type="sldNum" sz="quarter" idx="5"/>
          </p:nvPr>
        </p:nvSpPr>
        <p:spPr/>
        <p:txBody>
          <a:bodyPr/>
          <a:lstStyle/>
          <a:p>
            <a:fld id="{E27E38AF-BC93-4612-8619-54F4BB1E39A6}" type="slidenum">
              <a:rPr lang="en-PH" smtClean="0"/>
              <a:t>26</a:t>
            </a:fld>
            <a:endParaRPr lang="en-PH"/>
          </a:p>
        </p:txBody>
      </p:sp>
    </p:spTree>
    <p:extLst>
      <p:ext uri="{BB962C8B-B14F-4D97-AF65-F5344CB8AC3E}">
        <p14:creationId xmlns:p14="http://schemas.microsoft.com/office/powerpoint/2010/main" val="3344472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D93D-FC8F-9095-501F-89977ECD3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18FC4-B051-9C4A-CABE-42A7F42873A7}"/>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DDB372F6-204C-CA0C-AEE3-5010D34B202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FC6A624-95F0-30C2-4B2D-B846BFAC4FB3}"/>
              </a:ext>
            </a:extLst>
          </p:cNvPr>
          <p:cNvSpPr>
            <a:spLocks noGrp="1"/>
          </p:cNvSpPr>
          <p:nvPr>
            <p:ph type="sldNum" sz="quarter" idx="5"/>
          </p:nvPr>
        </p:nvSpPr>
        <p:spPr/>
        <p:txBody>
          <a:bodyPr/>
          <a:lstStyle/>
          <a:p>
            <a:fld id="{E27E38AF-BC93-4612-8619-54F4BB1E39A6}" type="slidenum">
              <a:rPr lang="en-PH" smtClean="0"/>
              <a:t>27</a:t>
            </a:fld>
            <a:endParaRPr lang="en-PH"/>
          </a:p>
        </p:txBody>
      </p:sp>
    </p:spTree>
    <p:extLst>
      <p:ext uri="{BB962C8B-B14F-4D97-AF65-F5344CB8AC3E}">
        <p14:creationId xmlns:p14="http://schemas.microsoft.com/office/powerpoint/2010/main" val="29086614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3EBF3-5216-FA8C-3B16-7CDF62836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2A1B4-52BE-042F-4A9A-2AE12BB33026}"/>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2D4C6426-5F7B-7B18-752C-9DBD05CD1D63}"/>
              </a:ext>
            </a:extLst>
          </p:cNvPr>
          <p:cNvSpPr>
            <a:spLocks noGrp="1"/>
          </p:cNvSpPr>
          <p:nvPr>
            <p:ph type="body" idx="1"/>
          </p:nvPr>
        </p:nvSpPr>
        <p:spPr/>
        <p:txBody>
          <a:bodyPr/>
          <a:lstStyle/>
          <a:p>
            <a:pPr algn="l"/>
            <a:r>
              <a:rPr lang="en-US" sz="1600" dirty="0"/>
              <a:t>LAST VOICE: Ano naman </a:t>
            </a:r>
            <a:r>
              <a:rPr lang="en-US" sz="1600" dirty="0" err="1"/>
              <a:t>itong</a:t>
            </a:r>
            <a:r>
              <a:rPr lang="en-US" sz="1600" dirty="0"/>
              <a:t> inheritance</a:t>
            </a:r>
          </a:p>
        </p:txBody>
      </p:sp>
      <p:sp>
        <p:nvSpPr>
          <p:cNvPr id="4" name="Slide Number Placeholder 3">
            <a:extLst>
              <a:ext uri="{FF2B5EF4-FFF2-40B4-BE49-F238E27FC236}">
                <a16:creationId xmlns:a16="http://schemas.microsoft.com/office/drawing/2014/main" id="{7F67ACDC-93BA-1D70-54D9-5F98E57AD1FB}"/>
              </a:ext>
            </a:extLst>
          </p:cNvPr>
          <p:cNvSpPr>
            <a:spLocks noGrp="1"/>
          </p:cNvSpPr>
          <p:nvPr>
            <p:ph type="sldNum" sz="quarter" idx="5"/>
          </p:nvPr>
        </p:nvSpPr>
        <p:spPr/>
        <p:txBody>
          <a:bodyPr/>
          <a:lstStyle/>
          <a:p>
            <a:fld id="{E27E38AF-BC93-4612-8619-54F4BB1E39A6}" type="slidenum">
              <a:rPr lang="en-PH" smtClean="0"/>
              <a:t>28</a:t>
            </a:fld>
            <a:endParaRPr lang="en-PH"/>
          </a:p>
        </p:txBody>
      </p:sp>
    </p:spTree>
    <p:extLst>
      <p:ext uri="{BB962C8B-B14F-4D97-AF65-F5344CB8AC3E}">
        <p14:creationId xmlns:p14="http://schemas.microsoft.com/office/powerpoint/2010/main" val="486274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43702-46D6-3992-EF2F-62E0CFF5C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DB883-2124-5A31-BD38-DB9EEEEC3827}"/>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7165FFB4-CCB0-883A-C060-94DB14DE350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703383E-C388-B635-C082-F55500C3C8AF}"/>
              </a:ext>
            </a:extLst>
          </p:cNvPr>
          <p:cNvSpPr>
            <a:spLocks noGrp="1"/>
          </p:cNvSpPr>
          <p:nvPr>
            <p:ph type="sldNum" sz="quarter" idx="5"/>
          </p:nvPr>
        </p:nvSpPr>
        <p:spPr/>
        <p:txBody>
          <a:bodyPr/>
          <a:lstStyle/>
          <a:p>
            <a:fld id="{E27E38AF-BC93-4612-8619-54F4BB1E39A6}" type="slidenum">
              <a:rPr lang="en-PH" smtClean="0"/>
              <a:t>29</a:t>
            </a:fld>
            <a:endParaRPr lang="en-PH"/>
          </a:p>
        </p:txBody>
      </p:sp>
    </p:spTree>
    <p:extLst>
      <p:ext uri="{BB962C8B-B14F-4D97-AF65-F5344CB8AC3E}">
        <p14:creationId xmlns:p14="http://schemas.microsoft.com/office/powerpoint/2010/main" val="27191482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7B82B-2920-133A-A55F-61A00F520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54CFB-9C47-CD30-15A9-BB6C0AB50788}"/>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D5DDF69C-E5A0-D06C-E95A-C30975EAAD8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D12AC11-8FA4-B90A-8DC0-9C4CFC588FA8}"/>
              </a:ext>
            </a:extLst>
          </p:cNvPr>
          <p:cNvSpPr>
            <a:spLocks noGrp="1"/>
          </p:cNvSpPr>
          <p:nvPr>
            <p:ph type="sldNum" sz="quarter" idx="5"/>
          </p:nvPr>
        </p:nvSpPr>
        <p:spPr/>
        <p:txBody>
          <a:bodyPr/>
          <a:lstStyle/>
          <a:p>
            <a:fld id="{E27E38AF-BC93-4612-8619-54F4BB1E39A6}" type="slidenum">
              <a:rPr lang="en-PH" smtClean="0"/>
              <a:t>30</a:t>
            </a:fld>
            <a:endParaRPr lang="en-PH"/>
          </a:p>
        </p:txBody>
      </p:sp>
    </p:spTree>
    <p:extLst>
      <p:ext uri="{BB962C8B-B14F-4D97-AF65-F5344CB8AC3E}">
        <p14:creationId xmlns:p14="http://schemas.microsoft.com/office/powerpoint/2010/main" val="4208799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BF2C-B7CD-72B8-215D-7DCEE5CE7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74A78-5E6F-3CA4-0472-384AFFFA5285}"/>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71F93AB1-AB07-05E6-2E68-8AB860D325C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B4F545C-C669-6B5E-BFD3-DA772AEBE9DD}"/>
              </a:ext>
            </a:extLst>
          </p:cNvPr>
          <p:cNvSpPr>
            <a:spLocks noGrp="1"/>
          </p:cNvSpPr>
          <p:nvPr>
            <p:ph type="sldNum" sz="quarter" idx="5"/>
          </p:nvPr>
        </p:nvSpPr>
        <p:spPr/>
        <p:txBody>
          <a:bodyPr/>
          <a:lstStyle/>
          <a:p>
            <a:fld id="{E27E38AF-BC93-4612-8619-54F4BB1E39A6}" type="slidenum">
              <a:rPr lang="en-PH" smtClean="0"/>
              <a:t>31</a:t>
            </a:fld>
            <a:endParaRPr lang="en-PH"/>
          </a:p>
        </p:txBody>
      </p:sp>
    </p:spTree>
    <p:extLst>
      <p:ext uri="{BB962C8B-B14F-4D97-AF65-F5344CB8AC3E}">
        <p14:creationId xmlns:p14="http://schemas.microsoft.com/office/powerpoint/2010/main" val="40909826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B036-7386-B6F5-AE62-65095FA14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98A5E-9DD8-C7F9-0361-CEC697C2846D}"/>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9E5A59B6-838D-EF96-31EA-46598ABA346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FE9E691-8373-E57E-B7A4-68325A76CFB1}"/>
              </a:ext>
            </a:extLst>
          </p:cNvPr>
          <p:cNvSpPr>
            <a:spLocks noGrp="1"/>
          </p:cNvSpPr>
          <p:nvPr>
            <p:ph type="sldNum" sz="quarter" idx="5"/>
          </p:nvPr>
        </p:nvSpPr>
        <p:spPr/>
        <p:txBody>
          <a:bodyPr/>
          <a:lstStyle/>
          <a:p>
            <a:fld id="{E27E38AF-BC93-4612-8619-54F4BB1E39A6}" type="slidenum">
              <a:rPr lang="en-PH" smtClean="0"/>
              <a:t>32</a:t>
            </a:fld>
            <a:endParaRPr lang="en-PH"/>
          </a:p>
        </p:txBody>
      </p:sp>
    </p:spTree>
    <p:extLst>
      <p:ext uri="{BB962C8B-B14F-4D97-AF65-F5344CB8AC3E}">
        <p14:creationId xmlns:p14="http://schemas.microsoft.com/office/powerpoint/2010/main" val="22651578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F90D2-216C-C15A-725F-386AC32ED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4D41C-6436-3F00-A084-EEAEFD8727AD}"/>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02AA4E60-DCDC-30AE-6CE2-B976889433F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7B3F2F7-D6DB-C93D-8177-D4E701C6A7DB}"/>
              </a:ext>
            </a:extLst>
          </p:cNvPr>
          <p:cNvSpPr>
            <a:spLocks noGrp="1"/>
          </p:cNvSpPr>
          <p:nvPr>
            <p:ph type="sldNum" sz="quarter" idx="5"/>
          </p:nvPr>
        </p:nvSpPr>
        <p:spPr/>
        <p:txBody>
          <a:bodyPr/>
          <a:lstStyle/>
          <a:p>
            <a:fld id="{E27E38AF-BC93-4612-8619-54F4BB1E39A6}" type="slidenum">
              <a:rPr lang="en-PH" smtClean="0"/>
              <a:t>33</a:t>
            </a:fld>
            <a:endParaRPr lang="en-PH"/>
          </a:p>
        </p:txBody>
      </p:sp>
    </p:spTree>
    <p:extLst>
      <p:ext uri="{BB962C8B-B14F-4D97-AF65-F5344CB8AC3E}">
        <p14:creationId xmlns:p14="http://schemas.microsoft.com/office/powerpoint/2010/main" val="10074699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017B0-ADC0-BE87-EB0B-D55F05E07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BC44D-5018-102D-9B43-3639E00D2B9E}"/>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5D3B2F3C-8AF2-ADBB-2FB1-CB66D39937E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49CDD52-DA4F-1EA7-E4A6-B9FA88B092E1}"/>
              </a:ext>
            </a:extLst>
          </p:cNvPr>
          <p:cNvSpPr>
            <a:spLocks noGrp="1"/>
          </p:cNvSpPr>
          <p:nvPr>
            <p:ph type="sldNum" sz="quarter" idx="5"/>
          </p:nvPr>
        </p:nvSpPr>
        <p:spPr/>
        <p:txBody>
          <a:bodyPr/>
          <a:lstStyle/>
          <a:p>
            <a:fld id="{E27E38AF-BC93-4612-8619-54F4BB1E39A6}" type="slidenum">
              <a:rPr lang="en-PH" smtClean="0"/>
              <a:t>34</a:t>
            </a:fld>
            <a:endParaRPr lang="en-PH"/>
          </a:p>
        </p:txBody>
      </p:sp>
    </p:spTree>
    <p:extLst>
      <p:ext uri="{BB962C8B-B14F-4D97-AF65-F5344CB8AC3E}">
        <p14:creationId xmlns:p14="http://schemas.microsoft.com/office/powerpoint/2010/main" val="2009947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D81C3-E2DA-4793-BDA0-1375955C19F0}" type="datetime1">
              <a:rPr lang="en-US" smtClean="0"/>
              <a:t>12/11/2025</a:t>
            </a:fld>
            <a:endParaRPr lang="en-US"/>
          </a:p>
        </p:txBody>
      </p:sp>
      <p:sp>
        <p:nvSpPr>
          <p:cNvPr id="6" name="Slide Number Placeholder 5"/>
          <p:cNvSpPr>
            <a:spLocks noGrp="1"/>
          </p:cNvSpPr>
          <p:nvPr>
            <p:ph type="sldNum" sz="quarter" idx="4"/>
          </p:nvPr>
        </p:nvSpPr>
        <p:spPr>
          <a:xfrm>
            <a:off x="15925800" y="973879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ooter Placeholder 7">
            <a:extLst>
              <a:ext uri="{FF2B5EF4-FFF2-40B4-BE49-F238E27FC236}">
                <a16:creationId xmlns:a16="http://schemas.microsoft.com/office/drawing/2014/main" id="{466280C9-FBB2-A5C5-B32E-B1F32E20A7CA}"/>
              </a:ext>
            </a:extLst>
          </p:cNvPr>
          <p:cNvSpPr txBox="1">
            <a:spLocks/>
          </p:cNvSpPr>
          <p:nvPr userDrawn="1"/>
        </p:nvSpPr>
        <p:spPr>
          <a:xfrm>
            <a:off x="76200" y="9799686"/>
            <a:ext cx="5181600" cy="3042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ELECTIVE 4 (SPECIAL TOPICS ON WEB AND MOBILE 2)</a:t>
            </a:r>
          </a:p>
          <a:p>
            <a:endParaRPr lang="en-US" dirty="0"/>
          </a:p>
        </p:txBody>
      </p:sp>
    </p:spTree>
  </p:cSld>
  <p:clrMap bg1="lt1" tx1="dk1" bg2="lt2" tx2="dk2" accent1="accent1" accent2="accent2" accent3="accent3" accent4="accent4" accent5="accent5" accent6="accent6" hlink="hlink" folHlink="folHlink"/>
  <p:sldLayoutIdLst>
    <p:sldLayoutId id="214748365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70D90189-04C8-86AF-B9A8-6A8CA9F302D2}"/>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p:cNvSpPr txBox="1"/>
          <p:nvPr/>
        </p:nvSpPr>
        <p:spPr>
          <a:xfrm>
            <a:off x="1137255" y="3710405"/>
            <a:ext cx="15998250" cy="3158942"/>
          </a:xfrm>
          <a:prstGeom prst="rect">
            <a:avLst/>
          </a:prstGeom>
        </p:spPr>
        <p:txBody>
          <a:bodyPr wrap="square" lIns="0" tIns="0" rIns="0" bIns="0" rtlCol="0" anchor="t">
            <a:spAutoFit/>
          </a:bodyPr>
          <a:lstStyle/>
          <a:p>
            <a:pPr algn="l">
              <a:lnSpc>
                <a:spcPts val="12857"/>
              </a:lnSpc>
            </a:pPr>
            <a:r>
              <a:rPr lang="en-US" sz="8000" spc="-360" dirty="0">
                <a:ln>
                  <a:solidFill>
                    <a:sysClr val="windowText" lastClr="000000"/>
                  </a:solidFill>
                </a:ln>
                <a:solidFill>
                  <a:schemeClr val="bg1"/>
                </a:solidFill>
                <a:latin typeface="Consolas" panose="020B0609020204030204" pitchFamily="49" charset="0"/>
              </a:rPr>
              <a:t>Lesson 6: Object-Oriented Approach</a:t>
            </a:r>
          </a:p>
        </p:txBody>
      </p:sp>
      <p:grpSp>
        <p:nvGrpSpPr>
          <p:cNvPr id="34" name="Group 13">
            <a:extLst>
              <a:ext uri="{FF2B5EF4-FFF2-40B4-BE49-F238E27FC236}">
                <a16:creationId xmlns:a16="http://schemas.microsoft.com/office/drawing/2014/main" id="{03BEDA6F-F03E-338A-E884-B57BB6E88A2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774B46A4-1A07-1B6E-041F-F6905CFA41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E1DF7690-B553-61D6-9179-CCFD49C98B9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7D4F7B43-6DF2-1438-AF14-A92B65A0B7B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737FF48A-1343-407F-1EA2-017E5834A28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5844878D-4F08-5CB8-2978-838AA8A84A5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6B102466-B83F-E478-304D-B9605AC9EA8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p:cNvGrpSpPr/>
          <p:nvPr/>
        </p:nvGrpSpPr>
        <p:grpSpPr>
          <a:xfrm>
            <a:off x="14554200" y="6438900"/>
            <a:ext cx="3886200" cy="38481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1A356-45AB-01D7-8B02-6A037F3CC56F}"/>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DC537C6D-A9B0-474D-5F7F-5AE18DEDF03D}"/>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a:extLst>
              <a:ext uri="{FF2B5EF4-FFF2-40B4-BE49-F238E27FC236}">
                <a16:creationId xmlns:a16="http://schemas.microsoft.com/office/drawing/2014/main" id="{DCCF0552-DC5F-D921-2DBF-8D9ADCE23E8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677BFE42-B176-2608-684C-E78343E0976F}"/>
              </a:ext>
            </a:extLst>
          </p:cNvPr>
          <p:cNvSpPr txBox="1"/>
          <p:nvPr/>
        </p:nvSpPr>
        <p:spPr>
          <a:xfrm>
            <a:off x="1144874" y="3718387"/>
            <a:ext cx="15998250" cy="3158942"/>
          </a:xfrm>
          <a:prstGeom prst="rect">
            <a:avLst/>
          </a:prstGeom>
        </p:spPr>
        <p:txBody>
          <a:bodyPr wrap="square" lIns="0" tIns="0" rIns="0" bIns="0" rtlCol="0" anchor="t">
            <a:spAutoFit/>
          </a:bodyPr>
          <a:lstStyle/>
          <a:p>
            <a:pPr>
              <a:lnSpc>
                <a:spcPts val="12857"/>
              </a:lnSpc>
            </a:pPr>
            <a:r>
              <a:rPr lang="en-US" sz="8000" spc="-360" dirty="0">
                <a:ln>
                  <a:solidFill>
                    <a:sysClr val="windowText" lastClr="000000"/>
                  </a:solidFill>
                </a:ln>
                <a:solidFill>
                  <a:schemeClr val="bg1"/>
                </a:solidFill>
                <a:latin typeface="Consolas" panose="020B0609020204030204" pitchFamily="49" charset="0"/>
              </a:rPr>
              <a:t>Lesson 6.1 Classes, Objects, Methods, &amp; Access Modifiers</a:t>
            </a:r>
          </a:p>
        </p:txBody>
      </p:sp>
      <p:grpSp>
        <p:nvGrpSpPr>
          <p:cNvPr id="34" name="Group 13">
            <a:extLst>
              <a:ext uri="{FF2B5EF4-FFF2-40B4-BE49-F238E27FC236}">
                <a16:creationId xmlns:a16="http://schemas.microsoft.com/office/drawing/2014/main" id="{72A88239-CDE8-8509-855C-3034651AEAC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41231876-AFAA-BFE3-8020-87684489780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7F23A0F6-6A0E-F41A-6275-065DB1E6963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691AA18A-2302-5992-0343-ACF825E4B8B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17AD6AD9-1336-85C3-785F-721F33BC1C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93637CC3-0198-DE3E-26F2-EFB385F45F3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96B75947-B7B0-3935-78F3-1AA1899A73D2}"/>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7CF40B39-6A84-80B0-F4B1-AD6D8DFF43BE}"/>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294D204A-9C01-45EE-A4F1-6A2805C346D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8B8B855B-F0C5-7834-0ED7-502E5B0BDF1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DED2EA16-D63D-88E9-6D07-B70CB1BB607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747996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0" y="7086600"/>
            <a:ext cx="3200400" cy="32004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FC96476-CFAB-18A8-4841-0A0AA21B7D2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EBE5AEC0-DCCA-6A88-BD04-736997ED61BB}"/>
              </a:ext>
            </a:extLst>
          </p:cNvPr>
          <p:cNvSpPr txBox="1"/>
          <p:nvPr/>
        </p:nvSpPr>
        <p:spPr>
          <a:xfrm>
            <a:off x="381001" y="2628900"/>
            <a:ext cx="17526000" cy="8063746"/>
          </a:xfrm>
          <a:prstGeom prst="rect">
            <a:avLst/>
          </a:prstGeom>
          <a:noFill/>
        </p:spPr>
        <p:txBody>
          <a:bodyPr wrap="square">
            <a:spAutoFit/>
          </a:bodyPr>
          <a:lstStyle/>
          <a:p>
            <a:pPr algn="just"/>
            <a:r>
              <a:rPr lang="en-US" sz="3600" dirty="0">
                <a:latin typeface="Consolas" panose="020B0609020204030204" pitchFamily="49" charset="0"/>
              </a:rPr>
              <a:t>A class is a blueprint or template for creating objects. It defines the attributes (data) and methods (functions) that the objects created from it will have. It allows us to organize code into reusable components and to avoid repeating code.</a:t>
            </a:r>
          </a:p>
          <a:p>
            <a:pPr algn="just"/>
            <a:endParaRPr lang="en-US" sz="1100" dirty="0">
              <a:latin typeface="Consolas" panose="020B0609020204030204" pitchFamily="49" charset="0"/>
            </a:endParaRPr>
          </a:p>
          <a:p>
            <a:pPr algn="just"/>
            <a:r>
              <a:rPr lang="en-US" sz="3600" b="1" dirty="0">
                <a:latin typeface="Consolas" panose="020B0609020204030204" pitchFamily="49" charset="0"/>
              </a:rPr>
              <a:t>Basic Structure of a Class:</a:t>
            </a:r>
          </a:p>
          <a:p>
            <a:pPr algn="just"/>
            <a:r>
              <a:rPr lang="en-US" sz="3600" dirty="0">
                <a:latin typeface="Consolas" panose="020B0609020204030204" pitchFamily="49" charset="0"/>
              </a:rPr>
              <a:t>class </a:t>
            </a:r>
            <a:r>
              <a:rPr lang="en-US" sz="3600" dirty="0" err="1">
                <a:latin typeface="Consolas" panose="020B0609020204030204" pitchFamily="49" charset="0"/>
              </a:rPr>
              <a:t>ClassName</a:t>
            </a:r>
            <a:r>
              <a:rPr lang="en-US" sz="3600" dirty="0">
                <a:latin typeface="Consolas" panose="020B0609020204030204" pitchFamily="49" charset="0"/>
              </a:rPr>
              <a:t>:</a:t>
            </a:r>
          </a:p>
          <a:p>
            <a:pPr algn="just"/>
            <a:r>
              <a:rPr lang="en-US" sz="3600" dirty="0">
                <a:latin typeface="Consolas" panose="020B0609020204030204" pitchFamily="49" charset="0"/>
              </a:rPr>
              <a:t>    # attributes/properties</a:t>
            </a:r>
          </a:p>
          <a:p>
            <a:pPr algn="just"/>
            <a:r>
              <a:rPr lang="en-US" sz="3600" dirty="0">
                <a:latin typeface="Consolas" panose="020B0609020204030204" pitchFamily="49" charset="0"/>
              </a:rPr>
              <a:t>    # methods</a:t>
            </a:r>
          </a:p>
          <a:p>
            <a:pPr algn="just"/>
            <a:endParaRPr lang="en-US" sz="2400" dirty="0">
              <a:latin typeface="Consolas" panose="020B0609020204030204" pitchFamily="49" charset="0"/>
            </a:endParaRPr>
          </a:p>
          <a:p>
            <a:pPr algn="just"/>
            <a:r>
              <a:rPr lang="en-US" sz="3600" dirty="0">
                <a:latin typeface="Consolas" panose="020B0609020204030204" pitchFamily="49" charset="0"/>
              </a:rPr>
              <a:t>A class usually includes:</a:t>
            </a:r>
          </a:p>
          <a:p>
            <a:pPr marL="571500" indent="-571500" algn="just">
              <a:buFont typeface="Wingdings" panose="05000000000000000000" pitchFamily="2" charset="2"/>
              <a:buChar char="ü"/>
            </a:pPr>
            <a:r>
              <a:rPr lang="en-US" sz="3600" dirty="0">
                <a:latin typeface="Consolas" panose="020B0609020204030204" pitchFamily="49" charset="0"/>
              </a:rPr>
              <a:t>The constructor __</a:t>
            </a:r>
            <a:r>
              <a:rPr lang="en-US" sz="3600" dirty="0" err="1">
                <a:latin typeface="Consolas" panose="020B0609020204030204" pitchFamily="49" charset="0"/>
              </a:rPr>
              <a:t>init</a:t>
            </a:r>
            <a:r>
              <a:rPr lang="en-US" sz="3600" dirty="0">
                <a:latin typeface="Consolas" panose="020B0609020204030204" pitchFamily="49" charset="0"/>
              </a:rPr>
              <a:t>__()</a:t>
            </a:r>
          </a:p>
          <a:p>
            <a:pPr marL="571500" indent="-571500" algn="just">
              <a:buFont typeface="Wingdings" panose="05000000000000000000" pitchFamily="2" charset="2"/>
              <a:buChar char="ü"/>
            </a:pPr>
            <a:r>
              <a:rPr lang="en-US" sz="3600" dirty="0">
                <a:latin typeface="Consolas" panose="020B0609020204030204" pitchFamily="49" charset="0"/>
              </a:rPr>
              <a:t>instance attributes/properties</a:t>
            </a:r>
          </a:p>
          <a:p>
            <a:pPr marL="571500" indent="-571500" algn="just">
              <a:buFont typeface="Wingdings" panose="05000000000000000000" pitchFamily="2" charset="2"/>
              <a:buChar char="ü"/>
            </a:pPr>
            <a:r>
              <a:rPr lang="en-US" sz="3600" dirty="0">
                <a:latin typeface="Consolas" panose="020B0609020204030204" pitchFamily="49" charset="0"/>
              </a:rPr>
              <a:t>methods</a:t>
            </a:r>
          </a:p>
          <a:p>
            <a:pPr algn="just"/>
            <a:endParaRPr lang="en-US" sz="3600" dirty="0">
              <a:latin typeface="Consolas" panose="020B0609020204030204" pitchFamily="49" charset="0"/>
            </a:endParaRPr>
          </a:p>
        </p:txBody>
      </p:sp>
      <p:sp>
        <p:nvSpPr>
          <p:cNvPr id="6" name="TextBox 28">
            <a:extLst>
              <a:ext uri="{FF2B5EF4-FFF2-40B4-BE49-F238E27FC236}">
                <a16:creationId xmlns:a16="http://schemas.microsoft.com/office/drawing/2014/main" id="{C91970DA-FA58-B72A-EC7F-2D8AE667FD84}"/>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a:t>
            </a:r>
          </a:p>
        </p:txBody>
      </p:sp>
    </p:spTree>
    <p:extLst>
      <p:ext uri="{BB962C8B-B14F-4D97-AF65-F5344CB8AC3E}">
        <p14:creationId xmlns:p14="http://schemas.microsoft.com/office/powerpoint/2010/main" val="222255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97B1-6FF1-4C70-913E-0D1FC95632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AE92842-41B2-AC2A-0158-EE1AF013DD6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7C8A08F-12AD-0486-AA54-DA52E455669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A273F29-C63F-2030-ED2B-7815FA9C2E3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179F759-80B9-00A4-15ED-E57447A36CC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1DF4F042-251D-A186-BA21-AB1670AF340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A64D2FB1-5536-461D-003C-20D2502C3D8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51D7F8FA-7247-6E25-410C-E6C1256482FA}"/>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1. The constructor __</a:t>
            </a:r>
            <a:r>
              <a:rPr lang="en-US" sz="3400" b="1" dirty="0" err="1">
                <a:latin typeface="Consolas" panose="020B0609020204030204" pitchFamily="49" charset="0"/>
              </a:rPr>
              <a:t>init</a:t>
            </a:r>
            <a:r>
              <a:rPr lang="en-US" sz="3400" b="1" dirty="0">
                <a:latin typeface="Consolas" panose="020B0609020204030204" pitchFamily="49" charset="0"/>
              </a:rPr>
              <a:t>__() - </a:t>
            </a:r>
            <a:r>
              <a:rPr lang="en-US" sz="3400" dirty="0">
                <a:latin typeface="Consolas" panose="020B0609020204030204" pitchFamily="49" charset="0"/>
              </a:rPr>
              <a:t>All classes have a built-in method called __</a:t>
            </a:r>
            <a:r>
              <a:rPr lang="en-US" sz="3400" dirty="0" err="1">
                <a:latin typeface="Consolas" panose="020B0609020204030204" pitchFamily="49" charset="0"/>
              </a:rPr>
              <a:t>init</a:t>
            </a:r>
            <a:r>
              <a:rPr lang="en-US" sz="3400" dirty="0">
                <a:latin typeface="Consolas" panose="020B0609020204030204" pitchFamily="49" charset="0"/>
              </a:rPr>
              <a:t>__(), which is always executed when the class is being initiated. It is used to assign values to object properties or to perform operations that are necessary when the object is being created.</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Car:</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brand, model, year):</a:t>
            </a:r>
          </a:p>
          <a:p>
            <a:pPr algn="just"/>
            <a:r>
              <a:rPr lang="en-US" sz="3400" dirty="0">
                <a:latin typeface="Consolas" panose="020B0609020204030204" pitchFamily="49" charset="0"/>
              </a:rPr>
              <a:t>        </a:t>
            </a:r>
            <a:r>
              <a:rPr lang="en-US" sz="3400" dirty="0" err="1">
                <a:latin typeface="Consolas" panose="020B0609020204030204" pitchFamily="49" charset="0"/>
              </a:rPr>
              <a:t>self.brand</a:t>
            </a:r>
            <a:r>
              <a:rPr lang="en-US" sz="3400" dirty="0">
                <a:latin typeface="Consolas" panose="020B0609020204030204" pitchFamily="49" charset="0"/>
              </a:rPr>
              <a:t> = brand</a:t>
            </a:r>
          </a:p>
          <a:p>
            <a:pPr algn="just"/>
            <a:r>
              <a:rPr lang="en-US" sz="3400" dirty="0">
                <a:latin typeface="Consolas" panose="020B0609020204030204" pitchFamily="49" charset="0"/>
              </a:rPr>
              <a:t>        </a:t>
            </a:r>
            <a:r>
              <a:rPr lang="en-US" sz="3400" dirty="0" err="1">
                <a:latin typeface="Consolas" panose="020B0609020204030204" pitchFamily="49" charset="0"/>
              </a:rPr>
              <a:t>self.model</a:t>
            </a:r>
            <a:r>
              <a:rPr lang="en-US" sz="3400" dirty="0">
                <a:latin typeface="Consolas" panose="020B0609020204030204" pitchFamily="49" charset="0"/>
              </a:rPr>
              <a:t> = model</a:t>
            </a:r>
          </a:p>
          <a:p>
            <a:pPr algn="just"/>
            <a:r>
              <a:rPr lang="en-US" sz="3400" dirty="0">
                <a:latin typeface="Consolas" panose="020B0609020204030204" pitchFamily="49" charset="0"/>
              </a:rPr>
              <a:t>        </a:t>
            </a:r>
            <a:r>
              <a:rPr lang="en-US" sz="3400" dirty="0" err="1">
                <a:latin typeface="Consolas" panose="020B0609020204030204" pitchFamily="49" charset="0"/>
              </a:rPr>
              <a:t>self.year</a:t>
            </a:r>
            <a:r>
              <a:rPr lang="en-US" sz="3400" dirty="0">
                <a:latin typeface="Consolas" panose="020B0609020204030204" pitchFamily="49" charset="0"/>
              </a:rPr>
              <a:t> = year</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a:t>
            </a:r>
            <a:r>
              <a:rPr lang="en-US" sz="3400" dirty="0" err="1">
                <a:latin typeface="Consolas" panose="020B0609020204030204" pitchFamily="49" charset="0"/>
              </a:rPr>
              <a:t>display_info</a:t>
            </a:r>
            <a:r>
              <a:rPr lang="en-US" sz="3400" dirty="0">
                <a:latin typeface="Consolas" panose="020B0609020204030204" pitchFamily="49" charset="0"/>
              </a:rPr>
              <a:t>(self):</a:t>
            </a:r>
          </a:p>
          <a:p>
            <a:pPr algn="just"/>
            <a:r>
              <a:rPr lang="en-US" sz="3400" dirty="0">
                <a:latin typeface="Consolas" panose="020B0609020204030204" pitchFamily="49" charset="0"/>
              </a:rPr>
              <a:t>        print(f"{</a:t>
            </a:r>
            <a:r>
              <a:rPr lang="en-US" sz="3400" dirty="0" err="1">
                <a:latin typeface="Consolas" panose="020B0609020204030204" pitchFamily="49" charset="0"/>
              </a:rPr>
              <a:t>self.year</a:t>
            </a:r>
            <a:r>
              <a:rPr lang="en-US" sz="3400" dirty="0">
                <a:latin typeface="Consolas" panose="020B0609020204030204" pitchFamily="49" charset="0"/>
              </a:rPr>
              <a:t>} {</a:t>
            </a:r>
            <a:r>
              <a:rPr lang="en-US" sz="3400" dirty="0" err="1">
                <a:latin typeface="Consolas" panose="020B0609020204030204" pitchFamily="49" charset="0"/>
              </a:rPr>
              <a:t>self.brand</a:t>
            </a:r>
            <a:r>
              <a:rPr lang="en-US" sz="3400" dirty="0">
                <a:latin typeface="Consolas" panose="020B0609020204030204" pitchFamily="49" charset="0"/>
              </a:rPr>
              <a:t>} {</a:t>
            </a:r>
            <a:r>
              <a:rPr lang="en-US" sz="3400" dirty="0" err="1">
                <a:latin typeface="Consolas" panose="020B0609020204030204" pitchFamily="49" charset="0"/>
              </a:rPr>
              <a:t>self.model</a:t>
            </a:r>
            <a:r>
              <a:rPr lang="en-US" sz="3400" dirty="0">
                <a:latin typeface="Consolas" panose="020B0609020204030204" pitchFamily="49" charset="0"/>
              </a:rPr>
              <a:t>}")</a:t>
            </a:r>
          </a:p>
        </p:txBody>
      </p:sp>
      <p:sp>
        <p:nvSpPr>
          <p:cNvPr id="6" name="TextBox 28">
            <a:extLst>
              <a:ext uri="{FF2B5EF4-FFF2-40B4-BE49-F238E27FC236}">
                <a16:creationId xmlns:a16="http://schemas.microsoft.com/office/drawing/2014/main" id="{ADCD190A-E2C9-AC7A-309E-F1A71F1DEB29}"/>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3182910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3BB72-F6CE-DD98-11C3-42A6E59DC1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6C655BB-D8FA-1A0C-D729-741499E55BD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5611FAD-C201-42CA-7CAE-6832E8DAFE1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83E2BA5-3671-F47C-1892-319911D722B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321D870-A027-DEFE-71F0-04AB6171DBD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BE1753C-CD61-CA1F-7AB7-10488DF4FF5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948F3D7-5A12-062D-F645-D160CD7CB47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3E97FF52-3C0D-33A9-3942-2893CDE3237C}"/>
              </a:ext>
            </a:extLst>
          </p:cNvPr>
          <p:cNvSpPr txBox="1"/>
          <p:nvPr/>
        </p:nvSpPr>
        <p:spPr>
          <a:xfrm>
            <a:off x="381001" y="2628900"/>
            <a:ext cx="17526000" cy="7294305"/>
          </a:xfrm>
          <a:prstGeom prst="rect">
            <a:avLst/>
          </a:prstGeom>
          <a:noFill/>
        </p:spPr>
        <p:txBody>
          <a:bodyPr wrap="square">
            <a:spAutoFit/>
          </a:bodyPr>
          <a:lstStyle/>
          <a:p>
            <a:pPr algn="just"/>
            <a:r>
              <a:rPr lang="en-US" sz="3200" b="1" dirty="0">
                <a:latin typeface="Consolas" panose="020B0609020204030204" pitchFamily="49" charset="0"/>
              </a:rPr>
              <a:t>1.1 The self parameter - </a:t>
            </a:r>
            <a:r>
              <a:rPr lang="en-US" sz="3200" dirty="0">
                <a:latin typeface="Consolas" panose="020B0609020204030204" pitchFamily="49" charset="0"/>
              </a:rPr>
              <a:t>The </a:t>
            </a:r>
            <a:r>
              <a:rPr lang="en-US" sz="3200" b="1" i="1" dirty="0">
                <a:latin typeface="Consolas" panose="020B0609020204030204" pitchFamily="49" charset="0"/>
              </a:rPr>
              <a:t>self</a:t>
            </a:r>
            <a:r>
              <a:rPr lang="en-US" sz="3200" dirty="0">
                <a:latin typeface="Consolas" panose="020B0609020204030204" pitchFamily="49" charset="0"/>
              </a:rPr>
              <a:t> parameter is a reference to the current instance of the class. It is used to access properties and methods that belong to the class. Without self, Python would not know which object's properties you want to access. It does not have to be named </a:t>
            </a:r>
            <a:r>
              <a:rPr lang="en-US" sz="3200" i="1" dirty="0">
                <a:latin typeface="Consolas" panose="020B0609020204030204" pitchFamily="49" charset="0"/>
              </a:rPr>
              <a:t>self</a:t>
            </a:r>
            <a:r>
              <a:rPr lang="en-US" sz="3200" dirty="0">
                <a:latin typeface="Consolas" panose="020B0609020204030204" pitchFamily="49" charset="0"/>
              </a:rPr>
              <a:t>; you can call it whatever you like, but it must be the first parameter of any method in the class.</a:t>
            </a: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class Car:</a:t>
            </a:r>
          </a:p>
          <a:p>
            <a:pPr algn="just"/>
            <a:r>
              <a:rPr lang="en-US" sz="3200" dirty="0">
                <a:latin typeface="Consolas" panose="020B0609020204030204" pitchFamily="49" charset="0"/>
              </a:rPr>
              <a:t>    def __</a:t>
            </a:r>
            <a:r>
              <a:rPr lang="en-US" sz="3200" dirty="0" err="1">
                <a:latin typeface="Consolas" panose="020B0609020204030204" pitchFamily="49" charset="0"/>
              </a:rPr>
              <a:t>init</a:t>
            </a:r>
            <a:r>
              <a:rPr lang="en-US" sz="3200" dirty="0">
                <a:latin typeface="Consolas" panose="020B0609020204030204" pitchFamily="49" charset="0"/>
              </a:rPr>
              <a:t>__(</a:t>
            </a:r>
            <a:r>
              <a:rPr lang="en-US" sz="3200" dirty="0" err="1">
                <a:latin typeface="Consolas" panose="020B0609020204030204" pitchFamily="49" charset="0"/>
              </a:rPr>
              <a:t>myobject</a:t>
            </a:r>
            <a:r>
              <a:rPr lang="en-US" sz="3200" dirty="0">
                <a:latin typeface="Consolas" panose="020B0609020204030204" pitchFamily="49" charset="0"/>
              </a:rPr>
              <a:t>, brand, model, year):</a:t>
            </a:r>
          </a:p>
          <a:p>
            <a:pPr algn="just"/>
            <a:r>
              <a:rPr lang="en-US" sz="3200" dirty="0">
                <a:latin typeface="Consolas" panose="020B0609020204030204" pitchFamily="49" charset="0"/>
              </a:rPr>
              <a:t>		</a:t>
            </a:r>
            <a:r>
              <a:rPr lang="en-US" sz="3200" dirty="0" err="1">
                <a:latin typeface="Consolas" panose="020B0609020204030204" pitchFamily="49" charset="0"/>
              </a:rPr>
              <a:t>myobject.brand</a:t>
            </a:r>
            <a:r>
              <a:rPr lang="en-US" sz="3200" dirty="0">
                <a:latin typeface="Consolas" panose="020B0609020204030204" pitchFamily="49" charset="0"/>
              </a:rPr>
              <a:t> = brand</a:t>
            </a:r>
          </a:p>
          <a:p>
            <a:pPr algn="just"/>
            <a:r>
              <a:rPr lang="en-US" sz="3200" dirty="0">
                <a:latin typeface="Consolas" panose="020B0609020204030204" pitchFamily="49" charset="0"/>
              </a:rPr>
              <a:t>		</a:t>
            </a:r>
            <a:r>
              <a:rPr lang="en-US" sz="3200" dirty="0" err="1">
                <a:latin typeface="Consolas" panose="020B0609020204030204" pitchFamily="49" charset="0"/>
              </a:rPr>
              <a:t>myobject.model</a:t>
            </a:r>
            <a:r>
              <a:rPr lang="en-US" sz="3200" dirty="0">
                <a:latin typeface="Consolas" panose="020B0609020204030204" pitchFamily="49" charset="0"/>
              </a:rPr>
              <a:t> = model</a:t>
            </a:r>
          </a:p>
          <a:p>
            <a:pPr algn="just"/>
            <a:r>
              <a:rPr lang="en-US" sz="3200" dirty="0">
                <a:latin typeface="Consolas" panose="020B0609020204030204" pitchFamily="49" charset="0"/>
              </a:rPr>
              <a:t>		</a:t>
            </a:r>
            <a:r>
              <a:rPr lang="en-US" sz="3200" dirty="0" err="1">
                <a:latin typeface="Consolas" panose="020B0609020204030204" pitchFamily="49" charset="0"/>
              </a:rPr>
              <a:t>myobject.year</a:t>
            </a:r>
            <a:r>
              <a:rPr lang="en-US" sz="3200" dirty="0">
                <a:latin typeface="Consolas" panose="020B0609020204030204" pitchFamily="49" charset="0"/>
              </a:rPr>
              <a:t> = year</a:t>
            </a:r>
          </a:p>
          <a:p>
            <a:pPr algn="just"/>
            <a:endParaRPr lang="en-US" sz="2000" dirty="0">
              <a:latin typeface="Consolas" panose="020B0609020204030204" pitchFamily="49" charset="0"/>
            </a:endParaRPr>
          </a:p>
          <a:p>
            <a:pPr algn="just"/>
            <a:r>
              <a:rPr lang="en-US" sz="3200" dirty="0">
                <a:latin typeface="Consolas" panose="020B0609020204030204" pitchFamily="49" charset="0"/>
              </a:rPr>
              <a:t>    def </a:t>
            </a:r>
            <a:r>
              <a:rPr lang="en-US" sz="3200" dirty="0" err="1">
                <a:latin typeface="Consolas" panose="020B0609020204030204" pitchFamily="49" charset="0"/>
              </a:rPr>
              <a:t>display_info</a:t>
            </a:r>
            <a:r>
              <a:rPr lang="en-US" sz="3200" dirty="0">
                <a:latin typeface="Consolas" panose="020B0609020204030204" pitchFamily="49" charset="0"/>
              </a:rPr>
              <a:t>(</a:t>
            </a:r>
            <a:r>
              <a:rPr lang="en-US" sz="3200" dirty="0" err="1">
                <a:latin typeface="Consolas" panose="020B0609020204030204" pitchFamily="49" charset="0"/>
              </a:rPr>
              <a:t>myobject</a:t>
            </a:r>
            <a:r>
              <a:rPr lang="en-US" sz="3200" dirty="0">
                <a:latin typeface="Consolas" panose="020B0609020204030204" pitchFamily="49" charset="0"/>
              </a:rPr>
              <a:t>):</a:t>
            </a:r>
          </a:p>
          <a:p>
            <a:pPr algn="just"/>
            <a:r>
              <a:rPr lang="en-US" sz="3200" dirty="0">
                <a:latin typeface="Consolas" panose="020B0609020204030204" pitchFamily="49" charset="0"/>
              </a:rPr>
              <a:t>        print(f"{</a:t>
            </a:r>
            <a:r>
              <a:rPr lang="en-US" sz="3200" dirty="0" err="1">
                <a:latin typeface="Consolas" panose="020B0609020204030204" pitchFamily="49" charset="0"/>
              </a:rPr>
              <a:t>myobject.year</a:t>
            </a:r>
            <a:r>
              <a:rPr lang="en-US" sz="3200" dirty="0">
                <a:latin typeface="Consolas" panose="020B0609020204030204" pitchFamily="49" charset="0"/>
              </a:rPr>
              <a:t>} {</a:t>
            </a:r>
            <a:r>
              <a:rPr lang="en-US" sz="3200" dirty="0" err="1">
                <a:latin typeface="Consolas" panose="020B0609020204030204" pitchFamily="49" charset="0"/>
              </a:rPr>
              <a:t>myobject.brand</a:t>
            </a:r>
            <a:r>
              <a:rPr lang="en-US" sz="3200" dirty="0">
                <a:latin typeface="Consolas" panose="020B0609020204030204" pitchFamily="49" charset="0"/>
              </a:rPr>
              <a:t>} {</a:t>
            </a:r>
            <a:r>
              <a:rPr lang="en-US" sz="3200" dirty="0" err="1">
                <a:latin typeface="Consolas" panose="020B0609020204030204" pitchFamily="49" charset="0"/>
              </a:rPr>
              <a:t>myobject.model</a:t>
            </a:r>
            <a:r>
              <a:rPr lang="en-US" sz="3200" dirty="0">
                <a:latin typeface="Consolas" panose="020B0609020204030204" pitchFamily="49" charset="0"/>
              </a:rPr>
              <a:t>}")</a:t>
            </a:r>
          </a:p>
        </p:txBody>
      </p:sp>
      <p:sp>
        <p:nvSpPr>
          <p:cNvPr id="6" name="TextBox 28">
            <a:extLst>
              <a:ext uri="{FF2B5EF4-FFF2-40B4-BE49-F238E27FC236}">
                <a16:creationId xmlns:a16="http://schemas.microsoft.com/office/drawing/2014/main" id="{C2266331-DB3C-0D0D-7D9B-14014D3F9052}"/>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168051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3E8FA-D9FE-34F4-3B4C-E306635923F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AD79C6C-9BC6-9C09-1F2A-15AF062541B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B62A595A-A955-68A5-190F-84F99078FD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8E6B36F-17D2-AEDD-43B3-D984DE7AE07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C96B1EF-F4F2-2F37-3E91-4D879552646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BA0CEBB-FF6B-3CED-F7A8-D90A7F2B0D2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5A9158E-C5D6-52D7-E50A-344A27A7A0C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130CE410-01BD-B497-7509-982BE80CBBE9}"/>
              </a:ext>
            </a:extLst>
          </p:cNvPr>
          <p:cNvSpPr txBox="1"/>
          <p:nvPr/>
        </p:nvSpPr>
        <p:spPr>
          <a:xfrm>
            <a:off x="381001" y="2628900"/>
            <a:ext cx="17526000" cy="6370975"/>
          </a:xfrm>
          <a:prstGeom prst="rect">
            <a:avLst/>
          </a:prstGeom>
          <a:noFill/>
        </p:spPr>
        <p:txBody>
          <a:bodyPr wrap="square">
            <a:spAutoFit/>
          </a:bodyPr>
          <a:lstStyle/>
          <a:p>
            <a:pPr algn="just"/>
            <a:r>
              <a:rPr lang="en-US" sz="3400" dirty="0">
                <a:latin typeface="Consolas" panose="020B0609020204030204" pitchFamily="49" charset="0"/>
              </a:rPr>
              <a:t>Without the __</a:t>
            </a:r>
            <a:r>
              <a:rPr lang="en-US" sz="3400" dirty="0" err="1">
                <a:latin typeface="Consolas" panose="020B0609020204030204" pitchFamily="49" charset="0"/>
              </a:rPr>
              <a:t>init</a:t>
            </a:r>
            <a:r>
              <a:rPr lang="en-US" sz="3400" dirty="0">
                <a:latin typeface="Consolas" panose="020B0609020204030204" pitchFamily="49" charset="0"/>
              </a:rPr>
              <a:t>__(), you need to assign values manually.</a:t>
            </a:r>
          </a:p>
          <a:p>
            <a:pPr algn="just"/>
            <a:endParaRPr lang="en-US" sz="3400" dirty="0">
              <a:latin typeface="Consolas" panose="020B0609020204030204" pitchFamily="49" charset="0"/>
            </a:endParaRPr>
          </a:p>
          <a:p>
            <a:pPr algn="just"/>
            <a:r>
              <a:rPr lang="en-US" sz="3400" b="1" dirty="0">
                <a:latin typeface="Consolas" panose="020B0609020204030204" pitchFamily="49" charset="0"/>
              </a:rPr>
              <a:t>For example:</a:t>
            </a:r>
          </a:p>
          <a:p>
            <a:pPr algn="just"/>
            <a:r>
              <a:rPr lang="en-US" sz="3400" dirty="0">
                <a:latin typeface="Consolas" panose="020B0609020204030204" pitchFamily="49" charset="0"/>
              </a:rPr>
              <a:t>class Person:</a:t>
            </a:r>
          </a:p>
          <a:p>
            <a:pPr algn="just"/>
            <a:r>
              <a:rPr lang="en-US" sz="3400" dirty="0">
                <a:latin typeface="Consolas" panose="020B0609020204030204" pitchFamily="49" charset="0"/>
              </a:rPr>
              <a:t>	pass</a:t>
            </a:r>
          </a:p>
          <a:p>
            <a:pPr algn="just"/>
            <a:endParaRPr lang="en-US" sz="3400" dirty="0">
              <a:latin typeface="Consolas" panose="020B0609020204030204" pitchFamily="49" charset="0"/>
            </a:endParaRPr>
          </a:p>
          <a:p>
            <a:pPr algn="just"/>
            <a:r>
              <a:rPr lang="en-US" sz="3400" dirty="0">
                <a:latin typeface="Consolas" panose="020B0609020204030204" pitchFamily="49" charset="0"/>
              </a:rPr>
              <a:t>p1 = Person()</a:t>
            </a:r>
          </a:p>
          <a:p>
            <a:pPr algn="just"/>
            <a:r>
              <a:rPr lang="en-US" sz="3400" dirty="0">
                <a:latin typeface="Consolas" panose="020B0609020204030204" pitchFamily="49" charset="0"/>
              </a:rPr>
              <a:t>p1.name = "Tobias"</a:t>
            </a:r>
          </a:p>
          <a:p>
            <a:pPr algn="just"/>
            <a:r>
              <a:rPr lang="en-US" sz="3400" dirty="0">
                <a:latin typeface="Consolas" panose="020B0609020204030204" pitchFamily="49" charset="0"/>
              </a:rPr>
              <a:t>p1.age = 25</a:t>
            </a:r>
          </a:p>
          <a:p>
            <a:pPr algn="just"/>
            <a:endParaRPr lang="en-US" sz="3400" dirty="0">
              <a:latin typeface="Consolas" panose="020B0609020204030204" pitchFamily="49" charset="0"/>
            </a:endParaRPr>
          </a:p>
          <a:p>
            <a:pPr algn="just"/>
            <a:r>
              <a:rPr lang="en-US" sz="3400" dirty="0">
                <a:latin typeface="Consolas" panose="020B0609020204030204" pitchFamily="49" charset="0"/>
              </a:rPr>
              <a:t>print(p1.name)</a:t>
            </a:r>
          </a:p>
          <a:p>
            <a:pPr algn="just"/>
            <a:r>
              <a:rPr lang="en-US" sz="3400" dirty="0">
                <a:latin typeface="Consolas" panose="020B0609020204030204" pitchFamily="49" charset="0"/>
              </a:rPr>
              <a:t>print(p1.age)</a:t>
            </a:r>
          </a:p>
        </p:txBody>
      </p:sp>
      <p:sp>
        <p:nvSpPr>
          <p:cNvPr id="6" name="TextBox 28">
            <a:extLst>
              <a:ext uri="{FF2B5EF4-FFF2-40B4-BE49-F238E27FC236}">
                <a16:creationId xmlns:a16="http://schemas.microsoft.com/office/drawing/2014/main" id="{F0E1EFBF-D3EC-01D7-733D-F7DF9B98721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3297050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08C10-EF0F-4110-70DF-4C5A52C72B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D020A4-78E2-91F6-83A5-B8D95D50C7B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DD1CE8F-90D0-F057-D124-6001C025283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05B7A7A-D211-E05C-5018-55443FEB6F8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9C6291A-F778-4BD0-C025-AA099E788F0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320DC96-301C-61B9-4647-8D609F15F9C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EE45C9D3-A4F8-43C1-A25D-6D83A94CECF0}"/>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DC8CF201-8C15-A041-9288-F4F4CBFCC92A}"/>
              </a:ext>
            </a:extLst>
          </p:cNvPr>
          <p:cNvSpPr txBox="1"/>
          <p:nvPr/>
        </p:nvSpPr>
        <p:spPr>
          <a:xfrm>
            <a:off x="381001" y="2628900"/>
            <a:ext cx="17526000" cy="7417415"/>
          </a:xfrm>
          <a:prstGeom prst="rect">
            <a:avLst/>
          </a:prstGeom>
          <a:noFill/>
        </p:spPr>
        <p:txBody>
          <a:bodyPr wrap="square">
            <a:spAutoFit/>
          </a:bodyPr>
          <a:lstStyle/>
          <a:p>
            <a:pPr algn="just"/>
            <a:r>
              <a:rPr lang="en-US" sz="3400" b="1" dirty="0">
                <a:latin typeface="Consolas" panose="020B0609020204030204" pitchFamily="49" charset="0"/>
              </a:rPr>
              <a:t>2. Attributes/properties </a:t>
            </a:r>
            <a:r>
              <a:rPr lang="en-US" sz="3400" dirty="0">
                <a:latin typeface="Consolas" panose="020B0609020204030204" pitchFamily="49" charset="0"/>
              </a:rPr>
              <a:t>- These are variables that belong to each object created from the class. They store data for each object created from the class. </a:t>
            </a:r>
          </a:p>
          <a:p>
            <a:pPr algn="just"/>
            <a:r>
              <a:rPr lang="en-US" sz="3400" b="1" dirty="0">
                <a:latin typeface="Consolas" panose="020B0609020204030204" pitchFamily="49" charset="0"/>
              </a:rPr>
              <a:t>Example:</a:t>
            </a:r>
          </a:p>
          <a:p>
            <a:pPr algn="just"/>
            <a:endParaRPr lang="en-US" sz="3400" b="1" dirty="0">
              <a:latin typeface="Consolas" panose="020B0609020204030204" pitchFamily="49" charset="0"/>
            </a:endParaRPr>
          </a:p>
          <a:p>
            <a:pPr algn="just"/>
            <a:r>
              <a:rPr lang="en-US" sz="3400" dirty="0" err="1">
                <a:latin typeface="Consolas" panose="020B0609020204030204" pitchFamily="49" charset="0"/>
              </a:rPr>
              <a:t>self.brand</a:t>
            </a:r>
            <a:r>
              <a:rPr lang="en-US" sz="3400" dirty="0">
                <a:latin typeface="Consolas" panose="020B0609020204030204" pitchFamily="49" charset="0"/>
              </a:rPr>
              <a:t> = brand</a:t>
            </a:r>
          </a:p>
          <a:p>
            <a:pPr algn="just"/>
            <a:r>
              <a:rPr lang="en-US" sz="3400" dirty="0" err="1">
                <a:latin typeface="Consolas" panose="020B0609020204030204" pitchFamily="49" charset="0"/>
              </a:rPr>
              <a:t>self.model</a:t>
            </a:r>
            <a:r>
              <a:rPr lang="en-US" sz="3400" dirty="0">
                <a:latin typeface="Consolas" panose="020B0609020204030204" pitchFamily="49" charset="0"/>
              </a:rPr>
              <a:t> = model</a:t>
            </a:r>
          </a:p>
          <a:p>
            <a:pPr algn="just"/>
            <a:r>
              <a:rPr lang="en-US" sz="3400" dirty="0" err="1">
                <a:latin typeface="Consolas" panose="020B0609020204030204" pitchFamily="49" charset="0"/>
              </a:rPr>
              <a:t>self.year</a:t>
            </a:r>
            <a:r>
              <a:rPr lang="en-US" sz="3400" dirty="0">
                <a:latin typeface="Consolas" panose="020B0609020204030204" pitchFamily="49" charset="0"/>
              </a:rPr>
              <a:t> = year</a:t>
            </a:r>
          </a:p>
          <a:p>
            <a:pPr algn="just"/>
            <a:endParaRPr lang="en-US" sz="3200" dirty="0">
              <a:latin typeface="Consolas" panose="020B0609020204030204" pitchFamily="49" charset="0"/>
            </a:endParaRPr>
          </a:p>
          <a:p>
            <a:pPr algn="just"/>
            <a:r>
              <a:rPr lang="en-US" sz="3400" dirty="0">
                <a:latin typeface="Consolas" panose="020B0609020204030204" pitchFamily="49" charset="0"/>
              </a:rPr>
              <a:t>Each car object can have: </a:t>
            </a:r>
          </a:p>
          <a:p>
            <a:pPr marL="914400" lvl="1" indent="-457200" algn="just">
              <a:buFont typeface="Wingdings" panose="05000000000000000000" pitchFamily="2" charset="2"/>
              <a:buChar char="ü"/>
            </a:pPr>
            <a:r>
              <a:rPr lang="en-US" sz="3400" dirty="0">
                <a:latin typeface="Consolas" panose="020B0609020204030204" pitchFamily="49" charset="0"/>
              </a:rPr>
              <a:t>Different brand</a:t>
            </a:r>
          </a:p>
          <a:p>
            <a:pPr marL="914400" lvl="1" indent="-457200" algn="just">
              <a:buFont typeface="Wingdings" panose="05000000000000000000" pitchFamily="2" charset="2"/>
              <a:buChar char="ü"/>
            </a:pPr>
            <a:r>
              <a:rPr lang="en-US" sz="3400" dirty="0">
                <a:latin typeface="Consolas" panose="020B0609020204030204" pitchFamily="49" charset="0"/>
              </a:rPr>
              <a:t>Different model</a:t>
            </a:r>
          </a:p>
          <a:p>
            <a:pPr marL="914400" lvl="1" indent="-457200" algn="just">
              <a:buFont typeface="Wingdings" panose="05000000000000000000" pitchFamily="2" charset="2"/>
              <a:buChar char="ü"/>
            </a:pPr>
            <a:r>
              <a:rPr lang="en-US" sz="3400" dirty="0">
                <a:latin typeface="Consolas" panose="020B0609020204030204" pitchFamily="49" charset="0"/>
              </a:rPr>
              <a:t>Different year</a:t>
            </a:r>
          </a:p>
          <a:p>
            <a:pPr algn="just"/>
            <a:r>
              <a:rPr lang="en-US" sz="3400" dirty="0">
                <a:latin typeface="Consolas" panose="020B0609020204030204" pitchFamily="49" charset="0"/>
              </a:rPr>
              <a:t>Even though they were all created from the same class.</a:t>
            </a:r>
          </a:p>
        </p:txBody>
      </p:sp>
      <p:sp>
        <p:nvSpPr>
          <p:cNvPr id="6" name="TextBox 28">
            <a:extLst>
              <a:ext uri="{FF2B5EF4-FFF2-40B4-BE49-F238E27FC236}">
                <a16:creationId xmlns:a16="http://schemas.microsoft.com/office/drawing/2014/main" id="{0D19CB29-0C90-29B8-7BFF-6601B61D226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2920828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A757-1317-B1D2-E133-45FB950423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4341D73-9357-5946-1B8F-09E0755B0C9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BD9061DB-BF34-BDAE-AC17-B04B953DB69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64D25EED-2F00-438F-E40A-BFF793A35A1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3931B1A9-F4D4-4702-0852-DBBFBB0A51C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2EDA119-2B10-5D22-8D73-A1995D3E754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40DD150-CE87-C8AC-2345-0DE037940FD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157B5483-39DD-B9D9-68BC-F7B3C7D62CBC}"/>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2.1 Instance Attributes </a:t>
            </a:r>
            <a:r>
              <a:rPr lang="en-US" sz="3400" dirty="0">
                <a:latin typeface="Consolas" panose="020B0609020204030204" pitchFamily="49" charset="0"/>
              </a:rPr>
              <a:t>- belong to individual objects created from a class. They are usually defined inside __</a:t>
            </a:r>
            <a:r>
              <a:rPr lang="en-US" sz="3400" dirty="0" err="1">
                <a:latin typeface="Consolas" panose="020B0609020204030204" pitchFamily="49" charset="0"/>
              </a:rPr>
              <a:t>init</a:t>
            </a:r>
            <a:r>
              <a:rPr lang="en-US" sz="3400" dirty="0">
                <a:latin typeface="Consolas" panose="020B0609020204030204" pitchFamily="49" charset="0"/>
              </a:rPr>
              <a:t>__() because this method initializes each new object.</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Book:</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title, author, </a:t>
            </a:r>
            <a:r>
              <a:rPr lang="en-US" sz="3400" dirty="0" err="1">
                <a:latin typeface="Consolas" panose="020B0609020204030204" pitchFamily="49" charset="0"/>
              </a:rPr>
              <a:t>isbn</a:t>
            </a:r>
            <a:r>
              <a:rPr lang="en-US" sz="3400" dirty="0">
                <a:latin typeface="Consolas" panose="020B0609020204030204" pitchFamily="49" charset="0"/>
              </a:rPr>
              <a:t>):</a:t>
            </a:r>
          </a:p>
          <a:p>
            <a:pPr algn="just"/>
            <a:r>
              <a:rPr lang="en-US" sz="3400" dirty="0">
                <a:latin typeface="Consolas" panose="020B0609020204030204" pitchFamily="49" charset="0"/>
              </a:rPr>
              <a:t>		</a:t>
            </a:r>
            <a:r>
              <a:rPr lang="en-US" sz="3400" dirty="0" err="1">
                <a:latin typeface="Consolas" panose="020B0609020204030204" pitchFamily="49" charset="0"/>
              </a:rPr>
              <a:t>self.title</a:t>
            </a:r>
            <a:r>
              <a:rPr lang="en-US" sz="3400" dirty="0">
                <a:latin typeface="Consolas" panose="020B0609020204030204" pitchFamily="49" charset="0"/>
              </a:rPr>
              <a:t> = title</a:t>
            </a:r>
          </a:p>
          <a:p>
            <a:pPr algn="just"/>
            <a:r>
              <a:rPr lang="en-US" sz="3400" dirty="0">
                <a:latin typeface="Consolas" panose="020B0609020204030204" pitchFamily="49" charset="0"/>
              </a:rPr>
              <a:t>		</a:t>
            </a:r>
            <a:r>
              <a:rPr lang="en-US" sz="3400" dirty="0" err="1">
                <a:latin typeface="Consolas" panose="020B0609020204030204" pitchFamily="49" charset="0"/>
              </a:rPr>
              <a:t>self.author</a:t>
            </a:r>
            <a:r>
              <a:rPr lang="en-US" sz="3400" dirty="0">
                <a:latin typeface="Consolas" panose="020B0609020204030204" pitchFamily="49" charset="0"/>
              </a:rPr>
              <a:t> = author</a:t>
            </a:r>
          </a:p>
          <a:p>
            <a:pPr algn="just"/>
            <a:r>
              <a:rPr lang="en-US" sz="3400" dirty="0">
                <a:latin typeface="Consolas" panose="020B0609020204030204" pitchFamily="49" charset="0"/>
              </a:rPr>
              <a:t>		</a:t>
            </a:r>
            <a:r>
              <a:rPr lang="en-US" sz="3400" dirty="0" err="1">
                <a:latin typeface="Consolas" panose="020B0609020204030204" pitchFamily="49" charset="0"/>
              </a:rPr>
              <a:t>self.isbn</a:t>
            </a:r>
            <a:r>
              <a:rPr lang="en-US" sz="3400" dirty="0">
                <a:latin typeface="Consolas" panose="020B0609020204030204" pitchFamily="49" charset="0"/>
              </a:rPr>
              <a:t> = </a:t>
            </a:r>
            <a:r>
              <a:rPr lang="en-US" sz="3400" dirty="0" err="1">
                <a:latin typeface="Consolas" panose="020B0609020204030204" pitchFamily="49" charset="0"/>
              </a:rPr>
              <a:t>isbn</a:t>
            </a:r>
            <a:r>
              <a:rPr lang="en-US" sz="3400" dirty="0">
                <a:latin typeface="Consolas" panose="020B0609020204030204" pitchFamily="49" charset="0"/>
              </a:rPr>
              <a:t> </a:t>
            </a:r>
          </a:p>
          <a:p>
            <a:pPr algn="just"/>
            <a:r>
              <a:rPr lang="en-US" sz="3400" dirty="0">
                <a:latin typeface="Consolas" panose="020B0609020204030204" pitchFamily="49" charset="0"/>
              </a:rPr>
              <a:t>		</a:t>
            </a:r>
            <a:r>
              <a:rPr lang="en-US" sz="3400" dirty="0" err="1">
                <a:latin typeface="Consolas" panose="020B0609020204030204" pitchFamily="49" charset="0"/>
              </a:rPr>
              <a:t>self.available</a:t>
            </a:r>
            <a:r>
              <a:rPr lang="en-US" sz="3400" dirty="0">
                <a:latin typeface="Consolas" panose="020B0609020204030204" pitchFamily="49" charset="0"/>
              </a:rPr>
              <a:t> = True </a:t>
            </a:r>
          </a:p>
          <a:p>
            <a:pPr algn="just"/>
            <a:endParaRPr lang="en-US" sz="3400" dirty="0">
              <a:latin typeface="Consolas" panose="020B0609020204030204" pitchFamily="49" charset="0"/>
            </a:endParaRPr>
          </a:p>
          <a:p>
            <a:pPr algn="just"/>
            <a:endParaRPr lang="en-US" sz="3400" dirty="0">
              <a:latin typeface="Consolas" panose="020B0609020204030204" pitchFamily="49" charset="0"/>
            </a:endParaRPr>
          </a:p>
          <a:p>
            <a:pPr algn="just"/>
            <a:r>
              <a:rPr lang="en-US" sz="3400" b="1" dirty="0">
                <a:latin typeface="Consolas" panose="020B0609020204030204" pitchFamily="49" charset="0"/>
              </a:rPr>
              <a:t>Note: </a:t>
            </a:r>
            <a:r>
              <a:rPr lang="en-US" sz="3400" dirty="0">
                <a:latin typeface="Consolas" panose="020B0609020204030204" pitchFamily="49" charset="0"/>
              </a:rPr>
              <a:t>Changing an attribute on one object does not affect another.</a:t>
            </a:r>
            <a:endParaRPr lang="en-US" sz="3400" b="1" dirty="0">
              <a:latin typeface="Consolas" panose="020B0609020204030204" pitchFamily="49" charset="0"/>
            </a:endParaRPr>
          </a:p>
        </p:txBody>
      </p:sp>
      <p:sp>
        <p:nvSpPr>
          <p:cNvPr id="6" name="TextBox 28">
            <a:extLst>
              <a:ext uri="{FF2B5EF4-FFF2-40B4-BE49-F238E27FC236}">
                <a16:creationId xmlns:a16="http://schemas.microsoft.com/office/drawing/2014/main" id="{EBDB0BCA-C462-F0D7-21FC-6712D7FE9780}"/>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cxnSp>
        <p:nvCxnSpPr>
          <p:cNvPr id="8" name="Straight Arrow Connector 7">
            <a:extLst>
              <a:ext uri="{FF2B5EF4-FFF2-40B4-BE49-F238E27FC236}">
                <a16:creationId xmlns:a16="http://schemas.microsoft.com/office/drawing/2014/main" id="{EC8F6D1E-FA32-BF62-CE1B-4868A9487C0B}"/>
              </a:ext>
            </a:extLst>
          </p:cNvPr>
          <p:cNvCxnSpPr>
            <a:cxnSpLocks/>
          </p:cNvCxnSpPr>
          <p:nvPr/>
        </p:nvCxnSpPr>
        <p:spPr>
          <a:xfrm flipV="1">
            <a:off x="7391400" y="7183258"/>
            <a:ext cx="3657600" cy="398642"/>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BEE1082-17EC-B927-B028-10565F3730B4}"/>
              </a:ext>
            </a:extLst>
          </p:cNvPr>
          <p:cNvSpPr txBox="1"/>
          <p:nvPr/>
        </p:nvSpPr>
        <p:spPr>
          <a:xfrm>
            <a:off x="10890738" y="6090651"/>
            <a:ext cx="7010399" cy="2185214"/>
          </a:xfrm>
          <a:prstGeom prst="rect">
            <a:avLst/>
          </a:prstGeom>
          <a:noFill/>
        </p:spPr>
        <p:txBody>
          <a:bodyPr wrap="square">
            <a:spAutoFit/>
          </a:bodyPr>
          <a:lstStyle/>
          <a:p>
            <a:pPr algn="just"/>
            <a:r>
              <a:rPr lang="en-US" sz="3400" dirty="0">
                <a:latin typeface="Consolas" panose="020B0609020204030204" pitchFamily="49" charset="0"/>
              </a:rPr>
              <a:t>This will become accessible to all objects created, though it is not part of the __</a:t>
            </a:r>
            <a:r>
              <a:rPr lang="en-US" sz="3400" dirty="0" err="1">
                <a:latin typeface="Consolas" panose="020B0609020204030204" pitchFamily="49" charset="0"/>
              </a:rPr>
              <a:t>init</a:t>
            </a:r>
            <a:r>
              <a:rPr lang="en-US" sz="3400" dirty="0">
                <a:latin typeface="Consolas" panose="020B0609020204030204" pitchFamily="49" charset="0"/>
              </a:rPr>
              <a:t>__() method. </a:t>
            </a:r>
          </a:p>
        </p:txBody>
      </p:sp>
    </p:spTree>
    <p:extLst>
      <p:ext uri="{BB962C8B-B14F-4D97-AF65-F5344CB8AC3E}">
        <p14:creationId xmlns:p14="http://schemas.microsoft.com/office/powerpoint/2010/main" val="204973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F03DC-63EE-C5B2-1B9D-D77BE548FE8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6B51B2-E386-25B9-A809-A8FAA73C263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36FDC0A-07EE-E5A2-4EB9-4114943F2C8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C0B508B-F3F0-A2A4-06F2-DAA5217D965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9B78453-5469-F952-1B6B-C22791EAA2F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99446CB-161F-0033-54EF-C8D2A90B29B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882E9BE-24D8-5431-4BB2-8F3C5662883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69947588-F110-B89E-AC64-1266CD0906C5}"/>
              </a:ext>
            </a:extLst>
          </p:cNvPr>
          <p:cNvSpPr txBox="1"/>
          <p:nvPr/>
        </p:nvSpPr>
        <p:spPr>
          <a:xfrm>
            <a:off x="381001" y="2628900"/>
            <a:ext cx="17526000" cy="7325082"/>
          </a:xfrm>
          <a:prstGeom prst="rect">
            <a:avLst/>
          </a:prstGeom>
          <a:noFill/>
        </p:spPr>
        <p:txBody>
          <a:bodyPr wrap="square">
            <a:spAutoFit/>
          </a:bodyPr>
          <a:lstStyle/>
          <a:p>
            <a:pPr algn="just"/>
            <a:r>
              <a:rPr lang="en-US" sz="3400" b="1" dirty="0">
                <a:latin typeface="Consolas" panose="020B0609020204030204" pitchFamily="49" charset="0"/>
              </a:rPr>
              <a:t>2.2 Class Attributes </a:t>
            </a:r>
            <a:r>
              <a:rPr lang="en-US" sz="3400" dirty="0">
                <a:latin typeface="Consolas" panose="020B0609020204030204" pitchFamily="49" charset="0"/>
              </a:rPr>
              <a:t>- Class attributes belong to the class itself, not to each object. All instances share the same value unless overridden.</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Book:</a:t>
            </a:r>
          </a:p>
          <a:p>
            <a:pPr algn="just"/>
            <a:r>
              <a:rPr lang="en-US" sz="3400" dirty="0">
                <a:latin typeface="Consolas" panose="020B0609020204030204" pitchFamily="49" charset="0"/>
              </a:rPr>
              <a:t>    category = "Literature“</a:t>
            </a:r>
          </a:p>
          <a:p>
            <a:pPr algn="just"/>
            <a:endParaRPr lang="en-US" sz="1000" dirty="0">
              <a:latin typeface="Consolas" panose="020B0609020204030204" pitchFamily="49" charset="0"/>
            </a:endParaRP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title, author):</a:t>
            </a:r>
          </a:p>
          <a:p>
            <a:pPr algn="just"/>
            <a:r>
              <a:rPr lang="en-US" sz="3400" dirty="0">
                <a:latin typeface="Consolas" panose="020B0609020204030204" pitchFamily="49" charset="0"/>
              </a:rPr>
              <a:t>        </a:t>
            </a:r>
            <a:r>
              <a:rPr lang="en-US" sz="3400" dirty="0" err="1">
                <a:latin typeface="Consolas" panose="020B0609020204030204" pitchFamily="49" charset="0"/>
              </a:rPr>
              <a:t>self.title</a:t>
            </a:r>
            <a:r>
              <a:rPr lang="en-US" sz="3400" dirty="0">
                <a:latin typeface="Consolas" panose="020B0609020204030204" pitchFamily="49" charset="0"/>
              </a:rPr>
              <a:t> = title</a:t>
            </a:r>
          </a:p>
          <a:p>
            <a:pPr algn="just"/>
            <a:r>
              <a:rPr lang="en-US" sz="3400" dirty="0">
                <a:latin typeface="Consolas" panose="020B0609020204030204" pitchFamily="49" charset="0"/>
              </a:rPr>
              <a:t>        </a:t>
            </a:r>
            <a:r>
              <a:rPr lang="en-US" sz="3400" dirty="0" err="1">
                <a:latin typeface="Consolas" panose="020B0609020204030204" pitchFamily="49" charset="0"/>
              </a:rPr>
              <a:t>self.author</a:t>
            </a:r>
            <a:r>
              <a:rPr lang="en-US" sz="3400" dirty="0">
                <a:latin typeface="Consolas" panose="020B0609020204030204" pitchFamily="49" charset="0"/>
              </a:rPr>
              <a:t> = author</a:t>
            </a:r>
          </a:p>
          <a:p>
            <a:pPr algn="just"/>
            <a:endParaRPr lang="en-US" dirty="0">
              <a:latin typeface="Consolas" panose="020B0609020204030204" pitchFamily="49" charset="0"/>
            </a:endParaRPr>
          </a:p>
          <a:p>
            <a:pPr algn="just"/>
            <a:r>
              <a:rPr lang="en-US" sz="3400" dirty="0">
                <a:latin typeface="Consolas" panose="020B0609020204030204" pitchFamily="49" charset="0"/>
              </a:rPr>
              <a:t>b1 = Book("1984", "Orwell")</a:t>
            </a:r>
          </a:p>
          <a:p>
            <a:pPr algn="just"/>
            <a:r>
              <a:rPr lang="en-US" sz="3400" dirty="0">
                <a:latin typeface="Consolas" panose="020B0609020204030204" pitchFamily="49" charset="0"/>
              </a:rPr>
              <a:t>b2 = Book("Dune", "Herbert")</a:t>
            </a:r>
          </a:p>
          <a:p>
            <a:pPr algn="just"/>
            <a:r>
              <a:rPr lang="en-US" sz="3400" dirty="0">
                <a:latin typeface="Consolas" panose="020B0609020204030204" pitchFamily="49" charset="0"/>
              </a:rPr>
              <a:t>b1.category = "Fiction"</a:t>
            </a:r>
          </a:p>
          <a:p>
            <a:pPr algn="just"/>
            <a:r>
              <a:rPr lang="en-US" sz="3400" dirty="0">
                <a:latin typeface="Consolas" panose="020B0609020204030204" pitchFamily="49" charset="0"/>
              </a:rPr>
              <a:t>print(b1.category)</a:t>
            </a:r>
          </a:p>
          <a:p>
            <a:pPr algn="just"/>
            <a:r>
              <a:rPr lang="en-US" sz="3400" dirty="0">
                <a:latin typeface="Consolas" panose="020B0609020204030204" pitchFamily="49" charset="0"/>
              </a:rPr>
              <a:t>print(b2.category)</a:t>
            </a:r>
          </a:p>
        </p:txBody>
      </p:sp>
      <p:sp>
        <p:nvSpPr>
          <p:cNvPr id="6" name="TextBox 28">
            <a:extLst>
              <a:ext uri="{FF2B5EF4-FFF2-40B4-BE49-F238E27FC236}">
                <a16:creationId xmlns:a16="http://schemas.microsoft.com/office/drawing/2014/main" id="{F489FAA6-E89A-AF8A-FE97-96A110E637A5}"/>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
        <p:nvSpPr>
          <p:cNvPr id="7" name="Rectangle 6">
            <a:extLst>
              <a:ext uri="{FF2B5EF4-FFF2-40B4-BE49-F238E27FC236}">
                <a16:creationId xmlns:a16="http://schemas.microsoft.com/office/drawing/2014/main" id="{8CA09CE5-9863-F836-DE1D-7E30DA508749}"/>
              </a:ext>
            </a:extLst>
          </p:cNvPr>
          <p:cNvSpPr/>
          <p:nvPr/>
        </p:nvSpPr>
        <p:spPr>
          <a:xfrm>
            <a:off x="457200" y="8267700"/>
            <a:ext cx="5486400" cy="533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9" name="Straight Arrow Connector 8">
            <a:extLst>
              <a:ext uri="{FF2B5EF4-FFF2-40B4-BE49-F238E27FC236}">
                <a16:creationId xmlns:a16="http://schemas.microsoft.com/office/drawing/2014/main" id="{8EF5B219-F795-487F-E081-BE391676F91E}"/>
              </a:ext>
            </a:extLst>
          </p:cNvPr>
          <p:cNvCxnSpPr>
            <a:cxnSpLocks/>
            <a:stCxn id="7" idx="3"/>
          </p:cNvCxnSpPr>
          <p:nvPr/>
        </p:nvCxnSpPr>
        <p:spPr>
          <a:xfrm flipV="1">
            <a:off x="5943600" y="7183258"/>
            <a:ext cx="5105400" cy="1351142"/>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9889FCC-5C6E-2EA4-EF46-4A0E7D3D4EE0}"/>
              </a:ext>
            </a:extLst>
          </p:cNvPr>
          <p:cNvSpPr txBox="1"/>
          <p:nvPr/>
        </p:nvSpPr>
        <p:spPr>
          <a:xfrm>
            <a:off x="11025554" y="6874252"/>
            <a:ext cx="4997277" cy="615553"/>
          </a:xfrm>
          <a:prstGeom prst="rect">
            <a:avLst/>
          </a:prstGeom>
          <a:noFill/>
        </p:spPr>
        <p:txBody>
          <a:bodyPr wrap="square">
            <a:spAutoFit/>
          </a:bodyPr>
          <a:lstStyle/>
          <a:p>
            <a:pPr algn="just"/>
            <a:r>
              <a:rPr lang="en-US" sz="3400" dirty="0">
                <a:latin typeface="Consolas" panose="020B0609020204030204" pitchFamily="49" charset="0"/>
              </a:rPr>
              <a:t>What will happen?</a:t>
            </a:r>
          </a:p>
        </p:txBody>
      </p:sp>
      <p:sp>
        <p:nvSpPr>
          <p:cNvPr id="13" name="TextBox 12">
            <a:extLst>
              <a:ext uri="{FF2B5EF4-FFF2-40B4-BE49-F238E27FC236}">
                <a16:creationId xmlns:a16="http://schemas.microsoft.com/office/drawing/2014/main" id="{0C776390-1D04-DAC5-B69B-81AA8566060B}"/>
              </a:ext>
            </a:extLst>
          </p:cNvPr>
          <p:cNvSpPr txBox="1"/>
          <p:nvPr/>
        </p:nvSpPr>
        <p:spPr>
          <a:xfrm>
            <a:off x="11025553" y="7463428"/>
            <a:ext cx="4997277" cy="2185214"/>
          </a:xfrm>
          <a:prstGeom prst="rect">
            <a:avLst/>
          </a:prstGeom>
          <a:noFill/>
        </p:spPr>
        <p:txBody>
          <a:bodyPr wrap="square">
            <a:spAutoFit/>
          </a:bodyPr>
          <a:lstStyle/>
          <a:p>
            <a:pPr algn="just"/>
            <a:r>
              <a:rPr lang="en-US" sz="3400" dirty="0">
                <a:latin typeface="Consolas" panose="020B0609020204030204" pitchFamily="49" charset="0"/>
              </a:rPr>
              <a:t>If you change it on an instance, it becomes an instance attribute.</a:t>
            </a:r>
          </a:p>
        </p:txBody>
      </p:sp>
    </p:spTree>
    <p:extLst>
      <p:ext uri="{BB962C8B-B14F-4D97-AF65-F5344CB8AC3E}">
        <p14:creationId xmlns:p14="http://schemas.microsoft.com/office/powerpoint/2010/main" val="427873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22" presetClass="entr" presetSubtype="4"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down)">
                                      <p:cBhvr>
                                        <p:cTn id="9" dur="500"/>
                                        <p:tgtEl>
                                          <p:spTgt spid="9"/>
                                        </p:tgtEl>
                                      </p:cBhvr>
                                    </p:animEffect>
                                  </p:childTnLst>
                                </p:cTn>
                              </p:par>
                              <p:par>
                                <p:cTn id="10" presetID="1" presetClass="entr" presetSubtype="0" fill="hold" grpId="0" nodeType="withEffect">
                                  <p:stCondLst>
                                    <p:cond delay="30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BFCFC-0728-668C-4806-04C60B42DD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7AE7B0-AD31-2130-398D-E756A0347DE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8E31110-87C4-9F04-A1D8-DDD6AAB9BEA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C856D3F-1106-2578-AF1C-38DFBF69DEA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D251AEB8-FF67-CC44-836E-351E50F16A0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D92118B-30B2-42EA-F398-23508E2E8B3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F4D284A-6772-CF91-0D46-D3F50E89F4A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00B2A7D5-891C-C864-A4C4-C65FF7AF47FD}"/>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2.3 Attributes added inside other methods </a:t>
            </a:r>
            <a:r>
              <a:rPr lang="en-US" sz="3400" dirty="0">
                <a:latin typeface="Consolas" panose="020B0609020204030204" pitchFamily="49" charset="0"/>
              </a:rPr>
              <a:t>- Attributes do </a:t>
            </a:r>
            <a:r>
              <a:rPr lang="en-US" sz="3400" b="1" dirty="0">
                <a:latin typeface="Consolas" panose="020B0609020204030204" pitchFamily="49" charset="0"/>
              </a:rPr>
              <a:t>NOT</a:t>
            </a:r>
            <a:r>
              <a:rPr lang="en-US" sz="3400" dirty="0">
                <a:latin typeface="Consolas" panose="020B0609020204030204" pitchFamily="49" charset="0"/>
              </a:rPr>
              <a:t> need to be created only in __</a:t>
            </a:r>
            <a:r>
              <a:rPr lang="en-US" sz="3400" dirty="0" err="1">
                <a:latin typeface="Consolas" panose="020B0609020204030204" pitchFamily="49" charset="0"/>
              </a:rPr>
              <a:t>init</a:t>
            </a:r>
            <a:r>
              <a:rPr lang="en-US" sz="3400" dirty="0">
                <a:latin typeface="Consolas" panose="020B0609020204030204" pitchFamily="49" charset="0"/>
              </a:rPr>
              <a:t>__(). It can be created in any method and still become instance attributes.</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Student:</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a:t>
            </a:r>
          </a:p>
          <a:p>
            <a:pPr algn="just"/>
            <a:r>
              <a:rPr lang="en-US" sz="3400" dirty="0">
                <a:latin typeface="Consolas" panose="020B0609020204030204" pitchFamily="49" charset="0"/>
              </a:rPr>
              <a:t>        self.name = name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enroll(self, course):</a:t>
            </a:r>
          </a:p>
          <a:p>
            <a:pPr algn="just"/>
            <a:r>
              <a:rPr lang="en-US" sz="3400" dirty="0">
                <a:latin typeface="Consolas" panose="020B0609020204030204" pitchFamily="49" charset="0"/>
              </a:rPr>
              <a:t>        </a:t>
            </a:r>
            <a:r>
              <a:rPr lang="en-US" sz="3400" dirty="0" err="1">
                <a:latin typeface="Consolas" panose="020B0609020204030204" pitchFamily="49" charset="0"/>
              </a:rPr>
              <a:t>self.course</a:t>
            </a:r>
            <a:r>
              <a:rPr lang="en-US" sz="3400" dirty="0">
                <a:latin typeface="Consolas" panose="020B0609020204030204" pitchFamily="49" charset="0"/>
              </a:rPr>
              <a:t> = course </a:t>
            </a:r>
          </a:p>
          <a:p>
            <a:pPr algn="just"/>
            <a:r>
              <a:rPr lang="en-US" sz="3400" dirty="0">
                <a:latin typeface="Consolas" panose="020B0609020204030204" pitchFamily="49" charset="0"/>
              </a:rPr>
              <a:t>s = Student("Mark")</a:t>
            </a:r>
          </a:p>
          <a:p>
            <a:pPr algn="just"/>
            <a:r>
              <a:rPr lang="en-US" sz="3400" dirty="0" err="1">
                <a:latin typeface="Consolas" panose="020B0609020204030204" pitchFamily="49" charset="0"/>
              </a:rPr>
              <a:t>s.enroll</a:t>
            </a:r>
            <a:r>
              <a:rPr lang="en-US" sz="3400" dirty="0">
                <a:latin typeface="Consolas" panose="020B0609020204030204" pitchFamily="49" charset="0"/>
              </a:rPr>
              <a:t>("Computer Science")</a:t>
            </a:r>
          </a:p>
          <a:p>
            <a:pPr algn="just"/>
            <a:r>
              <a:rPr lang="en-US" sz="3400" dirty="0">
                <a:latin typeface="Consolas" panose="020B0609020204030204" pitchFamily="49" charset="0"/>
              </a:rPr>
              <a:t>print(</a:t>
            </a:r>
            <a:r>
              <a:rPr lang="en-US" sz="3400" dirty="0" err="1">
                <a:latin typeface="Consolas" panose="020B0609020204030204" pitchFamily="49" charset="0"/>
              </a:rPr>
              <a:t>s.course</a:t>
            </a:r>
            <a:r>
              <a:rPr lang="en-US" sz="3400" dirty="0">
                <a:latin typeface="Consolas" panose="020B0609020204030204" pitchFamily="49" charset="0"/>
              </a:rPr>
              <a:t>)</a:t>
            </a:r>
          </a:p>
        </p:txBody>
      </p:sp>
      <p:sp>
        <p:nvSpPr>
          <p:cNvPr id="6" name="TextBox 28">
            <a:extLst>
              <a:ext uri="{FF2B5EF4-FFF2-40B4-BE49-F238E27FC236}">
                <a16:creationId xmlns:a16="http://schemas.microsoft.com/office/drawing/2014/main" id="{EBE0C93E-7FD2-5BBE-98F9-CA106EA49239}"/>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261257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C5A41-44C4-4890-0EA8-ED9572B788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BE50E3-0653-6092-C867-89FAEC91A83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D26123C-F1A0-AE39-FF29-61F9FBE211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040D604-EA2D-EE3F-8E9B-1368512E468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AB0BD31-3820-52E3-3AEA-E314F65069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FBC4B62-751B-46D8-080D-02542A54E6F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1F30670-D5F0-A62D-0D06-7645763C8B9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4FE7A2D3-82F0-7C47-A59C-D6E47F88EC1C}"/>
              </a:ext>
            </a:extLst>
          </p:cNvPr>
          <p:cNvSpPr txBox="1"/>
          <p:nvPr/>
        </p:nvSpPr>
        <p:spPr>
          <a:xfrm>
            <a:off x="381001" y="2628900"/>
            <a:ext cx="17526000" cy="6848029"/>
          </a:xfrm>
          <a:prstGeom prst="rect">
            <a:avLst/>
          </a:prstGeom>
          <a:noFill/>
        </p:spPr>
        <p:txBody>
          <a:bodyPr wrap="square">
            <a:spAutoFit/>
          </a:bodyPr>
          <a:lstStyle/>
          <a:p>
            <a:pPr algn="just"/>
            <a:r>
              <a:rPr lang="en-US" sz="3400" b="1" dirty="0">
                <a:latin typeface="Consolas" panose="020B0609020204030204" pitchFamily="49" charset="0"/>
              </a:rPr>
              <a:t>2.4 Dynamically Added Attributes </a:t>
            </a:r>
            <a:r>
              <a:rPr lang="en-US" sz="3400" dirty="0">
                <a:latin typeface="Consolas" panose="020B0609020204030204" pitchFamily="49" charset="0"/>
              </a:rPr>
              <a:t>- You can add attributes anytime, even outside the class, directly to the object.</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Product:</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a:t>
            </a:r>
          </a:p>
          <a:p>
            <a:pPr algn="just"/>
            <a:r>
              <a:rPr lang="en-US" sz="3400" dirty="0">
                <a:latin typeface="Consolas" panose="020B0609020204030204" pitchFamily="49" charset="0"/>
              </a:rPr>
              <a:t>        self.name = name</a:t>
            </a:r>
          </a:p>
          <a:p>
            <a:pPr algn="just"/>
            <a:endParaRPr lang="en-US" sz="1100" dirty="0">
              <a:latin typeface="Consolas" panose="020B0609020204030204" pitchFamily="49" charset="0"/>
            </a:endParaRPr>
          </a:p>
          <a:p>
            <a:pPr algn="just"/>
            <a:r>
              <a:rPr lang="en-US" sz="3400" dirty="0">
                <a:latin typeface="Consolas" panose="020B0609020204030204" pitchFamily="49" charset="0"/>
              </a:rPr>
              <a:t>p = Product("Laptop")</a:t>
            </a:r>
          </a:p>
          <a:p>
            <a:pPr algn="just"/>
            <a:r>
              <a:rPr lang="en-US" sz="3400" dirty="0" err="1">
                <a:latin typeface="Consolas" panose="020B0609020204030204" pitchFamily="49" charset="0"/>
              </a:rPr>
              <a:t>p.price</a:t>
            </a:r>
            <a:r>
              <a:rPr lang="en-US" sz="3400" dirty="0">
                <a:latin typeface="Consolas" panose="020B0609020204030204" pitchFamily="49" charset="0"/>
              </a:rPr>
              <a:t> = 55000</a:t>
            </a:r>
          </a:p>
          <a:p>
            <a:pPr algn="just"/>
            <a:r>
              <a:rPr lang="en-US" sz="3400" dirty="0">
                <a:latin typeface="Consolas" panose="020B0609020204030204" pitchFamily="49" charset="0"/>
              </a:rPr>
              <a:t>print(</a:t>
            </a:r>
            <a:r>
              <a:rPr lang="en-US" sz="3400" dirty="0" err="1">
                <a:latin typeface="Consolas" panose="020B0609020204030204" pitchFamily="49" charset="0"/>
              </a:rPr>
              <a:t>p.price</a:t>
            </a:r>
            <a:r>
              <a:rPr lang="en-US" sz="3400" dirty="0">
                <a:latin typeface="Consolas" panose="020B0609020204030204" pitchFamily="49" charset="0"/>
              </a:rPr>
              <a:t>)</a:t>
            </a:r>
          </a:p>
          <a:p>
            <a:pPr algn="just"/>
            <a:endParaRPr lang="en-US" sz="2000" dirty="0">
              <a:latin typeface="Consolas" panose="020B0609020204030204" pitchFamily="49" charset="0"/>
            </a:endParaRPr>
          </a:p>
          <a:p>
            <a:pPr algn="just"/>
            <a:r>
              <a:rPr lang="en-US" sz="3400" b="1" dirty="0">
                <a:latin typeface="Consolas" panose="020B0609020204030204" pitchFamily="49" charset="0"/>
              </a:rPr>
              <a:t>Note: </a:t>
            </a:r>
            <a:r>
              <a:rPr lang="en-US" sz="3400" dirty="0">
                <a:latin typeface="Consolas" panose="020B0609020204030204" pitchFamily="49" charset="0"/>
              </a:rPr>
              <a:t>Dynamically added attributes can make debugging harder because they don’t appear in the class definition, and not all objects get the attribute, causing </a:t>
            </a:r>
            <a:r>
              <a:rPr lang="en-US" sz="3400" dirty="0" err="1">
                <a:latin typeface="Consolas" panose="020B0609020204030204" pitchFamily="49" charset="0"/>
              </a:rPr>
              <a:t>AttributeError</a:t>
            </a:r>
            <a:r>
              <a:rPr lang="en-US" sz="3400" dirty="0">
                <a:latin typeface="Consolas" panose="020B0609020204030204" pitchFamily="49" charset="0"/>
              </a:rPr>
              <a:t>.</a:t>
            </a:r>
          </a:p>
        </p:txBody>
      </p:sp>
      <p:sp>
        <p:nvSpPr>
          <p:cNvPr id="6" name="TextBox 28">
            <a:extLst>
              <a:ext uri="{FF2B5EF4-FFF2-40B4-BE49-F238E27FC236}">
                <a16:creationId xmlns:a16="http://schemas.microsoft.com/office/drawing/2014/main" id="{937288A2-21A2-116D-907F-DBBCA9CD0D0A}"/>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300177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E89A-6A32-ED18-9878-1BE60CF28C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DB80BC5-9DC5-C4DE-AE45-5B712727E44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DC912A3-5D88-3944-FF66-4A148EC924B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C616C4C-84A0-9695-A54B-4F49001BA10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D64C3B4-2584-E97A-E515-E0E193ADB23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D55870B-DF96-B0A7-A73B-5FA8F2B4792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3170899-0BE8-C3C9-82AA-EB886A809A8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74ADA41-A85A-858E-D176-859F0950E071}"/>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3. Methods </a:t>
            </a:r>
            <a:r>
              <a:rPr lang="en-US" sz="3400" dirty="0">
                <a:latin typeface="Consolas" panose="020B0609020204030204" pitchFamily="49" charset="0"/>
              </a:rPr>
              <a:t>- are functions inside the class that define behavior. They always have self as the first parameter. </a:t>
            </a:r>
          </a:p>
          <a:p>
            <a:pPr algn="just"/>
            <a:endParaRPr lang="en-US" sz="3400" dirty="0">
              <a:latin typeface="Consolas" panose="020B0609020204030204" pitchFamily="49" charset="0"/>
            </a:endParaRP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Person:</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a:t>
            </a:r>
          </a:p>
          <a:p>
            <a:pPr algn="just"/>
            <a:r>
              <a:rPr lang="en-US" sz="3400" dirty="0">
                <a:latin typeface="Consolas" panose="020B0609020204030204" pitchFamily="49" charset="0"/>
              </a:rPr>
              <a:t>    self.name = name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greet(self):</a:t>
            </a:r>
          </a:p>
          <a:p>
            <a:pPr algn="just"/>
            <a:r>
              <a:rPr lang="en-US" sz="3400" dirty="0">
                <a:latin typeface="Consolas" panose="020B0609020204030204" pitchFamily="49" charset="0"/>
              </a:rPr>
              <a:t>    print("Hello, my name is " + self.name)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p1 = Person("Emil")</a:t>
            </a:r>
          </a:p>
          <a:p>
            <a:pPr algn="just"/>
            <a:r>
              <a:rPr lang="en-US" sz="3400" dirty="0">
                <a:latin typeface="Consolas" panose="020B0609020204030204" pitchFamily="49" charset="0"/>
              </a:rPr>
              <a:t>p1.greet()</a:t>
            </a:r>
          </a:p>
        </p:txBody>
      </p:sp>
      <p:sp>
        <p:nvSpPr>
          <p:cNvPr id="6" name="TextBox 28">
            <a:extLst>
              <a:ext uri="{FF2B5EF4-FFF2-40B4-BE49-F238E27FC236}">
                <a16:creationId xmlns:a16="http://schemas.microsoft.com/office/drawing/2014/main" id="{615073BA-11F1-7ED8-49F6-733D9CF7F5EA}"/>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3594060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2D4D9-2134-0E3E-F4AB-47E26B575AB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F0F8E5-FF9D-674A-74AB-EFC685796A9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F1F66BB-E176-0757-56B9-FF998E35B91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08BC95E-4459-E278-0B9B-9765CBD2E08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44E760CD-B566-FA00-9F94-FF80DDB7F2A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895FD04-4BAD-3A12-169C-A73FB4B54B3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60ECAB9-B4CB-B8CB-CC72-A12E839C7EE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8A493B36-6CC1-C9E0-76FE-83C75E354A49}"/>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3.1 Methods with parameters - </a:t>
            </a:r>
            <a:r>
              <a:rPr lang="en-US" sz="3400" dirty="0">
                <a:latin typeface="Consolas" panose="020B0609020204030204" pitchFamily="49" charset="0"/>
              </a:rPr>
              <a:t>Methods can accept parameters just like regular functions. </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Calculator:</a:t>
            </a:r>
          </a:p>
          <a:p>
            <a:pPr algn="just"/>
            <a:r>
              <a:rPr lang="en-US" sz="3400" dirty="0">
                <a:latin typeface="Consolas" panose="020B0609020204030204" pitchFamily="49" charset="0"/>
              </a:rPr>
              <a:t>  def add(self, a, b):</a:t>
            </a:r>
          </a:p>
          <a:p>
            <a:pPr algn="just"/>
            <a:r>
              <a:rPr lang="en-US" sz="3400" dirty="0">
                <a:latin typeface="Consolas" panose="020B0609020204030204" pitchFamily="49" charset="0"/>
              </a:rPr>
              <a:t>    return a + b</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multiply(self, a, b):</a:t>
            </a:r>
          </a:p>
          <a:p>
            <a:pPr algn="just"/>
            <a:r>
              <a:rPr lang="en-US" sz="3400" dirty="0">
                <a:latin typeface="Consolas" panose="020B0609020204030204" pitchFamily="49" charset="0"/>
              </a:rPr>
              <a:t>    return a * b</a:t>
            </a:r>
          </a:p>
          <a:p>
            <a:pPr algn="just"/>
            <a:endParaRPr lang="en-US" sz="3400" dirty="0">
              <a:latin typeface="Consolas" panose="020B0609020204030204" pitchFamily="49" charset="0"/>
            </a:endParaRPr>
          </a:p>
          <a:p>
            <a:pPr algn="just"/>
            <a:r>
              <a:rPr lang="en-US" sz="3400" dirty="0">
                <a:latin typeface="Consolas" panose="020B0609020204030204" pitchFamily="49" charset="0"/>
              </a:rPr>
              <a:t>calc = Calculator()</a:t>
            </a:r>
          </a:p>
          <a:p>
            <a:pPr algn="just"/>
            <a:r>
              <a:rPr lang="en-US" sz="3400" dirty="0">
                <a:latin typeface="Consolas" panose="020B0609020204030204" pitchFamily="49" charset="0"/>
              </a:rPr>
              <a:t>print(</a:t>
            </a:r>
            <a:r>
              <a:rPr lang="en-US" sz="3400" dirty="0" err="1">
                <a:latin typeface="Consolas" panose="020B0609020204030204" pitchFamily="49" charset="0"/>
              </a:rPr>
              <a:t>calc.add</a:t>
            </a:r>
            <a:r>
              <a:rPr lang="en-US" sz="3400" dirty="0">
                <a:latin typeface="Consolas" panose="020B0609020204030204" pitchFamily="49" charset="0"/>
              </a:rPr>
              <a:t>(5, 3))</a:t>
            </a:r>
          </a:p>
          <a:p>
            <a:pPr algn="just"/>
            <a:r>
              <a:rPr lang="en-US" sz="3400" dirty="0">
                <a:latin typeface="Consolas" panose="020B0609020204030204" pitchFamily="49" charset="0"/>
              </a:rPr>
              <a:t>print(</a:t>
            </a:r>
            <a:r>
              <a:rPr lang="en-US" sz="3400" dirty="0" err="1">
                <a:latin typeface="Consolas" panose="020B0609020204030204" pitchFamily="49" charset="0"/>
              </a:rPr>
              <a:t>calc.multiply</a:t>
            </a:r>
            <a:r>
              <a:rPr lang="en-US" sz="3400" dirty="0">
                <a:latin typeface="Consolas" panose="020B0609020204030204" pitchFamily="49" charset="0"/>
              </a:rPr>
              <a:t>(4, 7))</a:t>
            </a:r>
          </a:p>
        </p:txBody>
      </p:sp>
      <p:sp>
        <p:nvSpPr>
          <p:cNvPr id="6" name="TextBox 28">
            <a:extLst>
              <a:ext uri="{FF2B5EF4-FFF2-40B4-BE49-F238E27FC236}">
                <a16:creationId xmlns:a16="http://schemas.microsoft.com/office/drawing/2014/main" id="{0E8A5F0A-224E-F4AE-FCF9-B024B6FA1746}"/>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154484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B017B-6179-ECC6-9031-7917A802BB9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166F89-529A-45AA-9004-78C66C8F6A4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29ED5FE-E8EA-CE31-CF5A-DA2A6797AD8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CC3A27A-3C55-B140-AE95-59CEA1552F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C48B49B-E0A9-C68B-CB23-218AA32E9FB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5F923D1-A879-3274-315A-12692A544F6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5BBB521-EA5B-9E18-5D7F-56F90C700AE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B5FA9BA6-F47F-A2BB-5EB3-0D0140EE888B}"/>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3.2 Methods accessing parameters - </a:t>
            </a:r>
            <a:r>
              <a:rPr lang="en-US" sz="3400" dirty="0">
                <a:latin typeface="Consolas" panose="020B0609020204030204" pitchFamily="49" charset="0"/>
              </a:rPr>
              <a:t>Methods can access and modify object properties using </a:t>
            </a:r>
            <a:r>
              <a:rPr lang="en-US" sz="3400" b="1" i="1" dirty="0">
                <a:latin typeface="Consolas" panose="020B0609020204030204" pitchFamily="49" charset="0"/>
              </a:rPr>
              <a:t>self</a:t>
            </a:r>
            <a:r>
              <a:rPr lang="en-US" sz="3400" dirty="0">
                <a:latin typeface="Consolas" panose="020B0609020204030204" pitchFamily="49" charset="0"/>
              </a:rPr>
              <a:t>.</a:t>
            </a:r>
            <a:endParaRPr lang="en-US" sz="3400" b="1" i="1" dirty="0">
              <a:latin typeface="Consolas" panose="020B0609020204030204" pitchFamily="49" charset="0"/>
            </a:endParaRP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Person:</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 age):</a:t>
            </a:r>
          </a:p>
          <a:p>
            <a:pPr algn="just"/>
            <a:r>
              <a:rPr lang="en-US" sz="3400" dirty="0">
                <a:latin typeface="Consolas" panose="020B0609020204030204" pitchFamily="49" charset="0"/>
              </a:rPr>
              <a:t>    self.name = name</a:t>
            </a:r>
          </a:p>
          <a:p>
            <a:pPr algn="just"/>
            <a:r>
              <a:rPr lang="en-US" sz="3400" dirty="0">
                <a:latin typeface="Consolas" panose="020B0609020204030204" pitchFamily="49" charset="0"/>
              </a:rPr>
              <a:t>    </a:t>
            </a:r>
            <a:r>
              <a:rPr lang="en-US" sz="3400" dirty="0" err="1">
                <a:latin typeface="Consolas" panose="020B0609020204030204" pitchFamily="49" charset="0"/>
              </a:rPr>
              <a:t>self.age</a:t>
            </a:r>
            <a:r>
              <a:rPr lang="en-US" sz="3400" dirty="0">
                <a:latin typeface="Consolas" panose="020B0609020204030204" pitchFamily="49" charset="0"/>
              </a:rPr>
              <a:t> = age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a:t>
            </a:r>
            <a:r>
              <a:rPr lang="en-US" sz="3400" dirty="0" err="1">
                <a:latin typeface="Consolas" panose="020B0609020204030204" pitchFamily="49" charset="0"/>
              </a:rPr>
              <a:t>get_info</a:t>
            </a:r>
            <a:r>
              <a:rPr lang="en-US" sz="3400" dirty="0">
                <a:latin typeface="Consolas" panose="020B0609020204030204" pitchFamily="49" charset="0"/>
              </a:rPr>
              <a:t>(self):</a:t>
            </a:r>
          </a:p>
          <a:p>
            <a:pPr algn="just"/>
            <a:r>
              <a:rPr lang="en-US" sz="3400" dirty="0">
                <a:latin typeface="Consolas" panose="020B0609020204030204" pitchFamily="49" charset="0"/>
              </a:rPr>
              <a:t>    return f"{self.name} is {</a:t>
            </a:r>
            <a:r>
              <a:rPr lang="en-US" sz="3400" dirty="0" err="1">
                <a:latin typeface="Consolas" panose="020B0609020204030204" pitchFamily="49" charset="0"/>
              </a:rPr>
              <a:t>self.age</a:t>
            </a:r>
            <a:r>
              <a:rPr lang="en-US" sz="3400" dirty="0">
                <a:latin typeface="Consolas" panose="020B0609020204030204" pitchFamily="49" charset="0"/>
              </a:rPr>
              <a:t>} years old"</a:t>
            </a:r>
          </a:p>
          <a:p>
            <a:pPr algn="just"/>
            <a:endParaRPr lang="en-US" sz="3400" dirty="0">
              <a:latin typeface="Consolas" panose="020B0609020204030204" pitchFamily="49" charset="0"/>
            </a:endParaRPr>
          </a:p>
          <a:p>
            <a:pPr algn="just"/>
            <a:r>
              <a:rPr lang="en-US" sz="3400" dirty="0">
                <a:latin typeface="Consolas" panose="020B0609020204030204" pitchFamily="49" charset="0"/>
              </a:rPr>
              <a:t>p1 = Person("Tobias", 28)</a:t>
            </a:r>
          </a:p>
          <a:p>
            <a:pPr algn="just"/>
            <a:r>
              <a:rPr lang="en-US" sz="3400" dirty="0">
                <a:latin typeface="Consolas" panose="020B0609020204030204" pitchFamily="49" charset="0"/>
              </a:rPr>
              <a:t>print(p1.get_info())</a:t>
            </a:r>
          </a:p>
        </p:txBody>
      </p:sp>
      <p:sp>
        <p:nvSpPr>
          <p:cNvPr id="6" name="TextBox 28">
            <a:extLst>
              <a:ext uri="{FF2B5EF4-FFF2-40B4-BE49-F238E27FC236}">
                <a16:creationId xmlns:a16="http://schemas.microsoft.com/office/drawing/2014/main" id="{2648277B-FDEE-A971-2A4F-6CAD87401567}"/>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4269131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57DF7-0FA1-92A6-8008-93579313887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D11323B-51DA-3952-FFB5-0362D64803C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73A7AB8-71CC-2483-1038-B729B7BA74A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A987238-C917-E882-6387-E78894826FB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0422E2F-D59D-12B5-D7A2-24765AB8D5F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F58414F-25B3-0609-86EE-2044488FE30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BC4BB8E-E88E-0E02-0501-5D5A0820EF5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2024915A-C9BB-091D-1F46-C9041A2DAC9B}"/>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3.3 The __str__() method - </a:t>
            </a:r>
            <a:r>
              <a:rPr lang="en-US" sz="3400" dirty="0">
                <a:latin typeface="Consolas" panose="020B0609020204030204" pitchFamily="49" charset="0"/>
              </a:rPr>
              <a:t>is a special method that controls what is returned when the object is printed.</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Person:</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 age):</a:t>
            </a:r>
          </a:p>
          <a:p>
            <a:pPr algn="just"/>
            <a:r>
              <a:rPr lang="en-US" sz="3400" dirty="0">
                <a:latin typeface="Consolas" panose="020B0609020204030204" pitchFamily="49" charset="0"/>
              </a:rPr>
              <a:t>    self.name = name</a:t>
            </a:r>
          </a:p>
          <a:p>
            <a:pPr algn="just"/>
            <a:r>
              <a:rPr lang="en-US" sz="3400" dirty="0">
                <a:latin typeface="Consolas" panose="020B0609020204030204" pitchFamily="49" charset="0"/>
              </a:rPr>
              <a:t>    </a:t>
            </a:r>
            <a:r>
              <a:rPr lang="en-US" sz="3400" dirty="0" err="1">
                <a:latin typeface="Consolas" panose="020B0609020204030204" pitchFamily="49" charset="0"/>
              </a:rPr>
              <a:t>self.age</a:t>
            </a:r>
            <a:r>
              <a:rPr lang="en-US" sz="3400" dirty="0">
                <a:latin typeface="Consolas" panose="020B0609020204030204" pitchFamily="49" charset="0"/>
              </a:rPr>
              <a:t> = age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__str__(self):</a:t>
            </a:r>
          </a:p>
          <a:p>
            <a:pPr algn="just"/>
            <a:r>
              <a:rPr lang="en-US" sz="3400" dirty="0">
                <a:latin typeface="Consolas" panose="020B0609020204030204" pitchFamily="49" charset="0"/>
              </a:rPr>
              <a:t>    return f"{self.name} ({</a:t>
            </a:r>
            <a:r>
              <a:rPr lang="en-US" sz="3400" dirty="0" err="1">
                <a:latin typeface="Consolas" panose="020B0609020204030204" pitchFamily="49" charset="0"/>
              </a:rPr>
              <a:t>self.age</a:t>
            </a:r>
            <a:r>
              <a:rPr lang="en-US" sz="3400" dirty="0">
                <a:latin typeface="Consolas" panose="020B0609020204030204" pitchFamily="49" charset="0"/>
              </a:rPr>
              <a:t>})"</a:t>
            </a:r>
          </a:p>
          <a:p>
            <a:pPr algn="just"/>
            <a:endParaRPr lang="en-US" sz="3400" dirty="0">
              <a:latin typeface="Consolas" panose="020B0609020204030204" pitchFamily="49" charset="0"/>
            </a:endParaRPr>
          </a:p>
          <a:p>
            <a:pPr algn="just"/>
            <a:r>
              <a:rPr lang="en-US" sz="3400" dirty="0">
                <a:latin typeface="Consolas" panose="020B0609020204030204" pitchFamily="49" charset="0"/>
              </a:rPr>
              <a:t>p1 = Person("Tobias", 36)</a:t>
            </a:r>
          </a:p>
          <a:p>
            <a:pPr algn="just"/>
            <a:r>
              <a:rPr lang="en-US" sz="3400" dirty="0">
                <a:latin typeface="Consolas" panose="020B0609020204030204" pitchFamily="49" charset="0"/>
              </a:rPr>
              <a:t>print(p1)</a:t>
            </a:r>
            <a:r>
              <a:rPr lang="en-US" sz="3400" b="1" dirty="0">
                <a:latin typeface="Consolas" panose="020B0609020204030204" pitchFamily="49" charset="0"/>
              </a:rPr>
              <a:t> </a:t>
            </a:r>
            <a:endParaRPr lang="en-US" sz="3400" dirty="0">
              <a:latin typeface="Consolas" panose="020B0609020204030204" pitchFamily="49" charset="0"/>
            </a:endParaRPr>
          </a:p>
        </p:txBody>
      </p:sp>
      <p:sp>
        <p:nvSpPr>
          <p:cNvPr id="6" name="TextBox 28">
            <a:extLst>
              <a:ext uri="{FF2B5EF4-FFF2-40B4-BE49-F238E27FC236}">
                <a16:creationId xmlns:a16="http://schemas.microsoft.com/office/drawing/2014/main" id="{05161A8E-8962-EA46-4095-C5ABC2936026}"/>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Class -&gt; Components</a:t>
            </a:r>
          </a:p>
        </p:txBody>
      </p:sp>
    </p:spTree>
    <p:extLst>
      <p:ext uri="{BB962C8B-B14F-4D97-AF65-F5344CB8AC3E}">
        <p14:creationId xmlns:p14="http://schemas.microsoft.com/office/powerpoint/2010/main" val="230145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6C8BC-4DA9-2412-9BE8-0C0E61844B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C5EF8DD-9033-337B-83A4-99C115457A4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5FCF3DF-20E2-D293-5D45-4A4900F3C82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6CAB85D-DE1B-8819-4068-41E77FE7C4D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B7CDBFF-8C7D-C838-E1DE-261E32E9F2A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B79CC9F-1B85-91F2-4CF8-6EB584F7E63D}"/>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EAB34999-02CC-44F3-C8D8-AE0536767BC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AF10D40C-EFAC-160B-A7CE-B9C85252795E}"/>
              </a:ext>
            </a:extLst>
          </p:cNvPr>
          <p:cNvSpPr txBox="1"/>
          <p:nvPr/>
        </p:nvSpPr>
        <p:spPr>
          <a:xfrm>
            <a:off x="381001" y="2283343"/>
            <a:ext cx="17526000" cy="7417415"/>
          </a:xfrm>
          <a:prstGeom prst="rect">
            <a:avLst/>
          </a:prstGeom>
          <a:noFill/>
        </p:spPr>
        <p:txBody>
          <a:bodyPr wrap="square">
            <a:spAutoFit/>
          </a:bodyPr>
          <a:lstStyle/>
          <a:p>
            <a:pPr algn="just"/>
            <a:r>
              <a:rPr lang="en-US" sz="3400" dirty="0">
                <a:latin typeface="Consolas" panose="020B0609020204030204" pitchFamily="49" charset="0"/>
              </a:rPr>
              <a:t>Python does not have strict access modifiers. Instead, it uses naming conventions to signal how attributes and methods should be accessed. Python has </a:t>
            </a:r>
            <a:r>
              <a:rPr lang="en-US" sz="3400" b="1" dirty="0">
                <a:latin typeface="Consolas" panose="020B0609020204030204" pitchFamily="49" charset="0"/>
              </a:rPr>
              <a:t>three levels </a:t>
            </a:r>
            <a:r>
              <a:rPr lang="en-US" sz="3400" dirty="0">
                <a:latin typeface="Consolas" panose="020B0609020204030204" pitchFamily="49" charset="0"/>
              </a:rPr>
              <a:t>of attribute/method visibility:</a:t>
            </a:r>
          </a:p>
          <a:p>
            <a:pPr algn="just"/>
            <a:endParaRPr lang="en-US" sz="3400" dirty="0">
              <a:latin typeface="Consolas" panose="020B0609020204030204" pitchFamily="49" charset="0"/>
            </a:endParaRPr>
          </a:p>
          <a:p>
            <a:pPr algn="just"/>
            <a:r>
              <a:rPr lang="en-US" sz="3400" b="1" dirty="0">
                <a:latin typeface="Consolas" panose="020B0609020204030204" pitchFamily="49" charset="0"/>
              </a:rPr>
              <a:t>1. Public Access Modifier </a:t>
            </a:r>
            <a:r>
              <a:rPr lang="en-US" sz="3400" dirty="0">
                <a:latin typeface="Consolas" panose="020B0609020204030204" pitchFamily="49" charset="0"/>
              </a:rPr>
              <a:t>- Accessible anywhere: inside the class, outside the class, and by other modules. No special naming required.</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a:t>
            </a:r>
            <a:r>
              <a:rPr lang="en-US" sz="3400" dirty="0" err="1">
                <a:latin typeface="Consolas" panose="020B0609020204030204" pitchFamily="49" charset="0"/>
              </a:rPr>
              <a:t>BankAccount</a:t>
            </a:r>
            <a:r>
              <a:rPr lang="en-US" sz="3400" dirty="0">
                <a:latin typeface="Consolas" panose="020B0609020204030204" pitchFamily="49" charset="0"/>
              </a:rPr>
              <a:t>:</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owner, balance):</a:t>
            </a:r>
          </a:p>
          <a:p>
            <a:pPr algn="just"/>
            <a:r>
              <a:rPr lang="en-US" sz="3400" dirty="0">
                <a:latin typeface="Consolas" panose="020B0609020204030204" pitchFamily="49" charset="0"/>
              </a:rPr>
              <a:t>		</a:t>
            </a:r>
            <a:r>
              <a:rPr lang="en-US" sz="3400" dirty="0" err="1">
                <a:latin typeface="Consolas" panose="020B0609020204030204" pitchFamily="49" charset="0"/>
              </a:rPr>
              <a:t>self.owner</a:t>
            </a:r>
            <a:r>
              <a:rPr lang="en-US" sz="3400" dirty="0">
                <a:latin typeface="Consolas" panose="020B0609020204030204" pitchFamily="49" charset="0"/>
              </a:rPr>
              <a:t> = owner </a:t>
            </a:r>
          </a:p>
          <a:p>
            <a:pPr algn="just"/>
            <a:r>
              <a:rPr lang="en-US" sz="3400" dirty="0">
                <a:latin typeface="Consolas" panose="020B0609020204030204" pitchFamily="49" charset="0"/>
              </a:rPr>
              <a:t>		</a:t>
            </a:r>
            <a:r>
              <a:rPr lang="en-US" sz="3400" dirty="0" err="1">
                <a:latin typeface="Consolas" panose="020B0609020204030204" pitchFamily="49" charset="0"/>
              </a:rPr>
              <a:t>self.balance</a:t>
            </a:r>
            <a:r>
              <a:rPr lang="en-US" sz="3400" dirty="0">
                <a:latin typeface="Consolas" panose="020B0609020204030204" pitchFamily="49" charset="0"/>
              </a:rPr>
              <a:t> = balance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deposit(self, amount):</a:t>
            </a:r>
          </a:p>
          <a:p>
            <a:pPr algn="just"/>
            <a:r>
              <a:rPr lang="en-US" sz="3400" dirty="0">
                <a:latin typeface="Consolas" panose="020B0609020204030204" pitchFamily="49" charset="0"/>
              </a:rPr>
              <a:t>		</a:t>
            </a:r>
            <a:r>
              <a:rPr lang="en-US" sz="3400" dirty="0" err="1">
                <a:latin typeface="Consolas" panose="020B0609020204030204" pitchFamily="49" charset="0"/>
              </a:rPr>
              <a:t>self.balance</a:t>
            </a:r>
            <a:r>
              <a:rPr lang="en-US" sz="3400" dirty="0">
                <a:latin typeface="Consolas" panose="020B0609020204030204" pitchFamily="49" charset="0"/>
              </a:rPr>
              <a:t> += amount </a:t>
            </a:r>
            <a:r>
              <a:rPr lang="en-US" sz="3400" b="1" dirty="0">
                <a:latin typeface="Consolas" panose="020B0609020204030204" pitchFamily="49" charset="0"/>
              </a:rPr>
              <a:t>				Task: </a:t>
            </a:r>
            <a:r>
              <a:rPr lang="en-US" sz="3400" dirty="0">
                <a:latin typeface="Consolas" panose="020B0609020204030204" pitchFamily="49" charset="0"/>
              </a:rPr>
              <a:t>Add </a:t>
            </a:r>
            <a:r>
              <a:rPr lang="en-US" sz="3400" dirty="0" err="1">
                <a:latin typeface="Consolas" panose="020B0609020204030204" pitchFamily="49" charset="0"/>
              </a:rPr>
              <a:t>check_bal</a:t>
            </a:r>
            <a:r>
              <a:rPr lang="en-US" sz="3400" dirty="0">
                <a:latin typeface="Consolas" panose="020B0609020204030204" pitchFamily="49" charset="0"/>
              </a:rPr>
              <a:t>()</a:t>
            </a:r>
          </a:p>
        </p:txBody>
      </p:sp>
      <p:sp>
        <p:nvSpPr>
          <p:cNvPr id="6" name="TextBox 28">
            <a:extLst>
              <a:ext uri="{FF2B5EF4-FFF2-40B4-BE49-F238E27FC236}">
                <a16:creationId xmlns:a16="http://schemas.microsoft.com/office/drawing/2014/main" id="{C0B520F7-3493-F843-F067-B0346CF2E3FB}"/>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Access Modifiers</a:t>
            </a:r>
          </a:p>
        </p:txBody>
      </p:sp>
    </p:spTree>
    <p:extLst>
      <p:ext uri="{BB962C8B-B14F-4D97-AF65-F5344CB8AC3E}">
        <p14:creationId xmlns:p14="http://schemas.microsoft.com/office/powerpoint/2010/main" val="426913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D3E3-BD03-F128-B5A2-EE6EC49DF0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BEA797-6841-3BDB-4556-AAD3038BF93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3F4128C-6393-ED8A-C3BF-3EFE98DF354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2005C62-424B-CC32-4CC2-27081C788D6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6690872-9ED5-F567-E675-00BE31AC887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BE32D4B0-4357-B9F2-AA16-EF250EDD1AC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6135A61-9AAA-0BA7-9D60-0FF83760F88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2B0541DD-7CFC-CA1A-15B1-0B45CB11B9CF}"/>
              </a:ext>
            </a:extLst>
          </p:cNvPr>
          <p:cNvSpPr txBox="1"/>
          <p:nvPr/>
        </p:nvSpPr>
        <p:spPr>
          <a:xfrm>
            <a:off x="381001" y="2628900"/>
            <a:ext cx="17526000" cy="7417415"/>
          </a:xfrm>
          <a:prstGeom prst="rect">
            <a:avLst/>
          </a:prstGeom>
          <a:noFill/>
        </p:spPr>
        <p:txBody>
          <a:bodyPr wrap="square">
            <a:spAutoFit/>
          </a:bodyPr>
          <a:lstStyle/>
          <a:p>
            <a:pPr algn="just"/>
            <a:r>
              <a:rPr lang="en-US" sz="3400" b="1" dirty="0">
                <a:latin typeface="Consolas" panose="020B0609020204030204" pitchFamily="49" charset="0"/>
              </a:rPr>
              <a:t>2. Protected Access Modifier - </a:t>
            </a:r>
            <a:r>
              <a:rPr lang="en-US" sz="3400" dirty="0">
                <a:latin typeface="Consolas" panose="020B0609020204030204" pitchFamily="49" charset="0"/>
              </a:rPr>
              <a:t>Single underscore prefix _ is a convention and still accessible but should be treated as non-public.</a:t>
            </a:r>
          </a:p>
          <a:p>
            <a:pPr algn="just"/>
            <a:endParaRPr lang="en-US" sz="3400" b="1" dirty="0">
              <a:latin typeface="Consolas" panose="020B0609020204030204" pitchFamily="49" charset="0"/>
            </a:endParaRP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Student:</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name, grade):</a:t>
            </a:r>
          </a:p>
          <a:p>
            <a:pPr algn="just"/>
            <a:r>
              <a:rPr lang="en-US" sz="3400" dirty="0">
                <a:latin typeface="Consolas" panose="020B0609020204030204" pitchFamily="49" charset="0"/>
              </a:rPr>
              <a:t>        self.name = name</a:t>
            </a:r>
          </a:p>
          <a:p>
            <a:pPr algn="just"/>
            <a:r>
              <a:rPr lang="en-US" sz="3400" dirty="0">
                <a:latin typeface="Consolas" panose="020B0609020204030204" pitchFamily="49" charset="0"/>
              </a:rPr>
              <a:t>        </a:t>
            </a:r>
            <a:r>
              <a:rPr lang="en-US" sz="3400" dirty="0" err="1">
                <a:latin typeface="Consolas" panose="020B0609020204030204" pitchFamily="49" charset="0"/>
              </a:rPr>
              <a:t>self._grade</a:t>
            </a:r>
            <a:r>
              <a:rPr lang="en-US" sz="3400" dirty="0">
                <a:latin typeface="Consolas" panose="020B0609020204030204" pitchFamily="49" charset="0"/>
              </a:rPr>
              <a:t> = grade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_</a:t>
            </a:r>
            <a:r>
              <a:rPr lang="en-US" sz="3400" dirty="0" err="1">
                <a:latin typeface="Consolas" panose="020B0609020204030204" pitchFamily="49" charset="0"/>
              </a:rPr>
              <a:t>compute_gwa</a:t>
            </a:r>
            <a:r>
              <a:rPr lang="en-US" sz="3400" dirty="0">
                <a:latin typeface="Consolas" panose="020B0609020204030204" pitchFamily="49" charset="0"/>
              </a:rPr>
              <a:t>(self):</a:t>
            </a:r>
          </a:p>
          <a:p>
            <a:pPr algn="just"/>
            <a:r>
              <a:rPr lang="en-US" sz="3400" dirty="0">
                <a:latin typeface="Consolas" panose="020B0609020204030204" pitchFamily="49" charset="0"/>
              </a:rPr>
              <a:t>        return </a:t>
            </a:r>
            <a:r>
              <a:rPr lang="en-US" sz="3400" dirty="0" err="1">
                <a:latin typeface="Consolas" panose="020B0609020204030204" pitchFamily="49" charset="0"/>
              </a:rPr>
              <a:t>self._grade</a:t>
            </a:r>
            <a:r>
              <a:rPr lang="en-US" sz="3400" dirty="0">
                <a:latin typeface="Consolas" panose="020B0609020204030204" pitchFamily="49" charset="0"/>
              </a:rPr>
              <a:t> / 1.2</a:t>
            </a:r>
          </a:p>
          <a:p>
            <a:pPr algn="just"/>
            <a:endParaRPr lang="en-US" sz="2000" dirty="0">
              <a:latin typeface="Consolas" panose="020B0609020204030204" pitchFamily="49" charset="0"/>
            </a:endParaRPr>
          </a:p>
          <a:p>
            <a:pPr algn="just"/>
            <a:r>
              <a:rPr lang="en-US" sz="3400" dirty="0">
                <a:latin typeface="Consolas" panose="020B0609020204030204" pitchFamily="49" charset="0"/>
              </a:rPr>
              <a:t>st1 = Student("Mark", 95)</a:t>
            </a:r>
          </a:p>
          <a:p>
            <a:pPr algn="just"/>
            <a:r>
              <a:rPr lang="en-US" sz="3400" dirty="0">
                <a:latin typeface="Consolas" panose="020B0609020204030204" pitchFamily="49" charset="0"/>
              </a:rPr>
              <a:t>print(st1._compute_gwa())</a:t>
            </a:r>
          </a:p>
        </p:txBody>
      </p:sp>
      <p:sp>
        <p:nvSpPr>
          <p:cNvPr id="6" name="TextBox 28">
            <a:extLst>
              <a:ext uri="{FF2B5EF4-FFF2-40B4-BE49-F238E27FC236}">
                <a16:creationId xmlns:a16="http://schemas.microsoft.com/office/drawing/2014/main" id="{B1C313CE-FF5D-B715-C117-C30B7E2A5692}"/>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Access Modifiers</a:t>
            </a:r>
          </a:p>
        </p:txBody>
      </p:sp>
    </p:spTree>
    <p:extLst>
      <p:ext uri="{BB962C8B-B14F-4D97-AF65-F5344CB8AC3E}">
        <p14:creationId xmlns:p14="http://schemas.microsoft.com/office/powerpoint/2010/main" val="1159511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3B11-8099-FECD-DF1E-9B4ACA4E19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04A52D4-3A4B-0D0E-B075-9C10E87AA16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601C3BE-EA4D-14D6-CAEA-BE6235A4B51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9BD773C-DCCC-90E8-EC66-445A6D4BD9E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C63F3D3-9950-019C-ABCB-99F9F0A5A8E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8298676-4D87-C376-CBB4-F6CD4C3F3AC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57950E3-B263-C7F1-C846-0F192177A7F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0" y="304800"/>
            <a:ext cx="17907001" cy="2095500"/>
          </a:xfrm>
          <a:prstGeom prst="rect">
            <a:avLst/>
          </a:prstGeom>
        </p:spPr>
      </p:pic>
      <p:sp>
        <p:nvSpPr>
          <p:cNvPr id="24" name="TextBox 23">
            <a:extLst>
              <a:ext uri="{FF2B5EF4-FFF2-40B4-BE49-F238E27FC236}">
                <a16:creationId xmlns:a16="http://schemas.microsoft.com/office/drawing/2014/main" id="{CDB5340C-A5FC-4531-BDA6-C11DC8B5E2B9}"/>
              </a:ext>
            </a:extLst>
          </p:cNvPr>
          <p:cNvSpPr txBox="1"/>
          <p:nvPr/>
        </p:nvSpPr>
        <p:spPr>
          <a:xfrm>
            <a:off x="381001" y="2628900"/>
            <a:ext cx="17526000" cy="6894195"/>
          </a:xfrm>
          <a:prstGeom prst="rect">
            <a:avLst/>
          </a:prstGeom>
          <a:noFill/>
        </p:spPr>
        <p:txBody>
          <a:bodyPr wrap="square">
            <a:spAutoFit/>
          </a:bodyPr>
          <a:lstStyle/>
          <a:p>
            <a:pPr algn="just"/>
            <a:r>
              <a:rPr lang="en-US" sz="3400" b="1" dirty="0">
                <a:latin typeface="Consolas" panose="020B0609020204030204" pitchFamily="49" charset="0"/>
              </a:rPr>
              <a:t>3. Private Access Modifier </a:t>
            </a:r>
            <a:r>
              <a:rPr lang="en-US" sz="3400" dirty="0">
                <a:latin typeface="Consolas" panose="020B0609020204030204" pitchFamily="49" charset="0"/>
              </a:rPr>
              <a:t>- Used to prevent direct access from outside the class and can still be accessed with name mangling. It needs to be prefixed with two underscores __.</a:t>
            </a:r>
          </a:p>
          <a:p>
            <a:pPr algn="just"/>
            <a:r>
              <a:rPr lang="en-US" sz="3400" b="1" dirty="0">
                <a:latin typeface="Consolas" panose="020B0609020204030204" pitchFamily="49" charset="0"/>
              </a:rPr>
              <a:t>Example:</a:t>
            </a:r>
          </a:p>
          <a:p>
            <a:pPr algn="just"/>
            <a:r>
              <a:rPr lang="en-US" sz="3400" dirty="0">
                <a:latin typeface="Consolas" panose="020B0609020204030204" pitchFamily="49" charset="0"/>
              </a:rPr>
              <a:t>class ATM:</a:t>
            </a:r>
          </a:p>
          <a:p>
            <a:pPr algn="just"/>
            <a:r>
              <a:rPr lang="en-US" sz="3400" dirty="0">
                <a:latin typeface="Consolas" panose="020B0609020204030204" pitchFamily="49" charset="0"/>
              </a:rPr>
              <a:t>    def __</a:t>
            </a:r>
            <a:r>
              <a:rPr lang="en-US" sz="3400" dirty="0" err="1">
                <a:latin typeface="Consolas" panose="020B0609020204030204" pitchFamily="49" charset="0"/>
              </a:rPr>
              <a:t>init</a:t>
            </a:r>
            <a:r>
              <a:rPr lang="en-US" sz="3400" dirty="0">
                <a:latin typeface="Consolas" panose="020B0609020204030204" pitchFamily="49" charset="0"/>
              </a:rPr>
              <a:t>__(self, pin, balance):</a:t>
            </a:r>
          </a:p>
          <a:p>
            <a:pPr algn="just"/>
            <a:r>
              <a:rPr lang="en-US" sz="3400" dirty="0">
                <a:latin typeface="Consolas" panose="020B0609020204030204" pitchFamily="49" charset="0"/>
              </a:rPr>
              <a:t>        </a:t>
            </a:r>
            <a:r>
              <a:rPr lang="en-US" sz="3400" dirty="0" err="1">
                <a:latin typeface="Consolas" panose="020B0609020204030204" pitchFamily="49" charset="0"/>
              </a:rPr>
              <a:t>self.__pin</a:t>
            </a:r>
            <a:r>
              <a:rPr lang="en-US" sz="3400" dirty="0">
                <a:latin typeface="Consolas" panose="020B0609020204030204" pitchFamily="49" charset="0"/>
              </a:rPr>
              <a:t> = pin</a:t>
            </a:r>
          </a:p>
          <a:p>
            <a:pPr algn="just"/>
            <a:r>
              <a:rPr lang="en-US" sz="3400" dirty="0">
                <a:latin typeface="Consolas" panose="020B0609020204030204" pitchFamily="49" charset="0"/>
              </a:rPr>
              <a:t>        </a:t>
            </a:r>
            <a:r>
              <a:rPr lang="en-US" sz="3400" dirty="0" err="1">
                <a:latin typeface="Consolas" panose="020B0609020204030204" pitchFamily="49" charset="0"/>
              </a:rPr>
              <a:t>self.__balance</a:t>
            </a:r>
            <a:r>
              <a:rPr lang="en-US" sz="3400" dirty="0">
                <a:latin typeface="Consolas" panose="020B0609020204030204" pitchFamily="49" charset="0"/>
              </a:rPr>
              <a:t> = balance</a:t>
            </a:r>
          </a:p>
          <a:p>
            <a:pPr algn="just"/>
            <a:endParaRPr lang="en-US" sz="3400" dirty="0">
              <a:latin typeface="Consolas" panose="020B0609020204030204" pitchFamily="49" charset="0"/>
            </a:endParaRPr>
          </a:p>
          <a:p>
            <a:pPr algn="just"/>
            <a:r>
              <a:rPr lang="en-US" sz="3400" dirty="0">
                <a:latin typeface="Consolas" panose="020B0609020204030204" pitchFamily="49" charset="0"/>
              </a:rPr>
              <a:t>    def </a:t>
            </a:r>
            <a:r>
              <a:rPr lang="en-US" sz="3400" dirty="0" err="1">
                <a:latin typeface="Consolas" panose="020B0609020204030204" pitchFamily="49" charset="0"/>
              </a:rPr>
              <a:t>verify_pin</a:t>
            </a:r>
            <a:r>
              <a:rPr lang="en-US" sz="3400" dirty="0">
                <a:latin typeface="Consolas" panose="020B0609020204030204" pitchFamily="49" charset="0"/>
              </a:rPr>
              <a:t>(self, </a:t>
            </a:r>
            <a:r>
              <a:rPr lang="en-US" sz="3400" dirty="0" err="1">
                <a:latin typeface="Consolas" panose="020B0609020204030204" pitchFamily="49" charset="0"/>
              </a:rPr>
              <a:t>input_pin</a:t>
            </a:r>
            <a:r>
              <a:rPr lang="en-US" sz="3400" dirty="0">
                <a:latin typeface="Consolas" panose="020B0609020204030204" pitchFamily="49" charset="0"/>
              </a:rPr>
              <a:t>):</a:t>
            </a:r>
          </a:p>
          <a:p>
            <a:pPr algn="just"/>
            <a:r>
              <a:rPr lang="en-US" sz="3400" dirty="0">
                <a:latin typeface="Consolas" panose="020B0609020204030204" pitchFamily="49" charset="0"/>
              </a:rPr>
              <a:t>        return </a:t>
            </a:r>
            <a:r>
              <a:rPr lang="en-US" sz="3400" dirty="0" err="1">
                <a:latin typeface="Consolas" panose="020B0609020204030204" pitchFamily="49" charset="0"/>
              </a:rPr>
              <a:t>input_pin</a:t>
            </a:r>
            <a:r>
              <a:rPr lang="en-US" sz="3400" dirty="0">
                <a:latin typeface="Consolas" panose="020B0609020204030204" pitchFamily="49" charset="0"/>
              </a:rPr>
              <a:t> == </a:t>
            </a:r>
            <a:r>
              <a:rPr lang="en-US" sz="3400" dirty="0" err="1">
                <a:latin typeface="Consolas" panose="020B0609020204030204" pitchFamily="49" charset="0"/>
              </a:rPr>
              <a:t>self.__pin</a:t>
            </a:r>
            <a:endParaRPr lang="en-US" sz="3400" dirty="0">
              <a:latin typeface="Consolas" panose="020B0609020204030204" pitchFamily="49" charset="0"/>
            </a:endParaRPr>
          </a:p>
          <a:p>
            <a:pPr algn="just"/>
            <a:r>
              <a:rPr lang="en-US" sz="3400" dirty="0">
                <a:latin typeface="Consolas" panose="020B0609020204030204" pitchFamily="49" charset="0"/>
              </a:rPr>
              <a:t>atm = ATM(1234, 5000)</a:t>
            </a:r>
          </a:p>
          <a:p>
            <a:pPr algn="just"/>
            <a:r>
              <a:rPr lang="en-US" sz="3400" dirty="0">
                <a:latin typeface="Consolas" panose="020B0609020204030204" pitchFamily="49" charset="0"/>
              </a:rPr>
              <a:t>print(</a:t>
            </a:r>
            <a:r>
              <a:rPr lang="en-US" sz="3400" dirty="0" err="1">
                <a:latin typeface="Consolas" panose="020B0609020204030204" pitchFamily="49" charset="0"/>
              </a:rPr>
              <a:t>atm.__pin</a:t>
            </a:r>
            <a:r>
              <a:rPr lang="en-US" sz="3400" dirty="0">
                <a:latin typeface="Consolas" panose="020B0609020204030204" pitchFamily="49" charset="0"/>
              </a:rPr>
              <a:t>) -&gt; This will lead to an </a:t>
            </a:r>
            <a:r>
              <a:rPr lang="en-US" sz="3400" dirty="0" err="1">
                <a:latin typeface="Consolas" panose="020B0609020204030204" pitchFamily="49" charset="0"/>
              </a:rPr>
              <a:t>AttributeError</a:t>
            </a:r>
            <a:endParaRPr lang="en-US" sz="3400" dirty="0">
              <a:latin typeface="Consolas" panose="020B0609020204030204" pitchFamily="49" charset="0"/>
            </a:endParaRPr>
          </a:p>
        </p:txBody>
      </p:sp>
      <p:sp>
        <p:nvSpPr>
          <p:cNvPr id="6" name="TextBox 28">
            <a:extLst>
              <a:ext uri="{FF2B5EF4-FFF2-40B4-BE49-F238E27FC236}">
                <a16:creationId xmlns:a16="http://schemas.microsoft.com/office/drawing/2014/main" id="{5E33AB2B-1A79-28AA-BF01-8D3F5C671350}"/>
              </a:ext>
            </a:extLst>
          </p:cNvPr>
          <p:cNvSpPr txBox="1"/>
          <p:nvPr/>
        </p:nvSpPr>
        <p:spPr>
          <a:xfrm>
            <a:off x="755855" y="114300"/>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Access Modifiers</a:t>
            </a:r>
          </a:p>
        </p:txBody>
      </p:sp>
    </p:spTree>
    <p:extLst>
      <p:ext uri="{BB962C8B-B14F-4D97-AF65-F5344CB8AC3E}">
        <p14:creationId xmlns:p14="http://schemas.microsoft.com/office/powerpoint/2010/main" val="3134540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E48C-5B59-6A9C-A3D9-51A309783F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4272EF-CFFD-8114-E535-4D6FF543C73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91B720D-CDE8-CBB6-CEDA-68EE8C59BFF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81629BC-042E-9612-C5CE-485D72B9D65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7320A00-122F-81B9-3080-1D0834D5EBE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8104C82F-7F50-D085-1F44-F5B45F63CB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E3A2FF1-10C5-C84E-918D-594DF2A2142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09DEDB9-87DC-74C0-559E-7B5D86A03B1E}"/>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Part 1 </a:t>
            </a:r>
          </a:p>
        </p:txBody>
      </p:sp>
      <p:sp>
        <p:nvSpPr>
          <p:cNvPr id="10" name="AutoShape 8" descr="Grammarly Logo PNG Vector - BrandLogo">
            <a:extLst>
              <a:ext uri="{FF2B5EF4-FFF2-40B4-BE49-F238E27FC236}">
                <a16:creationId xmlns:a16="http://schemas.microsoft.com/office/drawing/2014/main" id="{B401AFF9-5AA1-2019-1D40-413BE727082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8ECC30E3-A6B6-554F-3497-7EBB0CF95094}"/>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52562857-18E4-1592-DCFC-7723307FB01E}"/>
              </a:ext>
            </a:extLst>
          </p:cNvPr>
          <p:cNvSpPr txBox="1"/>
          <p:nvPr/>
        </p:nvSpPr>
        <p:spPr>
          <a:xfrm>
            <a:off x="463773" y="2055128"/>
            <a:ext cx="16953563" cy="7848302"/>
          </a:xfrm>
          <a:prstGeom prst="rect">
            <a:avLst/>
          </a:prstGeom>
          <a:noFill/>
        </p:spPr>
        <p:txBody>
          <a:bodyPr wrap="square">
            <a:spAutoFit/>
          </a:bodyPr>
          <a:lstStyle/>
          <a:p>
            <a:pPr algn="just"/>
            <a:r>
              <a:rPr lang="en-US" sz="3600" b="1" dirty="0">
                <a:latin typeface="Consolas" panose="020B0609020204030204" pitchFamily="49" charset="0"/>
              </a:rPr>
              <a:t>Task: </a:t>
            </a:r>
            <a:r>
              <a:rPr lang="en-US" sz="3600" dirty="0">
                <a:latin typeface="Consolas" panose="020B0609020204030204" pitchFamily="49" charset="0"/>
              </a:rPr>
              <a:t>Create the first class for a </a:t>
            </a:r>
            <a:r>
              <a:rPr lang="en-US" sz="3600" b="1" dirty="0">
                <a:latin typeface="Consolas" panose="020B0609020204030204" pitchFamily="49" charset="0"/>
              </a:rPr>
              <a:t>Library Management System.</a:t>
            </a:r>
          </a:p>
          <a:p>
            <a:pPr algn="just"/>
            <a:r>
              <a:rPr lang="en-US" sz="3600" dirty="0">
                <a:latin typeface="Consolas" panose="020B0609020204030204" pitchFamily="49" charset="0"/>
              </a:rPr>
              <a:t>Book Attributes:</a:t>
            </a:r>
          </a:p>
          <a:p>
            <a:pPr marL="1028700" lvl="1" indent="-571500" algn="just">
              <a:buFont typeface="Wingdings" panose="05000000000000000000" pitchFamily="2" charset="2"/>
              <a:buChar char="ü"/>
            </a:pPr>
            <a:r>
              <a:rPr lang="en-US" sz="3600" dirty="0">
                <a:latin typeface="Consolas" panose="020B0609020204030204" pitchFamily="49" charset="0"/>
              </a:rPr>
              <a:t>title (string)</a:t>
            </a:r>
          </a:p>
          <a:p>
            <a:pPr marL="1028700" lvl="1" indent="-571500" algn="just">
              <a:buFont typeface="Wingdings" panose="05000000000000000000" pitchFamily="2" charset="2"/>
              <a:buChar char="ü"/>
            </a:pPr>
            <a:r>
              <a:rPr lang="en-US" sz="3600" dirty="0">
                <a:latin typeface="Consolas" panose="020B0609020204030204" pitchFamily="49" charset="0"/>
              </a:rPr>
              <a:t>author (string)</a:t>
            </a:r>
          </a:p>
          <a:p>
            <a:pPr marL="1028700" lvl="1" indent="-571500" algn="just">
              <a:buFont typeface="Wingdings" panose="05000000000000000000" pitchFamily="2" charset="2"/>
              <a:buChar char="ü"/>
            </a:pPr>
            <a:r>
              <a:rPr lang="en-US" sz="3600" dirty="0" err="1">
                <a:latin typeface="Consolas" panose="020B0609020204030204" pitchFamily="49" charset="0"/>
              </a:rPr>
              <a:t>isbn</a:t>
            </a:r>
            <a:r>
              <a:rPr lang="en-US" sz="3600" dirty="0">
                <a:latin typeface="Consolas" panose="020B0609020204030204" pitchFamily="49" charset="0"/>
              </a:rPr>
              <a:t> (string)</a:t>
            </a:r>
          </a:p>
          <a:p>
            <a:pPr marL="1028700" lvl="1" indent="-571500" algn="just">
              <a:buFont typeface="Wingdings" panose="05000000000000000000" pitchFamily="2" charset="2"/>
              <a:buChar char="ü"/>
            </a:pPr>
            <a:r>
              <a:rPr lang="en-US" sz="3600" dirty="0">
                <a:latin typeface="Consolas" panose="020B0609020204030204" pitchFamily="49" charset="0"/>
              </a:rPr>
              <a:t>available (</a:t>
            </a:r>
            <a:r>
              <a:rPr lang="en-US" sz="3600" dirty="0" err="1">
                <a:latin typeface="Consolas" panose="020B0609020204030204" pitchFamily="49" charset="0"/>
              </a:rPr>
              <a:t>boolean</a:t>
            </a:r>
            <a:r>
              <a:rPr lang="en-US" sz="3600" dirty="0">
                <a:latin typeface="Consolas" panose="020B0609020204030204" pitchFamily="49" charset="0"/>
              </a:rPr>
              <a:t>) – excluded  in the __</a:t>
            </a:r>
            <a:r>
              <a:rPr lang="en-US" sz="3600" dirty="0" err="1">
                <a:latin typeface="Consolas" panose="020B0609020204030204" pitchFamily="49" charset="0"/>
              </a:rPr>
              <a:t>init</a:t>
            </a:r>
            <a:r>
              <a:rPr lang="en-US" sz="3600" dirty="0">
                <a:latin typeface="Consolas" panose="020B0609020204030204" pitchFamily="49" charset="0"/>
              </a:rPr>
              <a:t>__()</a:t>
            </a:r>
          </a:p>
          <a:p>
            <a:pPr marL="1028700" lvl="1" indent="-571500" algn="just">
              <a:buFont typeface="Wingdings" panose="05000000000000000000" pitchFamily="2" charset="2"/>
              <a:buChar char="ü"/>
            </a:pPr>
            <a:endParaRPr lang="en-US" sz="3600" dirty="0">
              <a:latin typeface="Consolas" panose="020B0609020204030204" pitchFamily="49" charset="0"/>
            </a:endParaRPr>
          </a:p>
          <a:p>
            <a:pPr algn="just"/>
            <a:r>
              <a:rPr lang="en-US" sz="3600" dirty="0">
                <a:latin typeface="Consolas" panose="020B0609020204030204" pitchFamily="49" charset="0"/>
              </a:rPr>
              <a:t>Book Methods:</a:t>
            </a:r>
          </a:p>
          <a:p>
            <a:pPr marL="571500" indent="-571500" algn="just">
              <a:buFont typeface="Wingdings" panose="05000000000000000000" pitchFamily="2" charset="2"/>
              <a:buChar char="ü"/>
            </a:pPr>
            <a:r>
              <a:rPr lang="en-US" sz="3600" dirty="0">
                <a:latin typeface="Consolas" panose="020B0609020204030204" pitchFamily="49" charset="0"/>
              </a:rPr>
              <a:t>__</a:t>
            </a:r>
            <a:r>
              <a:rPr lang="en-US" sz="3600" dirty="0" err="1">
                <a:latin typeface="Consolas" panose="020B0609020204030204" pitchFamily="49" charset="0"/>
              </a:rPr>
              <a:t>init</a:t>
            </a:r>
            <a:r>
              <a:rPr lang="en-US" sz="3600" dirty="0">
                <a:latin typeface="Consolas" panose="020B0609020204030204" pitchFamily="49" charset="0"/>
              </a:rPr>
              <a:t>__: Initialize the book attributes.</a:t>
            </a:r>
          </a:p>
          <a:p>
            <a:pPr marL="571500" indent="-571500" algn="just">
              <a:buFont typeface="Wingdings" panose="05000000000000000000" pitchFamily="2" charset="2"/>
              <a:buChar char="ü"/>
            </a:pPr>
            <a:r>
              <a:rPr lang="en-US" sz="3600" dirty="0" err="1">
                <a:latin typeface="Consolas" panose="020B0609020204030204" pitchFamily="49" charset="0"/>
              </a:rPr>
              <a:t>check_out</a:t>
            </a:r>
            <a:r>
              <a:rPr lang="en-US" sz="3600" dirty="0">
                <a:latin typeface="Consolas" panose="020B0609020204030204" pitchFamily="49" charset="0"/>
              </a:rPr>
              <a:t>: Mark the book as checked out (set available to False).</a:t>
            </a:r>
          </a:p>
          <a:p>
            <a:pPr marL="571500" indent="-571500" algn="just">
              <a:buFont typeface="Wingdings" panose="05000000000000000000" pitchFamily="2" charset="2"/>
              <a:buChar char="ü"/>
            </a:pPr>
            <a:r>
              <a:rPr lang="en-US" sz="3600" dirty="0" err="1">
                <a:latin typeface="Consolas" panose="020B0609020204030204" pitchFamily="49" charset="0"/>
              </a:rPr>
              <a:t>check_in</a:t>
            </a:r>
            <a:r>
              <a:rPr lang="en-US" sz="3600" dirty="0">
                <a:latin typeface="Consolas" panose="020B0609020204030204" pitchFamily="49" charset="0"/>
              </a:rPr>
              <a:t>: Mark the book as available (set available to True).</a:t>
            </a:r>
          </a:p>
          <a:p>
            <a:pPr marL="571500" indent="-571500" algn="just">
              <a:buFont typeface="Wingdings" panose="05000000000000000000" pitchFamily="2" charset="2"/>
              <a:buChar char="ü"/>
            </a:pPr>
            <a:r>
              <a:rPr lang="en-US" sz="3600" dirty="0">
                <a:latin typeface="Consolas" panose="020B0609020204030204" pitchFamily="49" charset="0"/>
              </a:rPr>
              <a:t>__str__: Provide a string representation of the book in the format: "Title by Author (ISBN: ISBN)".</a:t>
            </a:r>
          </a:p>
        </p:txBody>
      </p:sp>
    </p:spTree>
    <p:extLst>
      <p:ext uri="{BB962C8B-B14F-4D97-AF65-F5344CB8AC3E}">
        <p14:creationId xmlns:p14="http://schemas.microsoft.com/office/powerpoint/2010/main" val="802692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D3CBA-7EAE-B7B3-6482-049B284667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DBC27D-D1A6-2C56-13F0-B643E117483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EC0B29F-BC23-4944-D61B-D7DAE033134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178587C-F656-45FA-AAEF-D8043669A2B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3ABC5F3-5EB4-520E-0817-C9E44D391A7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F62B910-146D-D06E-BFB8-C88D400A2CB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12D3EC4-0E8D-936F-B739-B466C9FF2CB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66ACE017-E276-91F0-37E5-D667BE6CD88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Part 2 </a:t>
            </a:r>
          </a:p>
        </p:txBody>
      </p:sp>
      <p:sp>
        <p:nvSpPr>
          <p:cNvPr id="10" name="AutoShape 8" descr="Grammarly Logo PNG Vector - BrandLogo">
            <a:extLst>
              <a:ext uri="{FF2B5EF4-FFF2-40B4-BE49-F238E27FC236}">
                <a16:creationId xmlns:a16="http://schemas.microsoft.com/office/drawing/2014/main" id="{30303558-D9B3-8EF9-1886-503A0653581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F6923237-1EC7-27BA-1A0D-15F436C6061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35E0AF66-6885-482E-F593-BF313FDE6A78}"/>
              </a:ext>
            </a:extLst>
          </p:cNvPr>
          <p:cNvSpPr txBox="1"/>
          <p:nvPr/>
        </p:nvSpPr>
        <p:spPr>
          <a:xfrm>
            <a:off x="463773" y="2055128"/>
            <a:ext cx="16953563" cy="6740307"/>
          </a:xfrm>
          <a:prstGeom prst="rect">
            <a:avLst/>
          </a:prstGeom>
          <a:noFill/>
        </p:spPr>
        <p:txBody>
          <a:bodyPr wrap="square">
            <a:spAutoFit/>
          </a:bodyPr>
          <a:lstStyle/>
          <a:p>
            <a:pPr algn="just"/>
            <a:r>
              <a:rPr lang="en-US" sz="3600" b="1" dirty="0">
                <a:latin typeface="Consolas" panose="020B0609020204030204" pitchFamily="49" charset="0"/>
              </a:rPr>
              <a:t>Task: </a:t>
            </a:r>
            <a:r>
              <a:rPr lang="en-US" sz="3600" dirty="0">
                <a:latin typeface="Consolas" panose="020B0609020204030204" pitchFamily="49" charset="0"/>
              </a:rPr>
              <a:t>Create the second class for a </a:t>
            </a:r>
            <a:r>
              <a:rPr lang="en-US" sz="3600" b="1" dirty="0">
                <a:latin typeface="Consolas" panose="020B0609020204030204" pitchFamily="49" charset="0"/>
              </a:rPr>
              <a:t>Library Management System.</a:t>
            </a:r>
          </a:p>
          <a:p>
            <a:pPr algn="just"/>
            <a:r>
              <a:rPr lang="en-US" sz="3600" dirty="0">
                <a:latin typeface="Consolas" panose="020B0609020204030204" pitchFamily="49" charset="0"/>
              </a:rPr>
              <a:t>Member Attributes:</a:t>
            </a:r>
          </a:p>
          <a:p>
            <a:pPr marL="1028700" lvl="1" indent="-571500" algn="just">
              <a:buFont typeface="Wingdings" panose="05000000000000000000" pitchFamily="2" charset="2"/>
              <a:buChar char="ü"/>
            </a:pPr>
            <a:r>
              <a:rPr lang="en-US" sz="3600" dirty="0">
                <a:latin typeface="Consolas" panose="020B0609020204030204" pitchFamily="49" charset="0"/>
              </a:rPr>
              <a:t>name (string)</a:t>
            </a:r>
          </a:p>
          <a:p>
            <a:pPr marL="1028700" lvl="1" indent="-571500" algn="just">
              <a:buFont typeface="Wingdings" panose="05000000000000000000" pitchFamily="2" charset="2"/>
              <a:buChar char="ü"/>
            </a:pPr>
            <a:r>
              <a:rPr lang="en-US" sz="3600" dirty="0" err="1">
                <a:latin typeface="Consolas" panose="020B0609020204030204" pitchFamily="49" charset="0"/>
              </a:rPr>
              <a:t>membership_id</a:t>
            </a:r>
            <a:r>
              <a:rPr lang="en-US" sz="3600" dirty="0">
                <a:latin typeface="Consolas" panose="020B0609020204030204" pitchFamily="49" charset="0"/>
              </a:rPr>
              <a:t> (string)</a:t>
            </a:r>
          </a:p>
          <a:p>
            <a:pPr marL="1028700" lvl="1" indent="-571500" algn="just">
              <a:buFont typeface="Wingdings" panose="05000000000000000000" pitchFamily="2" charset="2"/>
              <a:buChar char="ü"/>
            </a:pPr>
            <a:r>
              <a:rPr lang="en-US" sz="3600" dirty="0" err="1">
                <a:latin typeface="Consolas" panose="020B0609020204030204" pitchFamily="49" charset="0"/>
              </a:rPr>
              <a:t>checked_out_books</a:t>
            </a:r>
            <a:r>
              <a:rPr lang="en-US" sz="3600" dirty="0">
                <a:latin typeface="Consolas" panose="020B0609020204030204" pitchFamily="49" charset="0"/>
              </a:rPr>
              <a:t> (list) – excluded  in the __</a:t>
            </a:r>
            <a:r>
              <a:rPr lang="en-US" sz="3600" dirty="0" err="1">
                <a:latin typeface="Consolas" panose="020B0609020204030204" pitchFamily="49" charset="0"/>
              </a:rPr>
              <a:t>init</a:t>
            </a:r>
            <a:r>
              <a:rPr lang="en-US" sz="3600" dirty="0">
                <a:latin typeface="Consolas" panose="020B0609020204030204" pitchFamily="49" charset="0"/>
              </a:rPr>
              <a:t>__()</a:t>
            </a:r>
          </a:p>
          <a:p>
            <a:pPr marL="1028700" lvl="1" indent="-571500" algn="just">
              <a:buFont typeface="Wingdings" panose="05000000000000000000" pitchFamily="2" charset="2"/>
              <a:buChar char="ü"/>
            </a:pPr>
            <a:endParaRPr lang="en-US" sz="3600" dirty="0">
              <a:latin typeface="Consolas" panose="020B0609020204030204" pitchFamily="49" charset="0"/>
            </a:endParaRPr>
          </a:p>
          <a:p>
            <a:pPr algn="just"/>
            <a:r>
              <a:rPr lang="en-US" sz="3600" dirty="0">
                <a:latin typeface="Consolas" panose="020B0609020204030204" pitchFamily="49" charset="0"/>
              </a:rPr>
              <a:t>Member Methods:</a:t>
            </a:r>
          </a:p>
          <a:p>
            <a:pPr marL="571500" indent="-571500" algn="just">
              <a:buFont typeface="Wingdings" panose="05000000000000000000" pitchFamily="2" charset="2"/>
              <a:buChar char="ü"/>
            </a:pPr>
            <a:r>
              <a:rPr lang="en-US" sz="3600" dirty="0" err="1">
                <a:latin typeface="Consolas" panose="020B0609020204030204" pitchFamily="49" charset="0"/>
              </a:rPr>
              <a:t>checkout_book</a:t>
            </a:r>
            <a:r>
              <a:rPr lang="en-US" sz="3600" dirty="0">
                <a:latin typeface="Consolas" panose="020B0609020204030204" pitchFamily="49" charset="0"/>
              </a:rPr>
              <a:t>: Allow a member to check out a book if it is available.</a:t>
            </a:r>
          </a:p>
          <a:p>
            <a:pPr marL="571500" indent="-571500" algn="just">
              <a:buFont typeface="Wingdings" panose="05000000000000000000" pitchFamily="2" charset="2"/>
              <a:buChar char="ü"/>
            </a:pPr>
            <a:r>
              <a:rPr lang="en-US" sz="3600" dirty="0" err="1">
                <a:latin typeface="Consolas" panose="020B0609020204030204" pitchFamily="49" charset="0"/>
              </a:rPr>
              <a:t>return_book</a:t>
            </a:r>
            <a:r>
              <a:rPr lang="en-US" sz="3600" dirty="0">
                <a:latin typeface="Consolas" panose="020B0609020204030204" pitchFamily="49" charset="0"/>
              </a:rPr>
              <a:t>: Allow a member to return a book.</a:t>
            </a:r>
          </a:p>
          <a:p>
            <a:pPr marL="571500" indent="-571500" algn="just">
              <a:buFont typeface="Wingdings" panose="05000000000000000000" pitchFamily="2" charset="2"/>
              <a:buChar char="ü"/>
            </a:pPr>
            <a:r>
              <a:rPr lang="en-US" sz="3600" dirty="0">
                <a:latin typeface="Consolas" panose="020B0609020204030204" pitchFamily="49" charset="0"/>
              </a:rPr>
              <a:t>__str__: Provide a string representation of the member and the books they have checked out.</a:t>
            </a:r>
          </a:p>
        </p:txBody>
      </p:sp>
    </p:spTree>
    <p:extLst>
      <p:ext uri="{BB962C8B-B14F-4D97-AF65-F5344CB8AC3E}">
        <p14:creationId xmlns:p14="http://schemas.microsoft.com/office/powerpoint/2010/main" val="4285478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13E2-81B0-CCFA-74BE-76423D1528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59EFF6-C80E-121F-37F8-CF901730628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3E0FB1D-8F44-12AF-15F2-854A76443D5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4472BD6-CB6D-8004-D3F9-1EF7394655E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EF41026-EF5A-0505-D68E-B70305AA1D4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F6B34C5-51D1-29AC-1A2F-8C504BA8E79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06D49BD1-9215-1260-5996-7D7B5CCDA56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7DE70662-016F-10F8-0806-A2402ECEE6D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Part 3 </a:t>
            </a:r>
          </a:p>
        </p:txBody>
      </p:sp>
      <p:sp>
        <p:nvSpPr>
          <p:cNvPr id="10" name="AutoShape 8" descr="Grammarly Logo PNG Vector - BrandLogo">
            <a:extLst>
              <a:ext uri="{FF2B5EF4-FFF2-40B4-BE49-F238E27FC236}">
                <a16:creationId xmlns:a16="http://schemas.microsoft.com/office/drawing/2014/main" id="{4DD97A2F-9B0E-B0C6-4A93-1EA3120C973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0640792F-3FA1-71AF-7AB4-555B8A38EF05}"/>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04273345-0A68-018C-41FA-5A186A62E63D}"/>
              </a:ext>
            </a:extLst>
          </p:cNvPr>
          <p:cNvSpPr txBox="1"/>
          <p:nvPr/>
        </p:nvSpPr>
        <p:spPr>
          <a:xfrm>
            <a:off x="463773" y="2055128"/>
            <a:ext cx="16953563" cy="6186309"/>
          </a:xfrm>
          <a:prstGeom prst="rect">
            <a:avLst/>
          </a:prstGeom>
          <a:noFill/>
        </p:spPr>
        <p:txBody>
          <a:bodyPr wrap="square">
            <a:spAutoFit/>
          </a:bodyPr>
          <a:lstStyle/>
          <a:p>
            <a:pPr algn="just"/>
            <a:r>
              <a:rPr lang="en-US" sz="3600" b="1" dirty="0">
                <a:latin typeface="Consolas" panose="020B0609020204030204" pitchFamily="49" charset="0"/>
              </a:rPr>
              <a:t>Task: </a:t>
            </a:r>
            <a:r>
              <a:rPr lang="en-US" sz="3600" dirty="0">
                <a:latin typeface="Consolas" panose="020B0609020204030204" pitchFamily="49" charset="0"/>
              </a:rPr>
              <a:t>Create the main class for a </a:t>
            </a:r>
            <a:r>
              <a:rPr lang="en-US" sz="3600" b="1" dirty="0">
                <a:latin typeface="Consolas" panose="020B0609020204030204" pitchFamily="49" charset="0"/>
              </a:rPr>
              <a:t>Library Management System.</a:t>
            </a:r>
          </a:p>
          <a:p>
            <a:pPr algn="just"/>
            <a:r>
              <a:rPr lang="en-US" sz="3600" dirty="0">
                <a:latin typeface="Consolas" panose="020B0609020204030204" pitchFamily="49" charset="0"/>
              </a:rPr>
              <a:t>Library Attributes:</a:t>
            </a:r>
          </a:p>
          <a:p>
            <a:pPr marL="1028700" lvl="1" indent="-571500" algn="just">
              <a:buFont typeface="Wingdings" panose="05000000000000000000" pitchFamily="2" charset="2"/>
              <a:buChar char="ü"/>
            </a:pPr>
            <a:r>
              <a:rPr lang="en-US" sz="3600" dirty="0">
                <a:latin typeface="Consolas" panose="020B0609020204030204" pitchFamily="49" charset="0"/>
              </a:rPr>
              <a:t>books (list of Book objects) - excluded  in the __</a:t>
            </a:r>
            <a:r>
              <a:rPr lang="en-US" sz="3600" dirty="0" err="1">
                <a:latin typeface="Consolas" panose="020B0609020204030204" pitchFamily="49" charset="0"/>
              </a:rPr>
              <a:t>init</a:t>
            </a:r>
            <a:r>
              <a:rPr lang="en-US" sz="3600" dirty="0">
                <a:latin typeface="Consolas" panose="020B0609020204030204" pitchFamily="49" charset="0"/>
              </a:rPr>
              <a:t>__()</a:t>
            </a:r>
          </a:p>
          <a:p>
            <a:pPr marL="1028700" lvl="1" indent="-571500" algn="just">
              <a:buFont typeface="Wingdings" panose="05000000000000000000" pitchFamily="2" charset="2"/>
              <a:buChar char="ü"/>
            </a:pPr>
            <a:r>
              <a:rPr lang="en-US" sz="3600" dirty="0">
                <a:latin typeface="Consolas" panose="020B0609020204030204" pitchFamily="49" charset="0"/>
              </a:rPr>
              <a:t>members (list of Member objects) - excluded  in the __</a:t>
            </a:r>
            <a:r>
              <a:rPr lang="en-US" sz="3600" dirty="0" err="1">
                <a:latin typeface="Consolas" panose="020B0609020204030204" pitchFamily="49" charset="0"/>
              </a:rPr>
              <a:t>init</a:t>
            </a:r>
            <a:r>
              <a:rPr lang="en-US" sz="3600" dirty="0">
                <a:latin typeface="Consolas" panose="020B0609020204030204" pitchFamily="49" charset="0"/>
              </a:rPr>
              <a:t>__()</a:t>
            </a:r>
          </a:p>
          <a:p>
            <a:pPr marL="1028700" lvl="1" indent="-571500" algn="just">
              <a:buFont typeface="Wingdings" panose="05000000000000000000" pitchFamily="2" charset="2"/>
              <a:buChar char="ü"/>
            </a:pPr>
            <a:endParaRPr lang="en-US" sz="3600" dirty="0">
              <a:latin typeface="Consolas" panose="020B0609020204030204" pitchFamily="49" charset="0"/>
            </a:endParaRPr>
          </a:p>
          <a:p>
            <a:pPr algn="just"/>
            <a:r>
              <a:rPr lang="en-US" sz="3600" dirty="0">
                <a:latin typeface="Consolas" panose="020B0609020204030204" pitchFamily="49" charset="0"/>
              </a:rPr>
              <a:t>Member Methods:</a:t>
            </a:r>
          </a:p>
          <a:p>
            <a:pPr marL="1028700" lvl="1" indent="-571500" algn="just">
              <a:buFont typeface="Wingdings" panose="05000000000000000000" pitchFamily="2" charset="2"/>
              <a:buChar char="ü"/>
            </a:pPr>
            <a:r>
              <a:rPr lang="en-US" sz="3600" dirty="0" err="1">
                <a:latin typeface="Consolas" panose="020B0609020204030204" pitchFamily="49" charset="0"/>
              </a:rPr>
              <a:t>add_book</a:t>
            </a:r>
            <a:r>
              <a:rPr lang="en-US" sz="3600" dirty="0">
                <a:latin typeface="Consolas" panose="020B0609020204030204" pitchFamily="49" charset="0"/>
              </a:rPr>
              <a:t>: Add a new book to the library.</a:t>
            </a:r>
          </a:p>
          <a:p>
            <a:pPr marL="1028700" lvl="1" indent="-571500" algn="just">
              <a:buFont typeface="Wingdings" panose="05000000000000000000" pitchFamily="2" charset="2"/>
              <a:buChar char="ü"/>
            </a:pPr>
            <a:r>
              <a:rPr lang="en-US" sz="3600" dirty="0" err="1">
                <a:latin typeface="Consolas" panose="020B0609020204030204" pitchFamily="49" charset="0"/>
              </a:rPr>
              <a:t>add_member</a:t>
            </a:r>
            <a:r>
              <a:rPr lang="en-US" sz="3600" dirty="0">
                <a:latin typeface="Consolas" panose="020B0609020204030204" pitchFamily="49" charset="0"/>
              </a:rPr>
              <a:t>: Add a new member to the library.</a:t>
            </a:r>
          </a:p>
          <a:p>
            <a:pPr marL="1028700" lvl="1" indent="-571500" algn="just">
              <a:buFont typeface="Wingdings" panose="05000000000000000000" pitchFamily="2" charset="2"/>
              <a:buChar char="ü"/>
            </a:pPr>
            <a:r>
              <a:rPr lang="en-US" sz="3600" dirty="0" err="1">
                <a:latin typeface="Consolas" panose="020B0609020204030204" pitchFamily="49" charset="0"/>
              </a:rPr>
              <a:t>get_available_books</a:t>
            </a:r>
            <a:r>
              <a:rPr lang="en-US" sz="3600" dirty="0">
                <a:latin typeface="Consolas" panose="020B0609020204030204" pitchFamily="49" charset="0"/>
              </a:rPr>
              <a:t>: Return a list of available books.</a:t>
            </a:r>
          </a:p>
          <a:p>
            <a:pPr marL="1028700" lvl="1" indent="-571500" algn="just">
              <a:buFont typeface="Wingdings" panose="05000000000000000000" pitchFamily="2" charset="2"/>
              <a:buChar char="ü"/>
            </a:pPr>
            <a:r>
              <a:rPr lang="en-US" sz="3600" dirty="0" err="1">
                <a:latin typeface="Consolas" panose="020B0609020204030204" pitchFamily="49" charset="0"/>
              </a:rPr>
              <a:t>find_book_by_title</a:t>
            </a:r>
            <a:r>
              <a:rPr lang="en-US" sz="3600" dirty="0">
                <a:latin typeface="Consolas" panose="020B0609020204030204" pitchFamily="49" charset="0"/>
              </a:rPr>
              <a:t>: Search for a book by title.</a:t>
            </a:r>
          </a:p>
          <a:p>
            <a:pPr algn="just"/>
            <a:endParaRPr lang="en-US" sz="3600" dirty="0">
              <a:latin typeface="Consolas" panose="020B0609020204030204" pitchFamily="49" charset="0"/>
            </a:endParaRPr>
          </a:p>
        </p:txBody>
      </p:sp>
    </p:spTree>
    <p:extLst>
      <p:ext uri="{BB962C8B-B14F-4D97-AF65-F5344CB8AC3E}">
        <p14:creationId xmlns:p14="http://schemas.microsoft.com/office/powerpoint/2010/main" val="1354384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9F97E-1B2A-0A80-161A-412BC2F50B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D9DC14-D08C-F76B-942B-E661FDA479E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3E15DA4-7C7C-363D-C62E-D624D950984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67672F8-A6DC-EFB3-300A-97CFBA2BB64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97866E1-A543-55E2-E9BE-1A1224363EE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6351457-5C85-A9F9-1271-5C147D10C58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7596A05-252D-78DF-5DF5-7122B8418FC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0E6AFEB-0C08-3E01-BF6E-453D7A58DC7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Part 4 </a:t>
            </a:r>
          </a:p>
        </p:txBody>
      </p:sp>
      <p:sp>
        <p:nvSpPr>
          <p:cNvPr id="10" name="AutoShape 8" descr="Grammarly Logo PNG Vector - BrandLogo">
            <a:extLst>
              <a:ext uri="{FF2B5EF4-FFF2-40B4-BE49-F238E27FC236}">
                <a16:creationId xmlns:a16="http://schemas.microsoft.com/office/drawing/2014/main" id="{933643CF-F07B-86EF-E3A7-95D60FBBDA4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D91C48AB-44BC-4451-02C1-B720CFFC8136}"/>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C5E54D8B-3005-0AE7-FAB5-EEA344781FE8}"/>
              </a:ext>
            </a:extLst>
          </p:cNvPr>
          <p:cNvSpPr txBox="1"/>
          <p:nvPr/>
        </p:nvSpPr>
        <p:spPr>
          <a:xfrm>
            <a:off x="463773" y="2055128"/>
            <a:ext cx="16953563" cy="5632311"/>
          </a:xfrm>
          <a:prstGeom prst="rect">
            <a:avLst/>
          </a:prstGeom>
          <a:noFill/>
        </p:spPr>
        <p:txBody>
          <a:bodyPr wrap="square">
            <a:spAutoFit/>
          </a:bodyPr>
          <a:lstStyle/>
          <a:p>
            <a:pPr marL="742950" indent="-742950">
              <a:buAutoNum type="arabicPeriod"/>
            </a:pPr>
            <a:r>
              <a:rPr lang="en-PH" sz="3600" dirty="0">
                <a:latin typeface="Consolas" panose="020B0609020204030204" pitchFamily="49" charset="0"/>
              </a:rPr>
              <a:t>Create 3 instances of Book</a:t>
            </a:r>
          </a:p>
          <a:p>
            <a:pPr marL="742950" indent="-742950">
              <a:buFontTx/>
              <a:buAutoNum type="arabicPeriod"/>
            </a:pPr>
            <a:r>
              <a:rPr lang="en-PH" sz="3600" dirty="0">
                <a:latin typeface="Consolas" panose="020B0609020204030204" pitchFamily="49" charset="0"/>
              </a:rPr>
              <a:t>Create 2 instances of Member</a:t>
            </a:r>
          </a:p>
          <a:p>
            <a:pPr marL="742950" indent="-742950">
              <a:buFontTx/>
              <a:buAutoNum type="arabicPeriod"/>
            </a:pPr>
            <a:r>
              <a:rPr lang="en-PH" sz="3600" dirty="0">
                <a:latin typeface="Consolas" panose="020B0609020204030204" pitchFamily="49" charset="0"/>
              </a:rPr>
              <a:t>Create an instance of Library</a:t>
            </a:r>
          </a:p>
          <a:p>
            <a:pPr marL="742950" indent="-742950">
              <a:buFontTx/>
              <a:buAutoNum type="arabicPeriod"/>
            </a:pPr>
            <a:r>
              <a:rPr lang="en-US" sz="3600" dirty="0">
                <a:latin typeface="Consolas" panose="020B0609020204030204" pitchFamily="49" charset="0"/>
              </a:rPr>
              <a:t>Add books and members to the library</a:t>
            </a:r>
          </a:p>
          <a:p>
            <a:pPr marL="742950" indent="-742950">
              <a:buFontTx/>
              <a:buAutoNum type="arabicPeriod"/>
            </a:pPr>
            <a:r>
              <a:rPr lang="en-PH" sz="3600" dirty="0">
                <a:latin typeface="Consolas" panose="020B0609020204030204" pitchFamily="49" charset="0"/>
              </a:rPr>
              <a:t>Display available books</a:t>
            </a:r>
          </a:p>
          <a:p>
            <a:pPr marL="742950" indent="-742950">
              <a:buFontTx/>
              <a:buAutoNum type="arabicPeriod"/>
            </a:pPr>
            <a:r>
              <a:rPr lang="en-US" sz="3600" dirty="0">
                <a:latin typeface="Consolas" panose="020B0609020204030204" pitchFamily="49" charset="0"/>
              </a:rPr>
              <a:t>Member 1 checks out a book</a:t>
            </a:r>
          </a:p>
          <a:p>
            <a:pPr marL="742950" indent="-742950">
              <a:buFontTx/>
              <a:buAutoNum type="arabicPeriod"/>
            </a:pPr>
            <a:r>
              <a:rPr lang="en-US" sz="3600" dirty="0">
                <a:latin typeface="Consolas" panose="020B0609020204030204" pitchFamily="49" charset="0"/>
              </a:rPr>
              <a:t>Display available books after checkout</a:t>
            </a:r>
          </a:p>
          <a:p>
            <a:pPr marL="742950" indent="-742950">
              <a:buFontTx/>
              <a:buAutoNum type="arabicPeriod"/>
            </a:pPr>
            <a:r>
              <a:rPr lang="en-US" sz="3600" dirty="0">
                <a:latin typeface="Consolas" panose="020B0609020204030204" pitchFamily="49" charset="0"/>
              </a:rPr>
              <a:t>Member 2 tries to check out the same book (should fail)</a:t>
            </a:r>
          </a:p>
          <a:p>
            <a:pPr marL="742950" indent="-742950">
              <a:buFontTx/>
              <a:buAutoNum type="arabicPeriod"/>
            </a:pPr>
            <a:r>
              <a:rPr lang="en-US" sz="3600" dirty="0">
                <a:latin typeface="Consolas" panose="020B0609020204030204" pitchFamily="49" charset="0"/>
              </a:rPr>
              <a:t>Member 1 returns the book</a:t>
            </a:r>
          </a:p>
          <a:p>
            <a:pPr marL="742950" indent="-742950">
              <a:buFontTx/>
              <a:buAutoNum type="arabicPeriod"/>
            </a:pPr>
            <a:r>
              <a:rPr lang="en-US" sz="3600" dirty="0">
                <a:latin typeface="Consolas" panose="020B0609020204030204" pitchFamily="49" charset="0"/>
              </a:rPr>
              <a:t>Display available books after return</a:t>
            </a:r>
            <a:endParaRPr lang="en-PH" sz="3600" dirty="0">
              <a:latin typeface="Consolas" panose="020B0609020204030204" pitchFamily="49" charset="0"/>
            </a:endParaRPr>
          </a:p>
        </p:txBody>
      </p:sp>
    </p:spTree>
    <p:extLst>
      <p:ext uri="{BB962C8B-B14F-4D97-AF65-F5344CB8AC3E}">
        <p14:creationId xmlns:p14="http://schemas.microsoft.com/office/powerpoint/2010/main" val="245331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4F58A-E8A2-5B1D-4C00-10AC54F7B548}"/>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F5702C33-F5CD-8256-ABFB-92ADEAAA80CC}"/>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93590"/>
            <a:ext cx="18287999" cy="4408536"/>
          </a:xfrm>
          <a:prstGeom prst="rect">
            <a:avLst/>
          </a:prstGeom>
        </p:spPr>
      </p:pic>
      <p:sp>
        <p:nvSpPr>
          <p:cNvPr id="20" name="Freeform 20">
            <a:extLst>
              <a:ext uri="{FF2B5EF4-FFF2-40B4-BE49-F238E27FC236}">
                <a16:creationId xmlns:a16="http://schemas.microsoft.com/office/drawing/2014/main" id="{F01DB3AD-D78F-D14C-B753-E9A61FEAC7D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53682050-1B68-B843-40BA-A17332332739}"/>
              </a:ext>
            </a:extLst>
          </p:cNvPr>
          <p:cNvSpPr txBox="1"/>
          <p:nvPr/>
        </p:nvSpPr>
        <p:spPr>
          <a:xfrm>
            <a:off x="1144874" y="3718387"/>
            <a:ext cx="15998250" cy="3158942"/>
          </a:xfrm>
          <a:prstGeom prst="rect">
            <a:avLst/>
          </a:prstGeom>
        </p:spPr>
        <p:txBody>
          <a:bodyPr wrap="square" lIns="0" tIns="0" rIns="0" bIns="0" rtlCol="0" anchor="t">
            <a:spAutoFit/>
          </a:bodyPr>
          <a:lstStyle/>
          <a:p>
            <a:pPr>
              <a:lnSpc>
                <a:spcPts val="12857"/>
              </a:lnSpc>
            </a:pPr>
            <a:r>
              <a:rPr lang="en-US" sz="8000" spc="-360" dirty="0">
                <a:ln>
                  <a:solidFill>
                    <a:sysClr val="windowText" lastClr="000000"/>
                  </a:solidFill>
                </a:ln>
                <a:solidFill>
                  <a:schemeClr val="bg1"/>
                </a:solidFill>
                <a:latin typeface="Consolas" panose="020B0609020204030204" pitchFamily="49" charset="0"/>
              </a:rPr>
              <a:t>Lesson 6.2 Polymorphism and Inheritance</a:t>
            </a:r>
          </a:p>
        </p:txBody>
      </p:sp>
      <p:grpSp>
        <p:nvGrpSpPr>
          <p:cNvPr id="34" name="Group 13">
            <a:extLst>
              <a:ext uri="{FF2B5EF4-FFF2-40B4-BE49-F238E27FC236}">
                <a16:creationId xmlns:a16="http://schemas.microsoft.com/office/drawing/2014/main" id="{8A9D01BA-D9B2-0261-A310-EB9B67E28908}"/>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499EF01F-88A4-225E-787C-04784336D9E5}"/>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6E1A5BFF-3CBF-3078-87F0-9B3954671225}"/>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DC38AECF-0B22-6F39-ACF0-C32831EB145B}"/>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32FA39C4-BC6F-D9E3-0200-BB9F41508EF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7F6D1173-0D66-6CBF-2A29-218A3CA048D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0BFB37FB-D9D8-78B2-83CA-471310B56FBD}"/>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78FC9A27-6BE2-54F2-D64E-CEC5BCE7B80B}"/>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DA4591EC-DEE6-BC36-1C75-721DE43A9F1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CD28C585-E0FF-6A1B-C120-91E0246CF2D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D61EC04A-96B4-022F-7EAE-69DBDA39DA1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064246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832FC-66B0-9551-539B-CE859411B1F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A9B62B7-2D54-C45D-D6FF-801B21EFD86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AB3D526-C802-6C6C-BFD0-6C35395D704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AF13765-E156-0762-ECF1-646FBC3F419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E051C0E-F26A-24BD-639A-E3B5902B55C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3C05B51-FDA3-50CD-AB7C-FB4F55FC740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48A649D-1469-E2A9-F4FC-82D03284C11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81B1F27E-14C8-04EE-583F-7EEF9E66850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Polymorphism</a:t>
            </a:r>
          </a:p>
        </p:txBody>
      </p:sp>
      <p:sp>
        <p:nvSpPr>
          <p:cNvPr id="10" name="AutoShape 8" descr="Grammarly Logo PNG Vector - BrandLogo">
            <a:extLst>
              <a:ext uri="{FF2B5EF4-FFF2-40B4-BE49-F238E27FC236}">
                <a16:creationId xmlns:a16="http://schemas.microsoft.com/office/drawing/2014/main" id="{44733E45-17CA-24F8-ABAF-EAF92C0F0AF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1C076B6B-303E-8FC0-9C00-40CFEFA82AF3}"/>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E0254DAD-FD3B-2B37-C0B3-9A6E330D54C3}"/>
              </a:ext>
            </a:extLst>
          </p:cNvPr>
          <p:cNvSpPr txBox="1"/>
          <p:nvPr/>
        </p:nvSpPr>
        <p:spPr>
          <a:xfrm>
            <a:off x="463773" y="2055128"/>
            <a:ext cx="16953563" cy="6740307"/>
          </a:xfrm>
          <a:prstGeom prst="rect">
            <a:avLst/>
          </a:prstGeom>
          <a:noFill/>
        </p:spPr>
        <p:txBody>
          <a:bodyPr wrap="square">
            <a:spAutoFit/>
          </a:bodyPr>
          <a:lstStyle/>
          <a:p>
            <a:pPr algn="just"/>
            <a:r>
              <a:rPr lang="en-US" sz="3600" dirty="0">
                <a:latin typeface="Consolas" panose="020B0609020204030204" pitchFamily="49" charset="0"/>
              </a:rPr>
              <a:t>Polymorphism comes from the words poly (many) and morph (forms). In Object-Oriented Programming, polymorphism allows different objects to respond to the same method name in different ways. This makes programs more flexible, extensible, and easier to maintain.</a:t>
            </a: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A remote control can operate multiple devices like a TV, AC, or music system. You press the power button, and each device responds differently TV turns on, the AC starts cooling, music system plays music.</a:t>
            </a:r>
          </a:p>
          <a:p>
            <a:pPr algn="just"/>
            <a:endParaRPr lang="en-US" sz="3600" dirty="0">
              <a:latin typeface="Consolas" panose="020B0609020204030204" pitchFamily="49" charset="0"/>
            </a:endParaRPr>
          </a:p>
          <a:p>
            <a:pPr algn="just"/>
            <a:r>
              <a:rPr lang="en-US" sz="3600" dirty="0">
                <a:latin typeface="Consolas" panose="020B0609020204030204" pitchFamily="49" charset="0"/>
              </a:rPr>
              <a:t>Polymorphism here means the same interface (power button), but different behavior based on the device (object).</a:t>
            </a:r>
          </a:p>
        </p:txBody>
      </p:sp>
    </p:spTree>
    <p:extLst>
      <p:ext uri="{BB962C8B-B14F-4D97-AF65-F5344CB8AC3E}">
        <p14:creationId xmlns:p14="http://schemas.microsoft.com/office/powerpoint/2010/main" val="1012002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B1ABD-8ECF-C2E6-1D81-DFD8C548F9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A7B4AB-A839-8731-D1DA-9C2DEF1701B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384F3E0-1579-9BBF-03F5-C2CBAF7258D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4BD9B6B-B254-C858-0A56-155A42B15F2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98B83AC5-518C-A855-F2ED-5A28DE51D00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F42FA70-970B-498F-473A-F9D87FACDD2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2551A06-5D5B-542A-9526-17E5A39A726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F40BD9EB-2E87-1FC9-EFD8-BB0888E46F42}"/>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Polymorphism Types</a:t>
            </a:r>
          </a:p>
        </p:txBody>
      </p:sp>
      <p:sp>
        <p:nvSpPr>
          <p:cNvPr id="10" name="AutoShape 8" descr="Grammarly Logo PNG Vector - BrandLogo">
            <a:extLst>
              <a:ext uri="{FF2B5EF4-FFF2-40B4-BE49-F238E27FC236}">
                <a16:creationId xmlns:a16="http://schemas.microsoft.com/office/drawing/2014/main" id="{B6107FFE-0A0B-90F5-46F2-93D522154FC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3D1F6EB6-0A98-CB3C-D56E-AB216AF4D27D}"/>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01462662-F85C-5831-3281-96422C197CD7}"/>
              </a:ext>
            </a:extLst>
          </p:cNvPr>
          <p:cNvSpPr txBox="1"/>
          <p:nvPr/>
        </p:nvSpPr>
        <p:spPr>
          <a:xfrm>
            <a:off x="463773" y="2055128"/>
            <a:ext cx="16953563" cy="7848302"/>
          </a:xfrm>
          <a:prstGeom prst="rect">
            <a:avLst/>
          </a:prstGeom>
          <a:noFill/>
        </p:spPr>
        <p:txBody>
          <a:bodyPr wrap="square">
            <a:spAutoFit/>
          </a:bodyPr>
          <a:lstStyle/>
          <a:p>
            <a:pPr algn="just"/>
            <a:r>
              <a:rPr lang="en-US" sz="3600" b="1" dirty="0">
                <a:latin typeface="Consolas" panose="020B0609020204030204" pitchFamily="49" charset="0"/>
              </a:rPr>
              <a:t>1. Compile-time Polymorphism</a:t>
            </a:r>
            <a:r>
              <a:rPr lang="en-US" sz="3600" dirty="0">
                <a:latin typeface="Consolas" panose="020B0609020204030204" pitchFamily="49" charset="0"/>
              </a:rPr>
              <a:t> - means deciding which method or operation to run during compilation, usually through method or operator overloading.</a:t>
            </a:r>
          </a:p>
          <a:p>
            <a:pPr algn="just"/>
            <a:r>
              <a:rPr lang="en-US" sz="3600" b="1" dirty="0">
                <a:latin typeface="Consolas" panose="020B0609020204030204" pitchFamily="49" charset="0"/>
              </a:rPr>
              <a:t>Example:</a:t>
            </a:r>
            <a:endParaRPr lang="en-US" sz="3600" dirty="0">
              <a:latin typeface="Consolas" panose="020B0609020204030204" pitchFamily="49" charset="0"/>
            </a:endParaRPr>
          </a:p>
          <a:p>
            <a:pPr algn="just"/>
            <a:r>
              <a:rPr lang="en-US" sz="3600" dirty="0">
                <a:latin typeface="Consolas" panose="020B0609020204030204" pitchFamily="49" charset="0"/>
              </a:rPr>
              <a:t>class Calculator:</a:t>
            </a:r>
          </a:p>
          <a:p>
            <a:pPr algn="just"/>
            <a:r>
              <a:rPr lang="en-US" sz="3600" dirty="0">
                <a:latin typeface="Consolas" panose="020B0609020204030204" pitchFamily="49" charset="0"/>
              </a:rPr>
              <a:t>    def multiply(self, a=1, b=1, *</a:t>
            </a:r>
            <a:r>
              <a:rPr lang="en-US" sz="3600" dirty="0" err="1">
                <a:latin typeface="Consolas" panose="020B0609020204030204" pitchFamily="49" charset="0"/>
              </a:rPr>
              <a:t>args</a:t>
            </a:r>
            <a:r>
              <a:rPr lang="en-US" sz="3600" dirty="0">
                <a:latin typeface="Consolas" panose="020B0609020204030204" pitchFamily="49" charset="0"/>
              </a:rPr>
              <a:t>):</a:t>
            </a:r>
          </a:p>
          <a:p>
            <a:pPr algn="just"/>
            <a:r>
              <a:rPr lang="en-US" sz="3600" dirty="0">
                <a:latin typeface="Consolas" panose="020B0609020204030204" pitchFamily="49" charset="0"/>
              </a:rPr>
              <a:t>        result = a * b</a:t>
            </a:r>
          </a:p>
          <a:p>
            <a:pPr algn="just"/>
            <a:r>
              <a:rPr lang="en-US" sz="3600" dirty="0">
                <a:latin typeface="Consolas" panose="020B0609020204030204" pitchFamily="49" charset="0"/>
              </a:rPr>
              <a:t>        for num in </a:t>
            </a:r>
            <a:r>
              <a:rPr lang="en-US" sz="3600" dirty="0" err="1">
                <a:latin typeface="Consolas" panose="020B0609020204030204" pitchFamily="49" charset="0"/>
              </a:rPr>
              <a:t>args</a:t>
            </a:r>
            <a:r>
              <a:rPr lang="en-US" sz="3600" dirty="0">
                <a:latin typeface="Consolas" panose="020B0609020204030204" pitchFamily="49" charset="0"/>
              </a:rPr>
              <a:t>:</a:t>
            </a:r>
          </a:p>
          <a:p>
            <a:pPr algn="just"/>
            <a:r>
              <a:rPr lang="en-US" sz="3600" dirty="0">
                <a:latin typeface="Consolas" panose="020B0609020204030204" pitchFamily="49" charset="0"/>
              </a:rPr>
              <a:t>            result *= num</a:t>
            </a:r>
          </a:p>
          <a:p>
            <a:pPr algn="just"/>
            <a:r>
              <a:rPr lang="en-US" sz="3600" dirty="0">
                <a:latin typeface="Consolas" panose="020B0609020204030204" pitchFamily="49" charset="0"/>
              </a:rPr>
              <a:t>        return result</a:t>
            </a:r>
          </a:p>
          <a:p>
            <a:pPr algn="just"/>
            <a:r>
              <a:rPr lang="en-US" sz="3600" dirty="0">
                <a:latin typeface="Consolas" panose="020B0609020204030204" pitchFamily="49" charset="0"/>
              </a:rPr>
              <a:t>calc = Calculator()</a:t>
            </a:r>
          </a:p>
          <a:p>
            <a:pPr algn="just"/>
            <a:r>
              <a:rPr lang="en-US" sz="3600" dirty="0">
                <a:latin typeface="Consolas" panose="020B0609020204030204" pitchFamily="49" charset="0"/>
              </a:rPr>
              <a:t>print(</a:t>
            </a:r>
            <a:r>
              <a:rPr lang="en-US" sz="3600" dirty="0" err="1">
                <a:latin typeface="Consolas" panose="020B0609020204030204" pitchFamily="49" charset="0"/>
              </a:rPr>
              <a:t>calc.multiply</a:t>
            </a:r>
            <a:r>
              <a:rPr lang="en-US" sz="3600" dirty="0">
                <a:latin typeface="Consolas" panose="020B0609020204030204" pitchFamily="49" charset="0"/>
              </a:rPr>
              <a:t>())            </a:t>
            </a:r>
          </a:p>
          <a:p>
            <a:pPr algn="just"/>
            <a:r>
              <a:rPr lang="en-US" sz="3600" dirty="0">
                <a:latin typeface="Consolas" panose="020B0609020204030204" pitchFamily="49" charset="0"/>
              </a:rPr>
              <a:t>print(</a:t>
            </a:r>
            <a:r>
              <a:rPr lang="en-US" sz="3600" dirty="0" err="1">
                <a:latin typeface="Consolas" panose="020B0609020204030204" pitchFamily="49" charset="0"/>
              </a:rPr>
              <a:t>calc.multiply</a:t>
            </a:r>
            <a:r>
              <a:rPr lang="en-US" sz="3600" dirty="0">
                <a:latin typeface="Consolas" panose="020B0609020204030204" pitchFamily="49" charset="0"/>
              </a:rPr>
              <a:t>(4))           </a:t>
            </a:r>
          </a:p>
          <a:p>
            <a:pPr algn="just"/>
            <a:r>
              <a:rPr lang="en-US" sz="3600" dirty="0">
                <a:latin typeface="Consolas" panose="020B0609020204030204" pitchFamily="49" charset="0"/>
              </a:rPr>
              <a:t>print(</a:t>
            </a:r>
            <a:r>
              <a:rPr lang="en-US" sz="3600" dirty="0" err="1">
                <a:latin typeface="Consolas" panose="020B0609020204030204" pitchFamily="49" charset="0"/>
              </a:rPr>
              <a:t>calc.multiply</a:t>
            </a:r>
            <a:r>
              <a:rPr lang="en-US" sz="3600" dirty="0">
                <a:latin typeface="Consolas" panose="020B0609020204030204" pitchFamily="49" charset="0"/>
              </a:rPr>
              <a:t>(2, 3))</a:t>
            </a:r>
          </a:p>
        </p:txBody>
      </p:sp>
      <p:sp>
        <p:nvSpPr>
          <p:cNvPr id="6" name="TextBox 5">
            <a:extLst>
              <a:ext uri="{FF2B5EF4-FFF2-40B4-BE49-F238E27FC236}">
                <a16:creationId xmlns:a16="http://schemas.microsoft.com/office/drawing/2014/main" id="{D0E4C0E4-89CF-A4BD-DEA6-E54EA8CBF800}"/>
              </a:ext>
            </a:extLst>
          </p:cNvPr>
          <p:cNvSpPr txBox="1"/>
          <p:nvPr/>
        </p:nvSpPr>
        <p:spPr>
          <a:xfrm>
            <a:off x="8997462" y="5875400"/>
            <a:ext cx="9181017" cy="3231654"/>
          </a:xfrm>
          <a:prstGeom prst="rect">
            <a:avLst/>
          </a:prstGeom>
          <a:noFill/>
        </p:spPr>
        <p:txBody>
          <a:bodyPr wrap="square">
            <a:spAutoFit/>
          </a:bodyPr>
          <a:lstStyle/>
          <a:p>
            <a:pPr algn="just"/>
            <a:r>
              <a:rPr lang="en-US" sz="3400" dirty="0">
                <a:latin typeface="Consolas" panose="020B0609020204030204" pitchFamily="49" charset="0"/>
              </a:rPr>
              <a:t>This code demonstrates method overloading using default and variable-length arguments. The multiply() method works with different numbers of inputs, mimicking compile-time polymorphism.</a:t>
            </a:r>
          </a:p>
        </p:txBody>
      </p:sp>
    </p:spTree>
    <p:extLst>
      <p:ext uri="{BB962C8B-B14F-4D97-AF65-F5344CB8AC3E}">
        <p14:creationId xmlns:p14="http://schemas.microsoft.com/office/powerpoint/2010/main" val="2422885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66E35-4B7A-9792-DCAB-AA02905D15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90E7E1D-B24D-0977-0429-C71BB34DF7F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68766F8-6202-8AE4-1285-B757A9E3E58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5C9E21A-ED46-6448-6DBE-0C8F1E3F50A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DE7D1B6-F31C-77FF-D7A0-550A96ED31E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3CDD716-67B1-E4CD-71B1-92F869268EF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12CAEB9-8D93-DC07-637D-4A3D8B21B0A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F86C8D46-9B91-323F-8986-B6234B046FE5}"/>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Polymorphism Types</a:t>
            </a:r>
          </a:p>
        </p:txBody>
      </p:sp>
      <p:sp>
        <p:nvSpPr>
          <p:cNvPr id="10" name="AutoShape 8" descr="Grammarly Logo PNG Vector - BrandLogo">
            <a:extLst>
              <a:ext uri="{FF2B5EF4-FFF2-40B4-BE49-F238E27FC236}">
                <a16:creationId xmlns:a16="http://schemas.microsoft.com/office/drawing/2014/main" id="{2028BAE2-98F3-EFE3-BA32-4CB6F31F6C1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948AA3B3-2B85-57EB-EB88-C93793C1032A}"/>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EA7C6494-0941-2B18-9E72-2D0D4E31B57D}"/>
              </a:ext>
            </a:extLst>
          </p:cNvPr>
          <p:cNvSpPr txBox="1"/>
          <p:nvPr/>
        </p:nvSpPr>
        <p:spPr>
          <a:xfrm>
            <a:off x="463773" y="2055128"/>
            <a:ext cx="16953563" cy="3416320"/>
          </a:xfrm>
          <a:prstGeom prst="rect">
            <a:avLst/>
          </a:prstGeom>
          <a:noFill/>
        </p:spPr>
        <p:txBody>
          <a:bodyPr wrap="square">
            <a:spAutoFit/>
          </a:bodyPr>
          <a:lstStyle/>
          <a:p>
            <a:pPr algn="just"/>
            <a:r>
              <a:rPr lang="en-US" sz="3600" b="1" dirty="0">
                <a:latin typeface="Consolas" panose="020B0609020204030204" pitchFamily="49" charset="0"/>
              </a:rPr>
              <a:t>2. Runtime Polymorphism </a:t>
            </a:r>
            <a:r>
              <a:rPr lang="en-US" sz="3600" dirty="0">
                <a:latin typeface="Consolas" panose="020B0609020204030204" pitchFamily="49" charset="0"/>
              </a:rPr>
              <a:t>- means that the behavior of a method is decided while the program is running, based on the object calling it. This happens through Method Overriding, a child class provides its own version of a method already defined in the parent class. Since Python is dynamic, it supports this, allowing the same method call to behave differently for different object types.  </a:t>
            </a:r>
          </a:p>
        </p:txBody>
      </p:sp>
    </p:spTree>
    <p:extLst>
      <p:ext uri="{BB962C8B-B14F-4D97-AF65-F5344CB8AC3E}">
        <p14:creationId xmlns:p14="http://schemas.microsoft.com/office/powerpoint/2010/main" val="1839292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7127-3646-1EBE-D802-162590CA7C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3C4FBE6-DE17-DB1A-404D-1FD6CCFE9E6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2CC0963-C21A-AF28-79DF-1EF5BE96B51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559FE8D-CDE4-0447-9155-25D64B3A56E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3358504B-C133-C5EF-47D8-B504C80312F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0ABA35A-9659-BCA3-8EE4-F032C8E1D47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41F1549-42C8-F5B6-E0CD-2AA2BBB0312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8FD7010B-88BA-FEBC-CB6B-1B0B0F537634}"/>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Polymorphism Types</a:t>
            </a:r>
          </a:p>
        </p:txBody>
      </p:sp>
      <p:sp>
        <p:nvSpPr>
          <p:cNvPr id="10" name="AutoShape 8" descr="Grammarly Logo PNG Vector - BrandLogo">
            <a:extLst>
              <a:ext uri="{FF2B5EF4-FFF2-40B4-BE49-F238E27FC236}">
                <a16:creationId xmlns:a16="http://schemas.microsoft.com/office/drawing/2014/main" id="{595CAB3F-EE04-C09B-8CAA-2C805489C32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9326CBDA-4E9F-4DF9-53C9-2D1F309AA1E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3B59D071-FCCB-B07E-6FC8-9C51C460F59D}"/>
              </a:ext>
            </a:extLst>
          </p:cNvPr>
          <p:cNvSpPr txBox="1"/>
          <p:nvPr/>
        </p:nvSpPr>
        <p:spPr>
          <a:xfrm>
            <a:off x="463773" y="2055128"/>
            <a:ext cx="16953563" cy="8032968"/>
          </a:xfrm>
          <a:prstGeom prst="rect">
            <a:avLst/>
          </a:prstGeom>
          <a:noFill/>
        </p:spPr>
        <p:txBody>
          <a:bodyPr wrap="square">
            <a:spAutoFit/>
          </a:bodyPr>
          <a:lstStyle/>
          <a:p>
            <a:pPr algn="just"/>
            <a:r>
              <a:rPr lang="en-US" sz="3600" b="1" dirty="0">
                <a:latin typeface="Consolas" panose="020B0609020204030204" pitchFamily="49" charset="0"/>
              </a:rPr>
              <a:t>Example:</a:t>
            </a:r>
          </a:p>
          <a:p>
            <a:pPr algn="just"/>
            <a:r>
              <a:rPr lang="en-US" sz="3200" dirty="0">
                <a:latin typeface="Consolas" panose="020B0609020204030204" pitchFamily="49" charset="0"/>
              </a:rPr>
              <a:t>class Animal:</a:t>
            </a:r>
          </a:p>
          <a:p>
            <a:pPr algn="just"/>
            <a:r>
              <a:rPr lang="en-US" sz="3200" dirty="0">
                <a:latin typeface="Consolas" panose="020B0609020204030204" pitchFamily="49" charset="0"/>
              </a:rPr>
              <a:t>    def sound(self):</a:t>
            </a:r>
          </a:p>
          <a:p>
            <a:pPr algn="just"/>
            <a:r>
              <a:rPr lang="en-US" sz="3200" dirty="0">
                <a:latin typeface="Consolas" panose="020B0609020204030204" pitchFamily="49" charset="0"/>
              </a:rPr>
              <a:t>        return "Some sound."</a:t>
            </a:r>
          </a:p>
          <a:p>
            <a:pPr algn="just"/>
            <a:endParaRPr lang="en-US" sz="3200" dirty="0">
              <a:latin typeface="Consolas" panose="020B0609020204030204" pitchFamily="49" charset="0"/>
            </a:endParaRPr>
          </a:p>
          <a:p>
            <a:pPr algn="just"/>
            <a:r>
              <a:rPr lang="en-US" sz="3200" dirty="0">
                <a:latin typeface="Consolas" panose="020B0609020204030204" pitchFamily="49" charset="0"/>
              </a:rPr>
              <a:t>class Dog(Animal):</a:t>
            </a:r>
          </a:p>
          <a:p>
            <a:pPr algn="just"/>
            <a:r>
              <a:rPr lang="en-US" sz="3200" dirty="0">
                <a:latin typeface="Consolas" panose="020B0609020204030204" pitchFamily="49" charset="0"/>
              </a:rPr>
              <a:t>    def sound(self):</a:t>
            </a:r>
          </a:p>
          <a:p>
            <a:pPr algn="just"/>
            <a:r>
              <a:rPr lang="en-US" sz="3200" dirty="0">
                <a:latin typeface="Consolas" panose="020B0609020204030204" pitchFamily="49" charset="0"/>
              </a:rPr>
              <a:t>        return "Bark!"</a:t>
            </a:r>
          </a:p>
          <a:p>
            <a:pPr algn="just"/>
            <a:endParaRPr lang="en-US" sz="3200" dirty="0">
              <a:latin typeface="Consolas" panose="020B0609020204030204" pitchFamily="49" charset="0"/>
            </a:endParaRPr>
          </a:p>
          <a:p>
            <a:pPr algn="just"/>
            <a:r>
              <a:rPr lang="en-US" sz="3200" dirty="0">
                <a:latin typeface="Consolas" panose="020B0609020204030204" pitchFamily="49" charset="0"/>
              </a:rPr>
              <a:t>class Cat(Animal):</a:t>
            </a:r>
          </a:p>
          <a:p>
            <a:pPr algn="just"/>
            <a:r>
              <a:rPr lang="en-US" sz="3200" dirty="0">
                <a:latin typeface="Consolas" panose="020B0609020204030204" pitchFamily="49" charset="0"/>
              </a:rPr>
              <a:t>    def sound(self):</a:t>
            </a:r>
          </a:p>
          <a:p>
            <a:pPr algn="just"/>
            <a:r>
              <a:rPr lang="en-US" sz="3200" dirty="0">
                <a:latin typeface="Consolas" panose="020B0609020204030204" pitchFamily="49" charset="0"/>
              </a:rPr>
              <a:t>        return "Meow!"</a:t>
            </a:r>
          </a:p>
          <a:p>
            <a:pPr algn="just"/>
            <a:endParaRPr lang="en-US" sz="1600" dirty="0">
              <a:latin typeface="Consolas" panose="020B0609020204030204" pitchFamily="49" charset="0"/>
            </a:endParaRPr>
          </a:p>
          <a:p>
            <a:pPr algn="just"/>
            <a:r>
              <a:rPr lang="en-US" sz="3200" dirty="0">
                <a:latin typeface="Consolas" panose="020B0609020204030204" pitchFamily="49" charset="0"/>
              </a:rPr>
              <a:t>animals = [Dog(), Cat(), Animal()]</a:t>
            </a:r>
          </a:p>
          <a:p>
            <a:pPr algn="just"/>
            <a:r>
              <a:rPr lang="en-US" sz="3200" dirty="0">
                <a:latin typeface="Consolas" panose="020B0609020204030204" pitchFamily="49" charset="0"/>
              </a:rPr>
              <a:t>for a in animals:</a:t>
            </a:r>
          </a:p>
          <a:p>
            <a:pPr algn="just"/>
            <a:r>
              <a:rPr lang="en-US" sz="3200" dirty="0">
                <a:latin typeface="Consolas" panose="020B0609020204030204" pitchFamily="49" charset="0"/>
              </a:rPr>
              <a:t>    print(</a:t>
            </a:r>
            <a:r>
              <a:rPr lang="en-US" sz="3200" dirty="0" err="1">
                <a:latin typeface="Consolas" panose="020B0609020204030204" pitchFamily="49" charset="0"/>
              </a:rPr>
              <a:t>a.sound</a:t>
            </a:r>
            <a:r>
              <a:rPr lang="en-US" sz="3200" dirty="0">
                <a:latin typeface="Consolas" panose="020B0609020204030204" pitchFamily="49" charset="0"/>
              </a:rPr>
              <a:t>())</a:t>
            </a:r>
          </a:p>
        </p:txBody>
      </p:sp>
      <p:sp>
        <p:nvSpPr>
          <p:cNvPr id="6" name="TextBox 5">
            <a:extLst>
              <a:ext uri="{FF2B5EF4-FFF2-40B4-BE49-F238E27FC236}">
                <a16:creationId xmlns:a16="http://schemas.microsoft.com/office/drawing/2014/main" id="{29C2D30F-753F-7CF4-9F99-AB732E48D165}"/>
              </a:ext>
            </a:extLst>
          </p:cNvPr>
          <p:cNvSpPr txBox="1"/>
          <p:nvPr/>
        </p:nvSpPr>
        <p:spPr>
          <a:xfrm>
            <a:off x="8643210" y="2225438"/>
            <a:ext cx="9181017" cy="3231654"/>
          </a:xfrm>
          <a:prstGeom prst="rect">
            <a:avLst/>
          </a:prstGeom>
          <a:noFill/>
        </p:spPr>
        <p:txBody>
          <a:bodyPr wrap="square">
            <a:spAutoFit/>
          </a:bodyPr>
          <a:lstStyle/>
          <a:p>
            <a:pPr algn="just"/>
            <a:r>
              <a:rPr lang="en-US" sz="3400" dirty="0">
                <a:latin typeface="Consolas" panose="020B0609020204030204" pitchFamily="49" charset="0"/>
              </a:rPr>
              <a:t>This code shows runtime polymorphism using method overriding. The sound() method is defined in the base class Animal and overridden in Dog and Cat. At runtime, the correct method is called based on the object's class.</a:t>
            </a:r>
          </a:p>
        </p:txBody>
      </p:sp>
    </p:spTree>
    <p:extLst>
      <p:ext uri="{BB962C8B-B14F-4D97-AF65-F5344CB8AC3E}">
        <p14:creationId xmlns:p14="http://schemas.microsoft.com/office/powerpoint/2010/main" val="21740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31D5-4470-3764-EDE1-94C44D7C35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999CFA-2805-5B5F-0AE9-9C55AC74662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0883F392-D233-7F7C-2771-177AA74BE27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6351B7F-2B8B-0F2A-99AC-1910277D3A1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6FA425D-9DD1-5754-C0B5-23B07C6E8B2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8AEBE30-6842-B475-6DB7-EA2D6038F74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5D28F94-83A4-0098-29BF-696DFEF6611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775F0347-7E76-0959-6C73-5F3EF034E36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a:t>
            </a:r>
          </a:p>
        </p:txBody>
      </p:sp>
      <p:sp>
        <p:nvSpPr>
          <p:cNvPr id="10" name="AutoShape 8" descr="Grammarly Logo PNG Vector - BrandLogo">
            <a:extLst>
              <a:ext uri="{FF2B5EF4-FFF2-40B4-BE49-F238E27FC236}">
                <a16:creationId xmlns:a16="http://schemas.microsoft.com/office/drawing/2014/main" id="{740FC50F-5B6A-4C4F-02F3-417956D0763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853CCF0F-FFC4-621B-7DAA-0C6C0697A3B4}"/>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0FAA8BAD-FEDB-AE4B-F3A1-4D988DB0109B}"/>
              </a:ext>
            </a:extLst>
          </p:cNvPr>
          <p:cNvSpPr txBox="1"/>
          <p:nvPr/>
        </p:nvSpPr>
        <p:spPr>
          <a:xfrm>
            <a:off x="463773" y="2055128"/>
            <a:ext cx="16953563" cy="1754326"/>
          </a:xfrm>
          <a:prstGeom prst="rect">
            <a:avLst/>
          </a:prstGeom>
          <a:noFill/>
        </p:spPr>
        <p:txBody>
          <a:bodyPr wrap="square">
            <a:spAutoFit/>
          </a:bodyPr>
          <a:lstStyle/>
          <a:p>
            <a:r>
              <a:rPr lang="en-US" sz="3600" dirty="0">
                <a:latin typeface="Consolas" panose="020B0609020204030204" pitchFamily="49" charset="0"/>
              </a:rPr>
              <a:t>Create a Python program that demonstrates polymorphism by defining a Shape class with subclasses Circle and Square, each having its own implementation of the area() method.</a:t>
            </a:r>
          </a:p>
        </p:txBody>
      </p:sp>
    </p:spTree>
    <p:extLst>
      <p:ext uri="{BB962C8B-B14F-4D97-AF65-F5344CB8AC3E}">
        <p14:creationId xmlns:p14="http://schemas.microsoft.com/office/powerpoint/2010/main" val="4001761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E6B04-361C-9FB0-7A82-D6D53973357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83B159-E6BC-910A-2F94-3D22F03D25FA}"/>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DF0FD29-0683-CA30-5810-E9F5BF47B3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A09F5D4-7B9B-D791-C572-3CFB9B3E10A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EFFCB49-66F9-3F77-CE92-89BC9EB682B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11603027-245C-4EEC-5D1D-B77F61390A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628036D-6EE2-27A9-574B-3396ED34A65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8477CD0E-52BC-BBE2-0466-7976F443B665}"/>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Inheritance</a:t>
            </a:r>
          </a:p>
        </p:txBody>
      </p:sp>
      <p:sp>
        <p:nvSpPr>
          <p:cNvPr id="10" name="AutoShape 8" descr="Grammarly Logo PNG Vector - BrandLogo">
            <a:extLst>
              <a:ext uri="{FF2B5EF4-FFF2-40B4-BE49-F238E27FC236}">
                <a16:creationId xmlns:a16="http://schemas.microsoft.com/office/drawing/2014/main" id="{CC6748FC-8AFC-806C-529C-313F8BE6D0C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E0843F0E-87B2-3565-6B12-D92E556FF2E5}"/>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7CB2B8DD-6764-92BE-54F5-FF021385E5B0}"/>
              </a:ext>
            </a:extLst>
          </p:cNvPr>
          <p:cNvSpPr txBox="1"/>
          <p:nvPr/>
        </p:nvSpPr>
        <p:spPr>
          <a:xfrm>
            <a:off x="463773" y="2055128"/>
            <a:ext cx="16953563" cy="6740307"/>
          </a:xfrm>
          <a:prstGeom prst="rect">
            <a:avLst/>
          </a:prstGeom>
          <a:noFill/>
        </p:spPr>
        <p:txBody>
          <a:bodyPr wrap="square">
            <a:spAutoFit/>
          </a:bodyPr>
          <a:lstStyle/>
          <a:p>
            <a:pPr algn="just"/>
            <a:r>
              <a:rPr lang="en-US" sz="3600" dirty="0">
                <a:latin typeface="Consolas" panose="020B0609020204030204" pitchFamily="49" charset="0"/>
              </a:rPr>
              <a:t>Inheritance allows you to create a new class (called child or subclass) that extends an existing class (called parent or superclass). The child class automatically gets all attributes and methods of the parent class. You can also add new features or override existing methods.</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Basic Structure of Inheritance:</a:t>
            </a:r>
          </a:p>
          <a:p>
            <a:pPr algn="just"/>
            <a:r>
              <a:rPr lang="en-US" sz="3600" dirty="0">
                <a:latin typeface="Consolas" panose="020B0609020204030204" pitchFamily="49" charset="0"/>
              </a:rPr>
              <a:t>class Parent:</a:t>
            </a:r>
          </a:p>
          <a:p>
            <a:pPr algn="just"/>
            <a:r>
              <a:rPr lang="en-US" sz="3600" dirty="0">
                <a:latin typeface="Consolas" panose="020B0609020204030204" pitchFamily="49" charset="0"/>
              </a:rPr>
              <a:t>    # parent attributes and methods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class Child(Parent):</a:t>
            </a:r>
          </a:p>
          <a:p>
            <a:pPr algn="just"/>
            <a:r>
              <a:rPr lang="en-US" sz="3600" dirty="0">
                <a:latin typeface="Consolas" panose="020B0609020204030204" pitchFamily="49" charset="0"/>
              </a:rPr>
              <a:t>    # inherits everything from Parent</a:t>
            </a:r>
          </a:p>
        </p:txBody>
      </p:sp>
    </p:spTree>
    <p:extLst>
      <p:ext uri="{BB962C8B-B14F-4D97-AF65-F5344CB8AC3E}">
        <p14:creationId xmlns:p14="http://schemas.microsoft.com/office/powerpoint/2010/main" val="1811371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02DD-1AAA-8DFE-E6EF-8772569A3A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9C309A-CE4A-6B3A-67CB-75DD4CF7741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328346D-9AD2-CD31-6F52-B5B3B91B66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3E808D7-CDF3-4DDE-EF5B-048155126C4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B1108B5-0A8D-B01F-1417-9D5CCD8BCC4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B9F4BF53-11F0-740D-BFBB-E7A937B4BC32}"/>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42CFEC0-D105-E149-7051-4C9C39DB2780}"/>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C1946C65-08D4-11FA-EB55-3E4BAB616DF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Inheritance</a:t>
            </a:r>
          </a:p>
        </p:txBody>
      </p:sp>
      <p:sp>
        <p:nvSpPr>
          <p:cNvPr id="10" name="AutoShape 8" descr="Grammarly Logo PNG Vector - BrandLogo">
            <a:extLst>
              <a:ext uri="{FF2B5EF4-FFF2-40B4-BE49-F238E27FC236}">
                <a16:creationId xmlns:a16="http://schemas.microsoft.com/office/drawing/2014/main" id="{06CE82AA-6C8A-C472-DF58-5CD4A90699D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F1FB5526-3249-D099-DB09-AF1D6227C563}"/>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8F14233F-1C85-69D5-6EC5-4F974556FAE8}"/>
              </a:ext>
            </a:extLst>
          </p:cNvPr>
          <p:cNvSpPr txBox="1"/>
          <p:nvPr/>
        </p:nvSpPr>
        <p:spPr>
          <a:xfrm>
            <a:off x="463773" y="2055128"/>
            <a:ext cx="16953563" cy="8063746"/>
          </a:xfrm>
          <a:prstGeom prst="rect">
            <a:avLst/>
          </a:prstGeom>
          <a:noFill/>
        </p:spPr>
        <p:txBody>
          <a:bodyPr wrap="square">
            <a:spAutoFit/>
          </a:bodyPr>
          <a:lstStyle/>
          <a:p>
            <a:pPr algn="just"/>
            <a:r>
              <a:rPr lang="en-US" sz="3600" b="1" dirty="0">
                <a:latin typeface="Consolas" panose="020B0609020204030204" pitchFamily="49" charset="0"/>
              </a:rPr>
              <a:t>Example:</a:t>
            </a:r>
          </a:p>
          <a:p>
            <a:pPr algn="just"/>
            <a:r>
              <a:rPr lang="en-US" sz="3600" dirty="0">
                <a:latin typeface="Consolas" panose="020B0609020204030204" pitchFamily="49" charset="0"/>
              </a:rPr>
              <a:t>class Animal:</a:t>
            </a:r>
          </a:p>
          <a:p>
            <a:pPr algn="just"/>
            <a:r>
              <a:rPr lang="en-US" sz="3600" dirty="0">
                <a:latin typeface="Consolas" panose="020B0609020204030204" pitchFamily="49" charset="0"/>
              </a:rPr>
              <a:t>    def __</a:t>
            </a:r>
            <a:r>
              <a:rPr lang="en-US" sz="3600" dirty="0" err="1">
                <a:latin typeface="Consolas" panose="020B0609020204030204" pitchFamily="49" charset="0"/>
              </a:rPr>
              <a:t>init</a:t>
            </a:r>
            <a:r>
              <a:rPr lang="en-US" sz="3600" dirty="0">
                <a:latin typeface="Consolas" panose="020B0609020204030204" pitchFamily="49" charset="0"/>
              </a:rPr>
              <a:t>__(self, name):</a:t>
            </a:r>
          </a:p>
          <a:p>
            <a:pPr algn="just"/>
            <a:r>
              <a:rPr lang="en-US" sz="3600" dirty="0">
                <a:latin typeface="Consolas" panose="020B0609020204030204" pitchFamily="49" charset="0"/>
              </a:rPr>
              <a:t>        self.name = name</a:t>
            </a:r>
          </a:p>
          <a:p>
            <a:pPr algn="just"/>
            <a:endParaRPr lang="en-US" sz="3600" dirty="0">
              <a:latin typeface="Consolas" panose="020B0609020204030204" pitchFamily="49" charset="0"/>
            </a:endParaRPr>
          </a:p>
          <a:p>
            <a:pPr algn="just"/>
            <a:r>
              <a:rPr lang="en-US" sz="3600" dirty="0">
                <a:latin typeface="Consolas" panose="020B0609020204030204" pitchFamily="49" charset="0"/>
              </a:rPr>
              <a:t>    def info(self):</a:t>
            </a:r>
          </a:p>
          <a:p>
            <a:pPr algn="just"/>
            <a:r>
              <a:rPr lang="en-US" sz="3600" dirty="0">
                <a:latin typeface="Consolas" panose="020B0609020204030204" pitchFamily="49" charset="0"/>
              </a:rPr>
              <a:t>        print("Animal name:", self.name)</a:t>
            </a:r>
          </a:p>
          <a:p>
            <a:pPr algn="just"/>
            <a:endParaRPr lang="en-US" sz="1400" dirty="0">
              <a:latin typeface="Consolas" panose="020B0609020204030204" pitchFamily="49" charset="0"/>
            </a:endParaRPr>
          </a:p>
          <a:p>
            <a:pPr algn="just"/>
            <a:r>
              <a:rPr lang="en-US" sz="3600" dirty="0">
                <a:latin typeface="Consolas" panose="020B0609020204030204" pitchFamily="49" charset="0"/>
              </a:rPr>
              <a:t>class Dog(Animal):</a:t>
            </a:r>
          </a:p>
          <a:p>
            <a:pPr algn="just"/>
            <a:r>
              <a:rPr lang="en-US" sz="3600" dirty="0">
                <a:latin typeface="Consolas" panose="020B0609020204030204" pitchFamily="49" charset="0"/>
              </a:rPr>
              <a:t>    def sound(self):</a:t>
            </a:r>
          </a:p>
          <a:p>
            <a:pPr algn="just"/>
            <a:r>
              <a:rPr lang="en-US" sz="3600" dirty="0">
                <a:latin typeface="Consolas" panose="020B0609020204030204" pitchFamily="49" charset="0"/>
              </a:rPr>
              <a:t>        print(self.name, "barks")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d = Dog("Buddy")</a:t>
            </a:r>
          </a:p>
          <a:p>
            <a:pPr algn="just"/>
            <a:r>
              <a:rPr lang="en-US" sz="3600" dirty="0">
                <a:latin typeface="Consolas" panose="020B0609020204030204" pitchFamily="49" charset="0"/>
              </a:rPr>
              <a:t>d.info()</a:t>
            </a:r>
          </a:p>
          <a:p>
            <a:pPr algn="just"/>
            <a:r>
              <a:rPr lang="en-US" sz="3600" dirty="0" err="1">
                <a:latin typeface="Consolas" panose="020B0609020204030204" pitchFamily="49" charset="0"/>
              </a:rPr>
              <a:t>d.sound</a:t>
            </a:r>
            <a:r>
              <a:rPr lang="en-US" sz="3600" dirty="0">
                <a:latin typeface="Consolas" panose="020B0609020204030204" pitchFamily="49" charset="0"/>
              </a:rPr>
              <a:t>()</a:t>
            </a:r>
          </a:p>
        </p:txBody>
      </p:sp>
    </p:spTree>
    <p:extLst>
      <p:ext uri="{BB962C8B-B14F-4D97-AF65-F5344CB8AC3E}">
        <p14:creationId xmlns:p14="http://schemas.microsoft.com/office/powerpoint/2010/main" val="1857281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E648-DAF5-E188-D0E1-50C0B60B115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A55DEC-1780-65D9-6429-12F62664B40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FA611DB-F940-78F0-2A85-0FE9923A4B9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62C940BF-C217-A508-5E86-1758AED33B0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DB00844-F58C-4827-1A57-D54B31E9486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83D2815-C80A-FBE2-D5C8-60ECC08D2B7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1CDDB54-4E1B-4ABE-E62D-9E4FB9A59430}"/>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F85A62B-8039-A3EF-C7D8-80806DD97BC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Inheritance</a:t>
            </a:r>
          </a:p>
        </p:txBody>
      </p:sp>
      <p:sp>
        <p:nvSpPr>
          <p:cNvPr id="10" name="AutoShape 8" descr="Grammarly Logo PNG Vector - BrandLogo">
            <a:extLst>
              <a:ext uri="{FF2B5EF4-FFF2-40B4-BE49-F238E27FC236}">
                <a16:creationId xmlns:a16="http://schemas.microsoft.com/office/drawing/2014/main" id="{5FA1D1CC-ECB1-6F0B-499C-E9080E86E53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133CBC05-96A1-865E-57FC-3EE5440C5A2C}"/>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79AF02A1-4AFE-8F6E-7E3C-1B6B9754B443}"/>
              </a:ext>
            </a:extLst>
          </p:cNvPr>
          <p:cNvSpPr txBox="1"/>
          <p:nvPr/>
        </p:nvSpPr>
        <p:spPr>
          <a:xfrm>
            <a:off x="463773" y="2055128"/>
            <a:ext cx="16953563" cy="7017306"/>
          </a:xfrm>
          <a:prstGeom prst="rect">
            <a:avLst/>
          </a:prstGeom>
          <a:noFill/>
        </p:spPr>
        <p:txBody>
          <a:bodyPr wrap="square">
            <a:spAutoFit/>
          </a:bodyPr>
          <a:lstStyle/>
          <a:p>
            <a:pPr algn="just"/>
            <a:r>
              <a:rPr lang="en-US" sz="3200" b="1" dirty="0">
                <a:latin typeface="Consolas" panose="020B0609020204030204" pitchFamily="49" charset="0"/>
              </a:rPr>
              <a:t>super() function </a:t>
            </a:r>
            <a:r>
              <a:rPr lang="en-US" sz="3200" dirty="0">
                <a:latin typeface="Consolas" panose="020B0609020204030204" pitchFamily="49" charset="0"/>
              </a:rPr>
              <a:t>- is used to call the parent class’s methods. It is commonly used in the child class’s __</a:t>
            </a:r>
            <a:r>
              <a:rPr lang="en-US" sz="3200" dirty="0" err="1">
                <a:latin typeface="Consolas" panose="020B0609020204030204" pitchFamily="49" charset="0"/>
              </a:rPr>
              <a:t>init</a:t>
            </a:r>
            <a:r>
              <a:rPr lang="en-US" sz="3200" dirty="0">
                <a:latin typeface="Consolas" panose="020B0609020204030204" pitchFamily="49" charset="0"/>
              </a:rPr>
              <a:t>__() method to initialize inherited attributes. This way, the child class can leverage the functionality of the parent class. </a:t>
            </a:r>
          </a:p>
          <a:p>
            <a:pPr algn="just"/>
            <a:endParaRPr lang="en-US" dirty="0">
              <a:latin typeface="Consolas" panose="020B0609020204030204" pitchFamily="49" charset="0"/>
            </a:endParaRPr>
          </a:p>
          <a:p>
            <a:pPr algn="just"/>
            <a:r>
              <a:rPr lang="en-US" sz="3200" b="1" dirty="0">
                <a:latin typeface="Consolas" panose="020B0609020204030204" pitchFamily="49" charset="0"/>
              </a:rPr>
              <a:t>Example:</a:t>
            </a:r>
          </a:p>
          <a:p>
            <a:pPr algn="just"/>
            <a:r>
              <a:rPr lang="en-US" sz="3200" dirty="0">
                <a:latin typeface="Consolas" panose="020B0609020204030204" pitchFamily="49" charset="0"/>
              </a:rPr>
              <a:t>class Dog(Animal):</a:t>
            </a:r>
          </a:p>
          <a:p>
            <a:pPr algn="just"/>
            <a:r>
              <a:rPr lang="en-US" sz="3200" dirty="0">
                <a:latin typeface="Consolas" panose="020B0609020204030204" pitchFamily="49" charset="0"/>
              </a:rPr>
              <a:t>    def __</a:t>
            </a:r>
            <a:r>
              <a:rPr lang="en-US" sz="3200" dirty="0" err="1">
                <a:latin typeface="Consolas" panose="020B0609020204030204" pitchFamily="49" charset="0"/>
              </a:rPr>
              <a:t>init</a:t>
            </a:r>
            <a:r>
              <a:rPr lang="en-US" sz="3200" dirty="0">
                <a:latin typeface="Consolas" panose="020B0609020204030204" pitchFamily="49" charset="0"/>
              </a:rPr>
              <a:t>__(self, name, breed):</a:t>
            </a:r>
          </a:p>
          <a:p>
            <a:pPr algn="just"/>
            <a:r>
              <a:rPr lang="en-US" sz="3200" dirty="0">
                <a:latin typeface="Consolas" panose="020B0609020204030204" pitchFamily="49" charset="0"/>
              </a:rPr>
              <a:t>        super().__</a:t>
            </a:r>
            <a:r>
              <a:rPr lang="en-US" sz="3200" dirty="0" err="1">
                <a:latin typeface="Consolas" panose="020B0609020204030204" pitchFamily="49" charset="0"/>
              </a:rPr>
              <a:t>init</a:t>
            </a:r>
            <a:r>
              <a:rPr lang="en-US" sz="3200" dirty="0">
                <a:latin typeface="Consolas" panose="020B0609020204030204" pitchFamily="49" charset="0"/>
              </a:rPr>
              <a:t>__(name, breed)</a:t>
            </a:r>
            <a:endParaRPr lang="en-US" sz="1200" dirty="0">
              <a:latin typeface="Consolas" panose="020B0609020204030204" pitchFamily="49" charset="0"/>
            </a:endParaRPr>
          </a:p>
          <a:p>
            <a:pPr algn="just"/>
            <a:r>
              <a:rPr lang="en-US" sz="3200" dirty="0">
                <a:latin typeface="Consolas" panose="020B0609020204030204" pitchFamily="49" charset="0"/>
              </a:rPr>
              <a:t>    def details(self):</a:t>
            </a:r>
          </a:p>
          <a:p>
            <a:pPr algn="just"/>
            <a:r>
              <a:rPr lang="en-US" sz="3200" dirty="0">
                <a:latin typeface="Consolas" panose="020B0609020204030204" pitchFamily="49" charset="0"/>
              </a:rPr>
              <a:t>        print(self.name, "is a", </a:t>
            </a:r>
            <a:r>
              <a:rPr lang="en-US" sz="3200" dirty="0" err="1">
                <a:latin typeface="Consolas" panose="020B0609020204030204" pitchFamily="49" charset="0"/>
              </a:rPr>
              <a:t>self.breed</a:t>
            </a:r>
            <a:r>
              <a:rPr lang="en-US" sz="3200" dirty="0">
                <a:latin typeface="Consolas" panose="020B0609020204030204" pitchFamily="49" charset="0"/>
              </a:rPr>
              <a:t>)</a:t>
            </a:r>
          </a:p>
          <a:p>
            <a:pPr algn="just"/>
            <a:endParaRPr lang="en-US" sz="1600" dirty="0">
              <a:latin typeface="Consolas" panose="020B0609020204030204" pitchFamily="49" charset="0"/>
            </a:endParaRPr>
          </a:p>
          <a:p>
            <a:pPr algn="just"/>
            <a:r>
              <a:rPr lang="en-US" sz="3200" dirty="0">
                <a:latin typeface="Consolas" panose="020B0609020204030204" pitchFamily="49" charset="0"/>
              </a:rPr>
              <a:t>d = Dog("Buddy", "Golden Retriever")</a:t>
            </a:r>
          </a:p>
          <a:p>
            <a:pPr algn="just"/>
            <a:r>
              <a:rPr lang="en-US" sz="3200" dirty="0">
                <a:latin typeface="Consolas" panose="020B0609020204030204" pitchFamily="49" charset="0"/>
              </a:rPr>
              <a:t>d.info()      # Parent method</a:t>
            </a:r>
          </a:p>
          <a:p>
            <a:pPr algn="just"/>
            <a:r>
              <a:rPr lang="en-US" sz="3200" dirty="0" err="1">
                <a:latin typeface="Consolas" panose="020B0609020204030204" pitchFamily="49" charset="0"/>
              </a:rPr>
              <a:t>d.details</a:t>
            </a:r>
            <a:r>
              <a:rPr lang="en-US" sz="3200" dirty="0">
                <a:latin typeface="Consolas" panose="020B0609020204030204" pitchFamily="49" charset="0"/>
              </a:rPr>
              <a:t>()</a:t>
            </a:r>
          </a:p>
        </p:txBody>
      </p:sp>
    </p:spTree>
    <p:extLst>
      <p:ext uri="{BB962C8B-B14F-4D97-AF65-F5344CB8AC3E}">
        <p14:creationId xmlns:p14="http://schemas.microsoft.com/office/powerpoint/2010/main" val="2829692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2520-43B0-A817-126F-370E0A31E1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6AFDFC-5115-1E45-4C84-A4D9E3D2058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5AAC8EB-828F-D4AB-FFBB-C9AFD183DE1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D027580-AB2E-6847-9150-E353C6A9262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16E9EB4E-59E6-975A-B854-9CE1BBB0610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9667000-5ED1-7D7B-C71A-CBDB1E18212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21089FF-A4E6-A58F-4EC1-78ED24735A8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6A2D1DAA-14E0-7664-2417-FA3FDBE8896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Inheritance -&gt; Types</a:t>
            </a:r>
          </a:p>
        </p:txBody>
      </p:sp>
      <p:sp>
        <p:nvSpPr>
          <p:cNvPr id="10" name="AutoShape 8" descr="Grammarly Logo PNG Vector - BrandLogo">
            <a:extLst>
              <a:ext uri="{FF2B5EF4-FFF2-40B4-BE49-F238E27FC236}">
                <a16:creationId xmlns:a16="http://schemas.microsoft.com/office/drawing/2014/main" id="{66D1A990-6713-5041-88A8-002F4DCC3EE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609AAB50-9EDF-9136-B908-072E8021F8C8}"/>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5CB9BCBB-022C-7462-0DC0-227690B1299C}"/>
              </a:ext>
            </a:extLst>
          </p:cNvPr>
          <p:cNvSpPr txBox="1"/>
          <p:nvPr/>
        </p:nvSpPr>
        <p:spPr>
          <a:xfrm>
            <a:off x="463773" y="2055128"/>
            <a:ext cx="16953563" cy="8002191"/>
          </a:xfrm>
          <a:prstGeom prst="rect">
            <a:avLst/>
          </a:prstGeom>
          <a:noFill/>
        </p:spPr>
        <p:txBody>
          <a:bodyPr wrap="square">
            <a:spAutoFit/>
          </a:bodyPr>
          <a:lstStyle/>
          <a:p>
            <a:pPr algn="just"/>
            <a:r>
              <a:rPr lang="en-US" sz="3500" b="1" dirty="0">
                <a:latin typeface="Consolas" panose="020B0609020204030204" pitchFamily="49" charset="0"/>
              </a:rPr>
              <a:t>1. Single Inheritance </a:t>
            </a:r>
            <a:r>
              <a:rPr lang="en-US" sz="3500" dirty="0">
                <a:latin typeface="Consolas" panose="020B0609020204030204" pitchFamily="49" charset="0"/>
              </a:rPr>
              <a:t>- a child class inherits from just one parent class. </a:t>
            </a:r>
          </a:p>
          <a:p>
            <a:pPr algn="just"/>
            <a:r>
              <a:rPr lang="en-US" sz="3500" b="1" dirty="0">
                <a:latin typeface="Consolas" panose="020B0609020204030204" pitchFamily="49" charset="0"/>
              </a:rPr>
              <a:t>Example: </a:t>
            </a:r>
            <a:r>
              <a:rPr lang="en-US" sz="3500" dirty="0">
                <a:latin typeface="Consolas" panose="020B0609020204030204" pitchFamily="49" charset="0"/>
              </a:rPr>
              <a:t>This example shows a child class Employee inheriting a property from the parent class Person.</a:t>
            </a:r>
          </a:p>
          <a:p>
            <a:pPr algn="just"/>
            <a:endParaRPr lang="en-US" sz="1600" dirty="0">
              <a:latin typeface="Consolas" panose="020B0609020204030204" pitchFamily="49" charset="0"/>
            </a:endParaRPr>
          </a:p>
          <a:p>
            <a:pPr algn="just"/>
            <a:r>
              <a:rPr lang="en-US" sz="3600" dirty="0">
                <a:latin typeface="Consolas" panose="020B0609020204030204" pitchFamily="49" charset="0"/>
              </a:rPr>
              <a:t>class Person:</a:t>
            </a:r>
          </a:p>
          <a:p>
            <a:pPr algn="just"/>
            <a:r>
              <a:rPr lang="en-US" sz="3600" dirty="0">
                <a:latin typeface="Consolas" panose="020B0609020204030204" pitchFamily="49" charset="0"/>
              </a:rPr>
              <a:t>    def __</a:t>
            </a:r>
            <a:r>
              <a:rPr lang="en-US" sz="3600" dirty="0" err="1">
                <a:latin typeface="Consolas" panose="020B0609020204030204" pitchFamily="49" charset="0"/>
              </a:rPr>
              <a:t>init</a:t>
            </a:r>
            <a:r>
              <a:rPr lang="en-US" sz="3600" dirty="0">
                <a:latin typeface="Consolas" panose="020B0609020204030204" pitchFamily="49" charset="0"/>
              </a:rPr>
              <a:t>__(self, name):</a:t>
            </a:r>
          </a:p>
          <a:p>
            <a:pPr algn="just"/>
            <a:r>
              <a:rPr lang="en-US" sz="3600" dirty="0">
                <a:latin typeface="Consolas" panose="020B0609020204030204" pitchFamily="49" charset="0"/>
              </a:rPr>
              <a:t>        self.name = name</a:t>
            </a:r>
          </a:p>
          <a:p>
            <a:pPr algn="just"/>
            <a:endParaRPr lang="en-US" dirty="0">
              <a:latin typeface="Consolas" panose="020B0609020204030204" pitchFamily="49" charset="0"/>
            </a:endParaRPr>
          </a:p>
          <a:p>
            <a:pPr algn="just"/>
            <a:r>
              <a:rPr lang="en-US" sz="3600" dirty="0">
                <a:latin typeface="Consolas" panose="020B0609020204030204" pitchFamily="49" charset="0"/>
              </a:rPr>
              <a:t>class Employee(Person):  # Employee inherits from Person</a:t>
            </a:r>
          </a:p>
          <a:p>
            <a:pPr algn="just"/>
            <a:r>
              <a:rPr lang="en-US" sz="3600" dirty="0">
                <a:latin typeface="Consolas" panose="020B0609020204030204" pitchFamily="49" charset="0"/>
              </a:rPr>
              <a:t>    def </a:t>
            </a:r>
            <a:r>
              <a:rPr lang="en-US" sz="3600" dirty="0" err="1">
                <a:latin typeface="Consolas" panose="020B0609020204030204" pitchFamily="49" charset="0"/>
              </a:rPr>
              <a:t>show_role</a:t>
            </a:r>
            <a:r>
              <a:rPr lang="en-US" sz="3600" dirty="0">
                <a:latin typeface="Consolas" panose="020B0609020204030204" pitchFamily="49" charset="0"/>
              </a:rPr>
              <a:t>(self):</a:t>
            </a:r>
          </a:p>
          <a:p>
            <a:pPr algn="just"/>
            <a:r>
              <a:rPr lang="en-US" sz="3600" dirty="0">
                <a:latin typeface="Consolas" panose="020B0609020204030204" pitchFamily="49" charset="0"/>
              </a:rPr>
              <a:t>        print(self.name, "is an employee")</a:t>
            </a:r>
          </a:p>
          <a:p>
            <a:pPr algn="just"/>
            <a:endParaRPr lang="en-US" sz="1600" dirty="0">
              <a:latin typeface="Consolas" panose="020B0609020204030204" pitchFamily="49" charset="0"/>
            </a:endParaRPr>
          </a:p>
          <a:p>
            <a:pPr algn="just"/>
            <a:r>
              <a:rPr lang="en-US" sz="3600" dirty="0">
                <a:latin typeface="Consolas" panose="020B0609020204030204" pitchFamily="49" charset="0"/>
              </a:rPr>
              <a:t>emp = Employee("Sarah")</a:t>
            </a:r>
          </a:p>
          <a:p>
            <a:pPr algn="just"/>
            <a:r>
              <a:rPr lang="en-US" sz="3600" dirty="0">
                <a:latin typeface="Consolas" panose="020B0609020204030204" pitchFamily="49" charset="0"/>
              </a:rPr>
              <a:t>print("Name:", emp.name)</a:t>
            </a:r>
          </a:p>
          <a:p>
            <a:pPr algn="just"/>
            <a:r>
              <a:rPr lang="en-US" sz="3600" dirty="0" err="1">
                <a:latin typeface="Consolas" panose="020B0609020204030204" pitchFamily="49" charset="0"/>
              </a:rPr>
              <a:t>emp.show_role</a:t>
            </a:r>
            <a:r>
              <a:rPr lang="en-US" sz="3600" dirty="0">
                <a:latin typeface="Consolas" panose="020B0609020204030204" pitchFamily="49" charset="0"/>
              </a:rPr>
              <a:t>()</a:t>
            </a:r>
          </a:p>
        </p:txBody>
      </p:sp>
    </p:spTree>
    <p:extLst>
      <p:ext uri="{BB962C8B-B14F-4D97-AF65-F5344CB8AC3E}">
        <p14:creationId xmlns:p14="http://schemas.microsoft.com/office/powerpoint/2010/main" val="3432734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FF80-63EF-ADE4-6DF6-3513D08B57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E0B336-532B-7931-7F88-42A0820EFA6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C01C113-D7C8-2F8D-CEE6-FCAEC887255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507B97D-0979-84A9-6F6C-4DCE16C85BC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DAB7194-29C4-FFB0-5F68-5B4D3166A35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F259B7FA-5F61-CC42-5CFD-92B89F2D9EF6}"/>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3FDB452-B106-1C9A-8579-D342957C8C8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D38B466D-4887-3EEF-6997-4F44F0A3FFC7}"/>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Inheritance -&gt; Types</a:t>
            </a:r>
          </a:p>
        </p:txBody>
      </p:sp>
      <p:sp>
        <p:nvSpPr>
          <p:cNvPr id="10" name="AutoShape 8" descr="Grammarly Logo PNG Vector - BrandLogo">
            <a:extLst>
              <a:ext uri="{FF2B5EF4-FFF2-40B4-BE49-F238E27FC236}">
                <a16:creationId xmlns:a16="http://schemas.microsoft.com/office/drawing/2014/main" id="{FA083EBF-8918-A982-8380-8400E42B632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48602D39-EF6D-9068-3F92-E8CB9458C355}"/>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2DBF0CFF-B001-FC07-E9BC-F82C5B0E5624}"/>
              </a:ext>
            </a:extLst>
          </p:cNvPr>
          <p:cNvSpPr txBox="1"/>
          <p:nvPr/>
        </p:nvSpPr>
        <p:spPr>
          <a:xfrm>
            <a:off x="463773" y="2055128"/>
            <a:ext cx="16953563" cy="7786747"/>
          </a:xfrm>
          <a:prstGeom prst="rect">
            <a:avLst/>
          </a:prstGeom>
          <a:noFill/>
        </p:spPr>
        <p:txBody>
          <a:bodyPr wrap="square">
            <a:spAutoFit/>
          </a:bodyPr>
          <a:lstStyle/>
          <a:p>
            <a:pPr algn="just"/>
            <a:r>
              <a:rPr lang="en-US" sz="3200" b="1" dirty="0">
                <a:latin typeface="Consolas" panose="020B0609020204030204" pitchFamily="49" charset="0"/>
              </a:rPr>
              <a:t>2. Double Inheritance </a:t>
            </a:r>
            <a:r>
              <a:rPr lang="en-US" sz="3200" dirty="0">
                <a:latin typeface="Consolas" panose="020B0609020204030204" pitchFamily="49" charset="0"/>
              </a:rPr>
              <a:t>- a child class can inherit from more than one parent class.</a:t>
            </a:r>
          </a:p>
          <a:p>
            <a:pPr algn="just"/>
            <a:r>
              <a:rPr lang="en-US" sz="3200" b="1" dirty="0">
                <a:latin typeface="Consolas" panose="020B0609020204030204" pitchFamily="49" charset="0"/>
              </a:rPr>
              <a:t>Example: </a:t>
            </a:r>
            <a:r>
              <a:rPr lang="en-US" sz="3200" dirty="0">
                <a:latin typeface="Consolas" panose="020B0609020204030204" pitchFamily="49" charset="0"/>
              </a:rPr>
              <a:t>This example demonstrates Employee inheriting properties from two parent classes: Person and Job.</a:t>
            </a:r>
            <a:endParaRPr lang="en-US" sz="1400" dirty="0">
              <a:latin typeface="Consolas" panose="020B0609020204030204" pitchFamily="49" charset="0"/>
            </a:endParaRPr>
          </a:p>
          <a:p>
            <a:pPr algn="just"/>
            <a:r>
              <a:rPr lang="en-US" sz="2800" dirty="0">
                <a:latin typeface="Consolas" panose="020B0609020204030204" pitchFamily="49" charset="0"/>
              </a:rPr>
              <a:t>class Person:</a:t>
            </a:r>
          </a:p>
          <a:p>
            <a:pPr algn="just"/>
            <a:r>
              <a:rPr lang="en-US" sz="2800" dirty="0">
                <a:latin typeface="Consolas" panose="020B0609020204030204" pitchFamily="49" charset="0"/>
              </a:rPr>
              <a:t>    def __</a:t>
            </a:r>
            <a:r>
              <a:rPr lang="en-US" sz="2800" dirty="0" err="1">
                <a:latin typeface="Consolas" panose="020B0609020204030204" pitchFamily="49" charset="0"/>
              </a:rPr>
              <a:t>init</a:t>
            </a:r>
            <a:r>
              <a:rPr lang="en-US" sz="2800" dirty="0">
                <a:latin typeface="Consolas" panose="020B0609020204030204" pitchFamily="49" charset="0"/>
              </a:rPr>
              <a:t>__(self, name):</a:t>
            </a:r>
          </a:p>
          <a:p>
            <a:pPr algn="just"/>
            <a:r>
              <a:rPr lang="en-US" sz="2800" dirty="0">
                <a:latin typeface="Consolas" panose="020B0609020204030204" pitchFamily="49" charset="0"/>
              </a:rPr>
              <a:t>        self.name = name</a:t>
            </a:r>
          </a:p>
          <a:p>
            <a:pPr algn="just"/>
            <a:endParaRPr lang="en-US" sz="1200" dirty="0">
              <a:latin typeface="Consolas" panose="020B0609020204030204" pitchFamily="49" charset="0"/>
            </a:endParaRPr>
          </a:p>
          <a:p>
            <a:pPr algn="just"/>
            <a:r>
              <a:rPr lang="en-US" sz="2800" dirty="0">
                <a:latin typeface="Consolas" panose="020B0609020204030204" pitchFamily="49" charset="0"/>
              </a:rPr>
              <a:t>class Job:</a:t>
            </a:r>
          </a:p>
          <a:p>
            <a:pPr algn="just"/>
            <a:r>
              <a:rPr lang="en-US" sz="2800" dirty="0">
                <a:latin typeface="Consolas" panose="020B0609020204030204" pitchFamily="49" charset="0"/>
              </a:rPr>
              <a:t>    def __</a:t>
            </a:r>
            <a:r>
              <a:rPr lang="en-US" sz="2800" dirty="0" err="1">
                <a:latin typeface="Consolas" panose="020B0609020204030204" pitchFamily="49" charset="0"/>
              </a:rPr>
              <a:t>init</a:t>
            </a:r>
            <a:r>
              <a:rPr lang="en-US" sz="2800" dirty="0">
                <a:latin typeface="Consolas" panose="020B0609020204030204" pitchFamily="49" charset="0"/>
              </a:rPr>
              <a:t>__(self, salary):</a:t>
            </a:r>
          </a:p>
          <a:p>
            <a:pPr algn="just"/>
            <a:r>
              <a:rPr lang="en-US" sz="2800" dirty="0">
                <a:latin typeface="Consolas" panose="020B0609020204030204" pitchFamily="49" charset="0"/>
              </a:rPr>
              <a:t>        </a:t>
            </a:r>
            <a:r>
              <a:rPr lang="en-US" sz="2800" dirty="0" err="1">
                <a:latin typeface="Consolas" panose="020B0609020204030204" pitchFamily="49" charset="0"/>
              </a:rPr>
              <a:t>self.salary</a:t>
            </a:r>
            <a:r>
              <a:rPr lang="en-US" sz="2800" dirty="0">
                <a:latin typeface="Consolas" panose="020B0609020204030204" pitchFamily="49" charset="0"/>
              </a:rPr>
              <a:t> = salary</a:t>
            </a:r>
          </a:p>
          <a:p>
            <a:pPr algn="just"/>
            <a:endParaRPr lang="en-US" sz="1200" dirty="0">
              <a:latin typeface="Consolas" panose="020B0609020204030204" pitchFamily="49" charset="0"/>
            </a:endParaRPr>
          </a:p>
          <a:p>
            <a:pPr algn="just"/>
            <a:r>
              <a:rPr lang="en-US" sz="2800" dirty="0">
                <a:latin typeface="Consolas" panose="020B0609020204030204" pitchFamily="49" charset="0"/>
              </a:rPr>
              <a:t>class Employee(Person, Job):</a:t>
            </a:r>
          </a:p>
          <a:p>
            <a:pPr algn="just"/>
            <a:r>
              <a:rPr lang="en-US" sz="2800" dirty="0">
                <a:latin typeface="Consolas" panose="020B0609020204030204" pitchFamily="49" charset="0"/>
              </a:rPr>
              <a:t>    def __</a:t>
            </a:r>
            <a:r>
              <a:rPr lang="en-US" sz="2800" dirty="0" err="1">
                <a:latin typeface="Consolas" panose="020B0609020204030204" pitchFamily="49" charset="0"/>
              </a:rPr>
              <a:t>init</a:t>
            </a:r>
            <a:r>
              <a:rPr lang="en-US" sz="2800" dirty="0">
                <a:latin typeface="Consolas" panose="020B0609020204030204" pitchFamily="49" charset="0"/>
              </a:rPr>
              <a:t>__(self, name, salary):</a:t>
            </a:r>
          </a:p>
          <a:p>
            <a:pPr algn="just"/>
            <a:r>
              <a:rPr lang="en-US" sz="2800" dirty="0">
                <a:latin typeface="Consolas" panose="020B0609020204030204" pitchFamily="49" charset="0"/>
              </a:rPr>
              <a:t>        Person.__</a:t>
            </a:r>
            <a:r>
              <a:rPr lang="en-US" sz="2800" dirty="0" err="1">
                <a:latin typeface="Consolas" panose="020B0609020204030204" pitchFamily="49" charset="0"/>
              </a:rPr>
              <a:t>init</a:t>
            </a:r>
            <a:r>
              <a:rPr lang="en-US" sz="2800" dirty="0">
                <a:latin typeface="Consolas" panose="020B0609020204030204" pitchFamily="49" charset="0"/>
              </a:rPr>
              <a:t>__(self, name)</a:t>
            </a:r>
          </a:p>
          <a:p>
            <a:pPr algn="just"/>
            <a:r>
              <a:rPr lang="en-US" sz="2800" dirty="0">
                <a:latin typeface="Consolas" panose="020B0609020204030204" pitchFamily="49" charset="0"/>
              </a:rPr>
              <a:t>        Job.__</a:t>
            </a:r>
            <a:r>
              <a:rPr lang="en-US" sz="2800" dirty="0" err="1">
                <a:latin typeface="Consolas" panose="020B0609020204030204" pitchFamily="49" charset="0"/>
              </a:rPr>
              <a:t>init</a:t>
            </a:r>
            <a:r>
              <a:rPr lang="en-US" sz="2800" dirty="0">
                <a:latin typeface="Consolas" panose="020B0609020204030204" pitchFamily="49" charset="0"/>
              </a:rPr>
              <a:t>__(self, salary)</a:t>
            </a:r>
          </a:p>
          <a:p>
            <a:pPr algn="just"/>
            <a:endParaRPr lang="en-US" sz="1200" dirty="0">
              <a:latin typeface="Consolas" panose="020B0609020204030204" pitchFamily="49" charset="0"/>
            </a:endParaRPr>
          </a:p>
          <a:p>
            <a:pPr algn="just"/>
            <a:r>
              <a:rPr lang="en-US" sz="2800" dirty="0">
                <a:latin typeface="Consolas" panose="020B0609020204030204" pitchFamily="49" charset="0"/>
              </a:rPr>
              <a:t>    def details(self):</a:t>
            </a:r>
          </a:p>
          <a:p>
            <a:pPr algn="just"/>
            <a:r>
              <a:rPr lang="en-US" sz="2800" dirty="0">
                <a:latin typeface="Consolas" panose="020B0609020204030204" pitchFamily="49" charset="0"/>
              </a:rPr>
              <a:t>        print(self.name, "earns", </a:t>
            </a:r>
            <a:r>
              <a:rPr lang="en-US" sz="2800" dirty="0" err="1">
                <a:latin typeface="Consolas" panose="020B0609020204030204" pitchFamily="49" charset="0"/>
              </a:rPr>
              <a:t>self.salary</a:t>
            </a:r>
            <a:r>
              <a:rPr lang="en-US" sz="2800" dirty="0">
                <a:latin typeface="Consolas" panose="020B0609020204030204" pitchFamily="49" charset="0"/>
              </a:rPr>
              <a:t>)</a:t>
            </a:r>
          </a:p>
        </p:txBody>
      </p:sp>
      <p:sp>
        <p:nvSpPr>
          <p:cNvPr id="6" name="TextBox 5">
            <a:extLst>
              <a:ext uri="{FF2B5EF4-FFF2-40B4-BE49-F238E27FC236}">
                <a16:creationId xmlns:a16="http://schemas.microsoft.com/office/drawing/2014/main" id="{B1E503EF-2F82-C06D-3FC8-32504CD0500C}"/>
              </a:ext>
            </a:extLst>
          </p:cNvPr>
          <p:cNvSpPr txBox="1"/>
          <p:nvPr/>
        </p:nvSpPr>
        <p:spPr>
          <a:xfrm>
            <a:off x="9982200" y="4258978"/>
            <a:ext cx="9053918" cy="1077218"/>
          </a:xfrm>
          <a:prstGeom prst="rect">
            <a:avLst/>
          </a:prstGeom>
          <a:noFill/>
        </p:spPr>
        <p:txBody>
          <a:bodyPr wrap="square">
            <a:spAutoFit/>
          </a:bodyPr>
          <a:lstStyle/>
          <a:p>
            <a:pPr algn="just"/>
            <a:r>
              <a:rPr lang="en-US" sz="3200" dirty="0">
                <a:latin typeface="Consolas" panose="020B0609020204030204" pitchFamily="49" charset="0"/>
              </a:rPr>
              <a:t>emp = Employee("Jennifer", 50000)</a:t>
            </a:r>
          </a:p>
          <a:p>
            <a:pPr algn="just"/>
            <a:r>
              <a:rPr lang="en-US" sz="3200" dirty="0" err="1">
                <a:latin typeface="Consolas" panose="020B0609020204030204" pitchFamily="49" charset="0"/>
              </a:rPr>
              <a:t>emp.details</a:t>
            </a:r>
            <a:r>
              <a:rPr lang="en-US" sz="3200" dirty="0">
                <a:latin typeface="Consolas" panose="020B0609020204030204" pitchFamily="49" charset="0"/>
              </a:rPr>
              <a:t>()</a:t>
            </a:r>
            <a:endParaRPr lang="en-US" sz="2800" dirty="0">
              <a:latin typeface="Consolas" panose="020B0609020204030204" pitchFamily="49" charset="0"/>
            </a:endParaRPr>
          </a:p>
        </p:txBody>
      </p:sp>
    </p:spTree>
    <p:extLst>
      <p:ext uri="{BB962C8B-B14F-4D97-AF65-F5344CB8AC3E}">
        <p14:creationId xmlns:p14="http://schemas.microsoft.com/office/powerpoint/2010/main" val="296258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8390-8456-51A3-2581-092912F6E3B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77435D-D68F-B6CC-6094-CA506F03DB5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8E517EF-0CC3-7310-DBA9-CC8B5DD2551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61FD2D6-2E8C-0AC2-9CEF-36A2C161832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A2DA1BD-5964-A393-EC91-5BDCAA07B77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B1B54D57-A853-4337-5839-5973A70C1C6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11CAE3B-066C-BFEC-ABBD-9CF012960003}"/>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B1F457CF-6059-7ED4-8EE5-122ECCC81E1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a:t>
            </a:r>
          </a:p>
        </p:txBody>
      </p:sp>
      <p:sp>
        <p:nvSpPr>
          <p:cNvPr id="10" name="AutoShape 8" descr="Grammarly Logo PNG Vector - BrandLogo">
            <a:extLst>
              <a:ext uri="{FF2B5EF4-FFF2-40B4-BE49-F238E27FC236}">
                <a16:creationId xmlns:a16="http://schemas.microsoft.com/office/drawing/2014/main" id="{FD6A59B9-AD22-8798-294F-4620827E311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8A42B122-F721-0254-73EA-EC4BD8506E73}"/>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C8413377-072D-441C-C32A-EA5B4E86DF7A}"/>
              </a:ext>
            </a:extLst>
          </p:cNvPr>
          <p:cNvSpPr txBox="1"/>
          <p:nvPr/>
        </p:nvSpPr>
        <p:spPr>
          <a:xfrm>
            <a:off x="463773" y="2055128"/>
            <a:ext cx="16953563" cy="7294305"/>
          </a:xfrm>
          <a:prstGeom prst="rect">
            <a:avLst/>
          </a:prstGeom>
          <a:noFill/>
        </p:spPr>
        <p:txBody>
          <a:bodyPr wrap="square">
            <a:spAutoFit/>
          </a:bodyPr>
          <a:lstStyle/>
          <a:p>
            <a:r>
              <a:rPr lang="en-US" sz="3600" b="1" dirty="0">
                <a:latin typeface="Consolas" panose="020B0609020204030204" pitchFamily="49" charset="0"/>
              </a:rPr>
              <a:t>Parent Classes: </a:t>
            </a:r>
            <a:r>
              <a:rPr lang="en-US" sz="3600" dirty="0">
                <a:latin typeface="Consolas" panose="020B0609020204030204" pitchFamily="49" charset="0"/>
              </a:rPr>
              <a:t>Member, </a:t>
            </a:r>
            <a:r>
              <a:rPr lang="en-US" sz="3600" dirty="0" err="1">
                <a:latin typeface="Consolas" panose="020B0609020204030204" pitchFamily="49" charset="0"/>
              </a:rPr>
              <a:t>BooK</a:t>
            </a:r>
            <a:endParaRPr lang="en-US" sz="3600" b="1" dirty="0">
              <a:latin typeface="Consolas" panose="020B0609020204030204" pitchFamily="49" charset="0"/>
            </a:endParaRPr>
          </a:p>
          <a:p>
            <a:r>
              <a:rPr lang="en-US" sz="3600" b="1" dirty="0">
                <a:latin typeface="Consolas" panose="020B0609020204030204" pitchFamily="49" charset="0"/>
              </a:rPr>
              <a:t>Scenario:</a:t>
            </a:r>
            <a:br>
              <a:rPr lang="en-US" sz="3600" dirty="0">
                <a:latin typeface="Consolas" panose="020B0609020204030204" pitchFamily="49" charset="0"/>
              </a:rPr>
            </a:br>
            <a:r>
              <a:rPr lang="en-US" sz="3600" dirty="0">
                <a:latin typeface="Consolas" panose="020B0609020204030204" pitchFamily="49" charset="0"/>
              </a:rPr>
              <a:t>Your library has two types of members:</a:t>
            </a:r>
          </a:p>
          <a:p>
            <a:pPr marL="1028700" lvl="1" indent="-571500">
              <a:buFont typeface="Wingdings" panose="05000000000000000000" pitchFamily="2" charset="2"/>
              <a:buChar char="ü"/>
            </a:pPr>
            <a:r>
              <a:rPr lang="en-US" sz="3600" dirty="0" err="1">
                <a:latin typeface="Consolas" panose="020B0609020204030204" pitchFamily="49" charset="0"/>
              </a:rPr>
              <a:t>RegularMember</a:t>
            </a:r>
            <a:r>
              <a:rPr lang="en-US" sz="3600" dirty="0">
                <a:latin typeface="Consolas" panose="020B0609020204030204" pitchFamily="49" charset="0"/>
              </a:rPr>
              <a:t> – can borrow up to 2 books at a time.</a:t>
            </a:r>
          </a:p>
          <a:p>
            <a:pPr marL="1028700" lvl="1" indent="-571500">
              <a:buFont typeface="Wingdings" panose="05000000000000000000" pitchFamily="2" charset="2"/>
              <a:buChar char="ü"/>
            </a:pPr>
            <a:r>
              <a:rPr lang="en-US" sz="3600" dirty="0" err="1">
                <a:latin typeface="Consolas" panose="020B0609020204030204" pitchFamily="49" charset="0"/>
              </a:rPr>
              <a:t>PremiumMember</a:t>
            </a:r>
            <a:r>
              <a:rPr lang="en-US" sz="3600" dirty="0">
                <a:latin typeface="Consolas" panose="020B0609020204030204" pitchFamily="49" charset="0"/>
              </a:rPr>
              <a:t> – can borrow up to 5 books at a time.</a:t>
            </a:r>
          </a:p>
          <a:p>
            <a:pPr marL="1028700" lvl="1" indent="-571500">
              <a:buFont typeface="Wingdings" panose="05000000000000000000" pitchFamily="2" charset="2"/>
              <a:buChar char="ü"/>
            </a:pPr>
            <a:endParaRPr lang="en-US" sz="3600" dirty="0">
              <a:latin typeface="Consolas" panose="020B0609020204030204" pitchFamily="49" charset="0"/>
            </a:endParaRPr>
          </a:p>
          <a:p>
            <a:r>
              <a:rPr lang="en-US" sz="3600" dirty="0">
                <a:latin typeface="Consolas" panose="020B0609020204030204" pitchFamily="49" charset="0"/>
              </a:rPr>
              <a:t>Both inherit from the parent Member class, which defines the common properties and methods for all members.</a:t>
            </a:r>
          </a:p>
          <a:p>
            <a:endParaRPr lang="en-US" sz="3600" dirty="0">
              <a:latin typeface="Consolas" panose="020B0609020204030204" pitchFamily="49" charset="0"/>
            </a:endParaRPr>
          </a:p>
          <a:p>
            <a:r>
              <a:rPr lang="en-US" sz="3600" b="1" dirty="0">
                <a:latin typeface="Consolas" panose="020B0609020204030204" pitchFamily="49" charset="0"/>
              </a:rPr>
              <a:t>Tasks:</a:t>
            </a:r>
          </a:p>
          <a:p>
            <a:pPr marL="742950" indent="-742950">
              <a:buFont typeface="+mj-lt"/>
              <a:buAutoNum type="arabicPeriod"/>
            </a:pPr>
            <a:r>
              <a:rPr lang="en-US" sz="3600" dirty="0">
                <a:latin typeface="Consolas" panose="020B0609020204030204" pitchFamily="49" charset="0"/>
              </a:rPr>
              <a:t>Create 3 Book objects</a:t>
            </a:r>
          </a:p>
          <a:p>
            <a:pPr marL="742950" indent="-742950">
              <a:buFont typeface="+mj-lt"/>
              <a:buAutoNum type="arabicPeriod"/>
            </a:pPr>
            <a:r>
              <a:rPr lang="en-US" sz="3600" dirty="0">
                <a:latin typeface="Consolas" panose="020B0609020204030204" pitchFamily="49" charset="0"/>
              </a:rPr>
              <a:t>Create 2 Member objects</a:t>
            </a:r>
          </a:p>
          <a:p>
            <a:pPr marL="742950" indent="-742950">
              <a:buFont typeface="+mj-lt"/>
              <a:buAutoNum type="arabicPeriod"/>
            </a:pPr>
            <a:r>
              <a:rPr lang="en-US" sz="3600" dirty="0">
                <a:latin typeface="Consolas" panose="020B0609020204030204" pitchFamily="49" charset="0"/>
              </a:rPr>
              <a:t>Test the borrowing rules</a:t>
            </a:r>
          </a:p>
        </p:txBody>
      </p:sp>
    </p:spTree>
    <p:extLst>
      <p:ext uri="{BB962C8B-B14F-4D97-AF65-F5344CB8AC3E}">
        <p14:creationId xmlns:p14="http://schemas.microsoft.com/office/powerpoint/2010/main" val="2797805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6316</TotalTime>
  <Words>2996</Words>
  <Application>Microsoft Office PowerPoint</Application>
  <PresentationFormat>Custom</PresentationFormat>
  <Paragraphs>415</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Wingdings</vt:lpstr>
      <vt:lpstr>Consolas</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 4 - Lesson 5</dc:title>
  <dc:creator>DENVER</dc:creator>
  <cp:lastModifiedBy>Mark Denver Adora</cp:lastModifiedBy>
  <cp:revision>286</cp:revision>
  <dcterms:created xsi:type="dcterms:W3CDTF">2006-08-16T00:00:00Z</dcterms:created>
  <dcterms:modified xsi:type="dcterms:W3CDTF">2025-12-11T05:27:36Z</dcterms:modified>
  <dc:identifier>DAGH1tVytZk</dc:identifier>
</cp:coreProperties>
</file>