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6" r:id="rId2"/>
    <p:sldId id="424" r:id="rId3"/>
    <p:sldId id="426" r:id="rId4"/>
    <p:sldId id="471" r:id="rId5"/>
    <p:sldId id="472" r:id="rId6"/>
    <p:sldId id="473" r:id="rId7"/>
    <p:sldId id="474" r:id="rId8"/>
    <p:sldId id="475" r:id="rId9"/>
    <p:sldId id="476" r:id="rId10"/>
    <p:sldId id="477" r:id="rId11"/>
    <p:sldId id="479" r:id="rId12"/>
    <p:sldId id="483" r:id="rId13"/>
    <p:sldId id="481" r:id="rId14"/>
    <p:sldId id="480" r:id="rId15"/>
    <p:sldId id="482" r:id="rId16"/>
    <p:sldId id="504" r:id="rId17"/>
    <p:sldId id="505" r:id="rId18"/>
    <p:sldId id="437" r:id="rId19"/>
    <p:sldId id="484" r:id="rId20"/>
    <p:sldId id="478" r:id="rId21"/>
    <p:sldId id="485" r:id="rId22"/>
    <p:sldId id="486" r:id="rId23"/>
    <p:sldId id="487" r:id="rId24"/>
    <p:sldId id="488" r:id="rId25"/>
    <p:sldId id="489" r:id="rId26"/>
    <p:sldId id="501" r:id="rId27"/>
    <p:sldId id="490" r:id="rId28"/>
    <p:sldId id="491" r:id="rId29"/>
    <p:sldId id="492" r:id="rId30"/>
    <p:sldId id="493" r:id="rId31"/>
    <p:sldId id="494" r:id="rId32"/>
    <p:sldId id="495" r:id="rId33"/>
    <p:sldId id="496" r:id="rId34"/>
    <p:sldId id="497" r:id="rId35"/>
    <p:sldId id="498" r:id="rId36"/>
    <p:sldId id="499" r:id="rId37"/>
    <p:sldId id="500" r:id="rId38"/>
    <p:sldId id="502" r:id="rId39"/>
    <p:sldId id="503" r:id="rId40"/>
    <p:sldId id="506" r:id="rId41"/>
    <p:sldId id="509" r:id="rId42"/>
    <p:sldId id="512" r:id="rId43"/>
    <p:sldId id="510" r:id="rId44"/>
    <p:sldId id="511" r:id="rId45"/>
    <p:sldId id="513" r:id="rId46"/>
    <p:sldId id="514" r:id="rId47"/>
    <p:sldId id="468" r:id="rId48"/>
  </p:sldIdLst>
  <p:sldSz cx="18288000" cy="10287000"/>
  <p:notesSz cx="6858000" cy="9144000"/>
  <p:embeddedFontLst>
    <p:embeddedFont>
      <p:font typeface="Consolas" panose="020B0609020204030204" pitchFamily="49" charset="0"/>
      <p:regular r:id="rId51"/>
      <p:bold r:id="rId52"/>
      <p:italic r:id="rId53"/>
      <p:boldItalic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  <a:srgbClr val="4D4D4D"/>
    <a:srgbClr val="33FB63"/>
    <a:srgbClr val="F49210"/>
    <a:srgbClr val="2A2A43"/>
    <a:srgbClr val="F1FEA0"/>
    <a:srgbClr val="FF99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56" autoAdjust="0"/>
    <p:restoredTop sz="76471" autoAdjust="0"/>
  </p:normalViewPr>
  <p:slideViewPr>
    <p:cSldViewPr>
      <p:cViewPr varScale="1">
        <p:scale>
          <a:sx n="40" d="100"/>
          <a:sy n="40" d="100"/>
        </p:scale>
        <p:origin x="107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E22CC0-1243-338F-5CAD-E7A5B1EE0E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A8E39-795D-D837-9A04-090F9A1419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5907F-8ED1-4449-8AB2-425B109C6DAB}" type="datetimeFigureOut">
              <a:rPr lang="en-PH" smtClean="0"/>
              <a:t>05/09/2025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79AC-EB4A-C6F4-35A4-C5166122BE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FEE0C-CAF7-534F-B1B6-7CB0184B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40E73-B33C-482E-B21A-1E3DE061AD4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82812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21506-B2BE-43BC-8C27-BC2C4DAF9131}" type="datetimeFigureOut">
              <a:rPr lang="en-PH" smtClean="0"/>
              <a:t>05/09/2025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38AF-BC93-4612-8619-54F4BB1E39A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4664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1104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B4046-69BB-A68F-D16A-588A849C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8695A-3FF3-DF36-BF03-69B765D35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9BACF-09C9-595D-1836-E26B48831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FE2A0-B71B-85F9-0E46-06EAAB3CF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89480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AC63-5DA0-56A2-565D-C09D6D3BD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A7945-44BD-D014-28D4-C24FFE25D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CE4E3-22BE-120F-6AD5-9170C9EE4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57C04-8F42-5B55-2C7E-5AC8FB3ED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9891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FCFA1-F742-E7BB-88BC-51921A3CC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AA39B-A4D4-AC58-5257-A2836F616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A51BF-7137-40D1-4F2F-13F8001F5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C7E06-40E0-DF8B-E16C-BDDF05CEA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28513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C23BB-627A-31A9-2D8C-012DDF9FA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1E7D2-286D-4A6A-C29D-A1D66064F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30D6C-3C72-A42C-A978-C590FCD0A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00E32-A27B-E1EA-6621-96D40DB01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43571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B5EB0-DCB5-F8CC-62D4-E0DB2A949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2F0EA-883D-520B-581B-632436461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269F2-ED4D-94B4-7722-6C8CFD620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F0A1E-10BF-A5A3-5FB0-B943E5C94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95982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FD8CC-B00F-9A99-1912-FC2530C4D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06319-451F-ED9C-D5C2-CF15F89EF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C6E3F4-6064-66EC-D21F-BEEB7A00A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84447-B696-5F89-0BB6-069356600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9784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811A-91F6-A64A-3F2A-65C992E8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F18B3-7016-CC3C-7C9A-A247E6FAE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63563-6869-B409-F685-FA64315E0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93E15-2264-E609-81AB-A52A9ED85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6944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B2A66-2EE0-EC08-DCD3-8437E521F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8341B-4DC2-67E7-3D21-545F35934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7C57B-D994-9973-0E8E-6759CC6E3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EDCB7-2D93-7BBD-A8EA-6B5AA98CB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70855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4D899-3EB8-0FD2-9E44-A181E1B3A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16972-E363-DDC3-57ED-0E5EBA18A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2D851-0CD4-5205-7B7D-E7DF0D32B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D6D7E-77E3-0B8C-6C82-45CF763B50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53039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E3E0D-4632-9327-8ABC-A336BCF6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88674-C2FA-42D5-95F3-18B41432D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75EB1-7C71-A328-2ED9-5AB744D31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0AC38-0FEF-1640-1416-5A2F21A5B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49437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09D53-8AF7-5D1E-B8A3-06AA40E81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F00D9-8AA1-6D10-843A-37F056CF5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484A0-2FB2-438A-AD6B-2F05A1480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8DBFC-6E02-1010-8C58-EA8AF8F8F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01904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3BCC-C3E1-9876-FEAA-90F56EAE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101A3-1B78-5AC9-6808-60D3A46AF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98887-0001-EF1B-49CF-589B8B6D9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6A5E9-6F0F-40F2-2CAE-933D1BA3B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348971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A4BFF-03DF-C20B-6493-DD4BCA323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6C1B2-DDC3-FAF9-F64C-0841E1875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CA2D9-D97E-5ABB-5015-DD6FD5D63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47DF9-2C43-403E-408E-CEFB7E994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239356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A7117-BC11-983D-8D07-5446BBFA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4AA12-8BA8-2F78-89D8-25C19B865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7C27D-C9FB-3D92-E178-BB6E7AF1C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83DC6-464B-CBAE-DE43-0301B90F5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20995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FFD79-617E-20E6-CBC4-EBD529620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7CAEC-5AC6-1FCC-6C2A-C03EA7297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6D4E5-3563-56DB-4F53-FF9407C8A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9C774-D396-802B-0E8F-75E11B10C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351690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57E9F-F601-899F-D455-0ACFC4F0C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BD0C7-B1FF-4BDA-14E3-822C19AC3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62014-853E-6776-253F-FDE96017F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90D8E-81CF-FE0B-587E-B73BB5C54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0830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63211-9E11-6FA6-EAFE-730531807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DC7BE-45D0-C76F-C061-604E857FE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516C5-8ABE-6833-1AC0-BB5780237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72F80-939E-1DEB-8130-34AE26F40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67846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A4514-BEF2-6626-212C-27389993A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929FE-8E86-B101-DC5F-CC88E871F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CD9A7-81AC-57B4-F740-7C85C014E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7BE93-E18A-A226-2056-B1EBCB7CD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297296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B5632-9DCA-BEFE-9100-184056FA4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E96DD2-2CAC-E4E8-2B85-D980A437C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B73B0-6DBA-0AB1-B722-2256566A9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3321D-40CB-CF3D-B18A-2D17739AB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47560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41E2-DFEB-8905-6BC4-A602BAFBF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BAB30-C7B6-8F81-4D1B-63E11DC61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EC8B5-765F-CA18-351B-4A378CBF1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5DC23-9C05-4D65-4D5A-A747767B7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491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0DCD9-D519-6932-61B4-7F1AA391F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5B71B-C93B-AEA0-EDED-D538DA456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9FD16-6226-2C0E-99E8-348AAD341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3D4A2-BE34-CD68-C251-39AA8FF89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314539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AE44F-B71C-EDAB-32CD-1C9AD583F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C0FA3-A197-D6A4-6AA8-E6D8AFF18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16EE0-C2C2-DC4D-9C92-2E6DB1292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89DA0-2C85-399D-09A6-568AD7D92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969084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58850-56A3-071C-06CE-8832B702B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E11BF-63A5-DF29-EAF4-5FC2249F2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AC9D3-5F58-FC8A-334E-340096AA5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54784-18C8-6B1F-E775-6E9147EC3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63646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B4E44-592F-6B23-B9FE-DC9C1F816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04C0B-E86E-4B27-D7D7-31309E7FA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9532EE-9D96-A73E-88AE-CE24649D5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40BA2-5B71-3EB4-A959-C55BF09FB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550867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C299A-1531-3007-BFA8-992B87556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C8DAB-42D1-AF95-9732-4E660B9C7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7485C-B5A7-ECF4-BBC0-D73460A7C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9DF30-C12E-527E-92B1-78C3E7AC4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144748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7BBD-4F24-883B-63DA-926BA45F2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E890B-E683-A15E-9B31-0AB6EDA3B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D1072-E931-9AF2-2B68-BC8D0A6C7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F711D-0D7D-4F49-4C7A-32B6AD449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54943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AE9D5-253F-3AB3-EF5B-383FED904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9E8CB-098C-8B30-B314-4CFE09E1B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BFA59D-24D6-1C0F-85E4-37A6641FC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E8140-F295-68CD-E61E-920B69146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373688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D5C53-27D5-1B23-8A89-749810D5F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6D1CC-B5CD-444F-EC93-C36896195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F48B4-6C96-97A4-8478-BE43AE5C6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6BFE0-9826-3398-C933-7856AED2A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74347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21865-364A-ED03-AD50-E52A0FD68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27385-D553-FDE2-5395-3DF902411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64C5C-016C-8248-4EDA-DF31D3B0C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71ABE-9D7C-424E-C45B-DF85E55E7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933775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9F067-4BA3-FCE1-C9C0-EB50F37F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97799-3BAA-9698-6B77-C58427D49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724F1-2513-2DB4-76D4-CF50A281A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C4B42-1BED-89A5-EB12-EFDE6B7E6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777678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05FE2-5401-2517-B44E-E5532C6B1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B8A4B-AA61-AE21-3518-AE304D3DF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9D36C-212B-764B-0B6D-CB8031381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49D35-8EA4-1428-0B37-F369B5527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657477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D1C59-2DEB-2190-88A6-268496F00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885B7-B209-9422-867F-59BCC3B13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D5BA0-822E-97FE-4C80-5C883DC1E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FF47C-8E4D-9EA7-5C38-5B7F46B5E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17285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6059B-05FB-3146-895A-83BA31383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30967-E7AB-9548-FCE3-DD85B9575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E4446-0058-4A38-1305-11D45C261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A1153-9FD1-A941-88B7-EC1FAEED8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964418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9E37C-7097-2B56-B989-47372D7B3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15BD72-C27D-6557-478D-3E4308F0B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374B8-9DB6-D8E5-CA11-CC76F44B1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C4440-895F-9A3C-A014-73B00493D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657927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A602A-B492-5B8D-FCA9-8C7B6A26C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BADF6-C43A-3C3C-105C-36F71530C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9DA7E-63EE-5A5E-1702-826A69751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E0C8D-390C-E940-019A-146A401F1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153348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E534-071A-416B-B98F-CB084066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6F1415-8A6B-B33D-8E3B-89D175E96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08239-71A8-A7EC-C925-CC1826E02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3083A-CD36-6926-8831-3907AD4FB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54608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95DEB-F964-7FD2-320A-82DFA9DB6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98AB3-5865-931A-F635-DF868B2BF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0A03B-930E-2B78-67CB-6697826F6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0961E-49C2-E4E2-44DC-80CC41716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14983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52F08-4D36-860F-5DA0-1EC98E0F6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3D50B-2FA6-2559-F970-C81701820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7066F-EB36-3815-457A-76CBB308C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7436C-C793-89D1-08AF-9A0FB34B4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053046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7C57-89CD-4B0C-3F13-EBD0CECC8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A1FD9-6827-6F5C-73D2-056B733CA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478AEE-D519-220C-75A0-4919BDD11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B2FFA-6262-4C32-DB0F-7F4F5FDE9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247502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477B7-B954-31EA-24EC-1475FBC02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0E3BD-D4A7-7B3D-F7A5-C929F36AD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29A0E-663F-A3B1-B79F-D30EE3CF4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686F8-02C5-5F8D-337F-85603805F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10667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0BC34-78BE-D1E6-DF04-7E809C981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7A50D-2F55-FCCB-7B57-8BBF0AB19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A2D98-3957-767B-C977-A499C815A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65CF3-4984-DFBF-C031-825AF59D6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238050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FCE20-792F-3DAE-99AA-59CD49562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993DC-6A8A-1637-9763-A3D8300B7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74BA9-9442-FB4F-0A68-666DC95E1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E93D8-D576-7933-B932-3BD9949AD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373711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B21FD-AF73-CEC2-F77C-616A1A19B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D2DCB-4E3A-4A50-8768-A3E4560B9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0E374-31B4-FF79-CB11-039D99B94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9DD0E-324F-DB1E-9703-E4EF79A1C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379345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8C4A7-1270-2FF4-B05D-1430E1885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477A4-31F8-1020-B996-2C41D671C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C368A-CF39-DFAB-E2CE-0F4C1AD49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893D1-7A60-C651-D00B-86FBF4007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73720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8B412-AEDE-5E72-BA9F-54C08D4A0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253C5E-7CA7-1E69-3312-8FDBA6CF3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DCF4B5-14D5-BA7F-9823-408A44FB3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517F9-746F-7922-29D2-086398AF2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425697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656E4-EAB2-A6A2-793A-A5D18A59D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E62CE-83F0-ADDF-5CD2-9E467A544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F2ACB-1FE1-1204-A200-F37FB776C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8D779-B9F8-5DF3-27F4-2AD02E4E8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8989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81C3-E2DA-4793-BDA0-1375955C19F0}" type="datetime1">
              <a:rPr lang="en-US" smtClean="0"/>
              <a:t>9/5/2025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925800" y="973879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466280C9-FBB2-A5C5-B32E-B1F32E20A7CA}"/>
              </a:ext>
            </a:extLst>
          </p:cNvPr>
          <p:cNvSpPr txBox="1">
            <a:spLocks/>
          </p:cNvSpPr>
          <p:nvPr userDrawn="1"/>
        </p:nvSpPr>
        <p:spPr>
          <a:xfrm>
            <a:off x="76200" y="9799686"/>
            <a:ext cx="6248400" cy="3651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ELEC 4 – Elective 4 (Special Topics on Web and Mobile 2)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70D90189-04C8-86AF-B9A8-6A8CA9F302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0" y="3062493"/>
            <a:ext cx="18287999" cy="4408536"/>
          </a:xfrm>
          <a:prstGeom prst="rect">
            <a:avLst/>
          </a:prstGeom>
        </p:spPr>
      </p:pic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/>
          <p:cNvSpPr txBox="1"/>
          <p:nvPr/>
        </p:nvSpPr>
        <p:spPr>
          <a:xfrm>
            <a:off x="1138730" y="3587144"/>
            <a:ext cx="15998250" cy="1458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Chapter 3: Basic Elements of Python 2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03BEDA6F-F03E-338A-E884-B57BB6E88A2C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774B46A4-1A07-1B6E-041F-F6905CFA41E7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E1DF7690-B553-61D6-9179-CCFD49C98B9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7D4F7B43-6DF2-1438-AF14-A92B65A0B7B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737FF48A-1343-407F-1EA2-017E5834A286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5844878D-4F08-5CB8-2978-838AA8A84A59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6B102466-B83F-E478-304D-B9605AC9EA8F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14435-D177-78B9-9BE8-3B8FA559D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B237DD15-B105-2EED-E820-CF4CE8A1DC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F9D633F9-31E0-2989-6C67-876DD19757A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A39BE59-E820-F9EC-608A-DAD70FCAA98D}"/>
              </a:ext>
            </a:extLst>
          </p:cNvPr>
          <p:cNvSpPr txBox="1"/>
          <p:nvPr/>
        </p:nvSpPr>
        <p:spPr>
          <a:xfrm>
            <a:off x="1144875" y="4404386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Lesson 3.1: Python Strings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3FEEF142-5253-A561-E99C-768FEC77C1B4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65022A25-F969-AB81-EDB8-3FEA4CC493D3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CE380B9F-90C5-069E-B4A9-EFB63317BFD0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8D415E24-8984-99DF-D8B4-E7C067D7611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D7D9F8B0-3AF4-7E6B-D098-0CAD2C2822F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0C3CE10E-127A-6DB9-CD8E-805DD601D15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374E9D94-03CB-432B-615B-4F12019F8D36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67494009-3E71-6335-5455-E2EAFBEFE78C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F6A5863-776C-67C6-AD04-A4CD5F25626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80819FF-D094-90BA-1E10-BB50331B064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2A9F004-108D-31AC-5F8B-DE17B8E5717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2765943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FB354-B01C-02B2-2DEF-10A33803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BF6A6E-4C0A-8069-00A1-6DB404C3CAB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1194FCD-FC69-12DB-DCED-E8B029E7D2C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17654DB-6975-675B-CBE4-88299C098E5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16ADBC3-58F8-936D-376A-C719734FF5A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BE8CDB3-11FC-5F52-C5A5-A552237C467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82B3713-C643-1B74-9AD3-F356485A879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FEB6154-B889-FCEB-F520-3866CA8518F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strings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90BC46-C5A1-A710-F86C-70717C3426BC}"/>
              </a:ext>
            </a:extLst>
          </p:cNvPr>
          <p:cNvSpPr txBox="1"/>
          <p:nvPr/>
        </p:nvSpPr>
        <p:spPr>
          <a:xfrm>
            <a:off x="637059" y="2277070"/>
            <a:ext cx="169535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Like many other popular programming languages, strings are arrays of bytes representing Unicode characters. However, it does not have a character data type, a single character is simply a string with a length of 1. Square brackets can be used to access elements of the string.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19DD1A-94A4-488B-1B1A-BD473D6F80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361875"/>
            <a:ext cx="15314976" cy="18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22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EF20C-4F3F-C48F-5807-35AEC2173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24AF8B4-A759-0E65-A868-FE193608465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2D563C2-744E-0A77-46A1-AE19E467AFB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D1C7102-E849-2B56-40E9-6BCE288CF58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D77D293-1668-4D79-9BE0-7CD08166D14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FFE5CF0-A99A-851D-87FF-EC5BB1138B88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072A71F-5D76-39BA-65D0-A6101E27EF2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62D3C9F-7F3D-3655-ADAC-050303BCCF7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strings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AFC8FC-7860-E579-D33D-3D9A19F458AD}"/>
              </a:ext>
            </a:extLst>
          </p:cNvPr>
          <p:cNvSpPr txBox="1"/>
          <p:nvPr/>
        </p:nvSpPr>
        <p:spPr>
          <a:xfrm>
            <a:off x="637059" y="2277070"/>
            <a:ext cx="169535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We can also use triple quotes for multi-line text.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48A7ED-958B-95BF-4712-A21B8B6F76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457700"/>
            <a:ext cx="15314400" cy="337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511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5D2D-CD64-3D5B-F0EB-7C58D8121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DE0123-0C86-8C76-14B2-1078C2E37C0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4610EFB-6DD0-B35C-7FA9-3A0BA9D198A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D1A971D-080F-C074-62C0-CB0DC340B85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1A843E8-9131-6C8B-C081-845F8D6B7BC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EB496B5-19B6-9B99-8AE4-2FAAC9DD213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C2702A3-1DB0-893E-0806-822BA7CFD17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7463ECF-CE9D-A953-E2CC-3D00F775BAA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Concatenation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7F3A65-3493-5B31-EB67-788EE04ED62A}"/>
              </a:ext>
            </a:extLst>
          </p:cNvPr>
          <p:cNvSpPr txBox="1"/>
          <p:nvPr/>
        </p:nvSpPr>
        <p:spPr>
          <a:xfrm>
            <a:off x="637059" y="2277070"/>
            <a:ext cx="1695356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You can join two or more strings using the + operator.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Now try to make the value of the 2</a:t>
            </a:r>
            <a:r>
              <a:rPr lang="en-US" sz="3600" baseline="30000" dirty="0">
                <a:latin typeface="Consolas" panose="020B0609020204030204" pitchFamily="49" charset="0"/>
              </a:rPr>
              <a:t>nd</a:t>
            </a:r>
            <a:r>
              <a:rPr lang="en-US" sz="3600" dirty="0">
                <a:latin typeface="Consolas" panose="020B0609020204030204" pitchFamily="49" charset="0"/>
              </a:rPr>
              <a:t> variable to an integer and try to concatenate them to see what happens.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EAACE2-7B88-E095-9BD1-CCE768C968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228511"/>
            <a:ext cx="15314400" cy="266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60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648B0-79F8-44AB-DEAE-27AD496C4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94E799B-42DC-B3BC-03F8-F0348F803FE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48CF0A8-A6B1-1C4C-1E30-DD0E695596A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57BEA55-98DC-8C22-55D8-EB4F5BEEB2D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0149268-83F9-6745-295B-59F9E292774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0EBF7A3-A7D7-7BDC-05D7-2A39F6DD889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E036CE9-9990-26F6-641D-A8B49F9CB0D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E1B8497-9352-8588-28EA-AFFC8385123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Extracting substrings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AA7A34-7DF5-8BDE-EE4C-5C72E2913098}"/>
              </a:ext>
            </a:extLst>
          </p:cNvPr>
          <p:cNvSpPr txBox="1"/>
          <p:nvPr/>
        </p:nvSpPr>
        <p:spPr>
          <a:xfrm>
            <a:off x="637059" y="2277070"/>
            <a:ext cx="169535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You can extract a portion of a string using [</a:t>
            </a:r>
            <a:r>
              <a:rPr lang="en-US" sz="3600" dirty="0" err="1">
                <a:latin typeface="Consolas" panose="020B0609020204030204" pitchFamily="49" charset="0"/>
              </a:rPr>
              <a:t>start:end:step</a:t>
            </a:r>
            <a:r>
              <a:rPr lang="en-US" sz="3600" dirty="0">
                <a:latin typeface="Consolas" panose="020B0609020204030204" pitchFamily="49" charset="0"/>
              </a:rPr>
              <a:t>]. Python slices up to but not including the end index.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A35FF6-2DD7-2829-3FCB-B8B206C5B9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686300"/>
            <a:ext cx="15314400" cy="333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48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663CA-900D-6ED1-52B5-37CC7301D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40AF9B-C0FE-69DF-BBC7-554DA13ECE8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2C63B8D-DB8D-51E8-D21F-A193E2A8FD3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90E5C63-674F-3117-099B-BD6AAB8DCFC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A98C64-3A5D-0858-F168-51C4647C650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CAD77E6-7919-82FA-9AA2-2EF744AB37A8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53EC95A8-0E19-072C-E028-0BB8B0B3243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B2EABBD-8592-C4DE-8C7D-DDCC7673552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Comparison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A42D90-3CD6-4CDF-264C-7BBD5AF986C7}"/>
              </a:ext>
            </a:extLst>
          </p:cNvPr>
          <p:cNvSpPr txBox="1"/>
          <p:nvPr/>
        </p:nvSpPr>
        <p:spPr>
          <a:xfrm>
            <a:off x="637059" y="2277070"/>
            <a:ext cx="169535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Strings can be compared alphabetically (lexicographically).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9BE73F-A38E-4369-8245-01B17CFB6E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181340"/>
            <a:ext cx="15314400" cy="222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76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F563E-F856-CA62-1EC2-71C5FD495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52993D5-29D8-24E2-FEA0-A866E183107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BF81A77-4B8F-92F6-2609-8331736F393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55BE498-2B4C-BD15-5330-36720B68E74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A0F1C57-ED4D-BBEB-CA61-7EA3F347FDF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6A1F6D2-6BE5-E5AC-AA65-4898FF5107D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C0D964D-2BD8-6CBA-70CF-B929D858F33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FD449B6-6929-FD66-5DD3-DCDD6E74099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Changing Case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07388B-2004-F092-56FD-B75A81164701}"/>
              </a:ext>
            </a:extLst>
          </p:cNvPr>
          <p:cNvSpPr txBox="1"/>
          <p:nvPr/>
        </p:nvSpPr>
        <p:spPr>
          <a:xfrm>
            <a:off x="637059" y="2277070"/>
            <a:ext cx="16953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Python provides methods to change string case.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E7BB87-B0A8-8F2B-A156-CB5DCE45E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419541"/>
              </p:ext>
            </p:extLst>
          </p:nvPr>
        </p:nvGraphicFramePr>
        <p:xfrm>
          <a:off x="749992" y="3085920"/>
          <a:ext cx="16381126" cy="556277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911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9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92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Method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Definition</a:t>
                      </a:r>
                    </a:p>
                  </a:txBody>
                  <a:tcPr marL="1524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capitalize()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Converts the first character to upper case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err="1">
                          <a:effectLst/>
                          <a:latin typeface="Consolas" panose="020B0609020204030204" pitchFamily="49" charset="0"/>
                        </a:rPr>
                        <a:t>casefold</a:t>
                      </a:r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() &amp; lower()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Converts string into lower case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err="1">
                          <a:effectLst/>
                          <a:latin typeface="Consolas" panose="020B0609020204030204" pitchFamily="49" charset="0"/>
                        </a:rPr>
                        <a:t>swapcase</a:t>
                      </a:r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Swaps cases, lower case becomes upper case and vice versa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title()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Converts the first character of each word to upper case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781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upper()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Converts a string into upper case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48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436E-C4F8-0BA6-09CB-EF25CC608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A02EA8C-4220-AAE2-F423-6363C084BBF9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A95E96-E0FC-6E50-6B62-B29D9738B7F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46F5BAC-D924-33CF-7C27-1BD95883DD4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CDA2668-A885-B6FE-CD91-9F0A8DFB225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BFA3D3E-9414-BFE9-1DE4-CEAE7A719560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AF0BFD3-9353-EFAF-C4AF-6C32FB481BA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5397325-F719-92C1-E852-00E4E2A38597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Changing Case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DC801A-7D61-9829-DC8A-E701A6B51A12}"/>
              </a:ext>
            </a:extLst>
          </p:cNvPr>
          <p:cNvSpPr txBox="1"/>
          <p:nvPr/>
        </p:nvSpPr>
        <p:spPr>
          <a:xfrm>
            <a:off x="637059" y="2277070"/>
            <a:ext cx="16953563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Python provides methods to change string case.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 use-case with print():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1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 use-case with input():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Note: Some methods can be also applied during user input.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67873B-BC0E-1376-C2C6-C8FB23EE8A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000500"/>
            <a:ext cx="15314400" cy="22766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CC87FA-572A-AF45-566A-2C62A18B2A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992" y="6953986"/>
            <a:ext cx="15314400" cy="187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024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F8B4D-1B13-52AE-9AB0-4A6F074DB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7029016-2A03-4624-6CAE-A2567EC02D4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2952492-5202-00C7-B2BC-EBB116B0777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C018EEB-FD52-11A7-FC69-173B6B997EC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5DFD461-A973-B0C0-6A97-E68BC03ADAC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DD7A025-F528-2C9C-6F98-58CE91B67FA4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EE8E34A-7CA8-9E6B-BBD2-7BF611F8BDB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D1CC2AA-8174-A750-7D4D-DD662A3574C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Stripping Whitespace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6820E2-5CEB-5408-D4F0-10071069A39C}"/>
              </a:ext>
            </a:extLst>
          </p:cNvPr>
          <p:cNvSpPr txBox="1"/>
          <p:nvPr/>
        </p:nvSpPr>
        <p:spPr>
          <a:xfrm>
            <a:off x="637059" y="2277070"/>
            <a:ext cx="16953563" cy="6532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Removes extra spaces at the beginning or end.</a:t>
            </a:r>
          </a:p>
          <a:p>
            <a:pPr algn="just"/>
            <a:endParaRPr lang="en-US" sz="1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 1: Removing whitespaces on both ends.</a:t>
            </a:r>
          </a:p>
          <a:p>
            <a:pPr algn="just"/>
            <a:endParaRPr lang="en-US" sz="28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105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 2: Removing whitespaces on the left</a:t>
            </a:r>
          </a:p>
          <a:p>
            <a:pPr algn="just"/>
            <a:endParaRPr lang="en-US" sz="28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2800" dirty="0">
              <a:latin typeface="Consolas" panose="020B0609020204030204" pitchFamily="49" charset="0"/>
            </a:endParaRPr>
          </a:p>
          <a:p>
            <a:pPr algn="just"/>
            <a:endParaRPr lang="en-US" sz="12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 3: Removing whitespaces on the right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886FB3-B5F6-DD82-AFD0-75638335DF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771900"/>
            <a:ext cx="13146335" cy="1609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66C039-8E7D-389F-0BB6-8DF4A7EFC7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993" y="5905277"/>
            <a:ext cx="13165387" cy="16004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7FCA8D-68F5-2211-E8D6-A16C7980BF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413" y="8115300"/>
            <a:ext cx="13222545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92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7E6D8-5605-0E5A-3CA9-C9315E03B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2E88DB6-A7F9-967C-D2F3-DF3AA141198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F9E313D-F711-F6CD-10A1-CB3A691603F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B33C37B-BEDC-2A0A-D7AC-062A01AE8C4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1127B90-0F06-C711-66C7-18A437BCCC8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E1AFC80-135F-6D2C-515A-118E3FE3FF1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D4440503-FFCF-6B58-2EEE-15DAD3FC550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0BF39CC-3B17-8E46-CECA-44A3700F0E8B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Finding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C01B9F-BC95-B9F3-BDE8-F92B652E0CE1}"/>
              </a:ext>
            </a:extLst>
          </p:cNvPr>
          <p:cNvSpPr txBox="1"/>
          <p:nvPr/>
        </p:nvSpPr>
        <p:spPr>
          <a:xfrm>
            <a:off x="637059" y="2277070"/>
            <a:ext cx="16953563" cy="8525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We can use find() or index() to return the index of the specified value</a:t>
            </a:r>
          </a:p>
          <a:p>
            <a:pPr algn="just"/>
            <a:r>
              <a:rPr lang="en-US" sz="3300" b="1" dirty="0">
                <a:latin typeface="Consolas" panose="020B0609020204030204" pitchFamily="49" charset="0"/>
              </a:rPr>
              <a:t>Syntax</a:t>
            </a:r>
            <a:r>
              <a:rPr lang="en-US" sz="3300" dirty="0">
                <a:latin typeface="Consolas" panose="020B0609020204030204" pitchFamily="49" charset="0"/>
              </a:rPr>
              <a:t>: find(value) or index(value)</a:t>
            </a: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The </a:t>
            </a:r>
            <a:r>
              <a:rPr lang="en-US" sz="3300" dirty="0" err="1">
                <a:latin typeface="Consolas" panose="020B0609020204030204" pitchFamily="49" charset="0"/>
              </a:rPr>
              <a:t>rfind</a:t>
            </a:r>
            <a:r>
              <a:rPr lang="en-US" sz="3300" dirty="0">
                <a:latin typeface="Consolas" panose="020B0609020204030204" pitchFamily="49" charset="0"/>
              </a:rPr>
              <a:t>() and </a:t>
            </a:r>
            <a:r>
              <a:rPr lang="en-US" sz="3300" dirty="0" err="1">
                <a:latin typeface="Consolas" panose="020B0609020204030204" pitchFamily="49" charset="0"/>
              </a:rPr>
              <a:t>rindex</a:t>
            </a:r>
            <a:r>
              <a:rPr lang="en-US" sz="3300" dirty="0">
                <a:latin typeface="Consolas" panose="020B0609020204030204" pitchFamily="49" charset="0"/>
              </a:rPr>
              <a:t>() method finds the last occurrence of the specified value. </a:t>
            </a:r>
            <a:r>
              <a:rPr lang="en-US" sz="3300" dirty="0" err="1">
                <a:latin typeface="Consolas" panose="020B0609020204030204" pitchFamily="49" charset="0"/>
              </a:rPr>
              <a:t>rfind</a:t>
            </a:r>
            <a:r>
              <a:rPr lang="en-US" sz="3300" dirty="0">
                <a:latin typeface="Consolas" panose="020B0609020204030204" pitchFamily="49" charset="0"/>
              </a:rPr>
              <a:t>() returns -1 if the value is not found, while, </a:t>
            </a:r>
            <a:r>
              <a:rPr lang="en-US" sz="3300" dirty="0" err="1">
                <a:latin typeface="Consolas" panose="020B0609020204030204" pitchFamily="49" charset="0"/>
              </a:rPr>
              <a:t>rindex</a:t>
            </a:r>
            <a:r>
              <a:rPr lang="en-US" sz="3300" dirty="0">
                <a:latin typeface="Consolas" panose="020B0609020204030204" pitchFamily="49" charset="0"/>
              </a:rPr>
              <a:t>() raises an exception.</a:t>
            </a: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endParaRPr lang="en-US" sz="2000" dirty="0"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B7104D-30DC-58F1-FF4E-41452677E5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579941"/>
            <a:ext cx="13155861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01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884B8-F236-3675-09B2-42D2B0DEB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1A4919B-B430-A5E0-0130-528B6D3E3F7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198C4B-ABA4-A63D-0A0A-AA59CC29D00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02B14CC-B8DA-BD11-AEEE-5ABB6868FBF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D384A41-2C19-F6C7-034E-9A2F53B7605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DE51B089-2490-D205-D7C2-8F8B16EB18D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EA77A22-1872-DC0A-1B28-0654ED682FF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ADB4B49-F662-C1BE-913F-BFF26B3BD15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Replacing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E85F10-647B-DBE8-64B3-53B814831B49}"/>
              </a:ext>
            </a:extLst>
          </p:cNvPr>
          <p:cNvSpPr txBox="1"/>
          <p:nvPr/>
        </p:nvSpPr>
        <p:spPr>
          <a:xfrm>
            <a:off x="637059" y="2277070"/>
            <a:ext cx="1695356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We can use replace() to return a string where a specified value is replaced with a specified value</a:t>
            </a:r>
          </a:p>
          <a:p>
            <a:pPr algn="just"/>
            <a:r>
              <a:rPr lang="en-US" sz="3300" b="1" dirty="0">
                <a:latin typeface="Consolas" panose="020B0609020204030204" pitchFamily="49" charset="0"/>
              </a:rPr>
              <a:t>Syntax</a:t>
            </a:r>
            <a:r>
              <a:rPr lang="en-US" sz="3300" dirty="0">
                <a:latin typeface="Consolas" panose="020B0609020204030204" pitchFamily="49" charset="0"/>
              </a:rPr>
              <a:t>: replace(</a:t>
            </a:r>
            <a:r>
              <a:rPr lang="en-US" sz="3300" dirty="0" err="1">
                <a:latin typeface="Consolas" panose="020B0609020204030204" pitchFamily="49" charset="0"/>
              </a:rPr>
              <a:t>oldvalue</a:t>
            </a:r>
            <a:r>
              <a:rPr lang="en-US" sz="3300" dirty="0">
                <a:latin typeface="Consolas" panose="020B0609020204030204" pitchFamily="49" charset="0"/>
              </a:rPr>
              <a:t>, </a:t>
            </a:r>
            <a:r>
              <a:rPr lang="en-US" sz="3300" dirty="0" err="1">
                <a:latin typeface="Consolas" panose="020B0609020204030204" pitchFamily="49" charset="0"/>
              </a:rPr>
              <a:t>newvalue</a:t>
            </a:r>
            <a:r>
              <a:rPr lang="en-US" sz="3300" dirty="0">
                <a:latin typeface="Consolas" panose="020B0609020204030204" pitchFamily="49" charset="0"/>
              </a:rPr>
              <a:t>, count) – count-&gt;</a:t>
            </a:r>
            <a:r>
              <a:rPr lang="en-US" sz="3200" dirty="0">
                <a:latin typeface="Consolas" panose="020B0609020204030204" pitchFamily="49" charset="0"/>
              </a:rPr>
              <a:t>int</a:t>
            </a:r>
            <a:r>
              <a:rPr lang="en-US" sz="3300" dirty="0">
                <a:latin typeface="Consolas" panose="020B0609020204030204" pitchFamily="49" charset="0"/>
              </a:rPr>
              <a:t> parameter is optional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CA81C2-D817-88A7-57FF-BDC0B75BE8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4776740"/>
            <a:ext cx="15314400" cy="224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81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25A15-8DFC-1245-0758-D76CFA8F2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5CC3274-3222-6374-3523-261D7E652949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A6FD886-CD4B-8A76-CDE3-D0A1C23A460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9F57AF8-AD4A-3D62-02DF-519EBB505D0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76875B1-DE9F-2ABD-872C-703D6236BE7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EBBD61E-9243-09AE-32E0-803DAC8AA42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5B1B2A7-EF81-E28B-CE94-9054E6A6CDF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BA087DA-79BB-379D-7926-4FA2FDFD7E5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Counting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A107DD-3670-6581-ABD5-D47E7893A421}"/>
              </a:ext>
            </a:extLst>
          </p:cNvPr>
          <p:cNvSpPr txBox="1"/>
          <p:nvPr/>
        </p:nvSpPr>
        <p:spPr>
          <a:xfrm>
            <a:off x="637059" y="2277070"/>
            <a:ext cx="16953563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We can use count() to return the number of times a specified value occurs.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 </a:t>
            </a:r>
            <a:r>
              <a:rPr lang="en-US" sz="3600" dirty="0">
                <a:latin typeface="Consolas" panose="020B0609020204030204" pitchFamily="49" charset="0"/>
              </a:rPr>
              <a:t>count(value, start, end) – start</a:t>
            </a:r>
            <a:r>
              <a:rPr lang="en-US" sz="4000" dirty="0">
                <a:latin typeface="Consolas" panose="020B0609020204030204" pitchFamily="49" charset="0"/>
              </a:rPr>
              <a:t>-&gt;</a:t>
            </a:r>
            <a:r>
              <a:rPr lang="en-US" sz="3600" dirty="0">
                <a:latin typeface="Consolas" panose="020B0609020204030204" pitchFamily="49" charset="0"/>
              </a:rPr>
              <a:t>int and end</a:t>
            </a:r>
            <a:r>
              <a:rPr lang="en-US" sz="4000" dirty="0">
                <a:latin typeface="Consolas" panose="020B0609020204030204" pitchFamily="49" charset="0"/>
              </a:rPr>
              <a:t>-&gt;</a:t>
            </a:r>
            <a:r>
              <a:rPr lang="en-US" sz="3600" dirty="0">
                <a:latin typeface="Consolas" panose="020B0609020204030204" pitchFamily="49" charset="0"/>
              </a:rPr>
              <a:t>int parameters are optional.</a:t>
            </a:r>
            <a:endParaRPr lang="en-US" sz="3300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4F7E14-05F1-9808-598A-97B23A326C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752750"/>
            <a:ext cx="13184440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378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F2EFB-51C1-5765-F6F0-F2B9AEEFC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8E8B0E2-E292-FED0-3F03-6D753BB0AF3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2C5688-CE18-20F6-3F75-30F5B31F863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9FFC69A-0A08-5D5B-D7AD-CF27B78C770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CBBB810-9148-F0CC-5499-4F079EB73C9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E2CAFEA-0F63-0F83-13E9-07085CD8190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30CB1F0-A5BB-84EF-8767-AE2FC3CDB35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A0F5BA5-ADA3-91C9-DD71-C0FA59806CCF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Splitting strings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7CB124-97E8-1A1A-F3E6-A6A6D8B536C2}"/>
              </a:ext>
            </a:extLst>
          </p:cNvPr>
          <p:cNvSpPr txBox="1"/>
          <p:nvPr/>
        </p:nvSpPr>
        <p:spPr>
          <a:xfrm>
            <a:off x="637059" y="2277070"/>
            <a:ext cx="16953563" cy="8233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We can use split() breaks a string into a list. </a:t>
            </a:r>
          </a:p>
          <a:p>
            <a:pPr algn="just"/>
            <a:r>
              <a:rPr lang="en-US" sz="3300" b="1" dirty="0">
                <a:latin typeface="Consolas" panose="020B0609020204030204" pitchFamily="49" charset="0"/>
              </a:rPr>
              <a:t>Syntax: </a:t>
            </a:r>
            <a:r>
              <a:rPr lang="en-US" sz="3300" dirty="0">
                <a:latin typeface="Consolas" panose="020B0609020204030204" pitchFamily="49" charset="0"/>
              </a:rPr>
              <a:t>split(separator, </a:t>
            </a:r>
            <a:r>
              <a:rPr lang="en-US" sz="3300" dirty="0" err="1">
                <a:latin typeface="Consolas" panose="020B0609020204030204" pitchFamily="49" charset="0"/>
              </a:rPr>
              <a:t>maxsplit</a:t>
            </a:r>
            <a:r>
              <a:rPr lang="en-US" sz="3300" dirty="0">
                <a:latin typeface="Consolas" panose="020B0609020204030204" pitchFamily="49" charset="0"/>
              </a:rPr>
              <a:t>) – Both parameters are optional. By default any whitespace is a separator. </a:t>
            </a:r>
            <a:r>
              <a:rPr lang="en-US" sz="3300" dirty="0" err="1">
                <a:latin typeface="Consolas" panose="020B0609020204030204" pitchFamily="49" charset="0"/>
              </a:rPr>
              <a:t>maxsplit</a:t>
            </a:r>
            <a:r>
              <a:rPr lang="en-US" sz="4000" dirty="0">
                <a:latin typeface="Consolas" panose="020B0609020204030204" pitchFamily="49" charset="0"/>
              </a:rPr>
              <a:t>-&gt;</a:t>
            </a:r>
            <a:r>
              <a:rPr lang="en-US" sz="3600" dirty="0">
                <a:latin typeface="Consolas" panose="020B0609020204030204" pitchFamily="49" charset="0"/>
              </a:rPr>
              <a:t>int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When </a:t>
            </a:r>
            <a:r>
              <a:rPr lang="en-US" sz="3300" dirty="0" err="1">
                <a:latin typeface="Consolas" panose="020B0609020204030204" pitchFamily="49" charset="0"/>
              </a:rPr>
              <a:t>maxsplit</a:t>
            </a:r>
            <a:r>
              <a:rPr lang="en-US" sz="3300" dirty="0">
                <a:latin typeface="Consolas" panose="020B0609020204030204" pitchFamily="49" charset="0"/>
              </a:rPr>
              <a:t> is specified, the list will contain the specified number of elements plus one.</a:t>
            </a: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F3CC38-80C3-4F5F-6C86-40EB2601B5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195630"/>
            <a:ext cx="15314400" cy="22115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0CED7F-DD84-C4E5-543B-9DFBAE2077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993" y="6630074"/>
            <a:ext cx="15314400" cy="209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374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54D9A-349D-9976-1098-1EE565D6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A99C180-AC05-9F20-22D6-A5C92563FBB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533E8FF-A6F5-BDA2-CF68-2690129F045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554FA36-3962-BE99-9374-D1A6A4A3594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841A5B4-0C0B-FB73-57F1-D4807ED5DD4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7C26F32E-4822-8231-81E4-A31950329A6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96E7689-CD49-73BC-855E-BEB4F5842FA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BCECA57-6DBE-0B56-0C1C-48F87793564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Checking strings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0EB975-F461-1887-A6E0-D06C5B0AC9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74" y="7624516"/>
            <a:ext cx="13279703" cy="143847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39256AD-4A07-A4AF-2D18-65FD97DF5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563821"/>
              </p:ext>
            </p:extLst>
          </p:nvPr>
        </p:nvGraphicFramePr>
        <p:xfrm>
          <a:off x="459074" y="2241508"/>
          <a:ext cx="16381126" cy="478496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911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9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92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Method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Definition</a:t>
                      </a:r>
                    </a:p>
                  </a:txBody>
                  <a:tcPr marL="1524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err="1">
                          <a:effectLst/>
                          <a:latin typeface="Consolas" panose="020B0609020204030204" pitchFamily="49" charset="0"/>
                        </a:rPr>
                        <a:t>isalnum</a:t>
                      </a:r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Returns True if all characters in the string are alphanumeric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err="1">
                          <a:effectLst/>
                          <a:latin typeface="Consolas" panose="020B0609020204030204" pitchFamily="49" charset="0"/>
                        </a:rPr>
                        <a:t>isalpha</a:t>
                      </a:r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Returns True if all characters in the string are in the alphabet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err="1">
                          <a:effectLst/>
                          <a:latin typeface="Consolas" panose="020B0609020204030204" pitchFamily="49" charset="0"/>
                        </a:rPr>
                        <a:t>isnumeric</a:t>
                      </a:r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Returns True if all characters in the string are numeric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150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 err="1">
                          <a:effectLst/>
                          <a:latin typeface="Consolas" panose="020B0609020204030204" pitchFamily="49" charset="0"/>
                        </a:rPr>
                        <a:t>isspace</a:t>
                      </a:r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Returns True if all characters in the string are whitespaces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201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20932-BAF2-B9A6-F9D9-91728798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A3579E4-90F8-0825-B79E-F96E7F3A08C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EEB3D35-F0E9-5522-83C8-899B645BC6B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9B9EEEE-0D26-5CF3-044C-940D4E82F6A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3056B61-3C8B-CF04-607E-1F8635BB3B2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CE5CCFC-EF4F-BB7C-ED23-4F7D16AE315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1D89B8F-84B5-828E-9470-D17959058EC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43DB673-94DE-E46A-A7C9-B803D19A2DA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String Operations: String Length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CF90EE-DE5F-DEBF-2075-F43013758C4C}"/>
              </a:ext>
            </a:extLst>
          </p:cNvPr>
          <p:cNvSpPr txBox="1"/>
          <p:nvPr/>
        </p:nvSpPr>
        <p:spPr>
          <a:xfrm>
            <a:off x="637059" y="2277070"/>
            <a:ext cx="169535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To get the length of a string, use the </a:t>
            </a:r>
            <a:r>
              <a:rPr lang="en-US" sz="4000" dirty="0" err="1">
                <a:latin typeface="Consolas" panose="020B0609020204030204" pitchFamily="49" charset="0"/>
              </a:rPr>
              <a:t>len</a:t>
            </a:r>
            <a:r>
              <a:rPr lang="en-US" sz="4000" dirty="0">
                <a:latin typeface="Consolas" panose="020B0609020204030204" pitchFamily="49" charset="0"/>
              </a:rPr>
              <a:t>() function.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Example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The </a:t>
            </a:r>
            <a:r>
              <a:rPr lang="en-US" sz="4000" dirty="0" err="1">
                <a:latin typeface="Consolas" panose="020B0609020204030204" pitchFamily="49" charset="0"/>
              </a:rPr>
              <a:t>len</a:t>
            </a:r>
            <a:r>
              <a:rPr lang="en-US" sz="4000" dirty="0">
                <a:latin typeface="Consolas" panose="020B0609020204030204" pitchFamily="49" charset="0"/>
              </a:rPr>
              <a:t>() function returns the length of a string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a = "Hello, World!"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print(</a:t>
            </a:r>
            <a:r>
              <a:rPr lang="en-US" sz="4000" dirty="0" err="1">
                <a:latin typeface="Consolas" panose="020B0609020204030204" pitchFamily="49" charset="0"/>
              </a:rPr>
              <a:t>len</a:t>
            </a:r>
            <a:r>
              <a:rPr lang="en-US" sz="4000" dirty="0">
                <a:latin typeface="Consolas" panose="020B0609020204030204" pitchFamily="49" charset="0"/>
              </a:rPr>
              <a:t>(a))</a:t>
            </a:r>
          </a:p>
        </p:txBody>
      </p:sp>
    </p:spTree>
    <p:extLst>
      <p:ext uri="{BB962C8B-B14F-4D97-AF65-F5344CB8AC3E}">
        <p14:creationId xmlns:p14="http://schemas.microsoft.com/office/powerpoint/2010/main" val="1085300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E6BC0-4268-273C-CB46-7BA6AD57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BD6C131-C0D4-5EBB-1E85-D1664F8452D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14C4E00-3FA3-C992-5C10-735D12F848C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0113755-E324-696D-7EF8-0267EA32F95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3641CB5-1E4C-288C-4619-C0088FB495C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2C708E8-E48E-6E54-59EF-426D3F1DBA2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44E85EC3-AC56-247B-8336-E76DDDECF5A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E68E840-0DA6-5A54-2592-DDC2C14D055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Escape Character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521A65-4588-714C-1D3A-D57A74A1BFD4}"/>
              </a:ext>
            </a:extLst>
          </p:cNvPr>
          <p:cNvSpPr txBox="1"/>
          <p:nvPr/>
        </p:nvSpPr>
        <p:spPr>
          <a:xfrm>
            <a:off x="637059" y="2277070"/>
            <a:ext cx="169535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To insert characters that are illegal in a string, use an escape character.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An escape character is a backslash \ followed by the character you want to insert.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An example of an illegal character is a double quote inside a string that is surrounded by double quotes: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txt = "We are the so-called "Vikings" from the north."</a:t>
            </a:r>
          </a:p>
        </p:txBody>
      </p:sp>
    </p:spTree>
    <p:extLst>
      <p:ext uri="{BB962C8B-B14F-4D97-AF65-F5344CB8AC3E}">
        <p14:creationId xmlns:p14="http://schemas.microsoft.com/office/powerpoint/2010/main" val="1873046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4500F-117B-482B-F01D-3E534FAF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CBF36C9-617B-C87F-824F-34410A2305B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3BC01D9-6075-E1D7-E7A4-11EA9E52B5F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914D679-D0BF-720A-A9AF-2F668E85939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8B11759-C790-D6AD-143B-0D0114EB64C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C07CA7E-3D0B-878D-CA16-57CCAB8C016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DDBFD0E-16A0-DDE9-C7EB-3B94D1AC9D4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4943944-C872-B1EA-252B-69132685253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BAF2E908-454B-C291-C64C-03FB8DFC22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02960042-52AE-844F-A920-85E4328109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43F92-3270-DFCC-54A2-598D2A8BD7D9}"/>
              </a:ext>
            </a:extLst>
          </p:cNvPr>
          <p:cNvSpPr txBox="1"/>
          <p:nvPr/>
        </p:nvSpPr>
        <p:spPr>
          <a:xfrm>
            <a:off x="463773" y="2159217"/>
            <a:ext cx="16953563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onsolas" panose="020B0609020204030204" pitchFamily="49" charset="0"/>
              </a:rPr>
              <a:t>Ask the user to enter their first name and last name. 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onsolas" panose="020B0609020204030204" pitchFamily="49" charset="0"/>
              </a:rPr>
              <a:t>Concatenate them into a single string and print: 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	Hello, &lt;FirstName LastName&gt;!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onsolas" panose="020B0609020204030204" pitchFamily="49" charset="0"/>
              </a:rPr>
              <a:t>Display the first and last character of the name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onsolas" panose="020B0609020204030204" pitchFamily="49" charset="0"/>
              </a:rPr>
              <a:t>Display the first three letters of the first name as nickname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Consolas" panose="020B0609020204030204" pitchFamily="49" charset="0"/>
              </a:rPr>
              <a:t>Count how many times the letter "a" (case insensitive) appears in the full name.</a:t>
            </a:r>
          </a:p>
          <a:p>
            <a:pPr algn="just"/>
            <a:r>
              <a:rPr lang="en-US" sz="3200" b="1" dirty="0">
                <a:latin typeface="Consolas" panose="020B0609020204030204" pitchFamily="49" charset="0"/>
              </a:rPr>
              <a:t>Sample Output: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Enter your first name: Maria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Enter your last name: Santos</a:t>
            </a:r>
          </a:p>
          <a:p>
            <a:pPr algn="just"/>
            <a:endParaRPr lang="en-US" sz="20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Hello, Maria Santos!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First character: M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Last character: s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Your nickname: Mar</a:t>
            </a: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Number of times 'a' appears in your full name: 3</a:t>
            </a:r>
          </a:p>
        </p:txBody>
      </p:sp>
    </p:spTree>
    <p:extLst>
      <p:ext uri="{BB962C8B-B14F-4D97-AF65-F5344CB8AC3E}">
        <p14:creationId xmlns:p14="http://schemas.microsoft.com/office/powerpoint/2010/main" val="1744433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4838D-FC79-92AC-CD5B-81A9C5D36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74DBDDA0-33C6-7B64-6EDA-8C4AB6646C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8786E1CA-0281-2D38-22D2-B6D9E9DB444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8BEF8A5-9E27-EAAA-891C-D080B0826FAA}"/>
              </a:ext>
            </a:extLst>
          </p:cNvPr>
          <p:cNvSpPr txBox="1"/>
          <p:nvPr/>
        </p:nvSpPr>
        <p:spPr>
          <a:xfrm>
            <a:off x="1144875" y="4404386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Lesson 3.2: Python Numbers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B0CFDFE3-6AD9-EEBE-07E5-D0493BB63DEF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B78EE94E-5530-88E3-EBF1-1AAB040159A5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51E2E98E-65BE-2FC4-2439-2227963D42A9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A7346AC5-70F3-2D0C-64F6-C576C51259D4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073E8812-39AB-C570-318F-139C99D783A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87E5A4AA-289C-B1DC-3D5D-82EBFF841569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2D0A41DE-0B64-9781-2EEC-F3CE65C513D4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6D11BA14-494D-3EA0-1FD1-E6C77A2C33E2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9632D8B-2AC0-3256-6852-75D07A6269D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406F723-0E59-542E-221D-E28D3114876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A219309-9358-7992-AEF2-7502E28136C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28918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A9B65-DA90-EA4D-EE5F-C5FE9EA9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DB8B369-C5A1-8ED8-DDCA-6A31078D316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C6D5961-70E7-C7A8-DE2F-EA67214B6D9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087D828-5FFA-ECFE-521F-1E58F15EE89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1DD9B0C-14BD-E144-8900-D05332AFB61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A77AA46-A711-555A-3E2A-458BE1610A00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8D3C695-9FB7-5B22-D2C4-039A2F15569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061C7D79-8626-6529-032B-6EEC0DCBE3B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Number Operations: Formatting Types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0072B5-1295-C0BC-0823-B3EFA269E228}"/>
              </a:ext>
            </a:extLst>
          </p:cNvPr>
          <p:cNvSpPr txBox="1"/>
          <p:nvPr/>
        </p:nvSpPr>
        <p:spPr>
          <a:xfrm>
            <a:off x="637059" y="2277070"/>
            <a:ext cx="169535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Inside the placeholders you can add a formatting type to format the result: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40F742-2395-F09A-2A75-F126B613D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248202"/>
              </p:ext>
            </p:extLst>
          </p:nvPr>
        </p:nvGraphicFramePr>
        <p:xfrm>
          <a:off x="749992" y="3443516"/>
          <a:ext cx="15314400" cy="355926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591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22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92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format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Definition</a:t>
                      </a:r>
                    </a:p>
                  </a:txBody>
                  <a:tcPr marL="1524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33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:f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Fix point number format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33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:,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Use a comma as a thousand separator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33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:%</a:t>
                      </a: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Percentage format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833"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:.</a:t>
                      </a:r>
                      <a:r>
                        <a:rPr lang="en-US" sz="2800" i="1" dirty="0">
                          <a:effectLst/>
                          <a:latin typeface="Consolas" panose="020B0609020204030204" pitchFamily="49" charset="0"/>
                        </a:rPr>
                        <a:t>+</a:t>
                      </a:r>
                      <a:r>
                        <a:rPr lang="en-US" sz="2800" i="1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endParaRPr lang="en-US" sz="280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52400" marR="76200" marT="76200" marB="7620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800" dirty="0">
                          <a:effectLst/>
                          <a:latin typeface="Consolas" panose="020B0609020204030204" pitchFamily="49" charset="0"/>
                        </a:rPr>
                        <a:t>Specify the number of decimal places using positive integer numbers.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03183347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18C96AC-1B71-E149-76AF-679F65AEED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481" y="7002781"/>
            <a:ext cx="15314400" cy="295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28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F9482-AFF4-93D2-196F-993A9F8C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AF3D222-ECC5-BF15-DA86-4D867E97349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FCA7EA9-856C-3CED-5AC0-87408E8C2E9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5F01E70-C27F-DDF1-9B3B-E6A15644227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35B75D4-DCDB-6DAC-463F-58CCED4AEBC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ED3DCF2-5BD7-3F03-BE3F-ACD4EF51C17A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AA0F22A-49C4-1FC6-CA29-095E10B6B4A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960BEC9-7099-1142-8B22-F7CCA19CC7C7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Number Operations: Determining Data Type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075C08-3FD4-3478-0DB2-0E19F3596B1C}"/>
              </a:ext>
            </a:extLst>
          </p:cNvPr>
          <p:cNvSpPr txBox="1"/>
          <p:nvPr/>
        </p:nvSpPr>
        <p:spPr>
          <a:xfrm>
            <a:off x="637059" y="2277070"/>
            <a:ext cx="16953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We use type() to determine the type of a variable or value.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09AE98-2964-D62E-7316-C467AD87A1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176390"/>
            <a:ext cx="15314400" cy="328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51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5887-FF99-01D4-2A16-D162ABD8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7ABFD7F4-8BB5-4E9F-A2B3-1B6E663B85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E81C3C5A-B976-7419-9552-7E9C14BFFC1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039D621-6B52-C117-1F41-62A3D99ADD2C}"/>
              </a:ext>
            </a:extLst>
          </p:cNvPr>
          <p:cNvSpPr txBox="1"/>
          <p:nvPr/>
        </p:nvSpPr>
        <p:spPr>
          <a:xfrm>
            <a:off x="1144875" y="4404386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Lesson 3.3: Python Conditions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E7F99451-5D8D-C30E-EFB9-8FA48453492F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BA615E53-7A46-CFFA-FF60-32073441374D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94D9331E-4083-0012-F079-D923BCD2BBC0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48A295D7-80DE-76D3-ED82-028E5ABE730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8435D584-84E4-88C8-9E03-7B6157ABAF46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9932DC4D-0F18-0464-1AF9-07911CD6BA8A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114A6946-6868-84A8-B3F5-3DAAB5DF65B0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7BA01EA3-1CC1-CA01-1D6B-D55D0583D25A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AE4D753-957C-89B2-BE52-ABFC9E5B355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C84683D-E705-AE09-5DFE-051DE96A6F3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EAFB62C-592B-9C91-C927-4C00476BBEF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2859967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51CB8-236A-6A8E-B1AF-DBC5D07E5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93D871B-FF25-4A76-129D-4F2E332F378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5B6FDC3-2288-2AA0-3649-C522A0AB483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29570E9-1EBD-9351-E2F3-12CC78431E2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90AD5BA-081B-90D1-AA31-11E70CB11AD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9F4E8A2D-2524-9B3D-EE80-9B3C7B871B5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E6A0FE1-0ED0-738D-828A-4528ADC5F28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9721A66-A440-1981-3A29-8C05BFBB415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Basic if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2740FE-B2B5-743E-4D4D-2CB1B572FA60}"/>
              </a:ext>
            </a:extLst>
          </p:cNvPr>
          <p:cNvSpPr txBox="1"/>
          <p:nvPr/>
        </p:nvSpPr>
        <p:spPr>
          <a:xfrm>
            <a:off x="637059" y="2277070"/>
            <a:ext cx="16953563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To define scope of a statement, use an indentation.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if </a:t>
            </a:r>
            <a:r>
              <a:rPr lang="en-US" sz="3600" i="1" dirty="0">
                <a:latin typeface="Consolas" panose="020B0609020204030204" pitchFamily="49" charset="0"/>
              </a:rPr>
              <a:t>condition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# code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Whenever writing a statement, make sure that it must have atleast 1 line of code, otherwise, an error will occur. Use </a:t>
            </a:r>
            <a:r>
              <a:rPr lang="en-US" sz="3600" b="1" i="1" dirty="0">
                <a:latin typeface="Consolas" panose="020B0609020204030204" pitchFamily="49" charset="0"/>
              </a:rPr>
              <a:t>pass</a:t>
            </a:r>
            <a:r>
              <a:rPr lang="en-US" sz="3600" i="1" dirty="0">
                <a:latin typeface="Consolas" panose="020B0609020204030204" pitchFamily="49" charset="0"/>
              </a:rPr>
              <a:t> </a:t>
            </a:r>
            <a:r>
              <a:rPr lang="en-US" sz="3600" dirty="0">
                <a:latin typeface="Consolas" panose="020B0609020204030204" pitchFamily="49" charset="0"/>
              </a:rPr>
              <a:t>statement.</a:t>
            </a:r>
          </a:p>
          <a:p>
            <a:pPr algn="just"/>
            <a:endParaRPr lang="en-US" sz="14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C8583-220E-A474-AEB0-CF13654836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7589877"/>
            <a:ext cx="15314400" cy="214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23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CD2F4-67C8-CCF3-55C9-D8C75A046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6A489BD-17BC-398B-90A5-6570749E367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48B3CF5-C09C-C15F-50B0-3789C1AD141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29362F3-154B-3B88-293D-FF82F45A45A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009C2FE-632E-628B-BAC1-DD6A50B2B7E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235B837F-F882-1C02-4796-7C3BDABB31E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01F7B0A-E45A-C85E-6FB5-FEB3E75C55B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7E5FA64-209A-1136-3BDF-FB7AAA95822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if-else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90A8B9-1ABC-AD8C-0A2A-EC1F34538E76}"/>
              </a:ext>
            </a:extLst>
          </p:cNvPr>
          <p:cNvSpPr txBox="1"/>
          <p:nvPr/>
        </p:nvSpPr>
        <p:spPr>
          <a:xfrm>
            <a:off x="637059" y="2277070"/>
            <a:ext cx="16953563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if </a:t>
            </a:r>
            <a:r>
              <a:rPr lang="en-US" sz="3600" i="1" dirty="0">
                <a:latin typeface="Consolas" panose="020B0609020204030204" pitchFamily="49" charset="0"/>
              </a:rPr>
              <a:t>condition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# code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else: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# code</a:t>
            </a:r>
          </a:p>
          <a:p>
            <a:pPr algn="just"/>
            <a:endParaRPr lang="en-US" sz="14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8B9C8C-FE57-EEF0-37E8-D5C1815EAC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166602"/>
            <a:ext cx="15314400" cy="292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871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349D9-A6E0-88F5-A166-6C1F79D11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167E72-CC2A-20D5-63E0-69F6D68B1B8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17D7818-AF46-902E-FF12-81B382D75F4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865FFA9-DEDB-12DD-BD5B-F7896714986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755AFAB-35EF-0AF8-2D05-CA3D7B24360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8DA1740-7F55-B2B3-1A51-38BA1B39ACC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2BF07AA-FF80-B155-C367-7383D34FDA7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61A4D08-2901-2C1D-9E3B-7C6F8447D56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if-</a:t>
            </a:r>
            <a:r>
              <a:rPr lang="en-US" sz="4800" i="1" spc="-360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elif</a:t>
            </a: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-else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BA7BB9-E365-2245-933C-B918AA0FE66F}"/>
              </a:ext>
            </a:extLst>
          </p:cNvPr>
          <p:cNvSpPr txBox="1"/>
          <p:nvPr/>
        </p:nvSpPr>
        <p:spPr>
          <a:xfrm>
            <a:off x="637059" y="2277070"/>
            <a:ext cx="16953563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if </a:t>
            </a:r>
            <a:r>
              <a:rPr lang="en-US" sz="3600" i="1" dirty="0">
                <a:latin typeface="Consolas" panose="020B0609020204030204" pitchFamily="49" charset="0"/>
              </a:rPr>
              <a:t>condition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# code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elif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i="1" dirty="0">
                <a:latin typeface="Consolas" panose="020B0609020204030204" pitchFamily="49" charset="0"/>
              </a:rPr>
              <a:t>condition:</a:t>
            </a:r>
          </a:p>
          <a:p>
            <a:pPr algn="just"/>
            <a:r>
              <a:rPr lang="en-US" sz="3600" i="1" dirty="0">
                <a:latin typeface="Consolas" panose="020B0609020204030204" pitchFamily="49" charset="0"/>
              </a:rPr>
              <a:t>	</a:t>
            </a:r>
            <a:r>
              <a:rPr lang="en-US" sz="3600" dirty="0">
                <a:latin typeface="Consolas" panose="020B0609020204030204" pitchFamily="49" charset="0"/>
              </a:rPr>
              <a:t># code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else: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# code</a:t>
            </a:r>
          </a:p>
          <a:p>
            <a:pPr algn="just"/>
            <a:endParaRPr lang="en-US" sz="7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EE42C4-CEF6-8EA4-2EED-388B7DE53A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43" y="6819900"/>
            <a:ext cx="13041545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571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36B7C-D775-ECE1-4874-9D2199E16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D19CFCB-75C1-9CE2-0D57-8674BC810A06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4A10084-95A4-E83F-36A5-ECFFAD69FD4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03A4FFA-3885-582E-B7F9-D99F11AA635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36734BA-601F-5D93-EFD1-A5C5F5A1848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10AA2BB-01B5-4494-4425-CD7C5557A30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7FCCF216-661F-76A1-FE56-8AFF3E956F4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349DBC3-0AA0-6BF7-74DC-D53A477594A3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Shorthand if / Ternary Expression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FBEC89-149C-2682-0176-95A2BF97C006}"/>
              </a:ext>
            </a:extLst>
          </p:cNvPr>
          <p:cNvSpPr txBox="1"/>
          <p:nvPr/>
        </p:nvSpPr>
        <p:spPr>
          <a:xfrm>
            <a:off x="637059" y="2277070"/>
            <a:ext cx="169535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9D071F-F88B-A803-7EED-15347024A9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2961756"/>
            <a:ext cx="15314400" cy="221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018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7AD49-BDC9-0B82-10C2-4700DF528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428ADD7-D92B-B786-5A01-F9208ABAC1F4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58A668B-E052-F600-D3C2-C3304D778A1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6B98051-4A52-C403-30E9-F70ADDC2F92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B916068-F592-68F9-15B0-A4227050E29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800C8BC-5170-23A3-0252-A701B9AE643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0B74CA0-47D6-9EF8-C6D2-A94FB65F56B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1006EC0-9809-D9D8-8436-C8FD85E4D54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Multiple conditions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44441D-4F7A-BCB8-2153-E8E5A7884A5F}"/>
              </a:ext>
            </a:extLst>
          </p:cNvPr>
          <p:cNvSpPr txBox="1"/>
          <p:nvPr/>
        </p:nvSpPr>
        <p:spPr>
          <a:xfrm>
            <a:off x="637059" y="2277070"/>
            <a:ext cx="16953563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if </a:t>
            </a:r>
            <a:r>
              <a:rPr lang="en-US" sz="3600" i="1" dirty="0">
                <a:latin typeface="Consolas" panose="020B0609020204030204" pitchFamily="49" charset="0"/>
              </a:rPr>
              <a:t>condition </a:t>
            </a:r>
            <a:r>
              <a:rPr lang="en-US" sz="3600" b="1" dirty="0">
                <a:latin typeface="Consolas" panose="020B0609020204030204" pitchFamily="49" charset="0"/>
              </a:rPr>
              <a:t>and </a:t>
            </a:r>
            <a:r>
              <a:rPr lang="en-US" sz="3600" i="1" dirty="0">
                <a:latin typeface="Consolas" panose="020B0609020204030204" pitchFamily="49" charset="0"/>
              </a:rPr>
              <a:t>condition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# code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else: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# code</a:t>
            </a:r>
          </a:p>
          <a:p>
            <a:pPr algn="just"/>
            <a:endParaRPr lang="en-US" sz="7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F05F12-3E90-1884-4C50-D5E523F0DA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5963632"/>
            <a:ext cx="15314400" cy="297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97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592DA-1E41-6868-5CBC-B5D6E75EA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C8D7FA3-AF18-911E-B253-365AE111D256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2B160CB-181A-A59E-3CD5-55FC1BF3A2C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44A8C7E-B691-058C-5228-2B8937BC0DC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BA164B0-4806-9CCD-D341-DCC0AC1326E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F85849B-6099-2D0F-094C-EE3084729F5A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7513743A-B9C1-77EB-25D0-6776E00BCD2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1411BD9-7715-CB5E-DB59-93D5DFE07DE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Nested if statements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20CDC4-BA36-0D19-F8FA-29DA5FCB42A7}"/>
              </a:ext>
            </a:extLst>
          </p:cNvPr>
          <p:cNvSpPr txBox="1"/>
          <p:nvPr/>
        </p:nvSpPr>
        <p:spPr>
          <a:xfrm>
            <a:off x="637059" y="2277070"/>
            <a:ext cx="16953563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if </a:t>
            </a:r>
            <a:r>
              <a:rPr lang="en-US" sz="3600" i="1" dirty="0">
                <a:latin typeface="Consolas" panose="020B0609020204030204" pitchFamily="49" charset="0"/>
              </a:rPr>
              <a:t>condition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if </a:t>
            </a:r>
            <a:r>
              <a:rPr lang="en-US" sz="3600" i="1" dirty="0">
                <a:latin typeface="Consolas" panose="020B0609020204030204" pitchFamily="49" charset="0"/>
              </a:rPr>
              <a:t>condition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	# code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else: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	# code</a:t>
            </a:r>
          </a:p>
          <a:p>
            <a:pPr algn="just"/>
            <a:endParaRPr lang="en-US" sz="7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Example: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1D8DF2-38D8-3515-EF58-A4489C8B46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6536679"/>
            <a:ext cx="15314400" cy="331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17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EE48C-5B59-6A9C-A3D9-51A30978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54272EF-CFFD-8114-E535-4D6FF543C73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1B720D-CDE8-CBB6-CEDA-68EE8C59BFF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81629BC-042E-9612-C5CE-485D72B9D65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7320A00-122F-81B9-3080-1D0834D5EBE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104C82F-7F50-D085-1F44-F5B45F63CB7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E3A2FF1-10C5-C84E-918D-594DF2A2142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E09DEDB9-87DC-74C0-559E-7B5D86A03B1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B401AFF9-5AA1-2019-1D40-413BE72708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8ECC30E3-A6B6-554F-3497-7EBB0CF950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562857-18E4-1592-DCFC-7723307FB01E}"/>
              </a:ext>
            </a:extLst>
          </p:cNvPr>
          <p:cNvSpPr txBox="1"/>
          <p:nvPr/>
        </p:nvSpPr>
        <p:spPr>
          <a:xfrm>
            <a:off x="463773" y="2159217"/>
            <a:ext cx="169535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Write a program that asks for a username and password. If they match predefined values (user = "admin", password = "1234"), print "Login successful", otherwise print "Access Denied".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endParaRPr lang="en-US" sz="3600" dirty="0">
              <a:latin typeface="Consolas" panose="020B0609020204030204" pitchFamily="49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Write a program that will check if user input is just whitespace or did not enter anything.</a:t>
            </a:r>
          </a:p>
        </p:txBody>
      </p:sp>
    </p:spTree>
    <p:extLst>
      <p:ext uri="{BB962C8B-B14F-4D97-AF65-F5344CB8AC3E}">
        <p14:creationId xmlns:p14="http://schemas.microsoft.com/office/powerpoint/2010/main" val="8026921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625D7-CF17-1606-036A-FF87438EC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EAFE3FA-DF76-A9BD-97BF-9CC33F92E14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C481666-9729-80AA-C403-4CA6FAE074E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E681D98-01DD-479D-9C5B-6FD99CEDA08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75426CE-ADAC-6535-BB9D-3D4A1102E35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71B4CBB-C9BF-ECA2-FA47-C782A24C62E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E3E306D-8C98-9CB3-EDD2-22F5F51929E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E74C9D9-CA64-55E7-855B-C99696A4D0B7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match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C40F6F-CADB-5627-7BF2-D04A12861037}"/>
              </a:ext>
            </a:extLst>
          </p:cNvPr>
          <p:cNvSpPr txBox="1"/>
          <p:nvPr/>
        </p:nvSpPr>
        <p:spPr>
          <a:xfrm>
            <a:off x="637059" y="2277070"/>
            <a:ext cx="1695356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match </a:t>
            </a:r>
            <a:r>
              <a:rPr lang="en-US" sz="3600" i="1" dirty="0">
                <a:latin typeface="Consolas" panose="020B0609020204030204" pitchFamily="49" charset="0"/>
              </a:rPr>
              <a:t>variable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case value1: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    # code block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case value2: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    # code block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case _: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        # default case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match</a:t>
            </a:r>
            <a:r>
              <a:rPr lang="en-US" sz="3600" dirty="0">
                <a:latin typeface="Consolas" panose="020B0609020204030204" pitchFamily="49" charset="0"/>
              </a:rPr>
              <a:t> compares a variable against different patterns.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_ (underscore) </a:t>
            </a:r>
            <a:r>
              <a:rPr lang="en-US" sz="3600" dirty="0">
                <a:latin typeface="Consolas" panose="020B0609020204030204" pitchFamily="49" charset="0"/>
              </a:rPr>
              <a:t>works like a "default" or "else" case.</a:t>
            </a:r>
          </a:p>
        </p:txBody>
      </p:sp>
    </p:spTree>
    <p:extLst>
      <p:ext uri="{BB962C8B-B14F-4D97-AF65-F5344CB8AC3E}">
        <p14:creationId xmlns:p14="http://schemas.microsoft.com/office/powerpoint/2010/main" val="1970452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6467-37E1-0FAF-E40F-2AD7F07AE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915171B-E161-3852-98ED-FF0B9392024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56D9B3D-1C3F-1C10-9918-AC2DCC1788F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D19F8A2-56F6-7BDF-0470-3E552BE19D4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245BB43-7BA9-9BB9-5608-78CC3D4E3A3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7BBE7E54-125B-350C-2068-D6A600AF877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AE45A1D-0A39-298C-A324-7838D7F6072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166D8AF-B69B-21CF-F46C-E8B7E220B66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match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289F99-8FAA-43D1-041B-A06962D95103}"/>
              </a:ext>
            </a:extLst>
          </p:cNvPr>
          <p:cNvSpPr txBox="1"/>
          <p:nvPr/>
        </p:nvSpPr>
        <p:spPr>
          <a:xfrm>
            <a:off x="637059" y="2277070"/>
            <a:ext cx="16953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E9BB8E-64CA-A53E-8981-B4C86F420D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2923401"/>
            <a:ext cx="12984387" cy="67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3856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F778B-BD4C-3AD9-AF9D-9D7024A3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46860D6-0922-8835-34E5-4EB94B8C6AD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6D40520-C850-756A-0BED-E694800D67C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95737A0-0D95-8298-5858-329F5DDF04C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B1DA418-A99C-4713-A3C3-1D2A5A16F8D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0397E57-1BC4-0499-FBB7-7BB3AE271280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237B74B-9FD6-0A6B-9E90-4054BD522DA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CA9A3EB-2948-DF30-7740-E5EF0346DD1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Using multiple values in one case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8DA810-B6A1-A55A-C256-ABDA5709D0EF}"/>
              </a:ext>
            </a:extLst>
          </p:cNvPr>
          <p:cNvSpPr txBox="1"/>
          <p:nvPr/>
        </p:nvSpPr>
        <p:spPr>
          <a:xfrm>
            <a:off x="637059" y="2277070"/>
            <a:ext cx="169535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Use the pipe character | as an or operator in the case evaluation to check for more than one value match in one case.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892CAC-6F05-88D5-53BB-D5E99935C5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4585394"/>
            <a:ext cx="15314400" cy="341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561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487E8-C51A-6D3A-8A13-ECD82E92D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2FEE23-0169-F2DE-FF60-0D264C888F35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2579EEB-D92F-3BD3-16EF-F05BF0A2715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C0C42B3-CC14-BD8E-70AE-4F8C4CE5C27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833E98E-0199-6BA5-C36C-D62D9D59D88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548D1D8-2269-20E7-5D69-CE60FE27565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BF29453-0E50-DB66-2965-61E46A8C46B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92F40C7D-C86C-29DE-8C0D-C6C0D08E1FB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Using if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303B82-9265-2721-2BF0-3EC2E6BD8488}"/>
              </a:ext>
            </a:extLst>
          </p:cNvPr>
          <p:cNvSpPr txBox="1"/>
          <p:nvPr/>
        </p:nvSpPr>
        <p:spPr>
          <a:xfrm>
            <a:off x="637059" y="2277070"/>
            <a:ext cx="16953563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You can add conditions using if (called a guard). The use of undeclared variable in the case statement is only possible with the use of </a:t>
            </a:r>
            <a:r>
              <a:rPr lang="en-US" sz="3600" i="1" dirty="0">
                <a:latin typeface="Consolas" panose="020B0609020204030204" pitchFamily="49" charset="0"/>
              </a:rPr>
              <a:t>if</a:t>
            </a:r>
            <a:r>
              <a:rPr lang="en-US" sz="3600" dirty="0">
                <a:latin typeface="Consolas" panose="020B0609020204030204" pitchFamily="49" charset="0"/>
              </a:rPr>
              <a:t> statement. It will be called as pattern variable where it takes the value of what is being matched, in this case: num</a:t>
            </a:r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6061C6-7761-6D20-8C01-CB25880F6E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5676900"/>
            <a:ext cx="15314400" cy="410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19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12467-1BE3-F08F-799A-5EBAE2025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8F308B7-09B1-6921-EB16-79E187A69119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77D76C4-A124-BB3A-BBAA-90AA5471D07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1955189-9576-AD2F-2E17-9D62B864B69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B0CE414-5C6E-CE1B-5F5F-BCC5818EEF0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9438F409-24CB-3F60-2C32-94ABAF9AF93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1ACCC51-0191-7DFC-07D2-6574C1EF07C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13612A8-7DE2-3830-DE23-002FD5BF1321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Using if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2BC37E-8EAF-3D04-35B0-4D4901C78913}"/>
              </a:ext>
            </a:extLst>
          </p:cNvPr>
          <p:cNvSpPr txBox="1"/>
          <p:nvPr/>
        </p:nvSpPr>
        <p:spPr>
          <a:xfrm>
            <a:off x="637059" y="2277070"/>
            <a:ext cx="16953563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You can add conditions using if (called a guard). The use of undeclared variable in the case statement is only possible with the use of </a:t>
            </a:r>
            <a:r>
              <a:rPr lang="en-US" sz="3600" i="1" dirty="0">
                <a:latin typeface="Consolas" panose="020B0609020204030204" pitchFamily="49" charset="0"/>
              </a:rPr>
              <a:t>if</a:t>
            </a:r>
            <a:r>
              <a:rPr lang="en-US" sz="3600" dirty="0">
                <a:latin typeface="Consolas" panose="020B0609020204030204" pitchFamily="49" charset="0"/>
              </a:rPr>
              <a:t> statement. It will be called as pattern variable where it takes the value of what is being matched, in this case: num</a:t>
            </a:r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C9F150-CEB4-F223-A51E-FBEF9DCDC1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5676900"/>
            <a:ext cx="15314400" cy="410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56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05E89-E40B-838F-2064-850DF9AC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4FC26E8-60CD-B997-2030-7C9C8AAD4D2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47494FC-F655-B5B9-1C71-15AAF1855A4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F5F609A-4C81-9291-3C42-14A8EEA09C5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C10566A-C11F-5606-447D-A7815E38EF3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1402092-88D2-BD71-2217-A8E889D8D02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01B9E79-F8E8-491F-83BD-07FEF2E6375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14FA5BB-F28B-253A-7BE2-1039B28C717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Using if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310468-C694-42D9-7A15-BBB7080F5DD3}"/>
              </a:ext>
            </a:extLst>
          </p:cNvPr>
          <p:cNvSpPr txBox="1"/>
          <p:nvPr/>
        </p:nvSpPr>
        <p:spPr>
          <a:xfrm>
            <a:off x="637059" y="2277070"/>
            <a:ext cx="169535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BD4803-0BD5-64AB-9FBA-4C2E564194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314700"/>
            <a:ext cx="15314400" cy="333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803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8B0F2-ADFE-229D-90AE-A22E9216F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20E32E5-9AF3-A07A-7233-CE05CCB9215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B0FE84-E910-1B07-3F7E-CF02D2C76D4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ED153AC-6263-FD59-FFDC-FE9FFD7199D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5CF6B14-4ECD-A609-4E7A-77B6D1A19FD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06784C4-7E9E-6E90-28F0-38E6C3927A3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47BFE70-4E55-A618-A076-0EFD20DEC8D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089B59CE-0F9F-8E9B-AFCF-DDD38CEF811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DCA9988F-EC09-3FA7-8828-1AEA44D89C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73BFAB3F-E088-EF4D-8384-52759CE9AA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78B5F-12CE-348D-0F81-2BE0057E43FB}"/>
              </a:ext>
            </a:extLst>
          </p:cNvPr>
          <p:cNvSpPr txBox="1"/>
          <p:nvPr/>
        </p:nvSpPr>
        <p:spPr>
          <a:xfrm>
            <a:off x="463773" y="2159217"/>
            <a:ext cx="16953563" cy="4989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Create a match-case program that asks the user to enter a shape (circle, square, triangle). Then: 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latin typeface="Consolas" panose="020B0609020204030204" pitchFamily="49" charset="0"/>
              </a:rPr>
              <a:t>If circle, ask for radius and compute area.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latin typeface="Consolas" panose="020B0609020204030204" pitchFamily="49" charset="0"/>
              </a:rPr>
              <a:t>If square, ask for side and compute area.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latin typeface="Consolas" panose="020B0609020204030204" pitchFamily="49" charset="0"/>
              </a:rPr>
              <a:t>If triangle, ask for base and height and compute area.</a:t>
            </a:r>
          </a:p>
          <a:p>
            <a:pPr marL="1028700" lvl="1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latin typeface="Consolas" panose="020B0609020204030204" pitchFamily="49" charset="0"/>
              </a:rPr>
              <a:t>Otherwise, print "Invalid shape".</a:t>
            </a:r>
          </a:p>
        </p:txBody>
      </p:sp>
    </p:spTree>
    <p:extLst>
      <p:ext uri="{BB962C8B-B14F-4D97-AF65-F5344CB8AC3E}">
        <p14:creationId xmlns:p14="http://schemas.microsoft.com/office/powerpoint/2010/main" val="42202270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07BCD-C1E0-FDC7-FC6B-D290CC3D8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30C3981A-298A-57B6-7DAA-BF70E4623A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DC723614-297D-D670-6912-65676811695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FCA6FA2-4C98-4A99-006A-44C72B8F536A}"/>
              </a:ext>
            </a:extLst>
          </p:cNvPr>
          <p:cNvSpPr txBox="1"/>
          <p:nvPr/>
        </p:nvSpPr>
        <p:spPr>
          <a:xfrm>
            <a:off x="1144875" y="4404386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Lesson 3.4: Looping Statements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D79CFFE5-C5BB-5478-F80F-D58DFF52C5C2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53B276C2-20B4-9BEA-5FF4-FC4AFD829683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1393383B-7D17-C523-70CB-2F17F91C970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A340C123-15F5-86EE-308F-9B195418799A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77981D63-DDC1-5AF7-FE74-4F3DBB215BFF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C82A6349-1BB4-AB09-24BB-943F90D142DB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BA191496-35A5-7119-532A-1D795051BA72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D1B42E42-E407-18F6-A653-ACF1CC5B3DC4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757D0AA-9A83-4CCB-3B4A-4D82E34610F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AF56280-D78C-43DA-5802-5A5A1DF314C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6370964-1323-75C3-DB81-D664045F90F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12564089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F9B17-1FCE-E367-A99B-48A0C91B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56438E9-5B0A-A964-1195-3DFE282DA27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721072E-C59D-91EF-821A-7413AF83AB8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08BD26D-C7F3-AAC8-2460-575E0311365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C58A6B8-5949-8CE5-E330-6CB408FE938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306C7E4-1945-B1B2-A4FD-FB2A43D61EE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4343DB99-016B-41A3-4BF0-EA42F3F3479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91CAC1E0-74B6-4C6C-3521-7705CFF453A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for loop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C3D3EB-2068-3D01-1FB8-95EA02D77D7E}"/>
              </a:ext>
            </a:extLst>
          </p:cNvPr>
          <p:cNvSpPr txBox="1"/>
          <p:nvPr/>
        </p:nvSpPr>
        <p:spPr>
          <a:xfrm>
            <a:off x="637059" y="2277070"/>
            <a:ext cx="169535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Loops are essential when dealing with repetitive tasks like printing sequences, processing lists, or handling user input until a condition is met. Python provides two main types of loops: for loop and while loop.</a:t>
            </a:r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for </a:t>
            </a:r>
            <a:r>
              <a:rPr lang="en-US" sz="3600" i="1" dirty="0">
                <a:latin typeface="Consolas" panose="020B0609020204030204" pitchFamily="49" charset="0"/>
              </a:rPr>
              <a:t>variable </a:t>
            </a:r>
            <a:r>
              <a:rPr lang="en-US" sz="3600" b="1" dirty="0">
                <a:latin typeface="Consolas" panose="020B0609020204030204" pitchFamily="49" charset="0"/>
              </a:rPr>
              <a:t>in</a:t>
            </a:r>
            <a:r>
              <a:rPr lang="en-US" sz="3600" dirty="0">
                <a:latin typeface="Consolas" panose="020B0609020204030204" pitchFamily="49" charset="0"/>
              </a:rPr>
              <a:t> </a:t>
            </a:r>
            <a:r>
              <a:rPr lang="en-US" sz="3600" i="1" dirty="0">
                <a:latin typeface="Consolas" panose="020B0609020204030204" pitchFamily="49" charset="0"/>
              </a:rPr>
              <a:t>sequence</a:t>
            </a:r>
            <a:r>
              <a:rPr lang="en-US" sz="3600" dirty="0">
                <a:latin typeface="Consolas" panose="020B0609020204030204" pitchFamily="49" charset="0"/>
              </a:rPr>
              <a:t>:</a:t>
            </a:r>
          </a:p>
          <a:p>
            <a:pPr algn="just"/>
            <a:r>
              <a:rPr lang="en-US" sz="3600" b="1" i="1" dirty="0">
                <a:latin typeface="Consolas" panose="020B0609020204030204" pitchFamily="49" charset="0"/>
              </a:rPr>
              <a:t>	</a:t>
            </a:r>
            <a:r>
              <a:rPr lang="en-US" sz="3600" i="1" dirty="0">
                <a:latin typeface="Consolas" panose="020B0609020204030204" pitchFamily="49" charset="0"/>
              </a:rPr>
              <a:t># code</a:t>
            </a:r>
          </a:p>
        </p:txBody>
      </p:sp>
    </p:spTree>
    <p:extLst>
      <p:ext uri="{BB962C8B-B14F-4D97-AF65-F5344CB8AC3E}">
        <p14:creationId xmlns:p14="http://schemas.microsoft.com/office/powerpoint/2010/main" val="24933664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E10D-9B29-A74B-8865-1C945B34A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041F91A-27A2-4C88-654E-AB22006E296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2308446-C371-8F90-4A7C-B9BC936F0EE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18ECAD0-65C5-854F-8B3A-704AE78761B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CEF825A-B6DF-33D1-706D-7670F23525E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36C3316E-27BD-102B-D120-DCFDEC451328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112179D-3750-8029-8805-9A882765A36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05AA248-D3C5-DBB7-652A-80B3F3F944D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for loop -&gt; range()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1A0990-C956-7C50-8728-E1CC2F7400C6}"/>
              </a:ext>
            </a:extLst>
          </p:cNvPr>
          <p:cNvSpPr txBox="1"/>
          <p:nvPr/>
        </p:nvSpPr>
        <p:spPr>
          <a:xfrm>
            <a:off x="637059" y="2277070"/>
            <a:ext cx="16953563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The range() method generates a sequence of numbers based on the given values.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The loop starts with </a:t>
            </a:r>
            <a:r>
              <a:rPr lang="en-US" sz="3600" dirty="0" err="1">
                <a:latin typeface="Consolas" panose="020B0609020204030204" pitchFamily="49" charset="0"/>
              </a:rPr>
              <a:t>i</a:t>
            </a:r>
            <a:r>
              <a:rPr lang="en-US" sz="3600" dirty="0">
                <a:latin typeface="Consolas" panose="020B0609020204030204" pitchFamily="49" charset="0"/>
              </a:rPr>
              <a:t> = 1, then </a:t>
            </a:r>
            <a:r>
              <a:rPr lang="en-US" sz="3600" dirty="0" err="1">
                <a:latin typeface="Consolas" panose="020B0609020204030204" pitchFamily="49" charset="0"/>
              </a:rPr>
              <a:t>i</a:t>
            </a:r>
            <a:r>
              <a:rPr lang="en-US" sz="3600" dirty="0">
                <a:latin typeface="Consolas" panose="020B0609020204030204" pitchFamily="49" charset="0"/>
              </a:rPr>
              <a:t> = 2, and so on until </a:t>
            </a:r>
            <a:r>
              <a:rPr lang="en-US" sz="3600" dirty="0" err="1">
                <a:latin typeface="Consolas" panose="020B0609020204030204" pitchFamily="49" charset="0"/>
              </a:rPr>
              <a:t>i</a:t>
            </a:r>
            <a:r>
              <a:rPr lang="en-US" sz="3600" dirty="0">
                <a:latin typeface="Consolas" panose="020B0609020204030204" pitchFamily="49" charset="0"/>
              </a:rPr>
              <a:t> = 5. Each time, print(</a:t>
            </a:r>
            <a:r>
              <a:rPr lang="en-US" sz="3600" dirty="0" err="1">
                <a:latin typeface="Consolas" panose="020B0609020204030204" pitchFamily="49" charset="0"/>
              </a:rPr>
              <a:t>i</a:t>
            </a:r>
            <a:r>
              <a:rPr lang="en-US" sz="3600" dirty="0">
                <a:latin typeface="Consolas" panose="020B0609020204030204" pitchFamily="49" charset="0"/>
              </a:rPr>
              <a:t>) runs.</a:t>
            </a:r>
          </a:p>
          <a:p>
            <a:pPr algn="just"/>
            <a:endParaRPr lang="en-US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range() syntax: range(start, end, step) – all parameters are integers. The end and step parameters are optional.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Note: </a:t>
            </a:r>
            <a:r>
              <a:rPr lang="en-US" sz="3600" dirty="0">
                <a:latin typeface="Consolas" panose="020B0609020204030204" pitchFamily="49" charset="0"/>
              </a:rPr>
              <a:t>If only value is provided, it will be the end parameter and the start takes 0 value by default.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FF201B-4873-5847-CEF8-8CFA9371F6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591300"/>
            <a:ext cx="15314400" cy="187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603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51188-AD31-81CD-EE2E-AED4A7C6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FC44EA-F6DE-EB77-57FC-972CBBF7CEB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A19DB5D-CE6A-6B90-3A8B-92897FC5EAC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AA59C27-DFD5-03E1-6FB4-6E37368963F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783E72F-D392-7ECD-2965-6DF8E0D0272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DDA1FDA-54D3-8185-65D1-3C493B8E653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DE8C7B2A-32EC-DAA9-7AE3-816367D0158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D3E18A8-5E9A-9647-2566-D421CCE4F6E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for loop -&gt; strings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AC65FD-69C3-4CFE-C150-46C6EA31BD56}"/>
              </a:ext>
            </a:extLst>
          </p:cNvPr>
          <p:cNvSpPr txBox="1"/>
          <p:nvPr/>
        </p:nvSpPr>
        <p:spPr>
          <a:xfrm>
            <a:off x="637059" y="2277070"/>
            <a:ext cx="169535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Each character of the string is taken one by one.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9946C2-D63C-38C0-B6E1-B0677F13E2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489419"/>
            <a:ext cx="15314400" cy="176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405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52B78-202E-51D6-DED8-540C4FE80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7E87810-2A8C-7998-CEC1-880430C6B69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E2D9048-03DA-61CD-6DF8-7E93B6D063C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A238AD8-C3C9-3593-7C47-5151DA31AB3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74CB4C9-F8D2-2630-2FBB-579F6021B76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90F67B24-7EC0-169B-73B5-781C34D451D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C7A740B-79B7-E48E-D48C-937794A81B2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FDFF736-2FD4-6A46-11BB-F24F5267D2C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while loop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9F30EB-A33A-EAAF-64BE-85CDF09666C0}"/>
              </a:ext>
            </a:extLst>
          </p:cNvPr>
          <p:cNvSpPr txBox="1"/>
          <p:nvPr/>
        </p:nvSpPr>
        <p:spPr>
          <a:xfrm>
            <a:off x="637059" y="2277070"/>
            <a:ext cx="1695356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dirty="0">
                <a:latin typeface="Consolas" panose="020B0609020204030204" pitchFamily="49" charset="0"/>
              </a:rPr>
              <a:t>Repeats if the condition is true.</a:t>
            </a: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  <a:p>
            <a:pPr algn="just"/>
            <a:r>
              <a:rPr lang="en-US" sz="44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while condition: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    # code to execute</a:t>
            </a:r>
          </a:p>
          <a:p>
            <a:pPr algn="just"/>
            <a:endParaRPr lang="en-US" sz="2400" dirty="0">
              <a:latin typeface="Consolas" panose="020B0609020204030204" pitchFamily="49" charset="0"/>
            </a:endParaRPr>
          </a:p>
          <a:p>
            <a:pPr algn="just"/>
            <a:r>
              <a:rPr lang="en-US" sz="44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8553C3-D87C-CC14-4A68-AE084C6811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905030"/>
            <a:ext cx="15314400" cy="250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829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EFE8A-87F4-E1AD-0429-2B1FCA51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F243E0A-5CB7-8A4F-FC63-BDB7BD9309D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ECF4062-1DE9-5D47-5B3F-1B357F19BC9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F812BD5-66C0-F1BB-14D2-41BE14362D2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CDCD36F-FCB6-F872-1D13-83D1E419AC2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7EC217A8-FE2F-909B-6480-69D9D524494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2FDC4E0-5512-3442-539B-F33A73BB8E4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AA09A13-7BC8-7850-4992-9A0764A861E1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using else statement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FD762C-9C0D-A100-5755-3A58C077A882}"/>
              </a:ext>
            </a:extLst>
          </p:cNvPr>
          <p:cNvSpPr txBox="1"/>
          <p:nvPr/>
        </p:nvSpPr>
        <p:spPr>
          <a:xfrm>
            <a:off x="637059" y="2277070"/>
            <a:ext cx="169535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Consolas" panose="020B0609020204030204" pitchFamily="49" charset="0"/>
              </a:rPr>
              <a:t>After the loop finishes naturally, the else block executes. If the loop ended early with break, the else part would not run. 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DA6BB3-77B6-EEDB-A44A-E0B4F74F6F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932952"/>
            <a:ext cx="15314400" cy="325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5617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FAC29-3437-69DF-1E19-09E5C669E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EB37F65-BB18-2B28-7C76-4FB869DDDE5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89A46D4-3B47-623D-6128-5A2F3EE6CCB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3AE14BE-208A-8A32-BE7E-0312A2B11D5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E540F05-4F58-99F1-86F0-253B5D4B992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62DE555-7BE1-C089-B8CB-FFD02506E32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FD06C00C-D354-732E-6478-AA5F7253C92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3EAF56E-FAF5-C4DA-9949-5B7D181DAE6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Control Statements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720AB8-EE0D-7CC7-75D0-8F8196980E63}"/>
              </a:ext>
            </a:extLst>
          </p:cNvPr>
          <p:cNvSpPr txBox="1"/>
          <p:nvPr/>
        </p:nvSpPr>
        <p:spPr>
          <a:xfrm>
            <a:off x="637059" y="2277070"/>
            <a:ext cx="1695356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400" dirty="0">
                <a:latin typeface="Consolas" panose="020B0609020204030204" pitchFamily="49" charset="0"/>
              </a:rPr>
              <a:t>break -&gt; exits the loop completely.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400" dirty="0">
                <a:latin typeface="Consolas" panose="020B0609020204030204" pitchFamily="49" charset="0"/>
              </a:rPr>
              <a:t>continue -&gt; skips the current iteration and moves to the next.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400" dirty="0">
                <a:latin typeface="Consolas" panose="020B0609020204030204" pitchFamily="49" charset="0"/>
              </a:rPr>
              <a:t>pass -&gt; does nothing (placeholder).</a:t>
            </a:r>
            <a:endParaRPr lang="en-US" sz="2400" dirty="0">
              <a:latin typeface="Consolas" panose="020B0609020204030204" pitchFamily="49" charset="0"/>
            </a:endParaRPr>
          </a:p>
          <a:p>
            <a:pPr algn="just"/>
            <a:r>
              <a:rPr lang="en-US" sz="44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0CD84A-44E1-A73D-AC90-F9A0BFDF12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5837927"/>
            <a:ext cx="15314400" cy="255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431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79283-A30A-0474-8BE1-5B6EB8A9F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3FC0148-C4FD-6DD1-1F2A-21E2C3BC569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BD58FDE-3FC3-7C4F-F206-1755101A03F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C56E893-397C-9420-8626-C07E5C40418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6AFCC1D-5C15-63A9-BB28-48BC1EBA9F1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69513D1-2028-03AE-A13B-13C600BBBF0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C9882C7-F564-6C99-77D8-5B2EDB1D1B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9850B0B-7328-98D3-B5D3-2AF4D981BB9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Nested Loops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DE2EDE-0027-4C8F-0C2C-5DF820241F0D}"/>
              </a:ext>
            </a:extLst>
          </p:cNvPr>
          <p:cNvSpPr txBox="1"/>
          <p:nvPr/>
        </p:nvSpPr>
        <p:spPr>
          <a:xfrm>
            <a:off x="637059" y="2277070"/>
            <a:ext cx="1695356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dirty="0">
                <a:latin typeface="Consolas" panose="020B0609020204030204" pitchFamily="49" charset="0"/>
              </a:rPr>
              <a:t>A loop inside another loop.</a:t>
            </a: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  <a:p>
            <a:pPr algn="just"/>
            <a:r>
              <a:rPr lang="en-US" sz="44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8F9442-5517-B11F-A49E-4FE20F4AD6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943084"/>
            <a:ext cx="15314400" cy="220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145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00678-9B34-54F6-2369-FB8C0FB71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3730CA5-4493-E925-1C26-E473E736191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86472A8-B3BF-E63A-5E25-E78CF5AF6FA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1147657-EDE6-15A5-B8F2-BEE82E2F85D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D434587-5D73-708A-D034-28256F04928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D828391-A47F-C97A-B0EB-B9A92A80B12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DC25A16-03FE-811B-6D1B-C8C4FC0F4F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6616986-A38C-2041-5AFF-2169CE7D71AF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using end parameter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88A003-AECC-66A7-FDB2-267BF5BAEAB1}"/>
              </a:ext>
            </a:extLst>
          </p:cNvPr>
          <p:cNvSpPr txBox="1"/>
          <p:nvPr/>
        </p:nvSpPr>
        <p:spPr>
          <a:xfrm>
            <a:off x="637059" y="2277070"/>
            <a:ext cx="1695356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dirty="0">
                <a:latin typeface="Consolas" panose="020B0609020204030204" pitchFamily="49" charset="0"/>
              </a:rPr>
              <a:t>In print() function, the keyword argument </a:t>
            </a:r>
            <a:r>
              <a:rPr lang="en-US" sz="4400" b="1" i="1" dirty="0">
                <a:latin typeface="Consolas" panose="020B0609020204030204" pitchFamily="49" charset="0"/>
              </a:rPr>
              <a:t>end</a:t>
            </a:r>
            <a:r>
              <a:rPr lang="en-US" sz="4400" dirty="0">
                <a:latin typeface="Consolas" panose="020B0609020204030204" pitchFamily="49" charset="0"/>
              </a:rPr>
              <a:t> controls what is printed at the end of each call.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By default:</a:t>
            </a: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Notice each print() goes to a new line because end="\n" is the default.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74BC0B-0722-3D3F-8C28-85EAB05E7C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4395683"/>
            <a:ext cx="15314400" cy="174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5569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F60C-02BA-5A72-73C9-AA8A52F5E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444231-DDCC-8D62-D97E-D3076D291BC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955B10E-15FA-909D-5EF2-EE53882DC43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117B5C8-7DF5-38E2-3234-AE150EF9D4B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FD73EBA-B2A9-E808-991B-DDD6AFBD4CC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24ECE10-6798-E3E7-937A-EAA666E37D4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326DB0A-75E2-02E9-9CB4-F6A3F599D54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75E4626-4F1A-BBFD-C263-55714A56F240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statements: using end parameter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A0B5F3-C204-E30A-5D90-FE857854AA6C}"/>
              </a:ext>
            </a:extLst>
          </p:cNvPr>
          <p:cNvSpPr txBox="1"/>
          <p:nvPr/>
        </p:nvSpPr>
        <p:spPr>
          <a:xfrm>
            <a:off x="637059" y="2277070"/>
            <a:ext cx="1695356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dirty="0">
                <a:latin typeface="Consolas" panose="020B0609020204030204" pitchFamily="49" charset="0"/>
              </a:rPr>
              <a:t>If we change end to " " (a space) or "" (nothing), we can print on the same line.</a:t>
            </a:r>
          </a:p>
          <a:p>
            <a:pPr algn="just"/>
            <a:r>
              <a:rPr lang="en-US" sz="44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  <a:p>
            <a:pPr algn="just"/>
            <a:endParaRPr lang="en-US" sz="4400" b="1" dirty="0">
              <a:latin typeface="Consolas" panose="020B0609020204030204" pitchFamily="49" charset="0"/>
            </a:endParaRPr>
          </a:p>
          <a:p>
            <a:pPr algn="just"/>
            <a:r>
              <a:rPr lang="en-US" sz="4400" b="1" dirty="0">
                <a:latin typeface="Consolas" panose="020B0609020204030204" pitchFamily="49" charset="0"/>
              </a:rPr>
              <a:t>Note: </a:t>
            </a:r>
            <a:r>
              <a:rPr lang="en-US" sz="4400" dirty="0">
                <a:latin typeface="Consolas" panose="020B0609020204030204" pitchFamily="49" charset="0"/>
              </a:rPr>
              <a:t>You can put any character/string in end.</a:t>
            </a:r>
            <a:endParaRPr lang="en-US" sz="4400" b="1" dirty="0">
              <a:latin typeface="Consolas" panose="020B0609020204030204" pitchFamily="49" charset="0"/>
            </a:endParaRP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9E4E5C-8BBA-A326-3A1B-6933C774F5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4533900"/>
            <a:ext cx="15314400" cy="195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984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D55DC-0C2D-F13F-60A3-05192A8F0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F563D3-C76A-6ED5-3FFF-14D39FAD03E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AB5DF81-79E2-9A8D-779C-CB3CBD5D89A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0988ED3-3A5C-DFFA-8EF8-2477CFBEFCD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2C03088-AA5C-B42C-495E-86E07C5584E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F75BD575-72C0-1244-1ABC-C6957E0330A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815140B-ED46-BEEE-07B6-646B803D2C2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668F909-B2D6-45A9-5CC6-2AA5CD629C4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Assessment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DC366353-BF5E-7B5C-38D3-38BA12E1AB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C068AD42-BBEC-F198-7510-8402D5F096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21B01C-696A-523C-EF33-CA36DB52277C}"/>
              </a:ext>
            </a:extLst>
          </p:cNvPr>
          <p:cNvSpPr txBox="1"/>
          <p:nvPr/>
        </p:nvSpPr>
        <p:spPr>
          <a:xfrm>
            <a:off x="463773" y="2159217"/>
            <a:ext cx="1695356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Write a program that prints the sum of all numbers from 1 to 100.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Display the Fibonacci sequence up to 10 terms.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Create a program that asks for a password and keeps prompting until the correct password is entered.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Write a program using nested loops to display the following pattern: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	1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	12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	123</a:t>
            </a: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	1234</a:t>
            </a:r>
          </a:p>
        </p:txBody>
      </p:sp>
    </p:spTree>
    <p:extLst>
      <p:ext uri="{BB962C8B-B14F-4D97-AF65-F5344CB8AC3E}">
        <p14:creationId xmlns:p14="http://schemas.microsoft.com/office/powerpoint/2010/main" val="3429249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6059</TotalTime>
  <Words>1851</Words>
  <Application>Microsoft Office PowerPoint</Application>
  <PresentationFormat>Custom</PresentationFormat>
  <Paragraphs>371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Calibri</vt:lpstr>
      <vt:lpstr>Arial</vt:lpstr>
      <vt:lpstr>Consolas</vt:lpstr>
      <vt:lpstr>Aptos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 4 - Lesson 5</dc:title>
  <dc:creator>DENVER</dc:creator>
  <cp:lastModifiedBy>Mark Denver Adora</cp:lastModifiedBy>
  <cp:revision>268</cp:revision>
  <dcterms:created xsi:type="dcterms:W3CDTF">2006-08-16T00:00:00Z</dcterms:created>
  <dcterms:modified xsi:type="dcterms:W3CDTF">2025-09-05T00:50:56Z</dcterms:modified>
  <dc:identifier>DAGH1tVytZk</dc:identifier>
</cp:coreProperties>
</file>