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424" r:id="rId3"/>
    <p:sldId id="426" r:id="rId4"/>
    <p:sldId id="495" r:id="rId5"/>
    <p:sldId id="498" r:id="rId6"/>
    <p:sldId id="536" r:id="rId7"/>
    <p:sldId id="493" r:id="rId8"/>
    <p:sldId id="499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09" r:id="rId19"/>
    <p:sldId id="510" r:id="rId20"/>
    <p:sldId id="538" r:id="rId21"/>
    <p:sldId id="513" r:id="rId22"/>
    <p:sldId id="515" r:id="rId23"/>
    <p:sldId id="514" r:id="rId24"/>
    <p:sldId id="537" r:id="rId25"/>
    <p:sldId id="539" r:id="rId26"/>
    <p:sldId id="540" r:id="rId27"/>
    <p:sldId id="440" r:id="rId28"/>
    <p:sldId id="494" r:id="rId29"/>
    <p:sldId id="516" r:id="rId30"/>
    <p:sldId id="517" r:id="rId31"/>
    <p:sldId id="518" r:id="rId32"/>
    <p:sldId id="519" r:id="rId33"/>
    <p:sldId id="520" r:id="rId34"/>
    <p:sldId id="522" r:id="rId35"/>
    <p:sldId id="523" r:id="rId36"/>
    <p:sldId id="521" r:id="rId37"/>
    <p:sldId id="524" r:id="rId38"/>
    <p:sldId id="525" r:id="rId39"/>
    <p:sldId id="527" r:id="rId40"/>
    <p:sldId id="526" r:id="rId41"/>
    <p:sldId id="528" r:id="rId42"/>
    <p:sldId id="529" r:id="rId43"/>
    <p:sldId id="530" r:id="rId44"/>
    <p:sldId id="531" r:id="rId45"/>
    <p:sldId id="532" r:id="rId46"/>
    <p:sldId id="533" r:id="rId47"/>
    <p:sldId id="492" r:id="rId48"/>
    <p:sldId id="534" r:id="rId49"/>
    <p:sldId id="535" r:id="rId50"/>
  </p:sldIdLst>
  <p:sldSz cx="18288000" cy="10287000"/>
  <p:notesSz cx="6858000" cy="9144000"/>
  <p:embeddedFontLst>
    <p:embeddedFont>
      <p:font typeface="Consolas" panose="020B0609020204030204" pitchFamily="49" charset="0"/>
      <p:regular r:id="rId53"/>
      <p:bold r:id="rId54"/>
      <p:italic r:id="rId55"/>
      <p:boldItalic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 autoAdjust="0"/>
    <p:restoredTop sz="93203" autoAdjust="0"/>
  </p:normalViewPr>
  <p:slideViewPr>
    <p:cSldViewPr>
      <p:cViewPr varScale="1">
        <p:scale>
          <a:sx n="49" d="100"/>
          <a:sy n="49" d="100"/>
        </p:scale>
        <p:origin x="5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12/12/2025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12/12/2025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4046-69BB-A68F-D16A-588A849C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8695A-3FF3-DF36-BF03-69B765D35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9BACF-09C9-595D-1836-E26B4883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FE2A0-B71B-85F9-0E46-06EAAB3CF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948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AC63-5DA0-56A2-565D-C09D6D3B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7945-44BD-D014-28D4-C24FFE25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CE4E3-22BE-120F-6AD5-9170C9EE4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57C04-8F42-5B55-2C7E-5AC8FB3ED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89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A277-9D05-2420-4BD6-EDDA8C7D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E6EFC-9B1F-65CC-4BB1-09CCEED28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88A8F-C25B-9CDD-088F-7E519AFED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58DB0-B6D4-0601-5458-93099CF60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242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DAEB-E122-66CE-E947-B974174A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FE614-441D-42AD-766B-EBA354928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E5A3B-DF29-10F9-93C8-DEC38A1FB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CA59-0E51-9543-8301-F34B3662B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5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65EF-67B7-7CBE-17ED-1BBAD807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5F304-91EE-5ECE-9954-24563585F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37BD0-AA49-4453-0A36-152C73654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A70A3-FA56-E9EC-4EEB-E08B0B769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4400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C5CD8-2904-70E8-4F23-17926E98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A3CDF-3F79-1E6F-1F5E-7FABEEE4F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78D54-E4D4-AAA9-6217-A2AF57D7A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B978D-3E04-0764-EFB7-B1D92CC9E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1792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2480-009C-0FD1-BA95-6FA57C5A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A199E-B08E-934C-8671-742D0A24F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FDD61-118B-82B6-2084-6349C40A6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536EE-225E-847B-0E18-DB38D7EEF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4748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5077-638D-1E39-4DD5-3B6FA0B7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8767D-7872-9875-C864-4C21DA74E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A01E8-DC9E-63FD-8AB3-8D859D6D8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2319F-F9B0-063B-1FCD-0FAE5FAD9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0370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0CA0-F59E-3EC7-9887-5B728A78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672D1-BE98-D1C2-963F-F8845D730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34C06-28F0-9B57-4684-AA63DC9CF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F4B4F-1339-E040-79B6-3B7706F81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4415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1B57-C4A7-C56E-31A7-B58DE720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25F62-A26D-0043-D9C6-619D585E5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8DC66-CD17-99C0-60F4-678F01BA1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DD7AD-759F-6A1B-76B9-0C2A49FF7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5386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4B50-EB39-87D9-190B-2B829168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27F99-064D-2C8E-FAEB-B2C0AEB59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777D1-50EA-8FD0-AB79-060666832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2CD56-7A9E-E3BE-B04E-282183139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2809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1200-8365-2CEF-94E2-D9AECC17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7DAE3-8EDF-2FF7-97AE-743AA6C5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BE1A-4C7C-C0F3-21BA-308AE83BD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E9F22-147A-76A5-F3B1-5EC7EB32A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1022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1ED09-3217-FD5F-1D6D-25933D86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B7EAB-70DC-E399-61A6-DAF68F167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4AE94-33B2-7FD6-74BB-C6C896922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7B090-A5E9-5AAD-22AA-D4AFCE9F3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722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99F5-2262-AC10-F911-1A8A8834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CC503-698F-69B0-9F7E-E16A71345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4ACC0-C215-4230-9A15-098F6B423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7B541-9C64-4C23-763D-514056106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6358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34C3-E1B2-BE7A-5FB2-366C3909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A53EF-3593-106F-6D3A-D95E2A3AF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5953E-1C63-DC00-5352-B3C6EB87D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949DE-934E-82A5-1B5C-2DCF79FA9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2419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D6C0-1140-87F7-7FFC-D3982CF2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5FDC7-E054-CC19-7EC4-F8D6F9460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A0C45-58E9-E364-3104-F391E0C97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53465-8E43-E854-858A-AC3680AD5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98083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3307-3697-94F3-4165-8839A4A4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BEC7B-CD11-275E-B1E7-2DCE68A7A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DACA7-1C0C-A390-DA23-2E703E5C7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F44DC-C030-35C1-F73E-B488ACF28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8890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B2AC-4A0A-7F97-8481-45B29332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5A444-DF2A-4C2D-B799-8169879C9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57375-99E6-D46C-977E-8189D6DC5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5CB9C-6246-25B6-F7B3-F22F3E0F7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3695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5A53-73F8-AC2B-8A26-D8F4E91D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4F053-2E80-E01E-E6BF-8368EE1A3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1A906-E70B-79A5-8357-4A45879B6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896A6-83B3-9004-E053-46DCEF910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83774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9700-3343-55A6-FCA3-26A44C70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E07CC-B56F-2661-6A89-4860362CB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6EEDD-603E-ECE7-DE67-E541D0F5D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A356E-3DF1-C2AF-4EB7-DCD96E805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9697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9F4D2-EB44-C5F4-49CE-0DA27A26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3C3BF-FB26-A33B-26F0-48374376A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31D5A-A722-99E3-42F8-1BCB3BD4B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954A3-F980-F5F9-BDCA-C8E909495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637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3EE2-E2C0-993D-0D03-F592B85E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A5A4D-A374-ECA1-7948-C2080F788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40E5B-499A-E374-56E3-F615BD809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47700-C43B-99C8-976B-B186305F9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9824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9B28-2983-B9B9-F2DF-464AC78D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A0631-253C-77B2-3B8B-5E6F487DE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6925E-9B19-DEB1-464C-986EE4107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3A859-7B8B-CAA1-CEDA-CCABF5172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6022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4E82-2CA8-EA2E-67FE-75549BFC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DB3E4-464C-B1AE-A035-362931B60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33912-82EA-A630-52D7-AF12BD8E9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7DA58-7263-667F-AF66-ED904C261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6927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4345E-80D1-DC4F-102A-9993A3FE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63ABC-82D9-B9F8-C9E7-254EEEC68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6ECDA-59EC-AEEA-765F-775350613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A36EE-5059-6402-AB8D-168A9F57F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94300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B07F-6852-BA85-7970-E00A4995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E096E-8929-B276-4448-BE10ECBC7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E2390-ACF4-9C2E-40A5-85E8E5B9D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3A40F-4BA3-122B-83EB-BECAEA233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44300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5B70-359F-8E85-3A5F-A282F5BD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B289B-F380-9453-5FD2-FAC3F84B1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A5607-2662-E05A-F0CF-63F81BE2F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D40E2-B919-A968-C3AB-712AE4C00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2253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79B7-0A16-72D5-46CA-5DC9E008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8C6C6-1074-A013-7152-6CAEDC420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7D024-6AD9-FFDB-C537-4DD1EF83A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4180F-68B8-E4BA-9C2F-0227EEAC9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16549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8894-E43F-5A34-BFF1-B9C7E94F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45C01-5196-C7DE-16FC-E40CC6AE7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8C0BB-D20C-8EAD-C262-CBEAAAC8B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C58CE-BE93-ADA6-D62F-6E2AD6594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6800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4241-7E01-DC9F-19A6-C481D0E6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94F62-0DEF-9250-17AE-77809B0B2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2CC04-ACE9-EBC6-037C-CD2616C43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2C450-7369-C541-D89B-B9647966A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30662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79B62-7488-AEC1-F212-16C7B75A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4094D-0AFD-E41D-624B-B4BFB0CB1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FD82E-4BE1-52D1-4A6E-85235802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94769-D74A-9A4F-43A5-E076C274D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41912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8FE2-DFBD-D27B-FA9D-426ED394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C4AE1-C30B-2E79-5A06-A68DB9F61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8D6C7-D152-A610-507E-C6BABA622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25A00-B712-A0AB-B91C-EDDF853F3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681006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2A4B1-D80A-D59A-9877-76817535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8A3BD-D97C-C643-376C-ED87B03B2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A462-EC63-0AC9-7F47-856FFAD13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9CF66-E1C5-B507-C682-7A0B56E72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043643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31E3-9069-0359-1006-318DAD8D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B5EEB-C02F-698C-C6A4-0AFCE9B9B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4289C-DDBD-ACFA-C3DE-0E892E10A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1D1AF-799B-CBF3-44E0-CD68C9968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24875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3144B-2E0D-9485-EF5A-CA997D43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74C9A-8865-32D9-F7A6-5F40A81C0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41273-559D-6E75-1BBD-25FFDD1BE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2732C-13D9-1ED2-FB03-85286BBA1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863075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D3F9-58CE-BF47-157B-1BAE44C8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9136C-F4C0-8821-FEDC-47AB179E7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5F374-7B5C-F777-FFDB-77113FA77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20780-579A-99B6-2D0C-C6B148F0E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5452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3CDDF-9209-8FFC-5D5A-16E8F7B8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F90D0-DD83-F92C-296F-564D0B982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E5A8C-C780-D2D6-074E-6E547825F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F35BA-A2FD-17FA-F0A6-AFDDFDF05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05633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8C055-DBAE-A79E-D73B-F2665C61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44C20-680F-EEAD-90DF-0BD48489C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93975-F033-CB30-B7C1-E15F448F3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E996-BCB8-A734-8603-A534544CC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14052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5659-B993-1FC0-873F-F5F8AB41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45052-1089-A611-9295-70169B8E2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57096-2F99-FA9F-B4F9-058F21E45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7A813-7B32-40D6-D85F-0E8E18BE8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2082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D56E3-6968-54EC-DCDB-BD9227DD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C9CEF-8ACA-23D9-A37E-87050E9E3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DD5F6-E43B-0135-6DE4-680142CE1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3B739-63F4-3734-7504-97DD93702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4939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D835-33B6-BFA7-C01E-77DF878D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2B82F-21D0-CC9A-C18D-2EB52501E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A079-9CF0-714F-41E2-16FB88A2B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2ABAD-5F67-57BD-8BFA-F60116E7D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21735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947BA-3CED-8C27-75D4-9519DCBE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B52C6-17A5-0F26-9AAE-41C225ADE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B0BE9-83FC-1563-6B7B-87B627E47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6BC2-5E30-3E55-2247-EAF72AA8D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25374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459F5-3B43-97AD-099C-5777DA47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09A9E-D245-CFA4-4BCC-8063CA6E6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05EE6-677A-B612-2EE3-D356B98FB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8C6B7-D3C1-1EF7-9405-5B0B71A70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2983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55A3-3A53-E7C0-AC3E-5C17C7CA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05484-A061-3BC2-7AD1-6BB18629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D261D-8140-90C8-F492-1DA515E89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71718-5410-4667-4878-52F6F10FE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41257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AC50-7B75-8636-0892-B7F37794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D4413-4885-B36E-527D-83E716127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3E4A8-540D-7E9E-FFAE-F546F14B5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FD94-C2F7-0ABD-F7E4-5E140668B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1454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5C53-27D5-1B23-8A89-749810D5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6D1CC-B5CD-444F-EC93-C36896195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F48B4-6C96-97A4-8478-BE43AE5C6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BFE0-9826-3398-C933-7856AED2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74347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7075-FC8F-88B1-B58B-FDF337C9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1E796-D1A0-FE96-5D20-5F1E89E69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1D921-21A9-16A2-D7D4-0052C03E6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9BAE3-DCF5-21E3-673E-97FB9EC10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83943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BA64-CC66-6D1E-485C-D2042626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E4ABE-1BA0-A32D-0F64-3519914F0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5D18B-A854-90D6-ABF0-8056A3406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0BE60-5077-A86A-B8D0-778604F34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732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6248400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 4 – 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6" name="TextBox 28">
            <a:extLst>
              <a:ext uri="{FF2B5EF4-FFF2-40B4-BE49-F238E27FC236}">
                <a16:creationId xmlns:a16="http://schemas.microsoft.com/office/drawing/2014/main" id="{8AB99F45-51C9-1623-B20B-EB356F7F13C1}"/>
              </a:ext>
            </a:extLst>
          </p:cNvPr>
          <p:cNvSpPr txBox="1"/>
          <p:nvPr/>
        </p:nvSpPr>
        <p:spPr>
          <a:xfrm>
            <a:off x="1138730" y="3122804"/>
            <a:ext cx="15998250" cy="3132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7: Introduction to Flask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4435-D177-78B9-9BE8-3B8FA559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B237DD15-B105-2EED-E820-CF4CE8A1DC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F9D633F9-31E0-2989-6C67-876DD19757A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A39BE59-E820-F9EC-608A-DAD70FCAA98D}"/>
              </a:ext>
            </a:extLst>
          </p:cNvPr>
          <p:cNvSpPr txBox="1"/>
          <p:nvPr/>
        </p:nvSpPr>
        <p:spPr>
          <a:xfrm>
            <a:off x="1138730" y="3122804"/>
            <a:ext cx="15998250" cy="3132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Flask Overview and Setting up Flask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3FEEF142-5253-A561-E99C-768FEC77C1B4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65022A25-F969-AB81-EDB8-3FEA4CC493D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CE380B9F-90C5-069E-B4A9-EFB63317BFD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8D415E24-8984-99DF-D8B4-E7C067D7611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D7D9F8B0-3AF4-7E6B-D098-0CAD2C2822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0C3CE10E-127A-6DB9-CD8E-805DD601D15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74E9D94-03CB-432B-615B-4F12019F8D3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67494009-3E71-6335-5455-E2EAFBEFE78C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6A5863-776C-67C6-AD04-A4CD5F2562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0819FF-D094-90BA-1E10-BB50331B06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A9F004-108D-31AC-5F8B-DE17B8E571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76594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B354-B01C-02B2-2DEF-10A33803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BF6A6E-4C0A-8069-00A1-6DB404C3CAB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194FCD-FC69-12DB-DCED-E8B029E7D2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7654DB-6975-675B-CBE4-88299C098E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6ADBC3-58F8-936D-376A-C719734FF5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BE8CDB3-11FC-5F52-C5A5-A552237C467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2B3713-C643-1B74-9AD3-F356485A879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FEB6154-B889-FCEB-F520-3866CA8518F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Flask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90BC46-C5A1-A710-F86C-70717C3426BC}"/>
              </a:ext>
            </a:extLst>
          </p:cNvPr>
          <p:cNvSpPr txBox="1"/>
          <p:nvPr/>
        </p:nvSpPr>
        <p:spPr>
          <a:xfrm>
            <a:off x="463773" y="2312752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Flask is a lightweight, open-source Python web framework that follows the </a:t>
            </a:r>
            <a:r>
              <a:rPr lang="en-US" sz="4000" b="1" dirty="0">
                <a:latin typeface="Consolas" panose="020B0609020204030204" pitchFamily="49" charset="0"/>
              </a:rPr>
              <a:t>WSGI</a:t>
            </a:r>
            <a:r>
              <a:rPr lang="en-US" sz="4000" dirty="0">
                <a:latin typeface="Consolas" panose="020B0609020204030204" pitchFamily="49" charset="0"/>
              </a:rPr>
              <a:t> (Web Server Gateway Interface) standard, which defines how web servers interact with Python applications. It is a micro-framework that provides essential features like routing and request handling while allowing developers to add components as needed.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BCDD03-3ED0-596D-40CA-EA7458796D5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781800" y="3390900"/>
            <a:ext cx="2512296" cy="464521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F291E7-03DB-5807-E74C-A69E2D75A88B}"/>
              </a:ext>
            </a:extLst>
          </p:cNvPr>
          <p:cNvSpPr txBox="1"/>
          <p:nvPr/>
        </p:nvSpPr>
        <p:spPr>
          <a:xfrm>
            <a:off x="9294096" y="7066623"/>
            <a:ext cx="78370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Acts as bridge between the web server and the app like Apache.</a:t>
            </a:r>
          </a:p>
        </p:txBody>
      </p:sp>
    </p:spTree>
    <p:extLst>
      <p:ext uri="{BB962C8B-B14F-4D97-AF65-F5344CB8AC3E}">
        <p14:creationId xmlns:p14="http://schemas.microsoft.com/office/powerpoint/2010/main" val="207422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696B-2A78-7F74-D1D2-A709FD61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F475CC-CFFA-A860-C31E-E3CD1828B34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0F2236-3CB6-AE17-F591-3F27AD1526D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9A75B6-ADF9-D724-2D41-7B61131F2D6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A741488-7803-9DA4-B73B-1F8DE271BF6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2F50A56-4418-9A87-ABB1-1393E8A99DC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14B786A-0611-3C26-DBAC-4775418779B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01B4E10-1FCA-2275-2B28-992012D1E84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Flask Architecture Overview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4B09C3-05AB-9EB2-D22B-B3EF692238D6}"/>
              </a:ext>
            </a:extLst>
          </p:cNvPr>
          <p:cNvSpPr/>
          <p:nvPr/>
        </p:nvSpPr>
        <p:spPr>
          <a:xfrm>
            <a:off x="228600" y="2476500"/>
            <a:ext cx="2667000" cy="1295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REQUEST</a:t>
            </a:r>
            <a:endParaRPr lang="en-PH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AE171-361C-2187-A765-0C4679CDA317}"/>
              </a:ext>
            </a:extLst>
          </p:cNvPr>
          <p:cNvSpPr txBox="1"/>
          <p:nvPr/>
        </p:nvSpPr>
        <p:spPr>
          <a:xfrm>
            <a:off x="3245364" y="2770257"/>
            <a:ext cx="71940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Flask receives a request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87DC75E-7898-E02E-3FD0-F99C3C67063D}"/>
              </a:ext>
            </a:extLst>
          </p:cNvPr>
          <p:cNvSpPr/>
          <p:nvPr/>
        </p:nvSpPr>
        <p:spPr>
          <a:xfrm>
            <a:off x="266700" y="4381500"/>
            <a:ext cx="2667000" cy="1295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ROUTING</a:t>
            </a:r>
            <a:endParaRPr lang="en-PH" sz="4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99B508-79B1-44C9-6C33-FFB17F1B1094}"/>
              </a:ext>
            </a:extLst>
          </p:cNvPr>
          <p:cNvSpPr/>
          <p:nvPr/>
        </p:nvSpPr>
        <p:spPr>
          <a:xfrm>
            <a:off x="227223" y="6286500"/>
            <a:ext cx="2667000" cy="1295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FUNCTION</a:t>
            </a:r>
            <a:endParaRPr lang="en-PH" sz="4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4407B0-6FCF-9924-A5F3-103CA2BF5E67}"/>
              </a:ext>
            </a:extLst>
          </p:cNvPr>
          <p:cNvSpPr/>
          <p:nvPr/>
        </p:nvSpPr>
        <p:spPr>
          <a:xfrm>
            <a:off x="266700" y="8191500"/>
            <a:ext cx="2667000" cy="12954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RESPONSE</a:t>
            </a:r>
            <a:endParaRPr lang="en-PH" sz="4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FD266A-021D-4EF7-DBDE-BCD32D051D94}"/>
              </a:ext>
            </a:extLst>
          </p:cNvPr>
          <p:cNvSpPr txBox="1"/>
          <p:nvPr/>
        </p:nvSpPr>
        <p:spPr>
          <a:xfrm>
            <a:off x="3245364" y="4675257"/>
            <a:ext cx="100134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Routes it to a specific function.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C0AC5D-7BB8-1531-958D-24D93F139F54}"/>
              </a:ext>
            </a:extLst>
          </p:cNvPr>
          <p:cNvSpPr txBox="1"/>
          <p:nvPr/>
        </p:nvSpPr>
        <p:spPr>
          <a:xfrm>
            <a:off x="3226314" y="6580257"/>
            <a:ext cx="123059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Generates a response (HTML, JSON, etc.)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73CF3F-F356-5D9A-D563-AB959A7CAA87}"/>
              </a:ext>
            </a:extLst>
          </p:cNvPr>
          <p:cNvSpPr txBox="1"/>
          <p:nvPr/>
        </p:nvSpPr>
        <p:spPr>
          <a:xfrm>
            <a:off x="3264414" y="8544873"/>
            <a:ext cx="100359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May use templates for dynamic pages</a:t>
            </a:r>
          </a:p>
        </p:txBody>
      </p:sp>
    </p:spTree>
    <p:extLst>
      <p:ext uri="{BB962C8B-B14F-4D97-AF65-F5344CB8AC3E}">
        <p14:creationId xmlns:p14="http://schemas.microsoft.com/office/powerpoint/2010/main" val="341335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B97F-67B5-11D0-8ECF-376A1E80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1D89F0-45FF-65D4-BD42-37FC111149B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27EA6A-7031-8970-107B-10E82A7E929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C8F113-B9E6-243D-9A45-96B509A8714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5F8BF6E-EA14-4C78-46FF-2543C842CAC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A061D4D-039E-A04A-ED8F-E629928CB85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B3835A7-A316-DDE1-BB62-1DC79A4399F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A9277C8-7FF9-A805-B69B-A8EF4642257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Setting up Flask Environment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1A8287-EFE4-A40A-1B62-0615D8182DD3}"/>
              </a:ext>
            </a:extLst>
          </p:cNvPr>
          <p:cNvSpPr txBox="1"/>
          <p:nvPr/>
        </p:nvSpPr>
        <p:spPr>
          <a:xfrm>
            <a:off x="637059" y="2236446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Consolas" panose="020B0609020204030204" pitchFamily="49" charset="0"/>
              </a:rPr>
              <a:t>Installing Flask: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--&gt; pip install flask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Creating Project Structure: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project/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app.py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templates/	-&gt; where HTML files are placed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static/		-&gt; where CSS, JS, etc. files are placed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Running the app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--&gt; python –m flask run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-m means "Run this module as a program"</a:t>
            </a:r>
          </a:p>
        </p:txBody>
      </p:sp>
    </p:spTree>
    <p:extLst>
      <p:ext uri="{BB962C8B-B14F-4D97-AF65-F5344CB8AC3E}">
        <p14:creationId xmlns:p14="http://schemas.microsoft.com/office/powerpoint/2010/main" val="56800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F79A-7AA4-D616-EB61-27A6A5E8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9C06547-0566-2B76-10C5-2C43C3AD50A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33DB5FA-1A73-7CAF-C776-9105D432D51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1DA09DD-FE23-0037-4E3B-80DE706916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609238-2691-CB49-3425-2E281C83B9C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F82A484-2564-4389-FA97-AEDDCD34D35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15A2157-EDC4-2290-60A3-BBA43AAB651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718B12F-EF08-AB5E-D6A4-AB07EA1236C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Setting up Flask Environment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977870-38BF-2DB3-CA87-482657908523}"/>
              </a:ext>
            </a:extLst>
          </p:cNvPr>
          <p:cNvSpPr txBox="1"/>
          <p:nvPr/>
        </p:nvSpPr>
        <p:spPr>
          <a:xfrm>
            <a:off x="637059" y="2236446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Consolas" panose="020B0609020204030204" pitchFamily="49" charset="0"/>
              </a:rPr>
              <a:t>Basic Structure of a Flask App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from flask import Flask, </a:t>
            </a:r>
            <a:r>
              <a:rPr lang="en-US" sz="4000" dirty="0" err="1">
                <a:latin typeface="Consolas" panose="020B0609020204030204" pitchFamily="49" charset="0"/>
              </a:rPr>
              <a:t>render_template</a:t>
            </a:r>
            <a:endParaRPr lang="en-US" sz="4000" dirty="0">
              <a:latin typeface="Consolas" panose="020B0609020204030204" pitchFamily="49" charset="0"/>
            </a:endParaRP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home():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render_template</a:t>
            </a:r>
            <a:r>
              <a:rPr lang="en-US" sz="4000" dirty="0">
                <a:latin typeface="Consolas" panose="020B0609020204030204" pitchFamily="49" charset="0"/>
              </a:rPr>
              <a:t>('home.html')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if __name__ == "__main__":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</a:t>
            </a:r>
            <a:r>
              <a:rPr lang="en-US" sz="4000" dirty="0" err="1">
                <a:latin typeface="Consolas" panose="020B0609020204030204" pitchFamily="49" charset="0"/>
              </a:rPr>
              <a:t>app.run</a:t>
            </a:r>
            <a:r>
              <a:rPr lang="en-US" sz="4000" dirty="0">
                <a:latin typeface="Consolas" panose="020B0609020204030204" pitchFamily="49" charset="0"/>
              </a:rPr>
              <a:t>(debug=True)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9A7EC0-C057-D7D4-051C-55DFC4B548A7}"/>
              </a:ext>
            </a:extLst>
          </p:cNvPr>
          <p:cNvGrpSpPr/>
          <p:nvPr/>
        </p:nvGrpSpPr>
        <p:grpSpPr>
          <a:xfrm>
            <a:off x="6477000" y="3579048"/>
            <a:ext cx="9707819" cy="2062103"/>
            <a:chOff x="6477000" y="3579048"/>
            <a:chExt cx="9707819" cy="206210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24BFD02-5001-6818-DBA2-27470DED419E}"/>
                </a:ext>
              </a:extLst>
            </p:cNvPr>
            <p:cNvCxnSpPr>
              <a:cxnSpLocks/>
            </p:cNvCxnSpPr>
            <p:nvPr/>
          </p:nvCxnSpPr>
          <p:spPr>
            <a:xfrm>
              <a:off x="6477000" y="4610100"/>
              <a:ext cx="2225198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2EC884-5CA2-F941-12C4-0D3207A3FDEA}"/>
                </a:ext>
              </a:extLst>
            </p:cNvPr>
            <p:cNvSpPr txBox="1"/>
            <p:nvPr/>
          </p:nvSpPr>
          <p:spPr>
            <a:xfrm>
              <a:off x="8731101" y="3579048"/>
              <a:ext cx="7453718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latin typeface="Consolas" panose="020B0609020204030204" pitchFamily="49" charset="0"/>
                </a:rPr>
                <a:t>Creates an instance of the flask app. If you pass __name__, Flask knows “this is the main app” and can set up paths correctly.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B46D1D-D636-A650-14F8-7EAEC357A9C5}"/>
              </a:ext>
            </a:extLst>
          </p:cNvPr>
          <p:cNvGrpSpPr/>
          <p:nvPr/>
        </p:nvGrpSpPr>
        <p:grpSpPr>
          <a:xfrm>
            <a:off x="7121093" y="7863870"/>
            <a:ext cx="9580597" cy="1569660"/>
            <a:chOff x="6506468" y="3759570"/>
            <a:chExt cx="9580597" cy="156966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8A93E35-81E4-5F00-2CDB-A8E253A12E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6468" y="4544400"/>
              <a:ext cx="2022907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C3BC01-D89F-4234-CA7A-A93FB8F8A6CD}"/>
                </a:ext>
              </a:extLst>
            </p:cNvPr>
            <p:cNvSpPr txBox="1"/>
            <p:nvPr/>
          </p:nvSpPr>
          <p:spPr>
            <a:xfrm>
              <a:off x="8633347" y="3759570"/>
              <a:ext cx="7453718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 err="1">
                  <a:latin typeface="Consolas" panose="020B0609020204030204" pitchFamily="49" charset="0"/>
                </a:rPr>
                <a:t>app.run</a:t>
              </a:r>
              <a:r>
                <a:rPr lang="en-US" sz="3200" dirty="0">
                  <a:latin typeface="Consolas" panose="020B0609020204030204" pitchFamily="49" charset="0"/>
                </a:rPr>
                <a:t>(debug=True) enables auto-reload and shows detailed errors in browsers.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147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A7BF-9A98-60EA-178D-C027248E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DA695A7A-D27D-A006-ED0C-5A50910FBE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E5609028-A4CC-E14D-3A20-F622EDB979F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A5888D3-8D41-3D6C-DE90-3578735969D9}"/>
              </a:ext>
            </a:extLst>
          </p:cNvPr>
          <p:cNvSpPr txBox="1"/>
          <p:nvPr/>
        </p:nvSpPr>
        <p:spPr>
          <a:xfrm>
            <a:off x="1138730" y="3930903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Flask Routing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E061E959-9FB0-8F3B-22F7-BB7A187F3FB9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9F6B571F-AD52-F5EB-839E-1A4CDBCF93A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94401EE8-96ED-EA19-81F6-0A50AA15E8CA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9464E1CA-B521-5202-ED6B-8E0FDAF9B29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D4BEC11C-224A-F180-E3CC-0A44481EB5B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FE4F1E14-BD36-5EB0-97D8-6467F7ADA5B1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175A3406-5739-247E-440A-BDB6E0F6B322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EFDE3410-FEBD-8202-9988-3ED839F84127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897BE4-A68D-5449-A4BD-3B0BAB0DDBB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4C79C45-980B-D970-FDC2-873CBB8EDDB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8E99045-D8F9-35B7-E3E5-7EAE40CCD01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17187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1046-FE46-EC11-8F08-60F2CA437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BC2940-EF7B-D843-A3F9-9BD5AD0DF36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80CAEE-9966-6FCE-D999-48381AA9750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F814C53-9A85-0208-08BD-AC4CA91C482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5A3635-8326-DFA4-835A-1058D7C5A01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B6ADA27-B1E8-B1DA-9E93-1C52B05EE5A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42E3EEF-C2B8-1148-8737-21E5AAABEC5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DEBAE34-85C7-D8AF-CCDD-E5748331771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Routing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676303-8641-30EF-3BA6-25F397F5E44F}"/>
              </a:ext>
            </a:extLst>
          </p:cNvPr>
          <p:cNvSpPr txBox="1"/>
          <p:nvPr/>
        </p:nvSpPr>
        <p:spPr>
          <a:xfrm>
            <a:off x="637059" y="2390447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Routing is the process of mapping URLs (web addresses) to Python functions in a Flask application. When a user visits a specific URL in their browser, Flask checks its routing table to find a matching route and executes the corresponding view function that returns the response (HTML, text, JSON, etc.).</a:t>
            </a:r>
          </a:p>
        </p:txBody>
      </p:sp>
    </p:spTree>
    <p:extLst>
      <p:ext uri="{BB962C8B-B14F-4D97-AF65-F5344CB8AC3E}">
        <p14:creationId xmlns:p14="http://schemas.microsoft.com/office/powerpoint/2010/main" val="357378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6B19-DBAF-E0B4-106B-712AE166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4932CF-8717-E8DE-A135-917BEEAB2D9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38D3B79-0E51-1A3F-AD43-73DACDFE3A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C7C579-DB39-8527-6675-C970CA5FFB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2DFEB3D-759F-2B08-EB0C-45829AA47A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572BAFA-2E76-AFEB-F9E4-3C0C37DB88F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413CA11-130B-F7BE-35A6-ED705E0DA2C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F6EC026-AAB9-07AD-1159-C9410192F9D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The @app.route() decorator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7B22C6-FE54-028A-752E-C25143F83062}"/>
              </a:ext>
            </a:extLst>
          </p:cNvPr>
          <p:cNvSpPr txBox="1"/>
          <p:nvPr/>
        </p:nvSpPr>
        <p:spPr>
          <a:xfrm>
            <a:off x="637059" y="239044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Routes are defined using the @app.route() decorator placed above a function.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For 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from flask import Flask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app = Flask(__name__)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home():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return "Welcome to the Home Page!"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212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19D8-4E04-3EE9-324B-61AAB627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6B366E-075B-8899-83E7-84196CD5F98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1FDEBA1-3E27-A815-DE48-9E5B18911D6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2D0999-6125-7721-D714-8950A67BFD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481910-25C6-E600-8F7A-A3699F5DD67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3201E46-1785-B3CC-55A7-5D023836AD1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81861FA-9B74-4E4C-75F9-2F29890BC0D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3AD6F77-C2F8-24ED-5C8E-ADE3B5A7FFA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Creating multiple routes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93DBC-4D6C-BB0E-44CC-E744C0B38F2B}"/>
              </a:ext>
            </a:extLst>
          </p:cNvPr>
          <p:cNvSpPr txBox="1"/>
          <p:nvPr/>
        </p:nvSpPr>
        <p:spPr>
          <a:xfrm>
            <a:off x="637059" y="2390447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You can define multiple routes for different pages in your application: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For example: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@app.route('/about')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about():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"This is the About Page."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@app.route('/contact')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contact():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"This is the Contact Page."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9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8F6A-7E7F-2E9A-A25B-B09ABAC0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95A57A-9521-6B96-C987-6A364FB0218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34F3A0-D967-5AC7-494F-5D60ABC7C26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4E2735-295E-76D7-3FF0-1A296B2AC16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B92AC8E-9A95-442A-3C3A-57EF17A1194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C404C86-5AB2-8CFD-AE20-2D32B970DD7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175EEAA-69F6-4C51-FF14-8DBEAF8FC0E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413190C-109A-2B4E-A2BB-F3AE991942F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Dynamic Routes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E2AB91-2322-985B-1F1A-306BDCE83AC2}"/>
              </a:ext>
            </a:extLst>
          </p:cNvPr>
          <p:cNvSpPr txBox="1"/>
          <p:nvPr/>
        </p:nvSpPr>
        <p:spPr>
          <a:xfrm>
            <a:off x="637059" y="2390447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Flask allows you to capture variable parts of a URL using angle brackets (&lt; &gt;). These captured values are passed as arguments to the function.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For 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@app.route('/user/&lt;username&gt;')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profile(username):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f"Hello</a:t>
            </a:r>
            <a:r>
              <a:rPr lang="en-US" sz="4000" dirty="0">
                <a:latin typeface="Consolas" panose="020B0609020204030204" pitchFamily="49" charset="0"/>
              </a:rPr>
              <a:t>, {username}!"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Rule of thumb: </a:t>
            </a:r>
            <a:r>
              <a:rPr lang="en-US" sz="4000" dirty="0">
                <a:latin typeface="Consolas" panose="020B0609020204030204" pitchFamily="49" charset="0"/>
              </a:rPr>
              <a:t>The variable name in &lt; &gt; inside @app.route() must exactly match the function’s parameter name so Flask can pass the captured part of the URL correctly.</a:t>
            </a:r>
          </a:p>
        </p:txBody>
      </p:sp>
    </p:spTree>
    <p:extLst>
      <p:ext uri="{BB962C8B-B14F-4D97-AF65-F5344CB8AC3E}">
        <p14:creationId xmlns:p14="http://schemas.microsoft.com/office/powerpoint/2010/main" val="288928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30A4B-3C3C-7829-9B73-EB5405B9D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B46071F-ED32-1ED7-D49F-7185F7100B1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7681968-F92C-2189-3BEB-7D42EF958CD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D42A76-211F-844C-81EE-F851644542D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0CF1E59-0114-4C82-B331-82144F75D60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81FA867-DB7D-CB89-B8AF-EC7B945084F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842C295-DD08-DAB4-C015-EFF08EB1CCA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AC7B90-E3A0-64F0-BB66-89A215B13F1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Specifying route variable types.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A01FEE-11CF-E663-7F9F-428AC884BBDD}"/>
              </a:ext>
            </a:extLst>
          </p:cNvPr>
          <p:cNvSpPr txBox="1"/>
          <p:nvPr/>
        </p:nvSpPr>
        <p:spPr>
          <a:xfrm>
            <a:off x="637059" y="2390447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You can specify a type converter in a route like this: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@app.route('/path/&lt;type:variable&gt;’)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This tells Flask to only match URLs if the part after the / fits that type — otherwise, Flask will show a 404 Not Found error.</a:t>
            </a:r>
          </a:p>
        </p:txBody>
      </p:sp>
    </p:spTree>
    <p:extLst>
      <p:ext uri="{BB962C8B-B14F-4D97-AF65-F5344CB8AC3E}">
        <p14:creationId xmlns:p14="http://schemas.microsoft.com/office/powerpoint/2010/main" val="332598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F901-BF0B-F1A9-BA3D-68F031ED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138A95-8450-8815-CC8A-8EB7CE82989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482DC7-DD01-1B27-3560-FBEA364312F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851E1EF-8ADB-219C-B493-0BDAE5887D9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10FC856-57AC-72B0-5889-A14C0081CCF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8D5040D-E2AA-7849-C0B5-EDB003566E4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24AC36F-ADF4-FC9D-8577-A915E7E232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DA258F0-9738-479A-E45A-433225B2C42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Supported Variable Types and Examples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F03217-70BB-3377-73B2-67D66EE5ACCA}"/>
              </a:ext>
            </a:extLst>
          </p:cNvPr>
          <p:cNvSpPr txBox="1"/>
          <p:nvPr/>
        </p:nvSpPr>
        <p:spPr>
          <a:xfrm>
            <a:off x="637059" y="2390447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a. string (default)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@app.route('/user/&lt;username&gt;')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latin typeface="Consolas" panose="020B0609020204030204" pitchFamily="49" charset="0"/>
              </a:rPr>
              <a:t>show_user</a:t>
            </a:r>
            <a:r>
              <a:rPr lang="en-US" sz="4000" dirty="0">
                <a:latin typeface="Consolas" panose="020B0609020204030204" pitchFamily="49" charset="0"/>
              </a:rPr>
              <a:t>(username):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f"User</a:t>
            </a:r>
            <a:r>
              <a:rPr lang="en-US" sz="4000" dirty="0">
                <a:latin typeface="Consolas" panose="020B0609020204030204" pitchFamily="49" charset="0"/>
              </a:rPr>
              <a:t>: {username}"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This matches any text except a slash. Flask takes the part of the URL as a string (no type conversion). </a:t>
            </a:r>
          </a:p>
        </p:txBody>
      </p:sp>
    </p:spTree>
    <p:extLst>
      <p:ext uri="{BB962C8B-B14F-4D97-AF65-F5344CB8AC3E}">
        <p14:creationId xmlns:p14="http://schemas.microsoft.com/office/powerpoint/2010/main" val="2291314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60C6-513E-9904-E137-FA3DB471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FD2BBF-A1A7-B672-2742-C4A7F6A3BFA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39BB477-4B14-9212-DCC8-A82C4AD8131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190C258-BEF0-B51E-71A6-587CC6271D7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48C24D2-D035-862C-4CFB-2A6B1C25734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A237036-72C7-B4EB-A98B-B58417B6B12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EF29387-4D2D-7651-B394-2AA6C896ACB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26DB4E1-0980-5D8C-680D-62C880C37BC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Supported Variable Types and Examples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77AF1-F16E-2332-A008-0328D95DB77E}"/>
              </a:ext>
            </a:extLst>
          </p:cNvPr>
          <p:cNvSpPr txBox="1"/>
          <p:nvPr/>
        </p:nvSpPr>
        <p:spPr>
          <a:xfrm>
            <a:off x="637059" y="2390447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b. int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@app.route('/post/&lt;int:post_id&gt;')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latin typeface="Consolas" panose="020B0609020204030204" pitchFamily="49" charset="0"/>
              </a:rPr>
              <a:t>show_post</a:t>
            </a:r>
            <a:r>
              <a:rPr lang="en-US" sz="4000" dirty="0">
                <a:latin typeface="Consolas" panose="020B0609020204030204" pitchFamily="49" charset="0"/>
              </a:rPr>
              <a:t>(</a:t>
            </a:r>
            <a:r>
              <a:rPr lang="en-US" sz="4000" dirty="0" err="1">
                <a:latin typeface="Consolas" panose="020B0609020204030204" pitchFamily="49" charset="0"/>
              </a:rPr>
              <a:t>post_id</a:t>
            </a:r>
            <a:r>
              <a:rPr lang="en-US" sz="4000" dirty="0">
                <a:latin typeface="Consolas" panose="020B0609020204030204" pitchFamily="49" charset="0"/>
              </a:rPr>
              <a:t>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f"Post</a:t>
            </a:r>
            <a:r>
              <a:rPr lang="en-US" sz="4000" dirty="0">
                <a:latin typeface="Consolas" panose="020B0609020204030204" pitchFamily="49" charset="0"/>
              </a:rPr>
              <a:t> ID: {</a:t>
            </a:r>
            <a:r>
              <a:rPr lang="en-US" sz="4000" dirty="0" err="1">
                <a:latin typeface="Consolas" panose="020B0609020204030204" pitchFamily="49" charset="0"/>
              </a:rPr>
              <a:t>post_id</a:t>
            </a:r>
            <a:r>
              <a:rPr lang="en-US" sz="4000" dirty="0">
                <a:latin typeface="Consolas" panose="020B0609020204030204" pitchFamily="49" charset="0"/>
              </a:rPr>
              <a:t>}"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This </a:t>
            </a:r>
            <a:r>
              <a:rPr lang="en-US" sz="4000" b="1" dirty="0">
                <a:latin typeface="Consolas" panose="020B0609020204030204" pitchFamily="49" charset="0"/>
              </a:rPr>
              <a:t>converts </a:t>
            </a:r>
            <a:r>
              <a:rPr lang="en-US" sz="4000" dirty="0">
                <a:latin typeface="Consolas" panose="020B0609020204030204" pitchFamily="49" charset="0"/>
              </a:rPr>
              <a:t>the value to an integer </a:t>
            </a:r>
            <a:r>
              <a:rPr lang="en-US" sz="4000" b="1" dirty="0">
                <a:latin typeface="Consolas" panose="020B0609020204030204" pitchFamily="49" charset="0"/>
              </a:rPr>
              <a:t>before </a:t>
            </a:r>
            <a:r>
              <a:rPr lang="en-US" sz="4000" dirty="0">
                <a:latin typeface="Consolas" panose="020B0609020204030204" pitchFamily="49" charset="0"/>
              </a:rPr>
              <a:t>passing it to the function. If the value in the URL does not match the declared type, Flask will not call the function. Instead, it automatically returns a 404 Not Found error because the route pattern didn’t match.</a:t>
            </a:r>
            <a:endParaRPr 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93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2380-2035-3C56-97F9-C2A1D862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5FAA99-D457-6FC1-4E53-FBD2ADA4093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ABCC06-AA9B-3709-620C-A7888D2E069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286C5F-10D9-C7F1-F477-9F37526090E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95495C-8838-6304-F469-926473F21F9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11DCCF9-A5F6-0AA1-98C6-E1DB7BB7B87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4BEF013-6392-52A1-F570-C3ED50C5BF1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DAA9A29-716A-2AA0-6F59-FA49ED9C8C6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Supported Variable Types and Examples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4929C5-1EAA-0C24-5604-152E3A4CD097}"/>
              </a:ext>
            </a:extLst>
          </p:cNvPr>
          <p:cNvSpPr txBox="1"/>
          <p:nvPr/>
        </p:nvSpPr>
        <p:spPr>
          <a:xfrm>
            <a:off x="637059" y="2390447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c. float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@app.route('/price/&lt;float:value&gt;')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latin typeface="Consolas" panose="020B0609020204030204" pitchFamily="49" charset="0"/>
              </a:rPr>
              <a:t>show_price</a:t>
            </a:r>
            <a:r>
              <a:rPr lang="en-US" sz="4000" dirty="0">
                <a:latin typeface="Consolas" panose="020B0609020204030204" pitchFamily="49" charset="0"/>
              </a:rPr>
              <a:t>(value):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f"Price</a:t>
            </a:r>
            <a:r>
              <a:rPr lang="en-US" sz="4000" dirty="0">
                <a:latin typeface="Consolas" panose="020B0609020204030204" pitchFamily="49" charset="0"/>
              </a:rPr>
              <a:t>: {value}"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This </a:t>
            </a:r>
            <a:r>
              <a:rPr lang="en-US" sz="4000" b="1" dirty="0">
                <a:latin typeface="Consolas" panose="020B0609020204030204" pitchFamily="49" charset="0"/>
              </a:rPr>
              <a:t>converts </a:t>
            </a:r>
            <a:r>
              <a:rPr lang="en-US" sz="4000" dirty="0">
                <a:latin typeface="Consolas" panose="020B0609020204030204" pitchFamily="49" charset="0"/>
              </a:rPr>
              <a:t>the value to an float </a:t>
            </a:r>
            <a:r>
              <a:rPr lang="en-US" sz="4000" b="1" dirty="0">
                <a:latin typeface="Consolas" panose="020B0609020204030204" pitchFamily="49" charset="0"/>
              </a:rPr>
              <a:t>before </a:t>
            </a:r>
            <a:r>
              <a:rPr lang="en-US" sz="4000" dirty="0">
                <a:latin typeface="Consolas" panose="020B0609020204030204" pitchFamily="49" charset="0"/>
              </a:rPr>
              <a:t>passing it to the function.</a:t>
            </a:r>
            <a:endParaRPr 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EFA5-34C1-FD06-FFA9-D2D5680E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9E85AB-0C05-32CA-DD71-882F9B70C06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EBEB76-BC17-5E4E-980B-0FEF7F5BC93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77DB15-E4DC-9334-B540-3F9F58971A2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F461D04-F726-D3BA-6D47-67CD141E81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A45E2D5-9158-F252-8D76-AD698D4B285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19AD7F0-3A6C-4B18-DF75-FC78963F99D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062DEF4-D983-9C45-166C-6145A1695A7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Supported Variable Types and Examples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6A99F-8558-5B57-C004-237E7B36882F}"/>
              </a:ext>
            </a:extLst>
          </p:cNvPr>
          <p:cNvSpPr txBox="1"/>
          <p:nvPr/>
        </p:nvSpPr>
        <p:spPr>
          <a:xfrm>
            <a:off x="637059" y="2390447"/>
            <a:ext cx="1695356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d. path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@app.route('/files/&lt;path:filepath&gt;')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latin typeface="Consolas" panose="020B0609020204030204" pitchFamily="49" charset="0"/>
              </a:rPr>
              <a:t>show_file</a:t>
            </a:r>
            <a:r>
              <a:rPr lang="en-US" sz="4000" dirty="0">
                <a:latin typeface="Consolas" panose="020B0609020204030204" pitchFamily="49" charset="0"/>
              </a:rPr>
              <a:t>(</a:t>
            </a:r>
            <a:r>
              <a:rPr lang="en-US" sz="4000" dirty="0" err="1">
                <a:latin typeface="Consolas" panose="020B0609020204030204" pitchFamily="49" charset="0"/>
              </a:rPr>
              <a:t>filepath</a:t>
            </a:r>
            <a:r>
              <a:rPr lang="en-US" sz="4000" dirty="0">
                <a:latin typeface="Consolas" panose="020B0609020204030204" pitchFamily="49" charset="0"/>
              </a:rPr>
              <a:t>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f"File</a:t>
            </a:r>
            <a:r>
              <a:rPr lang="en-US" sz="4000" dirty="0">
                <a:latin typeface="Consolas" panose="020B0609020204030204" pitchFamily="49" charset="0"/>
              </a:rPr>
              <a:t> path: {</a:t>
            </a:r>
            <a:r>
              <a:rPr lang="en-US" sz="4000" dirty="0" err="1">
                <a:latin typeface="Consolas" panose="020B0609020204030204" pitchFamily="49" charset="0"/>
              </a:rPr>
              <a:t>filepath</a:t>
            </a:r>
            <a:r>
              <a:rPr lang="en-US" sz="4000" dirty="0">
                <a:latin typeface="Consolas" panose="020B0609020204030204" pitchFamily="49" charset="0"/>
              </a:rPr>
              <a:t>}"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Like string but allows slashes inside. 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Ex.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/files/documents/report.pdf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Flask takes everything after /files/ until the end of the path as a string.</a:t>
            </a:r>
          </a:p>
        </p:txBody>
      </p:sp>
    </p:spTree>
    <p:extLst>
      <p:ext uri="{BB962C8B-B14F-4D97-AF65-F5344CB8AC3E}">
        <p14:creationId xmlns:p14="http://schemas.microsoft.com/office/powerpoint/2010/main" val="2909635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6B9D-A4DC-75AE-B006-03DF0865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7661B3-E503-8333-116A-6901EB83404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88E03E-9FE5-1C06-9D34-0A04556AFA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3C254A-5255-CB89-964C-5A6BF434973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3776EE-FA23-77E1-A559-D10C11013C8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65318FD-6643-3A4C-6C4A-8B1DB68D0DC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F30ACBA-07DD-DAC7-6CE3-839944D0455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03C4BB2-25A8-60F7-399A-30C5B95E45D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Supported Variable Types and Examples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CB3C8-14AD-3F10-64EA-DA4430B42396}"/>
              </a:ext>
            </a:extLst>
          </p:cNvPr>
          <p:cNvSpPr txBox="1"/>
          <p:nvPr/>
        </p:nvSpPr>
        <p:spPr>
          <a:xfrm>
            <a:off x="637059" y="239044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e. </a:t>
            </a:r>
            <a:r>
              <a:rPr lang="en-US" sz="4000" dirty="0" err="1">
                <a:latin typeface="Consolas" panose="020B0609020204030204" pitchFamily="49" charset="0"/>
              </a:rPr>
              <a:t>uuid</a:t>
            </a:r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@app.route('/item/&lt;uuid:item_id&gt;')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latin typeface="Consolas" panose="020B0609020204030204" pitchFamily="49" charset="0"/>
              </a:rPr>
              <a:t>show_item</a:t>
            </a:r>
            <a:r>
              <a:rPr lang="en-US" sz="4000" dirty="0">
                <a:latin typeface="Consolas" panose="020B0609020204030204" pitchFamily="49" charset="0"/>
              </a:rPr>
              <a:t>(</a:t>
            </a:r>
            <a:r>
              <a:rPr lang="en-US" sz="4000" dirty="0" err="1">
                <a:latin typeface="Consolas" panose="020B0609020204030204" pitchFamily="49" charset="0"/>
              </a:rPr>
              <a:t>item_id</a:t>
            </a:r>
            <a:r>
              <a:rPr lang="en-US" sz="4000" dirty="0">
                <a:latin typeface="Consolas" panose="020B0609020204030204" pitchFamily="49" charset="0"/>
              </a:rPr>
              <a:t>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</a:t>
            </a:r>
            <a:r>
              <a:rPr lang="en-US" sz="4000" dirty="0" err="1">
                <a:latin typeface="Consolas" panose="020B0609020204030204" pitchFamily="49" charset="0"/>
              </a:rPr>
              <a:t>f"Item</a:t>
            </a:r>
            <a:r>
              <a:rPr lang="en-US" sz="4000" dirty="0">
                <a:latin typeface="Consolas" panose="020B0609020204030204" pitchFamily="49" charset="0"/>
              </a:rPr>
              <a:t> UUID: {</a:t>
            </a:r>
            <a:r>
              <a:rPr lang="en-US" sz="4000" dirty="0" err="1">
                <a:latin typeface="Consolas" panose="020B0609020204030204" pitchFamily="49" charset="0"/>
              </a:rPr>
              <a:t>item_id</a:t>
            </a:r>
            <a:r>
              <a:rPr lang="en-US" sz="4000" dirty="0">
                <a:latin typeface="Consolas" panose="020B0609020204030204" pitchFamily="49" charset="0"/>
              </a:rPr>
              <a:t>}"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Flask converts the string to a UUID object before passing it to the function.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Ex.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/item/550e8400-e29b-41d4-a716-446655440000</a:t>
            </a:r>
          </a:p>
        </p:txBody>
      </p:sp>
    </p:spTree>
    <p:extLst>
      <p:ext uri="{BB962C8B-B14F-4D97-AF65-F5344CB8AC3E}">
        <p14:creationId xmlns:p14="http://schemas.microsoft.com/office/powerpoint/2010/main" val="2093848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2612-0FF8-DC50-36B1-FE91038D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266004-7AF1-F51A-95CB-D4373DBD5B0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5CF26F-FAC4-31B0-96C1-ED2E4BCEE8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311CD0-CD90-98DF-7ACC-51BB010262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FA754B2-F9CD-B9AC-73CA-26CBBF0B4FD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EBDE79D-CE59-6269-97CD-64B36003C7B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34D7936-691A-3B6D-7460-86AE2C26890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7C82D78-C7C2-CE2C-FC65-AE8485BB9FA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Handling multiple routes in one function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E3D0B-ABB0-8D5B-26AA-C8C21A8951EC}"/>
              </a:ext>
            </a:extLst>
          </p:cNvPr>
          <p:cNvSpPr txBox="1"/>
          <p:nvPr/>
        </p:nvSpPr>
        <p:spPr>
          <a:xfrm>
            <a:off x="637059" y="2390447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A single function can respond to multiple URLs: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@app.route('/home')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def home():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    return "Welcome Home!"</a:t>
            </a:r>
          </a:p>
        </p:txBody>
      </p:sp>
    </p:spTree>
    <p:extLst>
      <p:ext uri="{BB962C8B-B14F-4D97-AF65-F5344CB8AC3E}">
        <p14:creationId xmlns:p14="http://schemas.microsoft.com/office/powerpoint/2010/main" val="1400722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1C23-AE04-46B3-1D33-7C2F2952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4C898E-06BF-8BCD-3987-52AC5DEFEC5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AB674C-9951-596A-0320-BDBCC154EB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0F18697-5E23-1966-9E7B-D429F7D1B80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59344BD-59AF-E896-0BE7-E74DBA358A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2A7D8C0-85B3-1C44-BADD-E53B25D203F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486A7FA-10B7-AFD4-A039-4A07C751B5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670F2C6-7DEB-2CF3-13C0-74DEFC2D698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Redirection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877B5-092D-ED64-EF27-B74CD7BA8562}"/>
              </a:ext>
            </a:extLst>
          </p:cNvPr>
          <p:cNvSpPr txBox="1"/>
          <p:nvPr/>
        </p:nvSpPr>
        <p:spPr>
          <a:xfrm>
            <a:off x="177555" y="2095500"/>
            <a:ext cx="17881845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nsolas" panose="020B0609020204030204" pitchFamily="49" charset="0"/>
              </a:rPr>
              <a:t>redirect() </a:t>
            </a:r>
            <a:r>
              <a:rPr lang="en-US" sz="3200" dirty="0">
                <a:latin typeface="Consolas" panose="020B0609020204030204" pitchFamily="49" charset="0"/>
              </a:rPr>
              <a:t>– It is used to send the user to a different URL or route.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b="1" dirty="0" err="1">
                <a:latin typeface="Consolas" panose="020B0609020204030204" pitchFamily="49" charset="0"/>
              </a:rPr>
              <a:t>url_for</a:t>
            </a:r>
            <a:r>
              <a:rPr lang="en-US" sz="3200" b="1" dirty="0">
                <a:latin typeface="Consolas" panose="020B0609020204030204" pitchFamily="49" charset="0"/>
              </a:rPr>
              <a:t>() </a:t>
            </a:r>
            <a:r>
              <a:rPr lang="en-US" sz="3200" dirty="0">
                <a:latin typeface="Consolas" panose="020B0609020204030204" pitchFamily="49" charset="0"/>
              </a:rPr>
              <a:t>– It is used to generate URLs dynamically for routes instead of hardcoding them. It usually takes the function name, not the URL path, and any arguments needed for that route. 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Example 1: Passing function name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from flask import Flask, </a:t>
            </a:r>
            <a:r>
              <a:rPr lang="en-US" sz="3200" dirty="0" err="1">
                <a:latin typeface="Consolas" panose="020B0609020204030204" pitchFamily="49" charset="0"/>
              </a:rPr>
              <a:t>url_for</a:t>
            </a:r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@app.route('/')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def index():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return "Home Page"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@app.route('/about')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def about():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latin typeface="Consolas" panose="020B0609020204030204" pitchFamily="49" charset="0"/>
              </a:rPr>
              <a:t>home_url</a:t>
            </a:r>
            <a:r>
              <a:rPr lang="en-US" sz="3200" dirty="0">
                <a:latin typeface="Consolas" panose="020B0609020204030204" pitchFamily="49" charset="0"/>
              </a:rPr>
              <a:t> = </a:t>
            </a:r>
            <a:r>
              <a:rPr lang="en-US" sz="3200" dirty="0" err="1">
                <a:latin typeface="Consolas" panose="020B0609020204030204" pitchFamily="49" charset="0"/>
              </a:rPr>
              <a:t>url_for</a:t>
            </a:r>
            <a:r>
              <a:rPr lang="en-US" sz="3200" dirty="0">
                <a:latin typeface="Consolas" panose="020B0609020204030204" pitchFamily="49" charset="0"/>
              </a:rPr>
              <a:t>('index')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    return </a:t>
            </a:r>
            <a:r>
              <a:rPr lang="en-US" sz="3200" dirty="0" err="1">
                <a:latin typeface="Consolas" panose="020B0609020204030204" pitchFamily="49" charset="0"/>
              </a:rPr>
              <a:t>f"Go</a:t>
            </a:r>
            <a:r>
              <a:rPr lang="en-US" sz="3200" dirty="0">
                <a:latin typeface="Consolas" panose="020B0609020204030204" pitchFamily="49" charset="0"/>
              </a:rPr>
              <a:t> back to &lt;a </a:t>
            </a:r>
            <a:r>
              <a:rPr lang="en-US" sz="3200" dirty="0" err="1">
                <a:latin typeface="Consolas" panose="020B0609020204030204" pitchFamily="49" charset="0"/>
              </a:rPr>
              <a:t>href</a:t>
            </a:r>
            <a:r>
              <a:rPr lang="en-US" sz="3200" dirty="0">
                <a:latin typeface="Consolas" panose="020B0609020204030204" pitchFamily="49" charset="0"/>
              </a:rPr>
              <a:t>='{</a:t>
            </a:r>
            <a:r>
              <a:rPr lang="en-US" sz="3200" dirty="0" err="1">
                <a:latin typeface="Consolas" panose="020B0609020204030204" pitchFamily="49" charset="0"/>
              </a:rPr>
              <a:t>home_url</a:t>
            </a:r>
            <a:r>
              <a:rPr lang="en-US" sz="3200" dirty="0">
                <a:latin typeface="Consolas" panose="020B0609020204030204" pitchFamily="49" charset="0"/>
              </a:rPr>
              <a:t>}'&gt;Home&lt;/a&gt;"</a:t>
            </a:r>
          </a:p>
        </p:txBody>
      </p:sp>
    </p:spTree>
    <p:extLst>
      <p:ext uri="{BB962C8B-B14F-4D97-AF65-F5344CB8AC3E}">
        <p14:creationId xmlns:p14="http://schemas.microsoft.com/office/powerpoint/2010/main" val="1335904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13C4-5F88-E4D5-1722-7DF144683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234ECC-A32E-6173-D812-9C6577C6371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BB2DA6-441A-6D53-A8B8-48EDF3DFCB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31E848-C954-A610-8C42-9D0613A8E4B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99137D8-C62E-C644-1CAD-84209136F28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57BD4E3-9E44-92B4-F388-2EDEDBDBC70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D73B2E3-6F24-5853-1A5C-7EE3864F6FD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5AE77E5-3A86-7C2A-4296-E5070C65630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Redirection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61760E-DE75-5085-DCDE-30B3F1683F17}"/>
              </a:ext>
            </a:extLst>
          </p:cNvPr>
          <p:cNvSpPr txBox="1"/>
          <p:nvPr/>
        </p:nvSpPr>
        <p:spPr>
          <a:xfrm>
            <a:off x="177555" y="2095500"/>
            <a:ext cx="1788184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Example 2: Passing a URL path.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@app.route('/old')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def old():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    return redirect('/new')</a:t>
            </a:r>
          </a:p>
          <a:p>
            <a:pPr lvl="1" indent="-457200" algn="just"/>
            <a:endParaRPr lang="en-US" sz="3800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@app.route('/new')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def new():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    return "You’ve been redirected!"</a:t>
            </a:r>
          </a:p>
        </p:txBody>
      </p:sp>
    </p:spTree>
    <p:extLst>
      <p:ext uri="{BB962C8B-B14F-4D97-AF65-F5344CB8AC3E}">
        <p14:creationId xmlns:p14="http://schemas.microsoft.com/office/powerpoint/2010/main" val="2937324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267F-8E57-BBB2-1556-17291C9D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D4F767-704B-8C7E-308E-EBCDC3AF8F6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578185-06C0-C1FA-E8AB-EFE9A7CC09A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5B89DF0-C454-17F4-01BD-24012740D22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F471D7-0101-2538-8DE1-7C47E942F88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F2647F2-5EDF-F1D6-6B5A-5FD588180D7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8F9A6C0-199C-85FF-5E62-3D2446E0DE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6B1E5FD-C665-2FC9-C332-179E5C78671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Redirection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B5782-26F4-2EBB-3AAA-5F3C1B13FB1C}"/>
              </a:ext>
            </a:extLst>
          </p:cNvPr>
          <p:cNvSpPr txBox="1"/>
          <p:nvPr/>
        </p:nvSpPr>
        <p:spPr>
          <a:xfrm>
            <a:off x="177555" y="2095500"/>
            <a:ext cx="1788184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Example 3: Passing an argument to a route.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@app.route('/user/&lt;username&gt;')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def profile(username):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    return </a:t>
            </a:r>
            <a:r>
              <a:rPr lang="en-US" sz="3800" dirty="0" err="1">
                <a:latin typeface="Consolas" panose="020B0609020204030204" pitchFamily="49" charset="0"/>
              </a:rPr>
              <a:t>f"User</a:t>
            </a:r>
            <a:r>
              <a:rPr lang="en-US" sz="3800" dirty="0">
                <a:latin typeface="Consolas" panose="020B0609020204030204" pitchFamily="49" charset="0"/>
              </a:rPr>
              <a:t>: {username}"</a:t>
            </a:r>
          </a:p>
          <a:p>
            <a:pPr lvl="1" indent="-457200" algn="just"/>
            <a:endParaRPr lang="en-US" sz="3800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@app.route('/link')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def link():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    return redirect(</a:t>
            </a:r>
            <a:r>
              <a:rPr lang="en-US" sz="3800" dirty="0" err="1">
                <a:latin typeface="Consolas" panose="020B0609020204030204" pitchFamily="49" charset="0"/>
              </a:rPr>
              <a:t>url_for</a:t>
            </a:r>
            <a:r>
              <a:rPr lang="en-US" sz="3800" dirty="0">
                <a:latin typeface="Consolas" panose="020B0609020204030204" pitchFamily="49" charset="0"/>
              </a:rPr>
              <a:t>('profile', username='Mark’))</a:t>
            </a:r>
          </a:p>
        </p:txBody>
      </p:sp>
    </p:spTree>
    <p:extLst>
      <p:ext uri="{BB962C8B-B14F-4D97-AF65-F5344CB8AC3E}">
        <p14:creationId xmlns:p14="http://schemas.microsoft.com/office/powerpoint/2010/main" val="3464022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3041-AFB8-3E67-5832-E464D7BC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C1757C9-6679-62E7-8188-F33A7231C53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F63490-833B-C175-A9EB-7AB14D1923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6CBB1D3-5D48-6BC2-3DCD-19B9031F649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0103D0-E33E-F34C-2D8B-B9030CCDC30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9717DC8-B03A-A0C3-C9AE-1802DB4D143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08352DF-CC25-5432-18F7-035C15E255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3506A49-BAA7-0CFB-ED3E-8B753FC7A0C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Redirection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8249C8-C290-2AB5-085E-340D77F59EDF}"/>
              </a:ext>
            </a:extLst>
          </p:cNvPr>
          <p:cNvSpPr txBox="1"/>
          <p:nvPr/>
        </p:nvSpPr>
        <p:spPr>
          <a:xfrm>
            <a:off x="177555" y="2095500"/>
            <a:ext cx="17881845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Example 4: Using it in HTML templates.</a:t>
            </a: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To pass a variable:</a:t>
            </a: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Route: @app.route('/user/&lt;username&gt;')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&lt;a </a:t>
            </a:r>
            <a:r>
              <a:rPr lang="en-US" sz="3800" dirty="0" err="1">
                <a:latin typeface="Consolas" panose="020B0609020204030204" pitchFamily="49" charset="0"/>
              </a:rPr>
              <a:t>href</a:t>
            </a:r>
            <a:r>
              <a:rPr lang="en-US" sz="3800" dirty="0">
                <a:latin typeface="Consolas" panose="020B0609020204030204" pitchFamily="49" charset="0"/>
              </a:rPr>
              <a:t>="{{ </a:t>
            </a:r>
            <a:r>
              <a:rPr lang="en-US" sz="3800" dirty="0" err="1">
                <a:latin typeface="Consolas" panose="020B0609020204030204" pitchFamily="49" charset="0"/>
              </a:rPr>
              <a:t>url_for</a:t>
            </a:r>
            <a:r>
              <a:rPr lang="en-US" sz="3800" dirty="0">
                <a:latin typeface="Consolas" panose="020B0609020204030204" pitchFamily="49" charset="0"/>
              </a:rPr>
              <a:t>('profile', username='Mark') }}"&gt;Profile&lt;/a&gt;</a:t>
            </a:r>
          </a:p>
          <a:p>
            <a:pPr lvl="1" indent="-457200" algn="just"/>
            <a:endParaRPr lang="en-US" sz="3800" b="1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Output: </a:t>
            </a:r>
            <a:r>
              <a:rPr lang="en-US" sz="3800" dirty="0">
                <a:latin typeface="Consolas" panose="020B0609020204030204" pitchFamily="49" charset="0"/>
              </a:rPr>
              <a:t>profile/Mark</a:t>
            </a:r>
            <a:endParaRPr lang="en-US" sz="3800" b="1" dirty="0">
              <a:latin typeface="Consolas" panose="020B0609020204030204" pitchFamily="49" charset="0"/>
            </a:endParaRPr>
          </a:p>
          <a:p>
            <a:pPr lvl="1" indent="-457200" algn="just"/>
            <a:endParaRPr lang="en-US" sz="3800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Route: @app.route('/search') </a:t>
            </a: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To pass query parameters: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&lt;a </a:t>
            </a:r>
            <a:r>
              <a:rPr lang="en-US" sz="3800" dirty="0" err="1">
                <a:latin typeface="Consolas" panose="020B0609020204030204" pitchFamily="49" charset="0"/>
              </a:rPr>
              <a:t>href</a:t>
            </a:r>
            <a:r>
              <a:rPr lang="en-US" sz="3800" dirty="0">
                <a:latin typeface="Consolas" panose="020B0609020204030204" pitchFamily="49" charset="0"/>
              </a:rPr>
              <a:t>="{{ </a:t>
            </a:r>
            <a:r>
              <a:rPr lang="en-US" sz="3800" dirty="0" err="1">
                <a:latin typeface="Consolas" panose="020B0609020204030204" pitchFamily="49" charset="0"/>
              </a:rPr>
              <a:t>url_for</a:t>
            </a:r>
            <a:r>
              <a:rPr lang="en-US" sz="3800" dirty="0">
                <a:latin typeface="Consolas" panose="020B0609020204030204" pitchFamily="49" charset="0"/>
              </a:rPr>
              <a:t>('search', q='python', page=5) }}"&gt;Search&lt;/a&gt;</a:t>
            </a:r>
          </a:p>
          <a:p>
            <a:pPr lvl="1" indent="-457200" algn="just"/>
            <a:endParaRPr lang="en-US" sz="3800" b="1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Output: </a:t>
            </a:r>
            <a:r>
              <a:rPr lang="en-US" sz="3800" dirty="0" err="1">
                <a:latin typeface="Consolas" panose="020B0609020204030204" pitchFamily="49" charset="0"/>
              </a:rPr>
              <a:t>search?q</a:t>
            </a:r>
            <a:r>
              <a:rPr lang="en-US" sz="3800" dirty="0">
                <a:latin typeface="Consolas" panose="020B0609020204030204" pitchFamily="49" charset="0"/>
              </a:rPr>
              <a:t>=</a:t>
            </a:r>
            <a:r>
              <a:rPr lang="en-US" sz="3800" dirty="0" err="1">
                <a:latin typeface="Consolas" panose="020B0609020204030204" pitchFamily="49" charset="0"/>
              </a:rPr>
              <a:t>python&amp;page</a:t>
            </a:r>
            <a:r>
              <a:rPr lang="en-US" sz="3800" dirty="0">
                <a:latin typeface="Consolas" panose="020B0609020204030204" pitchFamily="49" charset="0"/>
              </a:rPr>
              <a:t>=5</a:t>
            </a:r>
            <a:endParaRPr lang="en-US" sz="3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738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367E-66FD-609D-B378-DCC95B4F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5CE22B-4051-CA25-A13F-4820233CF1B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61A24C-6D26-745A-9526-9BD6C2A174A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6C4FF18-32AE-3D65-B147-D0AD8AF18E7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70B2136-9B35-5E55-97F6-03F8EF03EF7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D25AA29-BE52-CA70-2550-C94C8B937E7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BDD0A04-1B1D-6116-DDA7-F457763C9A5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5EF0AD4-929E-8323-FEF2-B6E5A3EC475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Redirection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6E106-2D96-5CFB-9519-321D0A6E2AD4}"/>
              </a:ext>
            </a:extLst>
          </p:cNvPr>
          <p:cNvSpPr txBox="1"/>
          <p:nvPr/>
        </p:nvSpPr>
        <p:spPr>
          <a:xfrm>
            <a:off x="177555" y="2095500"/>
            <a:ext cx="17881845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Example 4: Using it in HTML templates.</a:t>
            </a: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To generate a link: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&lt;a </a:t>
            </a:r>
            <a:r>
              <a:rPr lang="en-US" sz="3800" dirty="0" err="1">
                <a:latin typeface="Consolas" panose="020B0609020204030204" pitchFamily="49" charset="0"/>
              </a:rPr>
              <a:t>href</a:t>
            </a:r>
            <a:r>
              <a:rPr lang="en-US" sz="3800" dirty="0">
                <a:latin typeface="Consolas" panose="020B0609020204030204" pitchFamily="49" charset="0"/>
              </a:rPr>
              <a:t>="{{ </a:t>
            </a:r>
            <a:r>
              <a:rPr lang="en-US" sz="3800" dirty="0" err="1">
                <a:latin typeface="Consolas" panose="020B0609020204030204" pitchFamily="49" charset="0"/>
              </a:rPr>
              <a:t>url_for</a:t>
            </a:r>
            <a:r>
              <a:rPr lang="en-US" sz="3800" dirty="0">
                <a:latin typeface="Consolas" panose="020B0609020204030204" pitchFamily="49" charset="0"/>
              </a:rPr>
              <a:t>('home') }}"&gt;Go to Home&lt;/a&gt;</a:t>
            </a:r>
          </a:p>
          <a:p>
            <a:pPr lvl="1" indent="-457200" algn="just"/>
            <a:endParaRPr lang="en-US" sz="3800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To include a static file:</a:t>
            </a:r>
          </a:p>
          <a:p>
            <a:pPr lvl="1" indent="-457200" algn="just"/>
            <a:r>
              <a:rPr lang="en-US" sz="3200" dirty="0">
                <a:latin typeface="Consolas" panose="020B0609020204030204" pitchFamily="49" charset="0"/>
              </a:rPr>
              <a:t>&lt;link </a:t>
            </a:r>
            <a:r>
              <a:rPr lang="en-US" sz="3200" dirty="0" err="1">
                <a:latin typeface="Consolas" panose="020B0609020204030204" pitchFamily="49" charset="0"/>
              </a:rPr>
              <a:t>rel</a:t>
            </a:r>
            <a:r>
              <a:rPr lang="en-US" sz="3200" dirty="0">
                <a:latin typeface="Consolas" panose="020B0609020204030204" pitchFamily="49" charset="0"/>
              </a:rPr>
              <a:t>="stylesheet" </a:t>
            </a:r>
            <a:r>
              <a:rPr lang="en-US" sz="3200" dirty="0" err="1">
                <a:latin typeface="Consolas" panose="020B0609020204030204" pitchFamily="49" charset="0"/>
              </a:rPr>
              <a:t>href</a:t>
            </a:r>
            <a:r>
              <a:rPr lang="en-US" sz="3200" dirty="0">
                <a:latin typeface="Consolas" panose="020B0609020204030204" pitchFamily="49" charset="0"/>
              </a:rPr>
              <a:t>="{{ </a:t>
            </a:r>
            <a:r>
              <a:rPr lang="en-US" sz="3200" dirty="0" err="1">
                <a:latin typeface="Consolas" panose="020B0609020204030204" pitchFamily="49" charset="0"/>
              </a:rPr>
              <a:t>url_for</a:t>
            </a:r>
            <a:r>
              <a:rPr lang="en-US" sz="3200" dirty="0">
                <a:latin typeface="Consolas" panose="020B0609020204030204" pitchFamily="49" charset="0"/>
              </a:rPr>
              <a:t>('static', filename='style.css') }}"&gt;</a:t>
            </a:r>
          </a:p>
          <a:p>
            <a:pPr lvl="1" indent="-457200" algn="just"/>
            <a:endParaRPr lang="en-US" sz="2000" dirty="0">
              <a:latin typeface="Consolas" panose="020B0609020204030204" pitchFamily="49" charset="0"/>
            </a:endParaRPr>
          </a:p>
          <a:p>
            <a:pPr lvl="1" indent="-457200" algn="just"/>
            <a:r>
              <a:rPr lang="en-US" sz="3800" b="1" dirty="0">
                <a:latin typeface="Consolas" panose="020B0609020204030204" pitchFamily="49" charset="0"/>
              </a:rPr>
              <a:t>To send form submissions: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&lt;form action="{{ </a:t>
            </a:r>
            <a:r>
              <a:rPr lang="en-US" sz="3800" dirty="0" err="1">
                <a:latin typeface="Consolas" panose="020B0609020204030204" pitchFamily="49" charset="0"/>
              </a:rPr>
              <a:t>url_for</a:t>
            </a:r>
            <a:r>
              <a:rPr lang="en-US" sz="3800" dirty="0">
                <a:latin typeface="Consolas" panose="020B0609020204030204" pitchFamily="49" charset="0"/>
              </a:rPr>
              <a:t>('login') }}" method="post"&gt;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    &lt;input type="text" name="username"&gt;</a:t>
            </a:r>
          </a:p>
          <a:p>
            <a:pPr lvl="1" indent="-457200" algn="just"/>
            <a:r>
              <a:rPr lang="en-US" sz="3800" dirty="0">
                <a:latin typeface="Consolas" panose="020B0609020204030204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706205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67E3-3ADC-8B14-9DDF-F0CEEF7B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E9EF6C-28C0-4CC2-3712-FBBE434BCE0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DF56B7-25A5-7C74-8AFE-EE965966E36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9E27058-F1D4-5565-7900-74D67D749DB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6C89DDA-420F-42DA-3E78-6E6D31E3B9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34B4639-EE24-18E5-2530-6C288EFA4A9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F567A20-3C53-1731-2CEE-E8A6B17A583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B519971-6027-3475-B1D6-0168D9797C3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Route Error Handling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7A5BA4-764D-50D0-753E-0A8F9DDB3D59}"/>
              </a:ext>
            </a:extLst>
          </p:cNvPr>
          <p:cNvSpPr txBox="1"/>
          <p:nvPr/>
        </p:nvSpPr>
        <p:spPr>
          <a:xfrm>
            <a:off x="177555" y="2095500"/>
            <a:ext cx="1788184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Flask’s @app.errorhandler() can handle many types of errors, not just 404. It can handle HTTP status codes and Python exceptions, allowing you to customize how your app responds when errors occur.</a:t>
            </a:r>
          </a:p>
          <a:p>
            <a:pPr marL="0" lvl="1" algn="just"/>
            <a:endParaRPr lang="en-US" sz="3800" b="1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Example 1: For common HTTP errors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@app.errorhandler(404)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def </a:t>
            </a:r>
            <a:r>
              <a:rPr lang="en-US" sz="3800" dirty="0" err="1">
                <a:latin typeface="Consolas" panose="020B0609020204030204" pitchFamily="49" charset="0"/>
              </a:rPr>
              <a:t>page_not_found</a:t>
            </a:r>
            <a:r>
              <a:rPr lang="en-US" sz="3800" dirty="0">
                <a:latin typeface="Consolas" panose="020B0609020204030204" pitchFamily="49" charset="0"/>
              </a:rPr>
              <a:t>(e):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return "Page not found!", 404</a:t>
            </a: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62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65C8-C74A-67F9-231D-7E09EEA7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17CBE9-1265-9060-7DBF-3F55770A203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9C9DDC-223D-5497-423E-A1CF1723BD6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C1F50D-DC1C-4707-E736-C36223C9C1B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522330D-EB04-ABBA-CFB6-C2994943A54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84E03FF-7803-1FCF-8D62-70585664739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A61BDCC-3C23-A6CE-8332-3E86C851DCB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02B0BED-AC47-D6AA-4FFD-F2BB20C9641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Route Error Handling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CFD5A4-EBCF-1114-EA1C-DC42FF036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350981"/>
              </p:ext>
            </p:extLst>
          </p:nvPr>
        </p:nvGraphicFramePr>
        <p:xfrm>
          <a:off x="457200" y="2188526"/>
          <a:ext cx="16535400" cy="751769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1889363878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726551421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251172180"/>
                    </a:ext>
                  </a:extLst>
                </a:gridCol>
              </a:tblGrid>
              <a:tr h="36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 dirty="0">
                          <a:latin typeface="Consolas" panose="020B0609020204030204" pitchFamily="49" charset="0"/>
                        </a:rPr>
                        <a:t>Error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 dirty="0">
                          <a:latin typeface="Consolas" panose="020B0609020204030204" pitchFamily="49" charset="0"/>
                        </a:rPr>
                        <a:t>When It Happens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172233"/>
                  </a:ext>
                </a:extLst>
              </a:tr>
              <a:tr h="662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400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Bad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Invalid request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644402"/>
                  </a:ext>
                </a:extLst>
              </a:tr>
              <a:tr h="662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401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Unauthorized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User not logged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545243"/>
                  </a:ext>
                </a:extLst>
              </a:tr>
              <a:tr h="662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403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Forbidden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Access denied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384281"/>
                  </a:ext>
                </a:extLst>
              </a:tr>
              <a:tr h="662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 dirty="0">
                          <a:latin typeface="Consolas" panose="020B0609020204030204" pitchFamily="49" charset="0"/>
                        </a:rPr>
                        <a:t>404</a:t>
                      </a:r>
                      <a:endParaRPr lang="en-PH" sz="36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Route does not exist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087055"/>
                  </a:ext>
                </a:extLst>
              </a:tr>
              <a:tr h="115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405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dirty="0">
                          <a:latin typeface="Consolas" panose="020B0609020204030204" pitchFamily="49" charset="0"/>
                        </a:rPr>
                        <a:t>Method 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latin typeface="Consolas" panose="020B0609020204030204" pitchFamily="49" charset="0"/>
                        </a:rPr>
                        <a:t>Wrong HTTP method (GET/POST)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415037"/>
                  </a:ext>
                </a:extLst>
              </a:tr>
              <a:tr h="115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500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Internal Server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App crashes or exception occurs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097499"/>
                  </a:ext>
                </a:extLst>
              </a:tr>
              <a:tr h="115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502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Bad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Server communication issue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628516"/>
                  </a:ext>
                </a:extLst>
              </a:tr>
              <a:tr h="662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b="1">
                          <a:latin typeface="Consolas" panose="020B0609020204030204" pitchFamily="49" charset="0"/>
                        </a:rPr>
                        <a:t>503</a:t>
                      </a:r>
                      <a:endParaRPr lang="en-PH" sz="360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>
                          <a:latin typeface="Consolas" panose="020B0609020204030204" pitchFamily="49" charset="0"/>
                        </a:rPr>
                        <a:t>Service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3600" dirty="0">
                          <a:latin typeface="Consolas" panose="020B0609020204030204" pitchFamily="49" charset="0"/>
                        </a:rPr>
                        <a:t>Server temporarily 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55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876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6BD2-483C-293B-849B-1752BFC1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BBD2D2-67FA-B507-DF84-95D743DE71C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E6117D-5934-0093-358F-5467542CC42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71A5DD4-B130-6BB7-2309-5B297E07EA0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CF6346F-1E98-7F79-8A4D-43E0E0E4D18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D490CB5-643D-D8BE-7067-9738C26D2E3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23D9971-660A-6772-62B4-6447CE30B85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7AE13F5-6D39-E844-B020-67FA5640B56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Route Error Handling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5E3937-2855-D507-75AA-B6A0AE9F555B}"/>
              </a:ext>
            </a:extLst>
          </p:cNvPr>
          <p:cNvSpPr txBox="1"/>
          <p:nvPr/>
        </p:nvSpPr>
        <p:spPr>
          <a:xfrm>
            <a:off x="177555" y="2095500"/>
            <a:ext cx="17881845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Example 2: Handling Python Exceptions </a:t>
            </a:r>
            <a:r>
              <a:rPr lang="en-US" sz="3800" dirty="0">
                <a:latin typeface="Consolas" panose="020B0609020204030204" pitchFamily="49" charset="0"/>
              </a:rPr>
              <a:t>– You can also pass the Exception class if you want to handle all errors, but it can hide specific error details.</a:t>
            </a:r>
          </a:p>
          <a:p>
            <a:pPr marL="0" lvl="1" algn="just"/>
            <a:endParaRPr lang="en-US" sz="3800" b="1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@app.errorhandler(ZeroDivisionError)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def </a:t>
            </a:r>
            <a:r>
              <a:rPr lang="en-US" sz="3800" dirty="0" err="1">
                <a:latin typeface="Consolas" panose="020B0609020204030204" pitchFamily="49" charset="0"/>
              </a:rPr>
              <a:t>divide_by_zero</a:t>
            </a:r>
            <a:r>
              <a:rPr lang="en-US" sz="3800" dirty="0">
                <a:latin typeface="Consolas" panose="020B0609020204030204" pitchFamily="49" charset="0"/>
              </a:rPr>
              <a:t>(e):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return "Cannot divide by zero", 500</a:t>
            </a:r>
          </a:p>
          <a:p>
            <a:pPr marL="0" lvl="1" algn="just"/>
            <a:endParaRPr lang="en-US" sz="3800" b="1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Example 3: Rendering Custom Error Pages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@app.errorhandler(404)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def </a:t>
            </a:r>
            <a:r>
              <a:rPr lang="en-US" sz="3800" dirty="0" err="1">
                <a:latin typeface="Consolas" panose="020B0609020204030204" pitchFamily="49" charset="0"/>
              </a:rPr>
              <a:t>page_not_found</a:t>
            </a:r>
            <a:r>
              <a:rPr lang="en-US" sz="3800" dirty="0">
                <a:latin typeface="Consolas" panose="020B0609020204030204" pitchFamily="49" charset="0"/>
              </a:rPr>
              <a:t>(e):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return </a:t>
            </a:r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r>
              <a:rPr lang="en-US" sz="3800" dirty="0">
                <a:latin typeface="Consolas" panose="020B0609020204030204" pitchFamily="49" charset="0"/>
              </a:rPr>
              <a:t>('404.html'), 404</a:t>
            </a: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5316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C3EB-B206-565D-C8B7-D266E9D4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7AD8CB-F207-32DF-9ACF-04D57E0976A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B83B44-40E4-A367-774A-1FBD67C48EB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20BC773-33D6-0F0E-47CF-BE8F8A1DD0C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DF3416E-382D-1D33-0CEA-D57519A4752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7FE098E-27C8-C698-416D-16CEFD2B012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E6A1CE8-56AA-3893-7365-27E24685FF1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D802F44-1DAF-56F1-35E1-09391855F05D}"/>
              </a:ext>
            </a:extLst>
          </p:cNvPr>
          <p:cNvSpPr txBox="1"/>
          <p:nvPr/>
        </p:nvSpPr>
        <p:spPr>
          <a:xfrm>
            <a:off x="953437" y="713865"/>
            <a:ext cx="16381125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77F64-93FB-C040-B03B-B04D79F682FF}"/>
              </a:ext>
            </a:extLst>
          </p:cNvPr>
          <p:cNvSpPr txBox="1"/>
          <p:nvPr/>
        </p:nvSpPr>
        <p:spPr>
          <a:xfrm>
            <a:off x="380999" y="2305734"/>
            <a:ext cx="17449801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Instruction: </a:t>
            </a:r>
            <a:r>
              <a:rPr lang="en-US" sz="3600" dirty="0">
                <a:latin typeface="Consolas" panose="020B0609020204030204" pitchFamily="49" charset="0"/>
              </a:rPr>
              <a:t>Create flask routes with the following conditions: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 route that display a simple greeting.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 route with 1 dynamic variable (name) and should display "Hello &lt;name&gt;!"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     </a:t>
            </a:r>
            <a:r>
              <a:rPr lang="en-US" sz="3600" b="1" dirty="0">
                <a:latin typeface="Consolas" panose="020B0609020204030204" pitchFamily="49" charset="0"/>
              </a:rPr>
              <a:t>Example Output: </a:t>
            </a:r>
            <a:r>
              <a:rPr lang="en-US" sz="3600" dirty="0">
                <a:latin typeface="Consolas" panose="020B0609020204030204" pitchFamily="49" charset="0"/>
              </a:rPr>
              <a:t>Hello Mark!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 route with 1 integer parameter and should display its square value.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     </a:t>
            </a:r>
            <a:r>
              <a:rPr lang="en-US" sz="3600" b="1" dirty="0">
                <a:latin typeface="Consolas" panose="020B0609020204030204" pitchFamily="49" charset="0"/>
              </a:rPr>
              <a:t>Example Output: </a:t>
            </a:r>
            <a:r>
              <a:rPr lang="en-US" sz="3600" dirty="0">
                <a:latin typeface="Consolas" panose="020B0609020204030204" pitchFamily="49" charset="0"/>
              </a:rPr>
              <a:t>route: square/5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                     The square is 25.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 route with two integer parameters and should display the sum.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     </a:t>
            </a:r>
            <a:r>
              <a:rPr lang="en-US" sz="3600" b="1" dirty="0">
                <a:latin typeface="Consolas" panose="020B0609020204030204" pitchFamily="49" charset="0"/>
              </a:rPr>
              <a:t>Example Output: </a:t>
            </a:r>
            <a:r>
              <a:rPr lang="en-US" sz="3600" dirty="0">
                <a:latin typeface="Consolas" panose="020B0609020204030204" pitchFamily="49" charset="0"/>
              </a:rPr>
              <a:t>route: total/5/10</a:t>
            </a:r>
          </a:p>
          <a:p>
            <a:pPr lvl="1" algn="just"/>
            <a:r>
              <a:rPr lang="en-US" sz="3600" dirty="0">
                <a:latin typeface="Consolas" panose="020B0609020204030204" pitchFamily="49" charset="0"/>
              </a:rPr>
              <a:t>                     The sum is 15.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047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A31B-ED23-2658-A65A-7E8EFA38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678D3A93-8CA4-0F2D-BB06-6FAD822E46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751D7BA4-3A90-C085-2061-9D567CE5BA5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CFFB6B5-74F4-CB5F-3E6F-234639F4450C}"/>
              </a:ext>
            </a:extLst>
          </p:cNvPr>
          <p:cNvSpPr txBox="1"/>
          <p:nvPr/>
        </p:nvSpPr>
        <p:spPr>
          <a:xfrm>
            <a:off x="1138730" y="3930903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Flask Templates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B945B1E6-4485-BCB0-1B56-6FE095CDD02D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609950C5-AD56-856D-E40A-104D07852385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08348944-7223-676E-E5CF-8827B243AE92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8BB13395-0AC9-7AA4-C709-BD05A0A658A1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9322C9D2-C222-C4B0-5818-6CA57C70AF3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12766B98-D1EC-D510-5D17-47DDDA8B584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DE7BB1C6-B39F-3691-966A-B05490967BF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DFF20D8F-B18A-A192-E29E-036EFCF363A3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FBF258-29DD-8A7A-D8F2-EE9EFA1CA76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62B0D21-AB76-5277-2E20-E3A75974FF0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4D0702-905A-E5E3-A784-DA0E7B5A754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181273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E2CBC-9377-6CD9-83F3-EABC0509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E3BDE5-43F8-234B-F65F-F8E6DE8CFCB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F25617-7F4C-2F82-403A-C512E388E08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E26A7D7-A009-BC55-22CD-CD108F0CF59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2AEDB35-68AE-F13C-7DEB-7AC172EF1C0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31DABA6-1243-BD93-7F32-9CCD9E8AB0F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49C10E3-33FA-9B6F-29BE-D718D51A075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3DE963F-5A97-E1FE-E4DE-8BB130196C4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Flask Templates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B33B8F-DB17-5282-EF33-6F238986C810}"/>
              </a:ext>
            </a:extLst>
          </p:cNvPr>
          <p:cNvSpPr txBox="1"/>
          <p:nvPr/>
        </p:nvSpPr>
        <p:spPr>
          <a:xfrm>
            <a:off x="177555" y="2095500"/>
            <a:ext cx="1788184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Flask templates allow your Python code to send HTML pages to the browser instead of plain text. Flask uses the Jinja2 template engine, which lets you embed Python-like code inside HTML using:</a:t>
            </a:r>
          </a:p>
          <a:p>
            <a:pPr marL="1485900" lvl="3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{{ ... }} -&gt; for displaying variables</a:t>
            </a:r>
          </a:p>
          <a:p>
            <a:pPr marL="1485900" lvl="3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{% ... %} -&gt; for logic like loops and conditions</a:t>
            </a:r>
          </a:p>
          <a:p>
            <a:pPr marL="1485900" lvl="3" indent="-571500" algn="just">
              <a:buFont typeface="Wingdings" panose="05000000000000000000" pitchFamily="2" charset="2"/>
              <a:buChar char="ü"/>
            </a:pPr>
            <a:endParaRPr lang="en-US" sz="3800" dirty="0">
              <a:latin typeface="Consolas" panose="020B0609020204030204" pitchFamily="49" charset="0"/>
            </a:endParaRPr>
          </a:p>
          <a:p>
            <a:pPr marL="0" lvl="3" algn="just"/>
            <a:r>
              <a:rPr lang="en-US" sz="3800" dirty="0">
                <a:latin typeface="Consolas" panose="020B0609020204030204" pitchFamily="49" charset="0"/>
              </a:rPr>
              <a:t>It allows us to:</a:t>
            </a:r>
          </a:p>
          <a:p>
            <a:pPr marL="1485900" lvl="5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Display dynamic content (usernames, products, data, etc.)</a:t>
            </a:r>
          </a:p>
          <a:p>
            <a:pPr marL="1485900" lvl="5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Separate design (HTML) from logic (Python)</a:t>
            </a:r>
          </a:p>
          <a:p>
            <a:pPr marL="1485900" lvl="5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Reuse HTML layouts across multiple pages</a:t>
            </a:r>
          </a:p>
        </p:txBody>
      </p:sp>
    </p:spTree>
    <p:extLst>
      <p:ext uri="{BB962C8B-B14F-4D97-AF65-F5344CB8AC3E}">
        <p14:creationId xmlns:p14="http://schemas.microsoft.com/office/powerpoint/2010/main" val="3590096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3215-D311-7684-2E45-7903BC16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6E6E08-9E60-B286-1A42-4C8563D8506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5778FA-43A5-FADB-7D44-69D469FDD62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9A57885-67DC-D328-4CF9-2FE9727D41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418F555-4F91-6D1B-2B1C-C7EC6F69505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2F0443E-B6DD-8982-8FA1-AC57468F263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7027A75-F242-1E7F-127E-61FE40FE99B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3A988DA-3C7E-75E8-C849-2FFE7EEF115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D11B33-3D52-4883-3C6F-FC0701B1C186}"/>
              </a:ext>
            </a:extLst>
          </p:cNvPr>
          <p:cNvSpPr txBox="1"/>
          <p:nvPr/>
        </p:nvSpPr>
        <p:spPr>
          <a:xfrm>
            <a:off x="177555" y="2095500"/>
            <a:ext cx="17881845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r>
              <a:rPr lang="en-US" sz="3800" dirty="0">
                <a:latin typeface="Consolas" panose="020B0609020204030204" pitchFamily="49" charset="0"/>
              </a:rPr>
              <a:t>() – it is used to load a HTML file.</a:t>
            </a: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Syntax: </a:t>
            </a:r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r>
              <a:rPr lang="en-US" sz="3800" dirty="0">
                <a:latin typeface="Consolas" panose="020B0609020204030204" pitchFamily="49" charset="0"/>
              </a:rPr>
              <a:t>("file.html")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For us to use it, we need to import it from our flask:</a:t>
            </a:r>
          </a:p>
          <a:p>
            <a:pPr marL="0" lvl="1" algn="just"/>
            <a:endParaRPr lang="en-US" sz="3800" b="1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Example: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from flask import </a:t>
            </a:r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@app.route('/')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def home():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return </a:t>
            </a:r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r>
              <a:rPr lang="en-US" sz="3800" dirty="0">
                <a:latin typeface="Consolas" panose="020B0609020204030204" pitchFamily="49" charset="0"/>
              </a:rPr>
              <a:t>('home.html')</a:t>
            </a: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Note: </a:t>
            </a:r>
            <a:r>
              <a:rPr lang="en-US" sz="3800" dirty="0">
                <a:latin typeface="Consolas" panose="020B0609020204030204" pitchFamily="49" charset="0"/>
              </a:rPr>
              <a:t>The </a:t>
            </a:r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r>
              <a:rPr lang="en-US" sz="3800" dirty="0">
                <a:latin typeface="Consolas" panose="020B0609020204030204" pitchFamily="49" charset="0"/>
              </a:rPr>
              <a:t> tells Flask to look for home.html in the templates folder.</a:t>
            </a:r>
            <a:endParaRPr lang="en-US" sz="3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568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9D74-238F-8EA8-46D1-66ED0E66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F497B5-66A8-9CE8-35D9-D6C64481A55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78B175-F343-448D-0BD7-8D2B0D8C2E0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490321C-E591-6434-FB17-A6425D8E55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6EB70BE-CBF8-1320-2879-4FD393FED4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2F2F571-8129-070D-59A1-AAFCF8A316B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AB46BFB-BE62-0A2E-A699-1765D8F527C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D736B4A-A321-3A70-F7AA-6E2FE381945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E7E2DB-D939-A249-426A-8753D2F4808F}"/>
              </a:ext>
            </a:extLst>
          </p:cNvPr>
          <p:cNvSpPr txBox="1"/>
          <p:nvPr/>
        </p:nvSpPr>
        <p:spPr>
          <a:xfrm>
            <a:off x="177555" y="2095500"/>
            <a:ext cx="17881845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Basic HTML Template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home.html</a:t>
            </a: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&lt;!DOCTYPE html&gt;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&lt;html&gt;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&lt;head&gt;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&lt;title&gt;Home&lt;/title&gt;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&lt;/head&gt;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&lt;body&gt;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&lt;h1&gt;Welcome!&lt;/h1&gt;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&lt;/body&gt;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907347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B76B-BBCC-A5C0-B493-5E6D3F4F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091B4E-03C2-B791-A62E-EADDA8FB9D0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BE0AF1-4811-61CC-613E-1599ADDF363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F2362B6-D469-8E84-41BD-F6C6ECB546E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785A293-8AC1-F9FE-05E6-3DF3C58598D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46A00E8-AB60-6CD8-4DB2-AC4A74E5BB2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591748C-813F-4448-DAC5-E68BEA9D895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BAD0327-7C45-4E70-2A77-04EF2E3BF7B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Passing variable from route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15A2A2-AD48-2FF3-C57C-4C787AB9C333}"/>
              </a:ext>
            </a:extLst>
          </p:cNvPr>
          <p:cNvSpPr txBox="1"/>
          <p:nvPr/>
        </p:nvSpPr>
        <p:spPr>
          <a:xfrm>
            <a:off x="177555" y="2095500"/>
            <a:ext cx="1788184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app.py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@app.route('/hello/&lt;name&gt;')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def hello(name):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return </a:t>
            </a:r>
            <a:r>
              <a:rPr lang="en-US" sz="3800" dirty="0" err="1">
                <a:latin typeface="Consolas" panose="020B0609020204030204" pitchFamily="49" charset="0"/>
              </a:rPr>
              <a:t>render_template</a:t>
            </a:r>
            <a:r>
              <a:rPr lang="en-US" sz="3800" dirty="0">
                <a:latin typeface="Consolas" panose="020B0609020204030204" pitchFamily="49" charset="0"/>
              </a:rPr>
              <a:t>('hello.html', username=name)</a:t>
            </a: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To display variables, we need {{ }}.</a:t>
            </a: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hello.html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&lt;h1&gt;Hello, {{ username }}!&lt;/h1&gt;</a:t>
            </a:r>
          </a:p>
        </p:txBody>
      </p:sp>
    </p:spTree>
    <p:extLst>
      <p:ext uri="{BB962C8B-B14F-4D97-AF65-F5344CB8AC3E}">
        <p14:creationId xmlns:p14="http://schemas.microsoft.com/office/powerpoint/2010/main" val="4125081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0428-7F70-2924-29D7-7C909107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40558E-A839-AAEF-8B99-5234C39BA8C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BEB2F0-3982-9461-A3AB-358088996CA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CECC8F-DBCD-50E7-24D5-C573B2E0B05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DF46C5-ADE2-6207-F102-FBF4C329907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30A67E9-A495-F92B-815B-A9F74540A83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33F283C-027B-A7B8-6800-60F83A680BD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076B63F-931C-2005-F1F1-B0E27B5040E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Passing variable from route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00B9AA-132F-2B15-4F33-0CD01CE18F40}"/>
              </a:ext>
            </a:extLst>
          </p:cNvPr>
          <p:cNvSpPr txBox="1"/>
          <p:nvPr/>
        </p:nvSpPr>
        <p:spPr>
          <a:xfrm>
            <a:off x="177555" y="2095500"/>
            <a:ext cx="1788184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app.py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@app.route('/hello/&lt;name&gt;')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def hello(name):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age = 25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city = "Manila"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    </a:t>
            </a:r>
            <a:r>
              <a:rPr lang="en-US" sz="2800" dirty="0">
                <a:latin typeface="Consolas" panose="020B0609020204030204" pitchFamily="49" charset="0"/>
              </a:rPr>
              <a:t>return </a:t>
            </a:r>
            <a:r>
              <a:rPr lang="en-US" sz="2800" dirty="0" err="1">
                <a:latin typeface="Consolas" panose="020B0609020204030204" pitchFamily="49" charset="0"/>
              </a:rPr>
              <a:t>render_template</a:t>
            </a:r>
            <a:r>
              <a:rPr lang="en-US" sz="2800" dirty="0">
                <a:latin typeface="Consolas" panose="020B0609020204030204" pitchFamily="49" charset="0"/>
              </a:rPr>
              <a:t>('hello.html', username=name, </a:t>
            </a:r>
            <a:r>
              <a:rPr lang="en-US" sz="2800" dirty="0" err="1">
                <a:latin typeface="Consolas" panose="020B0609020204030204" pitchFamily="49" charset="0"/>
              </a:rPr>
              <a:t>user_age</a:t>
            </a:r>
            <a:r>
              <a:rPr lang="en-US" sz="2800" dirty="0">
                <a:latin typeface="Consolas" panose="020B0609020204030204" pitchFamily="49" charset="0"/>
              </a:rPr>
              <a:t>=age, </a:t>
            </a:r>
            <a:r>
              <a:rPr lang="en-US" sz="2800" dirty="0" err="1">
                <a:latin typeface="Consolas" panose="020B0609020204030204" pitchFamily="49" charset="0"/>
              </a:rPr>
              <a:t>user_city</a:t>
            </a:r>
            <a:r>
              <a:rPr lang="en-US" sz="2800" dirty="0">
                <a:latin typeface="Consolas" panose="020B0609020204030204" pitchFamily="49" charset="0"/>
              </a:rPr>
              <a:t>=city)</a:t>
            </a:r>
          </a:p>
          <a:p>
            <a:pPr marL="0" lvl="1" algn="just"/>
            <a:endParaRPr lang="en-US" sz="3800" b="1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hello.html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&lt;h1&gt;Hello, {{ username }}!&lt;/h1&gt;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&lt;p&gt;Age: {{ </a:t>
            </a:r>
            <a:r>
              <a:rPr lang="en-US" sz="3800" dirty="0" err="1">
                <a:latin typeface="Consolas" panose="020B0609020204030204" pitchFamily="49" charset="0"/>
              </a:rPr>
              <a:t>user_age</a:t>
            </a:r>
            <a:r>
              <a:rPr lang="en-US" sz="3800" dirty="0">
                <a:latin typeface="Consolas" panose="020B0609020204030204" pitchFamily="49" charset="0"/>
              </a:rPr>
              <a:t> }}&lt;/p&gt;</a:t>
            </a: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&lt;p&gt;City: {{ </a:t>
            </a:r>
            <a:r>
              <a:rPr lang="en-US" sz="3800" dirty="0" err="1">
                <a:latin typeface="Consolas" panose="020B0609020204030204" pitchFamily="49" charset="0"/>
              </a:rPr>
              <a:t>user_city</a:t>
            </a:r>
            <a:r>
              <a:rPr lang="en-US" sz="3800" dirty="0">
                <a:latin typeface="Consolas" panose="020B0609020204030204" pitchFamily="49" charset="0"/>
              </a:rPr>
              <a:t> }}&lt;/p&gt;</a:t>
            </a:r>
          </a:p>
        </p:txBody>
      </p:sp>
    </p:spTree>
    <p:extLst>
      <p:ext uri="{BB962C8B-B14F-4D97-AF65-F5344CB8AC3E}">
        <p14:creationId xmlns:p14="http://schemas.microsoft.com/office/powerpoint/2010/main" val="3356192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7867-99F7-1DAA-4859-1416E392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F1B5BE-C120-C1A0-202F-970EA18DD55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91E2742-39F8-F6A6-4526-C1144FF4EC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24BE3DB-A257-73E7-4DE4-230250B05F9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0C204A-94F6-FC8D-C9AA-5328D397659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4FF8906-95AC-C73F-6F8E-7914A3BF4E5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4059598-114D-C559-1A49-ECF67577C88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34381DC-038C-52E1-088A-1F94182C2D5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Creating variables in HTML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8C6020-EF46-6E0F-152D-4877554BCA8D}"/>
              </a:ext>
            </a:extLst>
          </p:cNvPr>
          <p:cNvSpPr txBox="1"/>
          <p:nvPr/>
        </p:nvSpPr>
        <p:spPr>
          <a:xfrm>
            <a:off x="177555" y="2095500"/>
            <a:ext cx="17881845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When creating variables in a HTML template, it is only temporary where it only exists while rendering the template. You can use it later in the template just like a normal variable. It does not affect Python variables in your Flask app.</a:t>
            </a:r>
          </a:p>
          <a:p>
            <a:pPr marL="0" lvl="1" algn="just"/>
            <a:r>
              <a:rPr lang="en-US" sz="3800" b="1" dirty="0">
                <a:latin typeface="Consolas" panose="020B0609020204030204" pitchFamily="49" charset="0"/>
              </a:rPr>
              <a:t>Syntax: </a:t>
            </a:r>
            <a:r>
              <a:rPr lang="en-US" sz="3800" dirty="0">
                <a:latin typeface="Consolas" panose="020B0609020204030204" pitchFamily="49" charset="0"/>
              </a:rPr>
              <a:t>{% set </a:t>
            </a:r>
            <a:r>
              <a:rPr lang="en-US" sz="3800" dirty="0" err="1">
                <a:latin typeface="Consolas" panose="020B0609020204030204" pitchFamily="49" charset="0"/>
              </a:rPr>
              <a:t>variable_name</a:t>
            </a:r>
            <a:r>
              <a:rPr lang="en-US" sz="3800" dirty="0">
                <a:latin typeface="Consolas" panose="020B0609020204030204" pitchFamily="49" charset="0"/>
              </a:rPr>
              <a:t> = value %}</a:t>
            </a:r>
          </a:p>
          <a:p>
            <a:pPr marL="0" lvl="1" algn="just"/>
            <a:endParaRPr lang="en-US" sz="38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800" dirty="0">
                <a:latin typeface="Consolas" panose="020B0609020204030204" pitchFamily="49" charset="0"/>
              </a:rPr>
              <a:t>Where:</a:t>
            </a:r>
          </a:p>
          <a:p>
            <a:pPr marL="1028700" lvl="2" indent="-571500" algn="just">
              <a:buFont typeface="Wingdings" panose="05000000000000000000" pitchFamily="2" charset="2"/>
              <a:buChar char="ü"/>
            </a:pPr>
            <a:r>
              <a:rPr lang="en-US" sz="3800" b="1" dirty="0" err="1">
                <a:latin typeface="Consolas" panose="020B0609020204030204" pitchFamily="49" charset="0"/>
              </a:rPr>
              <a:t>variable_name</a:t>
            </a:r>
            <a:r>
              <a:rPr lang="en-US" sz="3800" b="1" dirty="0">
                <a:latin typeface="Consolas" panose="020B0609020204030204" pitchFamily="49" charset="0"/>
              </a:rPr>
              <a:t> </a:t>
            </a:r>
            <a:r>
              <a:rPr lang="en-US" sz="3800" dirty="0">
                <a:latin typeface="Consolas" panose="020B0609020204030204" pitchFamily="49" charset="0"/>
              </a:rPr>
              <a:t>-&gt; the name you want to give the variable</a:t>
            </a:r>
          </a:p>
          <a:p>
            <a:pPr marL="1028700" lvl="2" indent="-571500" algn="just">
              <a:buFont typeface="Wingdings" panose="05000000000000000000" pitchFamily="2" charset="2"/>
              <a:buChar char="ü"/>
            </a:pPr>
            <a:r>
              <a:rPr lang="en-US" sz="3800" b="1" dirty="0">
                <a:latin typeface="Consolas" panose="020B0609020204030204" pitchFamily="49" charset="0"/>
              </a:rPr>
              <a:t>value</a:t>
            </a:r>
            <a:r>
              <a:rPr lang="en-US" sz="3800" dirty="0">
                <a:latin typeface="Consolas" panose="020B0609020204030204" pitchFamily="49" charset="0"/>
              </a:rPr>
              <a:t> -&gt; can be a string, number, list, dictionary, or even a calculation</a:t>
            </a:r>
          </a:p>
          <a:p>
            <a:pPr marL="1028700" lvl="2" indent="-571500" algn="just">
              <a:buFont typeface="Wingdings" panose="05000000000000000000" pitchFamily="2" charset="2"/>
              <a:buChar char="ü"/>
            </a:pPr>
            <a:endParaRPr lang="en-US" sz="3800" dirty="0">
              <a:latin typeface="Consolas" panose="020B0609020204030204" pitchFamily="49" charset="0"/>
            </a:endParaRPr>
          </a:p>
          <a:p>
            <a:pPr marL="0" lvl="2" algn="just"/>
            <a:r>
              <a:rPr lang="en-US" sz="3800" b="1" dirty="0">
                <a:latin typeface="Consolas" panose="020B0609020204030204" pitchFamily="49" charset="0"/>
              </a:rPr>
              <a:t>Note: </a:t>
            </a:r>
            <a:r>
              <a:rPr lang="en-US" sz="3800" dirty="0">
                <a:latin typeface="Consolas" panose="020B0609020204030204" pitchFamily="49" charset="0"/>
              </a:rPr>
              <a:t>{% set %} is for template logic only.</a:t>
            </a:r>
          </a:p>
        </p:txBody>
      </p:sp>
    </p:spTree>
    <p:extLst>
      <p:ext uri="{BB962C8B-B14F-4D97-AF65-F5344CB8AC3E}">
        <p14:creationId xmlns:p14="http://schemas.microsoft.com/office/powerpoint/2010/main" val="1096943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5786-6981-4F5D-4D5B-43662B77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684F15-3840-8E1C-4203-4B82D004B10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F388A9-CA52-0A1A-8E7E-EC1211EDC69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67165B9-A59F-4D70-A49D-003FFE4C22E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53DF10F-96E3-A8D2-6779-B5C3E41D3CD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47B453B-4B92-5B92-EEDB-1165719C2BE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E8ACD56-F46F-A885-55CA-FB8BB40EEF8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6764D2F-3C59-E1EB-710A-3309F1BF602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Creating variables in HTML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3F0C95-12E2-E6C1-58BF-0EED89152AA8}"/>
              </a:ext>
            </a:extLst>
          </p:cNvPr>
          <p:cNvSpPr txBox="1"/>
          <p:nvPr/>
        </p:nvSpPr>
        <p:spPr>
          <a:xfrm>
            <a:off x="177555" y="2095500"/>
            <a:ext cx="1788184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just"/>
            <a:r>
              <a:rPr lang="en-US" sz="3800" b="1" dirty="0">
                <a:latin typeface="Consolas" panose="020B0609020204030204" pitchFamily="49" charset="0"/>
              </a:rPr>
              <a:t>Examples:</a:t>
            </a:r>
          </a:p>
          <a:p>
            <a:pPr marL="0" lvl="2" algn="just"/>
            <a:r>
              <a:rPr lang="en-US" sz="3800" dirty="0">
                <a:latin typeface="Consolas" panose="020B0609020204030204" pitchFamily="49" charset="0"/>
              </a:rPr>
              <a:t>{% set greeting = "Welcome to Flask!" %}</a:t>
            </a:r>
          </a:p>
          <a:p>
            <a:pPr marL="0" lvl="2" algn="just"/>
            <a:r>
              <a:rPr lang="en-US" sz="3800" dirty="0">
                <a:latin typeface="Consolas" panose="020B0609020204030204" pitchFamily="49" charset="0"/>
              </a:rPr>
              <a:t>&lt;h1&gt;{{ greeting }}&lt;/h1&gt;</a:t>
            </a:r>
          </a:p>
          <a:p>
            <a:pPr marL="0" lvl="2" algn="just"/>
            <a:endParaRPr lang="en-US" sz="3800" dirty="0">
              <a:latin typeface="Consolas" panose="020B0609020204030204" pitchFamily="49" charset="0"/>
            </a:endParaRPr>
          </a:p>
          <a:p>
            <a:pPr marL="0" lvl="2" algn="just"/>
            <a:endParaRPr lang="en-US" sz="3800" dirty="0">
              <a:latin typeface="Consolas" panose="020B0609020204030204" pitchFamily="49" charset="0"/>
            </a:endParaRPr>
          </a:p>
          <a:p>
            <a:pPr marL="0" lvl="2" algn="just"/>
            <a:endParaRPr lang="en-US" sz="3800" dirty="0">
              <a:latin typeface="Consolas" panose="020B0609020204030204" pitchFamily="49" charset="0"/>
            </a:endParaRPr>
          </a:p>
          <a:p>
            <a:pPr marL="0" lvl="2" algn="just"/>
            <a:r>
              <a:rPr lang="en-US" sz="3800" dirty="0">
                <a:latin typeface="Consolas" panose="020B0609020204030204" pitchFamily="49" charset="0"/>
              </a:rPr>
              <a:t>{% set a = 5 %}</a:t>
            </a:r>
          </a:p>
          <a:p>
            <a:pPr marL="0" lvl="2" algn="just"/>
            <a:r>
              <a:rPr lang="en-US" sz="3800" dirty="0">
                <a:latin typeface="Consolas" panose="020B0609020204030204" pitchFamily="49" charset="0"/>
              </a:rPr>
              <a:t>{% set b = 10 %}</a:t>
            </a:r>
          </a:p>
          <a:p>
            <a:pPr marL="0" lvl="2" algn="just"/>
            <a:r>
              <a:rPr lang="en-US" sz="3800" dirty="0">
                <a:latin typeface="Consolas" panose="020B0609020204030204" pitchFamily="49" charset="0"/>
              </a:rPr>
              <a:t>{% set total = a + b %}</a:t>
            </a:r>
          </a:p>
          <a:p>
            <a:pPr marL="0" lvl="2" algn="just"/>
            <a:r>
              <a:rPr lang="en-US" sz="3800" dirty="0">
                <a:latin typeface="Consolas" panose="020B0609020204030204" pitchFamily="49" charset="0"/>
              </a:rPr>
              <a:t>&lt;p&gt;Total: {{ total }}&lt;/p&gt;</a:t>
            </a:r>
          </a:p>
        </p:txBody>
      </p:sp>
    </p:spTree>
    <p:extLst>
      <p:ext uri="{BB962C8B-B14F-4D97-AF65-F5344CB8AC3E}">
        <p14:creationId xmlns:p14="http://schemas.microsoft.com/office/powerpoint/2010/main" val="4008775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9B89D-8CAB-084F-4AF4-7AECB855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215A02-FFD3-DD45-A7F5-ADE30500197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56B15F-CEF5-4772-80F6-7DAA5F820AD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FDA83F6-395D-BE06-3840-CB7D41D8B7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A0C3791-20B2-D744-E78F-36534FD6201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760EB72-93D8-E28F-0E82-76F29373988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9C6F715-90DF-A779-F333-8273206636C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FEBDF33-4008-152C-D7AC-853B439505E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The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5B9698-B51B-2D35-2022-643AAFC2B9FB}"/>
              </a:ext>
            </a:extLst>
          </p:cNvPr>
          <p:cNvSpPr txBox="1"/>
          <p:nvPr/>
        </p:nvSpPr>
        <p:spPr>
          <a:xfrm>
            <a:off x="177555" y="2095500"/>
            <a:ext cx="17881845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400" b="1" dirty="0">
                <a:latin typeface="Consolas" panose="020B0609020204030204" pitchFamily="49" charset="0"/>
              </a:rPr>
              <a:t>Example: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@app.route('/role/&lt;role&gt;')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def </a:t>
            </a:r>
            <a:r>
              <a:rPr lang="en-US" sz="3400" dirty="0" err="1">
                <a:latin typeface="Consolas" panose="020B0609020204030204" pitchFamily="49" charset="0"/>
              </a:rPr>
              <a:t>role_page</a:t>
            </a:r>
            <a:r>
              <a:rPr lang="en-US" sz="3400" dirty="0">
                <a:latin typeface="Consolas" panose="020B0609020204030204" pitchFamily="49" charset="0"/>
              </a:rPr>
              <a:t>(role):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return </a:t>
            </a:r>
            <a:r>
              <a:rPr lang="en-US" sz="3400" dirty="0" err="1">
                <a:latin typeface="Consolas" panose="020B0609020204030204" pitchFamily="49" charset="0"/>
              </a:rPr>
              <a:t>render_template</a:t>
            </a:r>
            <a:r>
              <a:rPr lang="en-US" sz="3400" dirty="0">
                <a:latin typeface="Consolas" panose="020B0609020204030204" pitchFamily="49" charset="0"/>
              </a:rPr>
              <a:t>('role.html', role=role)</a:t>
            </a:r>
          </a:p>
          <a:p>
            <a:pPr marL="0" lvl="1" algn="just"/>
            <a:endParaRPr lang="en-US" sz="34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400" b="1" dirty="0">
                <a:latin typeface="Consolas" panose="020B0609020204030204" pitchFamily="49" charset="0"/>
              </a:rPr>
              <a:t>role.html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&lt;h1&gt;Dashboard&lt;/h1&gt;</a:t>
            </a:r>
          </a:p>
          <a:p>
            <a:pPr marL="0" lvl="1" algn="just"/>
            <a:endParaRPr lang="en-US" sz="34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if role == 'admin' %}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&lt;p&gt;Welcome, Admin! You have full access.&lt;/p&gt;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</a:t>
            </a:r>
            <a:r>
              <a:rPr lang="en-US" sz="3400" dirty="0" err="1">
                <a:latin typeface="Consolas" panose="020B0609020204030204" pitchFamily="49" charset="0"/>
              </a:rPr>
              <a:t>elif</a:t>
            </a:r>
            <a:r>
              <a:rPr lang="en-US" sz="3400" dirty="0">
                <a:latin typeface="Consolas" panose="020B0609020204030204" pitchFamily="49" charset="0"/>
              </a:rPr>
              <a:t> role == 'moderator' %}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&lt;p&gt;Welcome, Moderator! You can manage content.&lt;/p&gt;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else %}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&lt;p&gt;Welcome, User! You have limited access.&lt;/p&gt;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endif %}</a:t>
            </a:r>
          </a:p>
        </p:txBody>
      </p:sp>
    </p:spTree>
    <p:extLst>
      <p:ext uri="{BB962C8B-B14F-4D97-AF65-F5344CB8AC3E}">
        <p14:creationId xmlns:p14="http://schemas.microsoft.com/office/powerpoint/2010/main" val="3714917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2D313-EFAD-2CB6-8EC0-5995762B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00464F-F222-1C06-CC7A-4D41F2C1D2E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6BFD05-E742-5897-0366-7B027293B3E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6BB7DB-826C-F96C-01CE-C0E73B6C1E2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360F559-CB6D-6CAB-34DF-684AAACEF7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5A967CF-92DB-F598-7F42-70E6234B4F5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23D4978-C30B-8892-A081-45B3DC1561C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AB226B2-68D8-45C3-1E84-BDD9473F1CB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The if-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elif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-else directive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179523-9C77-D8B5-1EE0-75D6A409ED65}"/>
              </a:ext>
            </a:extLst>
          </p:cNvPr>
          <p:cNvSpPr txBox="1"/>
          <p:nvPr/>
        </p:nvSpPr>
        <p:spPr>
          <a:xfrm>
            <a:off x="177555" y="2095500"/>
            <a:ext cx="1788184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@app.route('/role/&lt;role&gt;')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def </a:t>
            </a:r>
            <a:r>
              <a:rPr lang="en-US" sz="3600" dirty="0" err="1">
                <a:latin typeface="Consolas" panose="020B0609020204030204" pitchFamily="49" charset="0"/>
              </a:rPr>
              <a:t>role_page</a:t>
            </a:r>
            <a:r>
              <a:rPr lang="en-US" sz="3600" dirty="0">
                <a:latin typeface="Consolas" panose="020B0609020204030204" pitchFamily="49" charset="0"/>
              </a:rPr>
              <a:t>(role):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return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r>
              <a:rPr lang="en-US" sz="3600" dirty="0">
                <a:latin typeface="Consolas" panose="020B0609020204030204" pitchFamily="49" charset="0"/>
              </a:rPr>
              <a:t>('role.html', role=role)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role.html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&lt;h1&gt;Dashboard&lt;/h1&gt;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if role == 'admin'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&lt;p&gt;Welcome, Admin! You have full access.&lt;/p&gt;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</a:t>
            </a:r>
            <a:r>
              <a:rPr lang="en-US" sz="3600" dirty="0" err="1">
                <a:latin typeface="Consolas" panose="020B0609020204030204" pitchFamily="49" charset="0"/>
              </a:rPr>
              <a:t>elif</a:t>
            </a:r>
            <a:r>
              <a:rPr lang="en-US" sz="3600" dirty="0">
                <a:latin typeface="Consolas" panose="020B0609020204030204" pitchFamily="49" charset="0"/>
              </a:rPr>
              <a:t> role == 'moderator'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&lt;p&gt;Welcome, Moderator! You can manage content.&lt;/p&gt;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else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&lt;p&gt;Welcome, User! You have limited access.&lt;/p&gt;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endif %}</a:t>
            </a:r>
          </a:p>
        </p:txBody>
      </p:sp>
    </p:spTree>
    <p:extLst>
      <p:ext uri="{BB962C8B-B14F-4D97-AF65-F5344CB8AC3E}">
        <p14:creationId xmlns:p14="http://schemas.microsoft.com/office/powerpoint/2010/main" val="4211733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604E-24A2-87B6-5EF4-8A153EE5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367756-0650-B445-34E6-44F1C3879DC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46A5A8-4FF7-39D1-8FD2-7BAFE71724D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C348D6-A3CC-9F1D-1E15-96FE6D1850B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3BB9641-9780-7CFF-9E7D-B4541F3644C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8E85B54-4C10-ED27-E66E-7E868DBB4B5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8CFC9E6-5645-0B7B-7238-C9DB4B8BA5C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340382F-7B50-2974-FA8C-8580C606651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The loop directive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EB9792-60E5-752A-705B-1ACED0A9866A}"/>
              </a:ext>
            </a:extLst>
          </p:cNvPr>
          <p:cNvSpPr txBox="1"/>
          <p:nvPr/>
        </p:nvSpPr>
        <p:spPr>
          <a:xfrm>
            <a:off x="177555" y="2095500"/>
            <a:ext cx="1788184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@app.route('/scores')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def scores():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</a:t>
            </a:r>
            <a:r>
              <a:rPr lang="en-US" sz="3600" dirty="0" err="1">
                <a:latin typeface="Consolas" panose="020B0609020204030204" pitchFamily="49" charset="0"/>
              </a:rPr>
              <a:t>scores_dict</a:t>
            </a:r>
            <a:r>
              <a:rPr lang="en-US" sz="3600" dirty="0">
                <a:latin typeface="Consolas" panose="020B0609020204030204" pitchFamily="49" charset="0"/>
              </a:rPr>
              <a:t> = {'Alice': 95, 'Bob': 88, 'Mark': 72}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return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r>
              <a:rPr lang="en-US" sz="3600" dirty="0">
                <a:latin typeface="Consolas" panose="020B0609020204030204" pitchFamily="49" charset="0"/>
              </a:rPr>
              <a:t>('scores.html', scores=</a:t>
            </a:r>
            <a:r>
              <a:rPr lang="en-US" sz="3600" dirty="0" err="1">
                <a:latin typeface="Consolas" panose="020B0609020204030204" pitchFamily="49" charset="0"/>
              </a:rPr>
              <a:t>scores_dict</a:t>
            </a:r>
            <a:r>
              <a:rPr lang="en-US" sz="3600" dirty="0">
                <a:latin typeface="Consolas" panose="020B0609020204030204" pitchFamily="49" charset="0"/>
              </a:rPr>
              <a:t>)</a:t>
            </a:r>
          </a:p>
          <a:p>
            <a:pPr marL="0" lvl="1" algn="just"/>
            <a:endParaRPr lang="en-US" sz="3600" b="1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scores.html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&lt;h1&gt;Dashboard&lt;/h1&gt;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&lt;h2&gt;Scores:&lt;/h2&gt;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&lt;ul&gt;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for name, score in </a:t>
            </a:r>
            <a:r>
              <a:rPr lang="en-US" sz="3600" dirty="0" err="1">
                <a:latin typeface="Consolas" panose="020B0609020204030204" pitchFamily="49" charset="0"/>
              </a:rPr>
              <a:t>scores.items</a:t>
            </a:r>
            <a:r>
              <a:rPr lang="en-US" sz="3600" dirty="0">
                <a:latin typeface="Consolas" panose="020B0609020204030204" pitchFamily="49" charset="0"/>
              </a:rPr>
              <a:t>()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&lt;li&gt;{{ name }}: {{ score }}&lt;/li&gt;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</a:t>
            </a:r>
            <a:r>
              <a:rPr lang="en-US" sz="3600" dirty="0" err="1">
                <a:latin typeface="Consolas" panose="020B0609020204030204" pitchFamily="49" charset="0"/>
              </a:rPr>
              <a:t>endfor</a:t>
            </a:r>
            <a:r>
              <a:rPr lang="en-US" sz="3600" dirty="0">
                <a:latin typeface="Consolas" panose="020B0609020204030204" pitchFamily="49" charset="0"/>
              </a:rPr>
              <a:t>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1770815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27C7-417E-7D66-E86C-FD596A1F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2DB9AE-4957-369A-72A1-439F1F2385E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728F66-0C6F-47AD-35CE-29A163571E3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C7252F-4CD2-CEF4-91C6-DE407628CEB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D203042-455F-3681-1BFD-4109E3A69F2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F078C49-0F20-8962-F73D-43C98BC713A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C1B596B-45FE-8B6E-BCC0-8ECF7F8F6D4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CD7ECD6-AE93-48BC-9956-C4227363EE1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Combining loops and conditionals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3B41A1-6046-23AD-8C45-8FDBA42BFF3A}"/>
              </a:ext>
            </a:extLst>
          </p:cNvPr>
          <p:cNvSpPr txBox="1"/>
          <p:nvPr/>
        </p:nvSpPr>
        <p:spPr>
          <a:xfrm>
            <a:off x="177555" y="2095500"/>
            <a:ext cx="1788184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scores.html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&lt;ul&gt;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for name, score in </a:t>
            </a:r>
            <a:r>
              <a:rPr lang="en-US" sz="3600" dirty="0" err="1">
                <a:latin typeface="Consolas" panose="020B0609020204030204" pitchFamily="49" charset="0"/>
              </a:rPr>
              <a:t>scores.items</a:t>
            </a:r>
            <a:r>
              <a:rPr lang="en-US" sz="3600" dirty="0">
                <a:latin typeface="Consolas" panose="020B0609020204030204" pitchFamily="49" charset="0"/>
              </a:rPr>
              <a:t>()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{% if score &gt;= 90 %}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    &lt;li&gt;{{ name }}: {{ score }} Excellent&lt;/li&gt;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{% </a:t>
            </a:r>
            <a:r>
              <a:rPr lang="en-US" sz="3600" dirty="0" err="1">
                <a:latin typeface="Consolas" panose="020B0609020204030204" pitchFamily="49" charset="0"/>
              </a:rPr>
              <a:t>elif</a:t>
            </a:r>
            <a:r>
              <a:rPr lang="en-US" sz="3600" dirty="0">
                <a:latin typeface="Consolas" panose="020B0609020204030204" pitchFamily="49" charset="0"/>
              </a:rPr>
              <a:t> score &gt;= 75 %}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    &lt;li&gt;{{ name }}: {{ score }} Good&lt;/li&gt;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{% else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    &lt;li&gt;{{ name }}: {{ score }} Needs Improvement&lt;/li&gt;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{% endif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</a:t>
            </a:r>
            <a:r>
              <a:rPr lang="en-US" sz="3600" dirty="0" err="1">
                <a:latin typeface="Consolas" panose="020B0609020204030204" pitchFamily="49" charset="0"/>
              </a:rPr>
              <a:t>endfor</a:t>
            </a:r>
            <a:r>
              <a:rPr lang="en-US" sz="3600" dirty="0">
                <a:latin typeface="Consolas" panose="020B0609020204030204" pitchFamily="49" charset="0"/>
              </a:rPr>
              <a:t>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25571412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BF4B-6DC8-DEA3-9691-477DECF5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98BBAF-9AB1-2E43-BE68-7404B1BCBA6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1E28C9-462A-9F9C-D9B7-480AFD70843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8376D1-4E7B-B9F2-BBB2-A452EAA6C79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CB4FF4F-A3BC-CF40-0D17-A6D5E77F288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49905F6-D3A3-DB6E-C13C-F5B6497600D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68A090C-CB88-F4BB-521E-1D31CCB8B07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40D7ECD-9345-823C-699F-578BE424B40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Notes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CFFAC9-3F8A-5C51-A8C2-ACF73873FED9}"/>
              </a:ext>
            </a:extLst>
          </p:cNvPr>
          <p:cNvSpPr txBox="1"/>
          <p:nvPr/>
        </p:nvSpPr>
        <p:spPr>
          <a:xfrm>
            <a:off x="177555" y="2095500"/>
            <a:ext cx="1788184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Why no while loops?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Jinja2 templates are meant to render content, not run long-running logic. The while loops can potentially run forever, which would freeze your server. If you need a while loop, you do it in Python inside the route before sending the data to the template. Templates should focus on presentation, not heavy logic.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156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8344-134A-8F9B-FCA9-140286C9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5B2CF6-C61E-511C-D989-EE8B85ECAB1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58C260-5B6E-35DB-B3EE-EBC887345E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20BDF79-5F95-DF41-F352-B060B0765FB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01ACDA7-687A-ECF3-7E11-24DF537AA50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E5D1C87-8099-BA61-D83F-A9F423F38E1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24C387F-0FF3-AFAD-CD08-910B432BD2A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8EA28A0-9E74-1C3F-D1E4-01D34275590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Template Inheritance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EED071-AF48-0E94-6ADE-571051443173}"/>
              </a:ext>
            </a:extLst>
          </p:cNvPr>
          <p:cNvSpPr txBox="1"/>
          <p:nvPr/>
        </p:nvSpPr>
        <p:spPr>
          <a:xfrm>
            <a:off x="177555" y="2095500"/>
            <a:ext cx="1788184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Template inheritance allows you to create a base template with common elements like:</a:t>
            </a:r>
          </a:p>
          <a:p>
            <a:pPr marL="1485900" lvl="3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&lt;head&gt; and &lt;title&gt;</a:t>
            </a:r>
          </a:p>
          <a:p>
            <a:pPr marL="1485900" lvl="3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Navigation menu</a:t>
            </a:r>
          </a:p>
          <a:p>
            <a:pPr marL="1485900" lvl="3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Footer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Then, child templates can extend the base template and fill in only the parts that change (like page content).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Template Inheritance Directives</a:t>
            </a: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1.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b="1" dirty="0">
                <a:latin typeface="Consolas" panose="020B0609020204030204" pitchFamily="49" charset="0"/>
              </a:rPr>
              <a:t>{% extends %} </a:t>
            </a:r>
            <a:r>
              <a:rPr lang="en-US" sz="3600" dirty="0">
                <a:latin typeface="Consolas" panose="020B0609020204030204" pitchFamily="49" charset="0"/>
              </a:rPr>
              <a:t>– It is used to inherit from another template.</a:t>
            </a: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2. {% block % } {% </a:t>
            </a:r>
            <a:r>
              <a:rPr lang="en-US" sz="3600" b="1" dirty="0" err="1">
                <a:latin typeface="Consolas" panose="020B0609020204030204" pitchFamily="49" charset="0"/>
              </a:rPr>
              <a:t>endblock</a:t>
            </a:r>
            <a:r>
              <a:rPr lang="en-US" sz="3600" b="1" dirty="0">
                <a:latin typeface="Consolas" panose="020B0609020204030204" pitchFamily="49" charset="0"/>
              </a:rPr>
              <a:t> %} </a:t>
            </a:r>
            <a:r>
              <a:rPr lang="en-US" sz="3600" dirty="0">
                <a:latin typeface="Consolas" panose="020B0609020204030204" pitchFamily="49" charset="0"/>
              </a:rPr>
              <a:t>– It is used to define a section or placeholder in a template that the child templates can override.</a:t>
            </a:r>
            <a:endParaRPr 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372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3538-8BB3-CCA8-1B7C-8CC401DF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9D2082A-FAC3-7C3E-78EA-A534333BB09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56D9A5-9913-B06F-3A60-4C7B462DF33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A376729-D520-F370-385C-9D3F8AD786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41B8C4E-F48E-5126-EAF5-773BD5BFBBD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E3ADCEA-25F1-E0A3-9073-C7CE362C5A2E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78124FD-0A08-3964-93E0-45EE0AA64D6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B8FFAD3-C517-FE5F-549F-1835C8E2862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Template Inheritance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955DD5-03FB-EE7B-B746-93887F6ACD38}"/>
              </a:ext>
            </a:extLst>
          </p:cNvPr>
          <p:cNvSpPr txBox="1"/>
          <p:nvPr/>
        </p:nvSpPr>
        <p:spPr>
          <a:xfrm>
            <a:off x="177555" y="2095500"/>
            <a:ext cx="1788184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Example: templates/base.html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&lt;!DOCTYPE html&gt;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&lt;html&gt;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&lt;head&gt;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&lt;title&gt;{% block title %}My Website{% </a:t>
            </a:r>
            <a:r>
              <a:rPr lang="en-US" sz="3600" dirty="0" err="1">
                <a:latin typeface="Consolas" panose="020B0609020204030204" pitchFamily="49" charset="0"/>
              </a:rPr>
              <a:t>endblock</a:t>
            </a:r>
            <a:r>
              <a:rPr lang="en-US" sz="3600" dirty="0">
                <a:latin typeface="Consolas" panose="020B0609020204030204" pitchFamily="49" charset="0"/>
              </a:rPr>
              <a:t> %}&lt;/title&gt;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&lt;/head&gt;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&lt;body&gt;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	&lt;main&gt;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    {% block content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    &lt;!-- Page-specific content goes here --&gt;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    {% </a:t>
            </a:r>
            <a:r>
              <a:rPr lang="en-US" sz="3600" dirty="0" err="1">
                <a:latin typeface="Consolas" panose="020B0609020204030204" pitchFamily="49" charset="0"/>
              </a:rPr>
              <a:t>endblock</a:t>
            </a:r>
            <a:r>
              <a:rPr lang="en-US" sz="3600" dirty="0">
                <a:latin typeface="Consolas" panose="020B0609020204030204" pitchFamily="49" charset="0"/>
              </a:rPr>
              <a:t>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    &lt;/main&gt;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&lt;/body&gt;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159572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745E-6FEA-601F-1CB9-B463BAFC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5425AD-4F3A-5C28-C01D-BA721AFABA2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EA694E-435B-EBAE-6FD0-5D81F543C12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D270261-10D6-F23D-342B-1A9D9346B62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6B62C70-A283-915E-359C-A90CAA0D4C6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3890BE7-949D-1C49-D7B1-09CB6BFB564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EC546CA-1152-B5AC-C19C-DCDAB6DAFBF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AB6B0AD-595E-6431-5AB7-C02F3829153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Template Inheritance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D2CFDA-D758-03AA-865B-CCC94F2D988E}"/>
              </a:ext>
            </a:extLst>
          </p:cNvPr>
          <p:cNvSpPr txBox="1"/>
          <p:nvPr/>
        </p:nvSpPr>
        <p:spPr>
          <a:xfrm>
            <a:off x="177555" y="2095500"/>
            <a:ext cx="178818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Example: templates/home.html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extends "base.html" %}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block title %}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		Home Page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</a:t>
            </a:r>
            <a:r>
              <a:rPr lang="en-US" sz="3600" dirty="0" err="1">
                <a:latin typeface="Consolas" panose="020B0609020204030204" pitchFamily="49" charset="0"/>
              </a:rPr>
              <a:t>endblock</a:t>
            </a:r>
            <a:r>
              <a:rPr lang="en-US" sz="3600" dirty="0">
                <a:latin typeface="Consolas" panose="020B0609020204030204" pitchFamily="49" charset="0"/>
              </a:rPr>
              <a:t> %}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block content %}</a:t>
            </a:r>
          </a:p>
          <a:p>
            <a:pPr marL="914400" lvl="3" algn="just"/>
            <a:r>
              <a:rPr lang="en-US" sz="3600" dirty="0">
                <a:latin typeface="Consolas" panose="020B0609020204030204" pitchFamily="49" charset="0"/>
              </a:rPr>
              <a:t>&lt;h2&gt;Welcome to the Home Page!&lt;/h2&gt;</a:t>
            </a:r>
          </a:p>
          <a:p>
            <a:pPr marL="914400" lvl="3" algn="just"/>
            <a:r>
              <a:rPr lang="en-US" sz="3600" dirty="0">
                <a:latin typeface="Consolas" panose="020B0609020204030204" pitchFamily="49" charset="0"/>
              </a:rPr>
              <a:t>&lt;p&gt;This content is unique to the home page.&lt;/p&gt;</a:t>
            </a:r>
          </a:p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{% </a:t>
            </a:r>
            <a:r>
              <a:rPr lang="en-US" sz="3600" dirty="0" err="1">
                <a:latin typeface="Consolas" panose="020B0609020204030204" pitchFamily="49" charset="0"/>
              </a:rPr>
              <a:t>endblock</a:t>
            </a:r>
            <a:r>
              <a:rPr lang="en-US" sz="3600" dirty="0">
                <a:latin typeface="Consolas" panose="020B0609020204030204" pitchFamily="49" charset="0"/>
              </a:rPr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2326602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0E3E-B028-0C05-4D00-135071A9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303C4D-3DC1-BAC8-D4F9-D1F0DD33C39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37EF55-E72F-5A8E-7636-6027E4CFA0A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7B127D-47D1-CFD4-30BF-F00D21EA354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A6C31BE-F680-6540-FD92-D282A773B1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4EC7F76-A132-EA3E-C100-64409D44855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894C893-0B00-CD48-1B72-40876ECD773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BC1E116-1180-D1C5-871A-A48B481B110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Include Directive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A430FC-434C-0A3A-72AF-C31635D185A6}"/>
              </a:ext>
            </a:extLst>
          </p:cNvPr>
          <p:cNvSpPr txBox="1"/>
          <p:nvPr/>
        </p:nvSpPr>
        <p:spPr>
          <a:xfrm>
            <a:off x="177555" y="2095500"/>
            <a:ext cx="17881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600" dirty="0">
                <a:latin typeface="Consolas" panose="020B0609020204030204" pitchFamily="49" charset="0"/>
              </a:rPr>
              <a:t>To insert another template’s content directly into the current template, use {% include %}.</a:t>
            </a: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>
                <a:latin typeface="Consolas" panose="020B0609020204030204" pitchFamily="49" charset="0"/>
              </a:rPr>
              <a:t>{% include "navbar.html" %}</a:t>
            </a:r>
          </a:p>
          <a:p>
            <a:pPr marL="0" lvl="1" algn="just"/>
            <a:endParaRPr lang="en-US" sz="36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600" b="1" dirty="0">
                <a:latin typeface="Consolas" panose="020B0609020204030204" pitchFamily="49" charset="0"/>
              </a:rPr>
              <a:t>Notes:</a:t>
            </a:r>
          </a:p>
          <a:p>
            <a:pPr marL="1028700" lvl="2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Include a navigation bar, footer, or a small reusable snippet.</a:t>
            </a:r>
          </a:p>
          <a:p>
            <a:pPr marL="1028700" lvl="2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Can be used multiple times in the same template.</a:t>
            </a:r>
          </a:p>
          <a:p>
            <a:pPr marL="1028700" lvl="2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Included template cannot define {% block %} that the parent overrides.</a:t>
            </a:r>
          </a:p>
        </p:txBody>
      </p:sp>
    </p:spTree>
    <p:extLst>
      <p:ext uri="{BB962C8B-B14F-4D97-AF65-F5344CB8AC3E}">
        <p14:creationId xmlns:p14="http://schemas.microsoft.com/office/powerpoint/2010/main" val="2935663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AF95-4C9B-7F40-58E7-D2CD47F6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F1C20A-85BA-AE00-1DFB-86B99B9BED4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DD390F-2CE3-B155-C869-5299CE54E59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5055B08-1601-D4E9-7A25-1C2D603B8F5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A076F3E-58DC-B734-5068-C7404E4D8E1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0C999AA-55D7-00A6-5B4F-BD9A32D158F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C5242D6-15A7-F339-4A5A-D73A00B9AF5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C87D962-CE63-49B8-A4BD-76E184D8814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Importing Directive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77010B-371D-D3CB-7ED3-91891FF555EE}"/>
              </a:ext>
            </a:extLst>
          </p:cNvPr>
          <p:cNvSpPr txBox="1"/>
          <p:nvPr/>
        </p:nvSpPr>
        <p:spPr>
          <a:xfrm>
            <a:off x="177555" y="2095500"/>
            <a:ext cx="17881845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To import macros or functions from another template that usually contains reusable functions like buttons or form fields. Only imports macros, not the full template content.</a:t>
            </a:r>
          </a:p>
          <a:p>
            <a:pPr marL="0" lvl="1" algn="just"/>
            <a:endParaRPr lang="en-US" sz="14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400" b="1" dirty="0">
                <a:latin typeface="Consolas" panose="020B0609020204030204" pitchFamily="49" charset="0"/>
              </a:rPr>
              <a:t>Syntax: </a:t>
            </a:r>
            <a:r>
              <a:rPr lang="en-US" sz="3400" dirty="0">
                <a:latin typeface="Consolas" panose="020B0609020204030204" pitchFamily="49" charset="0"/>
              </a:rPr>
              <a:t>{% import "macros.html" as macros %}</a:t>
            </a:r>
          </a:p>
          <a:p>
            <a:pPr marL="0" lvl="1" algn="just"/>
            <a:r>
              <a:rPr lang="en-US" sz="3400" b="1" dirty="0">
                <a:latin typeface="Consolas" panose="020B0609020204030204" pitchFamily="49" charset="0"/>
              </a:rPr>
              <a:t>Example: templates/macros.html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macro button(label, </a:t>
            </a:r>
            <a:r>
              <a:rPr lang="en-US" sz="3400" dirty="0" err="1">
                <a:latin typeface="Consolas" panose="020B0609020204030204" pitchFamily="49" charset="0"/>
              </a:rPr>
              <a:t>url</a:t>
            </a:r>
            <a:r>
              <a:rPr lang="en-US" sz="3400" dirty="0">
                <a:latin typeface="Consolas" panose="020B0609020204030204" pitchFamily="49" charset="0"/>
              </a:rPr>
              <a:t>="#") %}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&lt;a </a:t>
            </a:r>
            <a:r>
              <a:rPr lang="en-US" sz="3400" dirty="0" err="1">
                <a:latin typeface="Consolas" panose="020B0609020204030204" pitchFamily="49" charset="0"/>
              </a:rPr>
              <a:t>href</a:t>
            </a:r>
            <a:r>
              <a:rPr lang="en-US" sz="3400" dirty="0">
                <a:latin typeface="Consolas" panose="020B0609020204030204" pitchFamily="49" charset="0"/>
              </a:rPr>
              <a:t>="{{ </a:t>
            </a:r>
            <a:r>
              <a:rPr lang="en-US" sz="3400" dirty="0" err="1">
                <a:latin typeface="Consolas" panose="020B0609020204030204" pitchFamily="49" charset="0"/>
              </a:rPr>
              <a:t>url</a:t>
            </a:r>
            <a:r>
              <a:rPr lang="en-US" sz="3400" dirty="0">
                <a:latin typeface="Consolas" panose="020B0609020204030204" pitchFamily="49" charset="0"/>
              </a:rPr>
              <a:t> }}" class="</a:t>
            </a:r>
            <a:r>
              <a:rPr lang="en-US" sz="3400" dirty="0" err="1">
                <a:latin typeface="Consolas" panose="020B0609020204030204" pitchFamily="49" charset="0"/>
              </a:rPr>
              <a:t>btn</a:t>
            </a:r>
            <a:r>
              <a:rPr lang="en-US" sz="3400" dirty="0">
                <a:latin typeface="Consolas" panose="020B0609020204030204" pitchFamily="49" charset="0"/>
              </a:rPr>
              <a:t>"&gt;{{ label }}&lt;/a&gt;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</a:t>
            </a:r>
            <a:r>
              <a:rPr lang="en-US" sz="3400" dirty="0" err="1">
                <a:latin typeface="Consolas" panose="020B0609020204030204" pitchFamily="49" charset="0"/>
              </a:rPr>
              <a:t>endmacro</a:t>
            </a:r>
            <a:r>
              <a:rPr lang="en-US" sz="3400" dirty="0">
                <a:latin typeface="Consolas" panose="020B0609020204030204" pitchFamily="49" charset="0"/>
              </a:rPr>
              <a:t> %}</a:t>
            </a:r>
          </a:p>
          <a:p>
            <a:pPr marL="0" lvl="1" algn="just"/>
            <a:endParaRPr lang="en-US" sz="2000" dirty="0">
              <a:latin typeface="Consolas" panose="020B0609020204030204" pitchFamily="49" charset="0"/>
            </a:endParaRP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macro card(title, content) %}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&lt;div class="card"&gt;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    &lt;h3&gt;{{ title }}&lt;/h3&gt;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    &lt;p&gt;{{ content }}&lt;/p&gt;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&lt;/div&gt;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</a:t>
            </a:r>
            <a:r>
              <a:rPr lang="en-US" sz="3400" dirty="0" err="1">
                <a:latin typeface="Consolas" panose="020B0609020204030204" pitchFamily="49" charset="0"/>
              </a:rPr>
              <a:t>endmacro</a:t>
            </a:r>
            <a:r>
              <a:rPr lang="en-US" sz="3400" dirty="0">
                <a:latin typeface="Consolas" panose="020B0609020204030204" pitchFamily="49" charset="0"/>
              </a:rPr>
              <a:t> %}</a:t>
            </a:r>
          </a:p>
          <a:p>
            <a:pPr marL="0" lvl="1" algn="just"/>
            <a:endParaRPr lang="en-US" sz="3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455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C76E-9B96-D7DF-E6E5-8AA6B37D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5C3C4F-E6D0-2682-AF5F-0A4AC0B181F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90A6F4-1EE8-7C2D-283E-4E6EBEEE451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11A5A0D-F468-98C3-B09B-E37C5DEAD03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7063BB-54D0-EA85-2251-5F97BAD404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77F95F0-ADCC-0C32-9D07-5E2DB8D6891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2CB76F9-2CE1-6FEE-1288-0581F1C434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5A8120B-8BED-655E-694A-3CEBB4C16C0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Rendering Templates -&gt; Importing Directive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B1F934-8130-8E06-B1A7-C5EAC660C904}"/>
              </a:ext>
            </a:extLst>
          </p:cNvPr>
          <p:cNvSpPr txBox="1"/>
          <p:nvPr/>
        </p:nvSpPr>
        <p:spPr>
          <a:xfrm>
            <a:off x="177555" y="2095500"/>
            <a:ext cx="1788184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3400" b="1" dirty="0">
                <a:latin typeface="Consolas" panose="020B0609020204030204" pitchFamily="49" charset="0"/>
              </a:rPr>
              <a:t>templates/home.html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{% import "macros.html" as macros %}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&lt;!DOCTYPE html&gt;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&lt;html&gt;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&lt;head&gt;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&lt;title&gt;Macro Example&lt;/title&gt;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    &lt;style&gt;&lt;/style&gt;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&lt;/head&gt;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&lt;body&gt;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	&lt;h1&gt;Welcome to the Home Page&lt;/h1&gt;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	{{ </a:t>
            </a:r>
            <a:r>
              <a:rPr lang="en-US" sz="3400" dirty="0" err="1">
                <a:latin typeface="Consolas" panose="020B0609020204030204" pitchFamily="49" charset="0"/>
              </a:rPr>
              <a:t>macros.button</a:t>
            </a:r>
            <a:r>
              <a:rPr lang="en-US" sz="3400" dirty="0">
                <a:latin typeface="Consolas" panose="020B0609020204030204" pitchFamily="49" charset="0"/>
              </a:rPr>
              <a:t>("Click Me", "/click") }}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	{{ </a:t>
            </a:r>
            <a:r>
              <a:rPr lang="en-US" sz="3400" dirty="0" err="1">
                <a:latin typeface="Consolas" panose="020B0609020204030204" pitchFamily="49" charset="0"/>
              </a:rPr>
              <a:t>macros.card</a:t>
            </a:r>
            <a:r>
              <a:rPr lang="en-US" sz="3400" dirty="0">
                <a:latin typeface="Consolas" panose="020B0609020204030204" pitchFamily="49" charset="0"/>
              </a:rPr>
              <a:t>("Card Title", "This is the content of the card.") }}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&lt;/body&gt;</a:t>
            </a:r>
          </a:p>
          <a:p>
            <a:pPr marL="0" lvl="1" algn="just"/>
            <a:r>
              <a:rPr lang="en-US" sz="3400" dirty="0"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18592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E48C-5B59-6A9C-A3D9-51A30978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4272EF-CFFD-8114-E535-4D6FF543C73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B720D-CDE8-CBB6-CEDA-68EE8C59BF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1629BC-042E-9612-C5CE-485D72B9D65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320A00-122F-81B9-3080-1D0834D5EBE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04C82F-7F50-D085-1F44-F5B45F63CB7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E3A2FF1-10C5-C84E-918D-594DF2A214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09DEDB9-87DC-74C0-559E-7B5D86A03B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401AFF9-5AA1-2019-1D40-413BE7270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8ECC30E3-A6B6-554F-3497-7EBB0CF95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62857-18E4-1592-DCFC-7723307FB01E}"/>
              </a:ext>
            </a:extLst>
          </p:cNvPr>
          <p:cNvSpPr txBox="1"/>
          <p:nvPr/>
        </p:nvSpPr>
        <p:spPr>
          <a:xfrm>
            <a:off x="463773" y="2159217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Instructions: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latin typeface="Consolas" panose="020B0609020204030204" pitchFamily="49" charset="0"/>
              </a:rPr>
              <a:t>Create a Flask project with a templates/ folder.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latin typeface="Consolas" panose="020B0609020204030204" pitchFamily="49" charset="0"/>
              </a:rPr>
              <a:t>Complete the following tasks using routes and HTML templates.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latin typeface="Consolas" panose="020B0609020204030204" pitchFamily="49" charset="0"/>
              </a:rPr>
              <a:t>Use </a:t>
            </a:r>
            <a:r>
              <a:rPr lang="en-US" sz="3600" dirty="0" err="1">
                <a:latin typeface="Consolas" panose="020B0609020204030204" pitchFamily="49" charset="0"/>
              </a:rPr>
              <a:t>render_template</a:t>
            </a:r>
            <a:r>
              <a:rPr lang="en-US" sz="3600" dirty="0">
                <a:latin typeface="Consolas" panose="020B0609020204030204" pitchFamily="49" charset="0"/>
              </a:rPr>
              <a:t>() to pass data from Python to templates.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>
                <a:latin typeface="Consolas" panose="020B0609020204030204" pitchFamily="49" charset="0"/>
              </a:rPr>
              <a:t>Test all routes to make sure they work as expected.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Home Page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Route: /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Template: home.html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Requirements: 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Display a welcome message.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Display a list of links to /profile/&lt;username&gt; for three sample users: "Alice", "Bob", "Admin".</a:t>
            </a:r>
          </a:p>
        </p:txBody>
      </p:sp>
    </p:spTree>
    <p:extLst>
      <p:ext uri="{BB962C8B-B14F-4D97-AF65-F5344CB8AC3E}">
        <p14:creationId xmlns:p14="http://schemas.microsoft.com/office/powerpoint/2010/main" val="8026921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B7C6-6F33-996F-4FCF-D5DC6398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129DD4-7030-032B-1A1B-B05273A6504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FDD947-CF14-9680-A33A-D03336311A5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C8223D0-C88B-C609-BD1F-A5949013924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93A7BE-B233-ED46-DFCB-353DA47B387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8843C9A-1DDA-9F04-8B82-E0BB9FF438A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08A65E7-51AD-876E-2048-387A4BD4DD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94138F5-D95A-35AE-C2BC-ECE40B22E06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17C1DA1-46C8-5650-1043-67D6F0106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A5C3DDC7-DE23-19F4-A6A7-931DBA2BD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CD0BB-1184-8716-AB47-0C49286481D7}"/>
              </a:ext>
            </a:extLst>
          </p:cNvPr>
          <p:cNvSpPr txBox="1"/>
          <p:nvPr/>
        </p:nvSpPr>
        <p:spPr>
          <a:xfrm>
            <a:off x="463773" y="2159217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Profile Page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Route</a:t>
            </a:r>
            <a:r>
              <a:rPr lang="en-US" sz="3600" dirty="0">
                <a:latin typeface="Consolas" panose="020B0609020204030204" pitchFamily="49" charset="0"/>
              </a:rPr>
              <a:t>: /profile/&lt;username&gt;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Template</a:t>
            </a:r>
            <a:r>
              <a:rPr lang="en-US" sz="3600" dirty="0">
                <a:latin typeface="Consolas" panose="020B0609020204030204" pitchFamily="49" charset="0"/>
              </a:rPr>
              <a:t>: profile.html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Requirements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Display "Hello, &lt;username&gt;!"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If username is "Admin", show: "You have full access."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Else, show: "You have limited access."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Include a list of favorite games for each user.</a:t>
            </a:r>
          </a:p>
        </p:txBody>
      </p:sp>
    </p:spTree>
    <p:extLst>
      <p:ext uri="{BB962C8B-B14F-4D97-AF65-F5344CB8AC3E}">
        <p14:creationId xmlns:p14="http://schemas.microsoft.com/office/powerpoint/2010/main" val="651697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2B72-10C1-436C-9E0E-3D8777BA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A8A780-8B85-7B58-7678-E3151029F30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96B453F-02A5-7A01-6CAF-0BB83FB9A0D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9FD5B3-8EEC-9370-D2AC-589BCF25B80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CAD3F34-7046-1D87-7C6B-D42C05CC845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624BD90-1E6C-AD05-DBB4-43DC30F88DD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65539A1-6C40-2918-58E2-E2E8E2C3AB6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5D8F62A-1B1B-C354-215F-59FB86D5060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7FCC6462-5541-E1D4-BF5F-4F5B2A9B3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59BD2F5C-2E74-287D-906F-4514887CC3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98FC-FE64-34A3-E895-0B5E701BFEFC}"/>
              </a:ext>
            </a:extLst>
          </p:cNvPr>
          <p:cNvSpPr txBox="1"/>
          <p:nvPr/>
        </p:nvSpPr>
        <p:spPr>
          <a:xfrm>
            <a:off x="463773" y="2159217"/>
            <a:ext cx="169535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Friends Page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Route</a:t>
            </a:r>
            <a:r>
              <a:rPr lang="en-US" sz="3600" dirty="0">
                <a:latin typeface="Consolas" panose="020B0609020204030204" pitchFamily="49" charset="0"/>
              </a:rPr>
              <a:t>: /friends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Template</a:t>
            </a:r>
            <a:r>
              <a:rPr lang="en-US" sz="3600" dirty="0">
                <a:latin typeface="Consolas" panose="020B0609020204030204" pitchFamily="49" charset="0"/>
              </a:rPr>
              <a:t>: friends.html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Requirements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Pass a list of your friends from your route to the template.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Display each of them together with their birthday. </a:t>
            </a:r>
          </a:p>
        </p:txBody>
      </p:sp>
    </p:spTree>
    <p:extLst>
      <p:ext uri="{BB962C8B-B14F-4D97-AF65-F5344CB8AC3E}">
        <p14:creationId xmlns:p14="http://schemas.microsoft.com/office/powerpoint/2010/main" val="1282687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6808</TotalTime>
  <Words>3522</Words>
  <Application>Microsoft Office PowerPoint</Application>
  <PresentationFormat>Custom</PresentationFormat>
  <Paragraphs>547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Wingdings</vt:lpstr>
      <vt:lpstr>Consolas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DENVER</dc:creator>
  <cp:lastModifiedBy>Mark Denver Adora</cp:lastModifiedBy>
  <cp:revision>314</cp:revision>
  <dcterms:created xsi:type="dcterms:W3CDTF">2006-08-16T00:00:00Z</dcterms:created>
  <dcterms:modified xsi:type="dcterms:W3CDTF">2025-12-12T13:54:41Z</dcterms:modified>
  <dc:identifier>DAGH1tVytZk</dc:identifier>
</cp:coreProperties>
</file>