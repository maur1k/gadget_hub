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handoutMasterIdLst>
    <p:handoutMasterId r:id="rId39"/>
  </p:handoutMasterIdLst>
  <p:sldIdLst>
    <p:sldId id="256" r:id="rId2"/>
    <p:sldId id="424" r:id="rId3"/>
    <p:sldId id="258" r:id="rId4"/>
    <p:sldId id="426" r:id="rId5"/>
    <p:sldId id="427" r:id="rId6"/>
    <p:sldId id="431" r:id="rId7"/>
    <p:sldId id="432" r:id="rId8"/>
    <p:sldId id="433" r:id="rId9"/>
    <p:sldId id="434" r:id="rId10"/>
    <p:sldId id="437" r:id="rId11"/>
    <p:sldId id="438" r:id="rId12"/>
    <p:sldId id="446" r:id="rId13"/>
    <p:sldId id="428" r:id="rId14"/>
    <p:sldId id="440" r:id="rId15"/>
    <p:sldId id="439" r:id="rId16"/>
    <p:sldId id="441" r:id="rId17"/>
    <p:sldId id="442" r:id="rId18"/>
    <p:sldId id="443" r:id="rId19"/>
    <p:sldId id="444" r:id="rId20"/>
    <p:sldId id="445" r:id="rId21"/>
    <p:sldId id="447" r:id="rId22"/>
    <p:sldId id="429" r:id="rId23"/>
    <p:sldId id="449" r:id="rId24"/>
    <p:sldId id="450" r:id="rId25"/>
    <p:sldId id="451" r:id="rId26"/>
    <p:sldId id="452" r:id="rId27"/>
    <p:sldId id="453" r:id="rId28"/>
    <p:sldId id="454" r:id="rId29"/>
    <p:sldId id="430" r:id="rId30"/>
    <p:sldId id="455" r:id="rId31"/>
    <p:sldId id="456" r:id="rId32"/>
    <p:sldId id="457" r:id="rId33"/>
    <p:sldId id="458" r:id="rId34"/>
    <p:sldId id="459" r:id="rId35"/>
    <p:sldId id="460" r:id="rId36"/>
    <p:sldId id="461" r:id="rId37"/>
  </p:sldIdLst>
  <p:sldSz cx="18288000" cy="10287000"/>
  <p:notesSz cx="6858000" cy="9144000"/>
  <p:embeddedFontLst>
    <p:embeddedFont>
      <p:font typeface="Consolas" panose="020B0609020204030204" pitchFamily="49" charset="0"/>
      <p:regular r:id="rId40"/>
      <p:bold r:id="rId41"/>
      <p:italic r:id="rId42"/>
      <p:boldItalic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D1D1"/>
    <a:srgbClr val="4D4D4D"/>
    <a:srgbClr val="33FB63"/>
    <a:srgbClr val="F49210"/>
    <a:srgbClr val="2A2A43"/>
    <a:srgbClr val="F1FEA0"/>
    <a:srgbClr val="FF9933"/>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856" autoAdjust="0"/>
    <p:restoredTop sz="76471" autoAdjust="0"/>
  </p:normalViewPr>
  <p:slideViewPr>
    <p:cSldViewPr>
      <p:cViewPr varScale="1">
        <p:scale>
          <a:sx n="40" d="100"/>
          <a:sy n="40" d="100"/>
        </p:scale>
        <p:origin x="1070"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2.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E22CC0-1243-338F-5CAD-E7A5B1EE0EA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a:extLst>
              <a:ext uri="{FF2B5EF4-FFF2-40B4-BE49-F238E27FC236}">
                <a16:creationId xmlns:a16="http://schemas.microsoft.com/office/drawing/2014/main" id="{F84A8E39-795D-D837-9A04-090F9A14190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55907F-8ED1-4449-8AB2-425B109C6DAB}" type="datetimeFigureOut">
              <a:rPr lang="en-PH" smtClean="0"/>
              <a:t>20/08/2025</a:t>
            </a:fld>
            <a:endParaRPr lang="en-PH"/>
          </a:p>
        </p:txBody>
      </p:sp>
      <p:sp>
        <p:nvSpPr>
          <p:cNvPr id="4" name="Footer Placeholder 3">
            <a:extLst>
              <a:ext uri="{FF2B5EF4-FFF2-40B4-BE49-F238E27FC236}">
                <a16:creationId xmlns:a16="http://schemas.microsoft.com/office/drawing/2014/main" id="{0B1079AC-EB4A-C6F4-35A4-C5166122BEB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5" name="Slide Number Placeholder 4">
            <a:extLst>
              <a:ext uri="{FF2B5EF4-FFF2-40B4-BE49-F238E27FC236}">
                <a16:creationId xmlns:a16="http://schemas.microsoft.com/office/drawing/2014/main" id="{323FEE0C-CAF7-534F-B1B6-7CB0184B27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C40E73-B33C-482E-B21A-1E3DE061AD46}" type="slidenum">
              <a:rPr lang="en-PH" smtClean="0"/>
              <a:t>‹#›</a:t>
            </a:fld>
            <a:endParaRPr lang="en-PH"/>
          </a:p>
        </p:txBody>
      </p:sp>
    </p:spTree>
    <p:extLst>
      <p:ext uri="{BB962C8B-B14F-4D97-AF65-F5344CB8AC3E}">
        <p14:creationId xmlns:p14="http://schemas.microsoft.com/office/powerpoint/2010/main" val="9482812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C21506-B2BE-43BC-8C27-BC2C4DAF9131}" type="datetimeFigureOut">
              <a:rPr lang="en-PH" smtClean="0"/>
              <a:t>20/08/2025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E38AF-BC93-4612-8619-54F4BB1E39A6}" type="slidenum">
              <a:rPr lang="en-PH" smtClean="0"/>
              <a:t>‹#›</a:t>
            </a:fld>
            <a:endParaRPr lang="en-PH"/>
          </a:p>
        </p:txBody>
      </p:sp>
    </p:spTree>
    <p:extLst>
      <p:ext uri="{BB962C8B-B14F-4D97-AF65-F5344CB8AC3E}">
        <p14:creationId xmlns:p14="http://schemas.microsoft.com/office/powerpoint/2010/main" val="85466460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a:p>
        </p:txBody>
      </p:sp>
      <p:sp>
        <p:nvSpPr>
          <p:cNvPr id="4" name="Slide Number Placeholder 3"/>
          <p:cNvSpPr>
            <a:spLocks noGrp="1"/>
          </p:cNvSpPr>
          <p:nvPr>
            <p:ph type="sldNum" sz="quarter" idx="5"/>
          </p:nvPr>
        </p:nvSpPr>
        <p:spPr/>
        <p:txBody>
          <a:bodyPr/>
          <a:lstStyle/>
          <a:p>
            <a:fld id="{E27E38AF-BC93-4612-8619-54F4BB1E39A6}" type="slidenum">
              <a:rPr lang="en-PH" smtClean="0"/>
              <a:t>1</a:t>
            </a:fld>
            <a:endParaRPr lang="en-PH"/>
          </a:p>
        </p:txBody>
      </p:sp>
    </p:spTree>
    <p:extLst>
      <p:ext uri="{BB962C8B-B14F-4D97-AF65-F5344CB8AC3E}">
        <p14:creationId xmlns:p14="http://schemas.microsoft.com/office/powerpoint/2010/main" val="14411046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B4046-69BB-A68F-D16A-588A849CF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8695A-3FF3-DF36-BF03-69B765D35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B9BACF-09C9-595D-1836-E26B48831E54}"/>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4DAFE2A0-B71B-85F9-0E46-06EAAB3CFA8F}"/>
              </a:ext>
            </a:extLst>
          </p:cNvPr>
          <p:cNvSpPr>
            <a:spLocks noGrp="1"/>
          </p:cNvSpPr>
          <p:nvPr>
            <p:ph type="sldNum" sz="quarter" idx="5"/>
          </p:nvPr>
        </p:nvSpPr>
        <p:spPr/>
        <p:txBody>
          <a:bodyPr/>
          <a:lstStyle/>
          <a:p>
            <a:fld id="{E27E38AF-BC93-4612-8619-54F4BB1E39A6}" type="slidenum">
              <a:rPr lang="en-PH" smtClean="0"/>
              <a:t>2</a:t>
            </a:fld>
            <a:endParaRPr lang="en-PH"/>
          </a:p>
        </p:txBody>
      </p:sp>
    </p:spTree>
    <p:extLst>
      <p:ext uri="{BB962C8B-B14F-4D97-AF65-F5344CB8AC3E}">
        <p14:creationId xmlns:p14="http://schemas.microsoft.com/office/powerpoint/2010/main" val="27894806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sz="1600" dirty="0"/>
          </a:p>
        </p:txBody>
      </p:sp>
      <p:sp>
        <p:nvSpPr>
          <p:cNvPr id="4" name="Slide Number Placeholder 3"/>
          <p:cNvSpPr>
            <a:spLocks noGrp="1"/>
          </p:cNvSpPr>
          <p:nvPr>
            <p:ph type="sldNum" sz="quarter" idx="5"/>
          </p:nvPr>
        </p:nvSpPr>
        <p:spPr/>
        <p:txBody>
          <a:bodyPr/>
          <a:lstStyle/>
          <a:p>
            <a:fld id="{E27E38AF-BC93-4612-8619-54F4BB1E39A6}" type="slidenum">
              <a:rPr lang="en-PH" smtClean="0"/>
              <a:t>3</a:t>
            </a:fld>
            <a:endParaRPr lang="en-PH"/>
          </a:p>
        </p:txBody>
      </p:sp>
    </p:spTree>
    <p:extLst>
      <p:ext uri="{BB962C8B-B14F-4D97-AF65-F5344CB8AC3E}">
        <p14:creationId xmlns:p14="http://schemas.microsoft.com/office/powerpoint/2010/main" val="34859827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C7AC63-5DA0-56A2-565D-C09D6D3BDE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4A7945-44BD-D014-28D4-C24FFE25D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CE4E3-22BE-120F-6AD5-9170C9EE40E4}"/>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C757C04-8F42-5B55-2C7E-5AC8FB3ED792}"/>
              </a:ext>
            </a:extLst>
          </p:cNvPr>
          <p:cNvSpPr>
            <a:spLocks noGrp="1"/>
          </p:cNvSpPr>
          <p:nvPr>
            <p:ph type="sldNum" sz="quarter" idx="5"/>
          </p:nvPr>
        </p:nvSpPr>
        <p:spPr/>
        <p:txBody>
          <a:bodyPr/>
          <a:lstStyle/>
          <a:p>
            <a:fld id="{E27E38AF-BC93-4612-8619-54F4BB1E39A6}" type="slidenum">
              <a:rPr lang="en-PH" smtClean="0"/>
              <a:t>4</a:t>
            </a:fld>
            <a:endParaRPr lang="en-PH"/>
          </a:p>
        </p:txBody>
      </p:sp>
    </p:spTree>
    <p:extLst>
      <p:ext uri="{BB962C8B-B14F-4D97-AF65-F5344CB8AC3E}">
        <p14:creationId xmlns:p14="http://schemas.microsoft.com/office/powerpoint/2010/main" val="6998916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C378E-9DBF-FD14-7AE5-33FE0EF30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3201F2-FEE7-9312-82C8-7E0C3CD7B5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83D10-FF54-E2F7-F01A-E797EB8A301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30CF18A-DAF9-CFEE-E0BB-11B9951F2D32}"/>
              </a:ext>
            </a:extLst>
          </p:cNvPr>
          <p:cNvSpPr>
            <a:spLocks noGrp="1"/>
          </p:cNvSpPr>
          <p:nvPr>
            <p:ph type="sldNum" sz="quarter" idx="5"/>
          </p:nvPr>
        </p:nvSpPr>
        <p:spPr/>
        <p:txBody>
          <a:bodyPr/>
          <a:lstStyle/>
          <a:p>
            <a:fld id="{E27E38AF-BC93-4612-8619-54F4BB1E39A6}" type="slidenum">
              <a:rPr lang="en-PH" smtClean="0"/>
              <a:t>5</a:t>
            </a:fld>
            <a:endParaRPr lang="en-PH"/>
          </a:p>
        </p:txBody>
      </p:sp>
    </p:spTree>
    <p:extLst>
      <p:ext uri="{BB962C8B-B14F-4D97-AF65-F5344CB8AC3E}">
        <p14:creationId xmlns:p14="http://schemas.microsoft.com/office/powerpoint/2010/main" val="2475588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4C97-B54B-54BB-B141-95E5499AA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35C724-EDB9-CAB3-A477-A3B3541EC1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6ED0CE-3B7C-0223-F948-58BE8A16165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222C273-ED64-1ABC-068F-13FA89E37058}"/>
              </a:ext>
            </a:extLst>
          </p:cNvPr>
          <p:cNvSpPr>
            <a:spLocks noGrp="1"/>
          </p:cNvSpPr>
          <p:nvPr>
            <p:ph type="sldNum" sz="quarter" idx="5"/>
          </p:nvPr>
        </p:nvSpPr>
        <p:spPr/>
        <p:txBody>
          <a:bodyPr/>
          <a:lstStyle/>
          <a:p>
            <a:fld id="{E27E38AF-BC93-4612-8619-54F4BB1E39A6}" type="slidenum">
              <a:rPr lang="en-PH" smtClean="0"/>
              <a:t>6</a:t>
            </a:fld>
            <a:endParaRPr lang="en-PH"/>
          </a:p>
        </p:txBody>
      </p:sp>
    </p:spTree>
    <p:extLst>
      <p:ext uri="{BB962C8B-B14F-4D97-AF65-F5344CB8AC3E}">
        <p14:creationId xmlns:p14="http://schemas.microsoft.com/office/powerpoint/2010/main" val="1666228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59052-E598-2848-AD11-FFD34BA061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A99DA2-CA46-5F94-1C05-23F34E6C6E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34983-F9B1-1AD3-B1D0-E94BFC1B00F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ADE8D2AD-890B-E2C6-6ECA-DA9F4CA025D4}"/>
              </a:ext>
            </a:extLst>
          </p:cNvPr>
          <p:cNvSpPr>
            <a:spLocks noGrp="1"/>
          </p:cNvSpPr>
          <p:nvPr>
            <p:ph type="sldNum" sz="quarter" idx="5"/>
          </p:nvPr>
        </p:nvSpPr>
        <p:spPr/>
        <p:txBody>
          <a:bodyPr/>
          <a:lstStyle/>
          <a:p>
            <a:fld id="{E27E38AF-BC93-4612-8619-54F4BB1E39A6}" type="slidenum">
              <a:rPr lang="en-PH" smtClean="0"/>
              <a:t>7</a:t>
            </a:fld>
            <a:endParaRPr lang="en-PH"/>
          </a:p>
        </p:txBody>
      </p:sp>
    </p:spTree>
    <p:extLst>
      <p:ext uri="{BB962C8B-B14F-4D97-AF65-F5344CB8AC3E}">
        <p14:creationId xmlns:p14="http://schemas.microsoft.com/office/powerpoint/2010/main" val="20200482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5FCF8-6090-2CB5-7A40-F35F3B758A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6D2ED7-0396-865C-11AD-EC139A7B90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C1AD46-0637-63F9-A9FE-9CA071AD4C9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BA639DE-AB69-A66D-D59E-1FF17581C539}"/>
              </a:ext>
            </a:extLst>
          </p:cNvPr>
          <p:cNvSpPr>
            <a:spLocks noGrp="1"/>
          </p:cNvSpPr>
          <p:nvPr>
            <p:ph type="sldNum" sz="quarter" idx="5"/>
          </p:nvPr>
        </p:nvSpPr>
        <p:spPr/>
        <p:txBody>
          <a:bodyPr/>
          <a:lstStyle/>
          <a:p>
            <a:fld id="{E27E38AF-BC93-4612-8619-54F4BB1E39A6}" type="slidenum">
              <a:rPr lang="en-PH" smtClean="0"/>
              <a:t>8</a:t>
            </a:fld>
            <a:endParaRPr lang="en-PH"/>
          </a:p>
        </p:txBody>
      </p:sp>
    </p:spTree>
    <p:extLst>
      <p:ext uri="{BB962C8B-B14F-4D97-AF65-F5344CB8AC3E}">
        <p14:creationId xmlns:p14="http://schemas.microsoft.com/office/powerpoint/2010/main" val="39555902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A4B64-DDE9-3CD2-8EFA-37A1C24125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8D374D-B649-B2F3-2045-95C769153E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62DF62-236A-071B-36BC-6E71FE4C9075}"/>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A9F5CF9-BD2E-054C-39DB-477C53E1397D}"/>
              </a:ext>
            </a:extLst>
          </p:cNvPr>
          <p:cNvSpPr>
            <a:spLocks noGrp="1"/>
          </p:cNvSpPr>
          <p:nvPr>
            <p:ph type="sldNum" sz="quarter" idx="5"/>
          </p:nvPr>
        </p:nvSpPr>
        <p:spPr/>
        <p:txBody>
          <a:bodyPr/>
          <a:lstStyle/>
          <a:p>
            <a:fld id="{E27E38AF-BC93-4612-8619-54F4BB1E39A6}" type="slidenum">
              <a:rPr lang="en-PH" smtClean="0"/>
              <a:t>9</a:t>
            </a:fld>
            <a:endParaRPr lang="en-PH"/>
          </a:p>
        </p:txBody>
      </p:sp>
    </p:spTree>
    <p:extLst>
      <p:ext uri="{BB962C8B-B14F-4D97-AF65-F5344CB8AC3E}">
        <p14:creationId xmlns:p14="http://schemas.microsoft.com/office/powerpoint/2010/main" val="810050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63211-9E11-6FA6-EAFE-730531807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5DC7BE-45D0-C76F-C061-604E857FE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9516C5-8ABE-6833-1AC0-BB57802371C5}"/>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7A572F80-939E-1DEB-8130-34AE26F409D0}"/>
              </a:ext>
            </a:extLst>
          </p:cNvPr>
          <p:cNvSpPr>
            <a:spLocks noGrp="1"/>
          </p:cNvSpPr>
          <p:nvPr>
            <p:ph type="sldNum" sz="quarter" idx="5"/>
          </p:nvPr>
        </p:nvSpPr>
        <p:spPr/>
        <p:txBody>
          <a:bodyPr/>
          <a:lstStyle/>
          <a:p>
            <a:fld id="{E27E38AF-BC93-4612-8619-54F4BB1E39A6}" type="slidenum">
              <a:rPr lang="en-PH" smtClean="0"/>
              <a:t>10</a:t>
            </a:fld>
            <a:endParaRPr lang="en-PH"/>
          </a:p>
        </p:txBody>
      </p:sp>
    </p:spTree>
    <p:extLst>
      <p:ext uri="{BB962C8B-B14F-4D97-AF65-F5344CB8AC3E}">
        <p14:creationId xmlns:p14="http://schemas.microsoft.com/office/powerpoint/2010/main" val="7767846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C17A4-E666-8DA9-63DB-038DEF27B8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7B566D-48BA-3399-A387-2F07F9C59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B0C0D3-FB7B-E98C-B24C-AD828B010EF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5F37B46-74C7-7D50-3AE9-B9068B059D34}"/>
              </a:ext>
            </a:extLst>
          </p:cNvPr>
          <p:cNvSpPr>
            <a:spLocks noGrp="1"/>
          </p:cNvSpPr>
          <p:nvPr>
            <p:ph type="sldNum" sz="quarter" idx="5"/>
          </p:nvPr>
        </p:nvSpPr>
        <p:spPr/>
        <p:txBody>
          <a:bodyPr/>
          <a:lstStyle/>
          <a:p>
            <a:fld id="{E27E38AF-BC93-4612-8619-54F4BB1E39A6}" type="slidenum">
              <a:rPr lang="en-PH" smtClean="0"/>
              <a:t>11</a:t>
            </a:fld>
            <a:endParaRPr lang="en-PH"/>
          </a:p>
        </p:txBody>
      </p:sp>
    </p:spTree>
    <p:extLst>
      <p:ext uri="{BB962C8B-B14F-4D97-AF65-F5344CB8AC3E}">
        <p14:creationId xmlns:p14="http://schemas.microsoft.com/office/powerpoint/2010/main" val="8410922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C2450F-0B18-5622-37D3-BB5235EAEA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42BF17-F2FA-10C6-1054-8113B953F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6E3E46-CC27-CBBE-11E8-4FEE581B9432}"/>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C1D802BD-CA70-C461-778F-642D68E06D2F}"/>
              </a:ext>
            </a:extLst>
          </p:cNvPr>
          <p:cNvSpPr>
            <a:spLocks noGrp="1"/>
          </p:cNvSpPr>
          <p:nvPr>
            <p:ph type="sldNum" sz="quarter" idx="5"/>
          </p:nvPr>
        </p:nvSpPr>
        <p:spPr/>
        <p:txBody>
          <a:bodyPr/>
          <a:lstStyle/>
          <a:p>
            <a:fld id="{E27E38AF-BC93-4612-8619-54F4BB1E39A6}" type="slidenum">
              <a:rPr lang="en-PH" smtClean="0"/>
              <a:t>12</a:t>
            </a:fld>
            <a:endParaRPr lang="en-PH"/>
          </a:p>
        </p:txBody>
      </p:sp>
    </p:spTree>
    <p:extLst>
      <p:ext uri="{BB962C8B-B14F-4D97-AF65-F5344CB8AC3E}">
        <p14:creationId xmlns:p14="http://schemas.microsoft.com/office/powerpoint/2010/main" val="20609530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3F4E1-A744-EC0F-ECF1-C4417DF979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9693AC-47E4-C35D-B7C8-DC70FE8057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3B9E05-0F28-02BF-3314-01640ECCBF0E}"/>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B128FCF6-FCD1-FFA9-BAE1-B4FCF03E3F4F}"/>
              </a:ext>
            </a:extLst>
          </p:cNvPr>
          <p:cNvSpPr>
            <a:spLocks noGrp="1"/>
          </p:cNvSpPr>
          <p:nvPr>
            <p:ph type="sldNum" sz="quarter" idx="5"/>
          </p:nvPr>
        </p:nvSpPr>
        <p:spPr/>
        <p:txBody>
          <a:bodyPr/>
          <a:lstStyle/>
          <a:p>
            <a:fld id="{E27E38AF-BC93-4612-8619-54F4BB1E39A6}" type="slidenum">
              <a:rPr lang="en-PH" smtClean="0"/>
              <a:t>13</a:t>
            </a:fld>
            <a:endParaRPr lang="en-PH"/>
          </a:p>
        </p:txBody>
      </p:sp>
    </p:spTree>
    <p:extLst>
      <p:ext uri="{BB962C8B-B14F-4D97-AF65-F5344CB8AC3E}">
        <p14:creationId xmlns:p14="http://schemas.microsoft.com/office/powerpoint/2010/main" val="948490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C7A25-2DD5-514E-7E64-FF372405D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E5041-0B76-9684-17F8-4FB740360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E9E268-31B3-B746-94E8-1A2D3471865A}"/>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E44D76F2-DD9E-C659-A220-926F1520D410}"/>
              </a:ext>
            </a:extLst>
          </p:cNvPr>
          <p:cNvSpPr>
            <a:spLocks noGrp="1"/>
          </p:cNvSpPr>
          <p:nvPr>
            <p:ph type="sldNum" sz="quarter" idx="5"/>
          </p:nvPr>
        </p:nvSpPr>
        <p:spPr/>
        <p:txBody>
          <a:bodyPr/>
          <a:lstStyle/>
          <a:p>
            <a:fld id="{E27E38AF-BC93-4612-8619-54F4BB1E39A6}" type="slidenum">
              <a:rPr lang="en-PH" smtClean="0"/>
              <a:t>14</a:t>
            </a:fld>
            <a:endParaRPr lang="en-PH"/>
          </a:p>
        </p:txBody>
      </p:sp>
    </p:spTree>
    <p:extLst>
      <p:ext uri="{BB962C8B-B14F-4D97-AF65-F5344CB8AC3E}">
        <p14:creationId xmlns:p14="http://schemas.microsoft.com/office/powerpoint/2010/main" val="384916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2F61A-E846-5542-A2D9-942353725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FE835-6FAF-2F9C-16BC-7FF8B310D3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4ABE66-1EC2-48D8-D94C-D50D563BBB86}"/>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0085451-F5CF-3B74-958A-5BACB30881EC}"/>
              </a:ext>
            </a:extLst>
          </p:cNvPr>
          <p:cNvSpPr>
            <a:spLocks noGrp="1"/>
          </p:cNvSpPr>
          <p:nvPr>
            <p:ph type="sldNum" sz="quarter" idx="5"/>
          </p:nvPr>
        </p:nvSpPr>
        <p:spPr/>
        <p:txBody>
          <a:bodyPr/>
          <a:lstStyle/>
          <a:p>
            <a:fld id="{E27E38AF-BC93-4612-8619-54F4BB1E39A6}" type="slidenum">
              <a:rPr lang="en-PH" smtClean="0"/>
              <a:t>15</a:t>
            </a:fld>
            <a:endParaRPr lang="en-PH"/>
          </a:p>
        </p:txBody>
      </p:sp>
    </p:spTree>
    <p:extLst>
      <p:ext uri="{BB962C8B-B14F-4D97-AF65-F5344CB8AC3E}">
        <p14:creationId xmlns:p14="http://schemas.microsoft.com/office/powerpoint/2010/main" val="33958983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4DACF-E0FD-D676-08B4-C6A010410A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A51883-B5AE-2950-DE98-4D1FAD3B5C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CDC234-612C-0166-870E-CE2F1997D27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12650CA-BB5C-A754-6E4C-FAC037EA8B7D}"/>
              </a:ext>
            </a:extLst>
          </p:cNvPr>
          <p:cNvSpPr>
            <a:spLocks noGrp="1"/>
          </p:cNvSpPr>
          <p:nvPr>
            <p:ph type="sldNum" sz="quarter" idx="5"/>
          </p:nvPr>
        </p:nvSpPr>
        <p:spPr/>
        <p:txBody>
          <a:bodyPr/>
          <a:lstStyle/>
          <a:p>
            <a:fld id="{E27E38AF-BC93-4612-8619-54F4BB1E39A6}" type="slidenum">
              <a:rPr lang="en-PH" smtClean="0"/>
              <a:t>16</a:t>
            </a:fld>
            <a:endParaRPr lang="en-PH"/>
          </a:p>
        </p:txBody>
      </p:sp>
    </p:spTree>
    <p:extLst>
      <p:ext uri="{BB962C8B-B14F-4D97-AF65-F5344CB8AC3E}">
        <p14:creationId xmlns:p14="http://schemas.microsoft.com/office/powerpoint/2010/main" val="22890817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119844-E026-B0A7-B49F-711E209CA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1574B-4FF0-6CC6-56DD-E2AC8125F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61C8C2-D330-87EA-189A-DFBE6BA3D5B9}"/>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0785ED3-AFB0-ADC4-D79D-DCB7EACA3FE4}"/>
              </a:ext>
            </a:extLst>
          </p:cNvPr>
          <p:cNvSpPr>
            <a:spLocks noGrp="1"/>
          </p:cNvSpPr>
          <p:nvPr>
            <p:ph type="sldNum" sz="quarter" idx="5"/>
          </p:nvPr>
        </p:nvSpPr>
        <p:spPr/>
        <p:txBody>
          <a:bodyPr/>
          <a:lstStyle/>
          <a:p>
            <a:fld id="{E27E38AF-BC93-4612-8619-54F4BB1E39A6}" type="slidenum">
              <a:rPr lang="en-PH" smtClean="0"/>
              <a:t>17</a:t>
            </a:fld>
            <a:endParaRPr lang="en-PH"/>
          </a:p>
        </p:txBody>
      </p:sp>
    </p:spTree>
    <p:extLst>
      <p:ext uri="{BB962C8B-B14F-4D97-AF65-F5344CB8AC3E}">
        <p14:creationId xmlns:p14="http://schemas.microsoft.com/office/powerpoint/2010/main" val="28083474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D1A9B-F624-7A8C-4D75-297655284D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1E903-A615-C728-1E5E-59611644AC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AD1231-3EFE-FD2E-D6B5-F1E1064BE353}"/>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A66F1E62-2044-E1BC-864B-12790B022B11}"/>
              </a:ext>
            </a:extLst>
          </p:cNvPr>
          <p:cNvSpPr>
            <a:spLocks noGrp="1"/>
          </p:cNvSpPr>
          <p:nvPr>
            <p:ph type="sldNum" sz="quarter" idx="5"/>
          </p:nvPr>
        </p:nvSpPr>
        <p:spPr/>
        <p:txBody>
          <a:bodyPr/>
          <a:lstStyle/>
          <a:p>
            <a:fld id="{E27E38AF-BC93-4612-8619-54F4BB1E39A6}" type="slidenum">
              <a:rPr lang="en-PH" smtClean="0"/>
              <a:t>18</a:t>
            </a:fld>
            <a:endParaRPr lang="en-PH"/>
          </a:p>
        </p:txBody>
      </p:sp>
    </p:spTree>
    <p:extLst>
      <p:ext uri="{BB962C8B-B14F-4D97-AF65-F5344CB8AC3E}">
        <p14:creationId xmlns:p14="http://schemas.microsoft.com/office/powerpoint/2010/main" val="2290494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A766A-DA09-EFC7-BD12-1BB5F3BEA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EAFE82-A3AE-DCF8-C48C-1BC7350A22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CEE62F-70DD-C2A8-C883-E349942E0BAC}"/>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24994A7F-3AD2-9826-4615-63317A23D6E5}"/>
              </a:ext>
            </a:extLst>
          </p:cNvPr>
          <p:cNvSpPr>
            <a:spLocks noGrp="1"/>
          </p:cNvSpPr>
          <p:nvPr>
            <p:ph type="sldNum" sz="quarter" idx="5"/>
          </p:nvPr>
        </p:nvSpPr>
        <p:spPr/>
        <p:txBody>
          <a:bodyPr/>
          <a:lstStyle/>
          <a:p>
            <a:fld id="{E27E38AF-BC93-4612-8619-54F4BB1E39A6}" type="slidenum">
              <a:rPr lang="en-PH" smtClean="0"/>
              <a:t>19</a:t>
            </a:fld>
            <a:endParaRPr lang="en-PH"/>
          </a:p>
        </p:txBody>
      </p:sp>
    </p:spTree>
    <p:extLst>
      <p:ext uri="{BB962C8B-B14F-4D97-AF65-F5344CB8AC3E}">
        <p14:creationId xmlns:p14="http://schemas.microsoft.com/office/powerpoint/2010/main" val="245594438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DFDBF-389E-0AB5-EF02-D9C89CEF5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9CA10E-C500-6197-AF0E-132F20DC07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CC68F-634C-F57C-713D-29A6749DB35A}"/>
              </a:ext>
            </a:extLst>
          </p:cNvPr>
          <p:cNvSpPr>
            <a:spLocks noGrp="1"/>
          </p:cNvSpPr>
          <p:nvPr>
            <p:ph type="body" idx="1"/>
          </p:nvPr>
        </p:nvSpPr>
        <p:spPr/>
        <p:txBody>
          <a:bodyPr/>
          <a:lstStyle/>
          <a:p>
            <a:endParaRPr lang="en-PH"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D7387CD8-6763-ED9D-14C7-E0BFD69ECA1F}"/>
              </a:ext>
            </a:extLst>
          </p:cNvPr>
          <p:cNvSpPr>
            <a:spLocks noGrp="1"/>
          </p:cNvSpPr>
          <p:nvPr>
            <p:ph type="sldNum" sz="quarter" idx="5"/>
          </p:nvPr>
        </p:nvSpPr>
        <p:spPr/>
        <p:txBody>
          <a:bodyPr/>
          <a:lstStyle/>
          <a:p>
            <a:fld id="{E27E38AF-BC93-4612-8619-54F4BB1E39A6}" type="slidenum">
              <a:rPr lang="en-PH" smtClean="0"/>
              <a:t>20</a:t>
            </a:fld>
            <a:endParaRPr lang="en-PH"/>
          </a:p>
        </p:txBody>
      </p:sp>
    </p:spTree>
    <p:extLst>
      <p:ext uri="{BB962C8B-B14F-4D97-AF65-F5344CB8AC3E}">
        <p14:creationId xmlns:p14="http://schemas.microsoft.com/office/powerpoint/2010/main" val="5658206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433B3-E90D-8754-78E5-ABA90528B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DE088A-C399-B17F-745F-65D3385B92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F45E0A-EFD8-6F9E-88A8-A51E214FDD0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F66A89C7-E322-F47C-0E86-FC200C51B089}"/>
              </a:ext>
            </a:extLst>
          </p:cNvPr>
          <p:cNvSpPr>
            <a:spLocks noGrp="1"/>
          </p:cNvSpPr>
          <p:nvPr>
            <p:ph type="sldNum" sz="quarter" idx="5"/>
          </p:nvPr>
        </p:nvSpPr>
        <p:spPr/>
        <p:txBody>
          <a:bodyPr/>
          <a:lstStyle/>
          <a:p>
            <a:fld id="{E27E38AF-BC93-4612-8619-54F4BB1E39A6}" type="slidenum">
              <a:rPr lang="en-PH" smtClean="0"/>
              <a:t>21</a:t>
            </a:fld>
            <a:endParaRPr lang="en-PH"/>
          </a:p>
        </p:txBody>
      </p:sp>
    </p:spTree>
    <p:extLst>
      <p:ext uri="{BB962C8B-B14F-4D97-AF65-F5344CB8AC3E}">
        <p14:creationId xmlns:p14="http://schemas.microsoft.com/office/powerpoint/2010/main" val="12267282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BC2D5-9C96-36EB-DFC2-79E4EAE48B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C8AE2-CC97-42ED-CD8B-1B188B89DC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10C3EA-B4BB-BEE7-9368-1D7E83A79E26}"/>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DD3006FE-A0DC-EC13-EAA1-7AAA06E5F160}"/>
              </a:ext>
            </a:extLst>
          </p:cNvPr>
          <p:cNvSpPr>
            <a:spLocks noGrp="1"/>
          </p:cNvSpPr>
          <p:nvPr>
            <p:ph type="sldNum" sz="quarter" idx="5"/>
          </p:nvPr>
        </p:nvSpPr>
        <p:spPr/>
        <p:txBody>
          <a:bodyPr/>
          <a:lstStyle/>
          <a:p>
            <a:fld id="{E27E38AF-BC93-4612-8619-54F4BB1E39A6}" type="slidenum">
              <a:rPr lang="en-PH" smtClean="0"/>
              <a:t>22</a:t>
            </a:fld>
            <a:endParaRPr lang="en-PH"/>
          </a:p>
        </p:txBody>
      </p:sp>
    </p:spTree>
    <p:extLst>
      <p:ext uri="{BB962C8B-B14F-4D97-AF65-F5344CB8AC3E}">
        <p14:creationId xmlns:p14="http://schemas.microsoft.com/office/powerpoint/2010/main" val="27663122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C66EB-1914-9FE8-A407-EF84AE2E3B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632E7-7846-BE1D-BD40-F67C0FBB0B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6CD8A-697F-C04E-6F49-C807AA8CF8F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65563FB-8647-FF61-8656-25465A7A671C}"/>
              </a:ext>
            </a:extLst>
          </p:cNvPr>
          <p:cNvSpPr>
            <a:spLocks noGrp="1"/>
          </p:cNvSpPr>
          <p:nvPr>
            <p:ph type="sldNum" sz="quarter" idx="5"/>
          </p:nvPr>
        </p:nvSpPr>
        <p:spPr/>
        <p:txBody>
          <a:bodyPr/>
          <a:lstStyle/>
          <a:p>
            <a:fld id="{E27E38AF-BC93-4612-8619-54F4BB1E39A6}" type="slidenum">
              <a:rPr lang="en-PH" smtClean="0"/>
              <a:t>23</a:t>
            </a:fld>
            <a:endParaRPr lang="en-PH"/>
          </a:p>
        </p:txBody>
      </p:sp>
    </p:spTree>
    <p:extLst>
      <p:ext uri="{BB962C8B-B14F-4D97-AF65-F5344CB8AC3E}">
        <p14:creationId xmlns:p14="http://schemas.microsoft.com/office/powerpoint/2010/main" val="6583369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32B43-8D14-96D9-A9DD-4E36AD0C70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A2DD3A-D12B-294B-B332-AF4D538AA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EF805-CF4D-C44D-8AE3-518DA39384D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98B43C6E-0285-D118-3199-01072C9663CC}"/>
              </a:ext>
            </a:extLst>
          </p:cNvPr>
          <p:cNvSpPr>
            <a:spLocks noGrp="1"/>
          </p:cNvSpPr>
          <p:nvPr>
            <p:ph type="sldNum" sz="quarter" idx="5"/>
          </p:nvPr>
        </p:nvSpPr>
        <p:spPr/>
        <p:txBody>
          <a:bodyPr/>
          <a:lstStyle/>
          <a:p>
            <a:fld id="{E27E38AF-BC93-4612-8619-54F4BB1E39A6}" type="slidenum">
              <a:rPr lang="en-PH" smtClean="0"/>
              <a:t>24</a:t>
            </a:fld>
            <a:endParaRPr lang="en-PH"/>
          </a:p>
        </p:txBody>
      </p:sp>
    </p:spTree>
    <p:extLst>
      <p:ext uri="{BB962C8B-B14F-4D97-AF65-F5344CB8AC3E}">
        <p14:creationId xmlns:p14="http://schemas.microsoft.com/office/powerpoint/2010/main" val="58210117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704C0-8B81-C095-9711-099BBE0EC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31D75B-0153-0DEC-40AE-B7BA947BA4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AD0C7-7482-3517-E4DA-11751D538120}"/>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D62B209-8409-1619-8E71-C6E52EEB8837}"/>
              </a:ext>
            </a:extLst>
          </p:cNvPr>
          <p:cNvSpPr>
            <a:spLocks noGrp="1"/>
          </p:cNvSpPr>
          <p:nvPr>
            <p:ph type="sldNum" sz="quarter" idx="5"/>
          </p:nvPr>
        </p:nvSpPr>
        <p:spPr/>
        <p:txBody>
          <a:bodyPr/>
          <a:lstStyle/>
          <a:p>
            <a:fld id="{E27E38AF-BC93-4612-8619-54F4BB1E39A6}" type="slidenum">
              <a:rPr lang="en-PH" smtClean="0"/>
              <a:t>25</a:t>
            </a:fld>
            <a:endParaRPr lang="en-PH"/>
          </a:p>
        </p:txBody>
      </p:sp>
    </p:spTree>
    <p:extLst>
      <p:ext uri="{BB962C8B-B14F-4D97-AF65-F5344CB8AC3E}">
        <p14:creationId xmlns:p14="http://schemas.microsoft.com/office/powerpoint/2010/main" val="22224454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AD48A-EA79-31A4-50CE-4D8B87465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23BEC6-111E-44C3-675B-43B9641A86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67BA4-2655-3785-0303-C309B3A84667}"/>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44662C8-BC82-B4E3-3191-788B8E9F5E4A}"/>
              </a:ext>
            </a:extLst>
          </p:cNvPr>
          <p:cNvSpPr>
            <a:spLocks noGrp="1"/>
          </p:cNvSpPr>
          <p:nvPr>
            <p:ph type="sldNum" sz="quarter" idx="5"/>
          </p:nvPr>
        </p:nvSpPr>
        <p:spPr/>
        <p:txBody>
          <a:bodyPr/>
          <a:lstStyle/>
          <a:p>
            <a:fld id="{E27E38AF-BC93-4612-8619-54F4BB1E39A6}" type="slidenum">
              <a:rPr lang="en-PH" smtClean="0"/>
              <a:t>26</a:t>
            </a:fld>
            <a:endParaRPr lang="en-PH"/>
          </a:p>
        </p:txBody>
      </p:sp>
    </p:spTree>
    <p:extLst>
      <p:ext uri="{BB962C8B-B14F-4D97-AF65-F5344CB8AC3E}">
        <p14:creationId xmlns:p14="http://schemas.microsoft.com/office/powerpoint/2010/main" val="7990466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9DC6D-529C-110D-0995-700BE9F36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7CC33D-C78D-0CAB-F35B-051A3843A7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647B2-B081-4E83-AE27-BD2CEE8890DE}"/>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9D59AF70-7F6F-38E5-2B0C-2DB597CB9DC8}"/>
              </a:ext>
            </a:extLst>
          </p:cNvPr>
          <p:cNvSpPr>
            <a:spLocks noGrp="1"/>
          </p:cNvSpPr>
          <p:nvPr>
            <p:ph type="sldNum" sz="quarter" idx="5"/>
          </p:nvPr>
        </p:nvSpPr>
        <p:spPr/>
        <p:txBody>
          <a:bodyPr/>
          <a:lstStyle/>
          <a:p>
            <a:fld id="{E27E38AF-BC93-4612-8619-54F4BB1E39A6}" type="slidenum">
              <a:rPr lang="en-PH" smtClean="0"/>
              <a:t>27</a:t>
            </a:fld>
            <a:endParaRPr lang="en-PH"/>
          </a:p>
        </p:txBody>
      </p:sp>
    </p:spTree>
    <p:extLst>
      <p:ext uri="{BB962C8B-B14F-4D97-AF65-F5344CB8AC3E}">
        <p14:creationId xmlns:p14="http://schemas.microsoft.com/office/powerpoint/2010/main" val="29541772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3A2110-6046-6272-70A3-48E89D487B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C06877-AC1B-0CAE-C40D-EE1A987AE3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6C61DA-E792-2440-1197-8A18D2B53C1D}"/>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6174E292-BC73-7BE8-E0F6-26E8AA5C5F2A}"/>
              </a:ext>
            </a:extLst>
          </p:cNvPr>
          <p:cNvSpPr>
            <a:spLocks noGrp="1"/>
          </p:cNvSpPr>
          <p:nvPr>
            <p:ph type="sldNum" sz="quarter" idx="5"/>
          </p:nvPr>
        </p:nvSpPr>
        <p:spPr/>
        <p:txBody>
          <a:bodyPr/>
          <a:lstStyle/>
          <a:p>
            <a:fld id="{E27E38AF-BC93-4612-8619-54F4BB1E39A6}" type="slidenum">
              <a:rPr lang="en-PH" smtClean="0"/>
              <a:t>28</a:t>
            </a:fld>
            <a:endParaRPr lang="en-PH"/>
          </a:p>
        </p:txBody>
      </p:sp>
    </p:spTree>
    <p:extLst>
      <p:ext uri="{BB962C8B-B14F-4D97-AF65-F5344CB8AC3E}">
        <p14:creationId xmlns:p14="http://schemas.microsoft.com/office/powerpoint/2010/main" val="283862577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7D713-849A-8B2E-3DA1-22F1B8B1A6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7958A-CF60-366B-4A59-67F4BE38F7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6F198A-0028-A8C1-6142-7F5E344E775A}"/>
              </a:ext>
            </a:extLst>
          </p:cNvPr>
          <p:cNvSpPr>
            <a:spLocks noGrp="1"/>
          </p:cNvSpPr>
          <p:nvPr>
            <p:ph type="body" idx="1"/>
          </p:nvPr>
        </p:nvSpPr>
        <p:spPr/>
        <p:txBody>
          <a:bodyPr/>
          <a:lstStyle/>
          <a:p>
            <a:endParaRPr lang="en-PH"/>
          </a:p>
        </p:txBody>
      </p:sp>
      <p:sp>
        <p:nvSpPr>
          <p:cNvPr id="4" name="Slide Number Placeholder 3">
            <a:extLst>
              <a:ext uri="{FF2B5EF4-FFF2-40B4-BE49-F238E27FC236}">
                <a16:creationId xmlns:a16="http://schemas.microsoft.com/office/drawing/2014/main" id="{F1BB7F11-8539-BEC8-46BD-FC56E5F72557}"/>
              </a:ext>
            </a:extLst>
          </p:cNvPr>
          <p:cNvSpPr>
            <a:spLocks noGrp="1"/>
          </p:cNvSpPr>
          <p:nvPr>
            <p:ph type="sldNum" sz="quarter" idx="5"/>
          </p:nvPr>
        </p:nvSpPr>
        <p:spPr/>
        <p:txBody>
          <a:bodyPr/>
          <a:lstStyle/>
          <a:p>
            <a:fld id="{E27E38AF-BC93-4612-8619-54F4BB1E39A6}" type="slidenum">
              <a:rPr lang="en-PH" smtClean="0"/>
              <a:t>29</a:t>
            </a:fld>
            <a:endParaRPr lang="en-PH"/>
          </a:p>
        </p:txBody>
      </p:sp>
    </p:spTree>
    <p:extLst>
      <p:ext uri="{BB962C8B-B14F-4D97-AF65-F5344CB8AC3E}">
        <p14:creationId xmlns:p14="http://schemas.microsoft.com/office/powerpoint/2010/main" val="187438557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8F3B1-E7A1-27E9-5345-9945EFE12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64130-BEAB-AFCD-87D4-D330A272E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095340-A1E0-BF7E-E815-5395C620166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37C0EE61-DC72-1751-07F1-34CABEC837B2}"/>
              </a:ext>
            </a:extLst>
          </p:cNvPr>
          <p:cNvSpPr>
            <a:spLocks noGrp="1"/>
          </p:cNvSpPr>
          <p:nvPr>
            <p:ph type="sldNum" sz="quarter" idx="5"/>
          </p:nvPr>
        </p:nvSpPr>
        <p:spPr/>
        <p:txBody>
          <a:bodyPr/>
          <a:lstStyle/>
          <a:p>
            <a:fld id="{E27E38AF-BC93-4612-8619-54F4BB1E39A6}" type="slidenum">
              <a:rPr lang="en-PH" smtClean="0"/>
              <a:t>30</a:t>
            </a:fld>
            <a:endParaRPr lang="en-PH"/>
          </a:p>
        </p:txBody>
      </p:sp>
    </p:spTree>
    <p:extLst>
      <p:ext uri="{BB962C8B-B14F-4D97-AF65-F5344CB8AC3E}">
        <p14:creationId xmlns:p14="http://schemas.microsoft.com/office/powerpoint/2010/main" val="67546973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80702-99EB-9AC6-138E-2E3BCA354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3096A7-8622-35AE-7FA2-5A6A900B33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0FB4C1-E5C7-3E8C-AD06-7387870317A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5DA48027-A26F-95B3-0418-46F01C810C9E}"/>
              </a:ext>
            </a:extLst>
          </p:cNvPr>
          <p:cNvSpPr>
            <a:spLocks noGrp="1"/>
          </p:cNvSpPr>
          <p:nvPr>
            <p:ph type="sldNum" sz="quarter" idx="5"/>
          </p:nvPr>
        </p:nvSpPr>
        <p:spPr/>
        <p:txBody>
          <a:bodyPr/>
          <a:lstStyle/>
          <a:p>
            <a:fld id="{E27E38AF-BC93-4612-8619-54F4BB1E39A6}" type="slidenum">
              <a:rPr lang="en-PH" smtClean="0"/>
              <a:t>31</a:t>
            </a:fld>
            <a:endParaRPr lang="en-PH"/>
          </a:p>
        </p:txBody>
      </p:sp>
    </p:spTree>
    <p:extLst>
      <p:ext uri="{BB962C8B-B14F-4D97-AF65-F5344CB8AC3E}">
        <p14:creationId xmlns:p14="http://schemas.microsoft.com/office/powerpoint/2010/main" val="310020181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4A112-2D6D-569D-869C-CCA417A739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472E71-6B87-550F-FCDF-F419986B41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CDA30E-EE1C-89F1-4FAA-89EE36F1632F}"/>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D2139C77-F661-F035-54D3-52AA5535B22B}"/>
              </a:ext>
            </a:extLst>
          </p:cNvPr>
          <p:cNvSpPr>
            <a:spLocks noGrp="1"/>
          </p:cNvSpPr>
          <p:nvPr>
            <p:ph type="sldNum" sz="quarter" idx="5"/>
          </p:nvPr>
        </p:nvSpPr>
        <p:spPr/>
        <p:txBody>
          <a:bodyPr/>
          <a:lstStyle/>
          <a:p>
            <a:fld id="{E27E38AF-BC93-4612-8619-54F4BB1E39A6}" type="slidenum">
              <a:rPr lang="en-PH" smtClean="0"/>
              <a:t>32</a:t>
            </a:fld>
            <a:endParaRPr lang="en-PH"/>
          </a:p>
        </p:txBody>
      </p:sp>
    </p:spTree>
    <p:extLst>
      <p:ext uri="{BB962C8B-B14F-4D97-AF65-F5344CB8AC3E}">
        <p14:creationId xmlns:p14="http://schemas.microsoft.com/office/powerpoint/2010/main" val="15395064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F5ED7-6507-5F2C-956B-F07F063565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1BEEF0-4162-4664-0FB4-B3E0476D79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88EA1F-AB59-127B-30D2-3086CE64884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8C6B8540-85F0-C663-AB80-149C8AB7EA8D}"/>
              </a:ext>
            </a:extLst>
          </p:cNvPr>
          <p:cNvSpPr>
            <a:spLocks noGrp="1"/>
          </p:cNvSpPr>
          <p:nvPr>
            <p:ph type="sldNum" sz="quarter" idx="5"/>
          </p:nvPr>
        </p:nvSpPr>
        <p:spPr/>
        <p:txBody>
          <a:bodyPr/>
          <a:lstStyle/>
          <a:p>
            <a:fld id="{E27E38AF-BC93-4612-8619-54F4BB1E39A6}" type="slidenum">
              <a:rPr lang="en-PH" smtClean="0"/>
              <a:t>33</a:t>
            </a:fld>
            <a:endParaRPr lang="en-PH"/>
          </a:p>
        </p:txBody>
      </p:sp>
    </p:spTree>
    <p:extLst>
      <p:ext uri="{BB962C8B-B14F-4D97-AF65-F5344CB8AC3E}">
        <p14:creationId xmlns:p14="http://schemas.microsoft.com/office/powerpoint/2010/main" val="8827423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C0558-2CE4-EEE0-89B2-6BC23048C1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710B4-9A16-2E0D-53AB-634F50C0F4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8CD60-91D3-E6AB-718C-1817D00B69B1}"/>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B8A888B7-61A6-8AD9-B706-8E14103670A3}"/>
              </a:ext>
            </a:extLst>
          </p:cNvPr>
          <p:cNvSpPr>
            <a:spLocks noGrp="1"/>
          </p:cNvSpPr>
          <p:nvPr>
            <p:ph type="sldNum" sz="quarter" idx="5"/>
          </p:nvPr>
        </p:nvSpPr>
        <p:spPr/>
        <p:txBody>
          <a:bodyPr/>
          <a:lstStyle/>
          <a:p>
            <a:fld id="{E27E38AF-BC93-4612-8619-54F4BB1E39A6}" type="slidenum">
              <a:rPr lang="en-PH" smtClean="0"/>
              <a:t>34</a:t>
            </a:fld>
            <a:endParaRPr lang="en-PH"/>
          </a:p>
        </p:txBody>
      </p:sp>
    </p:spTree>
    <p:extLst>
      <p:ext uri="{BB962C8B-B14F-4D97-AF65-F5344CB8AC3E}">
        <p14:creationId xmlns:p14="http://schemas.microsoft.com/office/powerpoint/2010/main" val="10628347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E25E98-1679-5C2B-A3F1-7648A41800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321CCD-AF97-A97F-929C-5BC903A68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7775FA-0A3A-3385-E985-2ECAB8BA8DD8}"/>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C1D252DA-A24C-424D-18EF-C877A3D69FD3}"/>
              </a:ext>
            </a:extLst>
          </p:cNvPr>
          <p:cNvSpPr>
            <a:spLocks noGrp="1"/>
          </p:cNvSpPr>
          <p:nvPr>
            <p:ph type="sldNum" sz="quarter" idx="5"/>
          </p:nvPr>
        </p:nvSpPr>
        <p:spPr/>
        <p:txBody>
          <a:bodyPr/>
          <a:lstStyle/>
          <a:p>
            <a:fld id="{E27E38AF-BC93-4612-8619-54F4BB1E39A6}" type="slidenum">
              <a:rPr lang="en-PH" smtClean="0"/>
              <a:t>35</a:t>
            </a:fld>
            <a:endParaRPr lang="en-PH"/>
          </a:p>
        </p:txBody>
      </p:sp>
    </p:spTree>
    <p:extLst>
      <p:ext uri="{BB962C8B-B14F-4D97-AF65-F5344CB8AC3E}">
        <p14:creationId xmlns:p14="http://schemas.microsoft.com/office/powerpoint/2010/main" val="556976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6CADE-5CE5-8F7B-1BA4-76F3C081F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51899-D29E-8856-1FD1-5B38164A66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37E147-6ACB-4252-B7F8-13DA26535C46}"/>
              </a:ext>
            </a:extLst>
          </p:cNvPr>
          <p:cNvSpPr>
            <a:spLocks noGrp="1"/>
          </p:cNvSpPr>
          <p:nvPr>
            <p:ph type="body" idx="1"/>
          </p:nvPr>
        </p:nvSpPr>
        <p:spPr/>
        <p:txBody>
          <a:bodyPr/>
          <a:lstStyle/>
          <a:p>
            <a:pPr algn="l"/>
            <a:endParaRPr lang="en-US" sz="1600" dirty="0"/>
          </a:p>
        </p:txBody>
      </p:sp>
      <p:sp>
        <p:nvSpPr>
          <p:cNvPr id="4" name="Slide Number Placeholder 3">
            <a:extLst>
              <a:ext uri="{FF2B5EF4-FFF2-40B4-BE49-F238E27FC236}">
                <a16:creationId xmlns:a16="http://schemas.microsoft.com/office/drawing/2014/main" id="{45E9EB72-CB3B-569B-B4FB-024880802EC4}"/>
              </a:ext>
            </a:extLst>
          </p:cNvPr>
          <p:cNvSpPr>
            <a:spLocks noGrp="1"/>
          </p:cNvSpPr>
          <p:nvPr>
            <p:ph type="sldNum" sz="quarter" idx="5"/>
          </p:nvPr>
        </p:nvSpPr>
        <p:spPr/>
        <p:txBody>
          <a:bodyPr/>
          <a:lstStyle/>
          <a:p>
            <a:fld id="{E27E38AF-BC93-4612-8619-54F4BB1E39A6}" type="slidenum">
              <a:rPr lang="en-PH" smtClean="0"/>
              <a:t>36</a:t>
            </a:fld>
            <a:endParaRPr lang="en-PH"/>
          </a:p>
        </p:txBody>
      </p:sp>
    </p:spTree>
    <p:extLst>
      <p:ext uri="{BB962C8B-B14F-4D97-AF65-F5344CB8AC3E}">
        <p14:creationId xmlns:p14="http://schemas.microsoft.com/office/powerpoint/2010/main" val="37663520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0D81C3-E2DA-4793-BDA0-1375955C19F0}" type="datetime1">
              <a:rPr lang="en-US" smtClean="0"/>
              <a:t>8/20/2025</a:t>
            </a:fld>
            <a:endParaRPr lang="en-US"/>
          </a:p>
        </p:txBody>
      </p:sp>
      <p:sp>
        <p:nvSpPr>
          <p:cNvPr id="6" name="Slide Number Placeholder 5"/>
          <p:cNvSpPr>
            <a:spLocks noGrp="1"/>
          </p:cNvSpPr>
          <p:nvPr>
            <p:ph type="sldNum" sz="quarter" idx="4"/>
          </p:nvPr>
        </p:nvSpPr>
        <p:spPr>
          <a:xfrm>
            <a:off x="15925800" y="973879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
        <p:nvSpPr>
          <p:cNvPr id="7" name="Footer Placeholder 7">
            <a:extLst>
              <a:ext uri="{FF2B5EF4-FFF2-40B4-BE49-F238E27FC236}">
                <a16:creationId xmlns:a16="http://schemas.microsoft.com/office/drawing/2014/main" id="{466280C9-FBB2-A5C5-B32E-B1F32E20A7CA}"/>
              </a:ext>
            </a:extLst>
          </p:cNvPr>
          <p:cNvSpPr txBox="1">
            <a:spLocks/>
          </p:cNvSpPr>
          <p:nvPr userDrawn="1"/>
        </p:nvSpPr>
        <p:spPr>
          <a:xfrm>
            <a:off x="76200" y="9799686"/>
            <a:ext cx="6248400" cy="36512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ELEC 4 – Elective 4 (Special Topics on Web and Mobile 2)</a:t>
            </a:r>
          </a:p>
        </p:txBody>
      </p:sp>
    </p:spTree>
  </p:cSld>
  <p:clrMap bg1="lt1" tx1="dk1" bg2="lt2" tx2="dk2" accent1="accent1" accent2="accent2" accent3="accent3" accent4="accent4" accent5="accent5" accent6="accent6" hlink="hlink" folHlink="folHlink"/>
  <p:sldLayoutIdLst>
    <p:sldLayoutId id="2147483655" r:id="rId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3.sv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1.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70D90189-04C8-86AF-B9A8-6A8CA9F302D2}"/>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0" y="3062493"/>
            <a:ext cx="18287999" cy="4408536"/>
          </a:xfrm>
          <a:prstGeom prst="rect">
            <a:avLst/>
          </a:prstGeom>
        </p:spPr>
      </p:pic>
      <p:sp>
        <p:nvSpPr>
          <p:cNvPr id="20" name="Freeform 20"/>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p:cNvSpPr txBox="1"/>
          <p:nvPr/>
        </p:nvSpPr>
        <p:spPr>
          <a:xfrm>
            <a:off x="1138730" y="3587144"/>
            <a:ext cx="15998250" cy="3112712"/>
          </a:xfrm>
          <a:prstGeom prst="rect">
            <a:avLst/>
          </a:prstGeom>
        </p:spPr>
        <p:txBody>
          <a:bodyPr wrap="square" lIns="0" tIns="0" rIns="0" bIns="0" rtlCol="0" anchor="t">
            <a:spAutoFit/>
          </a:bodyPr>
          <a:lstStyle/>
          <a:p>
            <a:pPr algn="l">
              <a:lnSpc>
                <a:spcPts val="12857"/>
              </a:lnSpc>
            </a:pPr>
            <a:r>
              <a:rPr lang="en-US" sz="6600" spc="-360" dirty="0">
                <a:ln>
                  <a:solidFill>
                    <a:sysClr val="windowText" lastClr="000000"/>
                  </a:solidFill>
                </a:ln>
                <a:solidFill>
                  <a:schemeClr val="bg1"/>
                </a:solidFill>
                <a:latin typeface="Consolas" panose="020B0609020204030204" pitchFamily="49" charset="0"/>
              </a:rPr>
              <a:t>Chapter 1: Python Programming Fundamentals</a:t>
            </a:r>
          </a:p>
        </p:txBody>
      </p:sp>
      <p:grpSp>
        <p:nvGrpSpPr>
          <p:cNvPr id="34" name="Group 13">
            <a:extLst>
              <a:ext uri="{FF2B5EF4-FFF2-40B4-BE49-F238E27FC236}">
                <a16:creationId xmlns:a16="http://schemas.microsoft.com/office/drawing/2014/main" id="{03BEDA6F-F03E-338A-E884-B57BB6E88A2C}"/>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774B46A4-1A07-1B6E-041F-F6905CFA41E7}"/>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E1DF7690-B553-61D6-9179-CCFD49C98B9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7D4F7B43-6DF2-1438-AF14-A92B65A0B7B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737FF48A-1343-407F-1EA2-017E5834A28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5844878D-4F08-5CB8-2978-838AA8A84A59}"/>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6B102466-B83F-E478-304D-B9605AC9EA8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p:cNvGrpSpPr/>
          <p:nvPr/>
        </p:nvGrpSpPr>
        <p:grpSpPr>
          <a:xfrm>
            <a:off x="14554200" y="6438900"/>
            <a:ext cx="3886200" cy="3848100"/>
            <a:chOff x="0" y="0"/>
            <a:chExt cx="10022021" cy="9446043"/>
          </a:xfrm>
        </p:grpSpPr>
        <p:sp>
          <p:nvSpPr>
            <p:cNvPr id="3" name="Freeform 3"/>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14435-D177-78B9-9BE8-3B8FA559D9BB}"/>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B237DD15-B105-2EED-E820-CF4CE8A1DCC5}"/>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F9D633F9-31E0-2989-6C67-876DD19757A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0A39BE59-E820-F9EC-608A-DAD70FCAA98D}"/>
              </a:ext>
            </a:extLst>
          </p:cNvPr>
          <p:cNvSpPr txBox="1"/>
          <p:nvPr/>
        </p:nvSpPr>
        <p:spPr>
          <a:xfrm>
            <a:off x="1144875" y="4404386"/>
            <a:ext cx="15998250" cy="1478225"/>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1.1: Python Concepts</a:t>
            </a:r>
          </a:p>
        </p:txBody>
      </p:sp>
      <p:grpSp>
        <p:nvGrpSpPr>
          <p:cNvPr id="34" name="Group 13">
            <a:extLst>
              <a:ext uri="{FF2B5EF4-FFF2-40B4-BE49-F238E27FC236}">
                <a16:creationId xmlns:a16="http://schemas.microsoft.com/office/drawing/2014/main" id="{3FEEF142-5253-A561-E99C-768FEC77C1B4}"/>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65022A25-F969-AB81-EDB8-3FEA4CC493D3}"/>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CE380B9F-90C5-069E-B4A9-EFB63317BFD0}"/>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8D415E24-8984-99DF-D8B4-E7C067D7611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D7D9F8B0-3AF4-7E6B-D098-0CAD2C2822F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0C3CE10E-127A-6DB9-CD8E-805DD601D15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374E9D94-03CB-432B-615B-4F12019F8D3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67494009-3E71-6335-5455-E2EAFBEFE78C}"/>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AF6A5863-776C-67C6-AD04-A4CD5F25626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780819FF-D094-90BA-1E10-BB50331B064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92A9F004-108D-31AC-5F8B-DE17B8E5717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27659439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5240000" y="7086600"/>
            <a:ext cx="3200400" cy="3200400"/>
            <a:chOff x="0" y="0"/>
            <a:chExt cx="10022021" cy="9446043"/>
          </a:xfrm>
        </p:grpSpPr>
        <p:sp>
          <p:nvSpPr>
            <p:cNvPr id="3" name="Freeform 3"/>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FC96476-CFAB-18A8-4841-0A0AA21B7D2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DCBA537A-7358-1B27-5F22-0AAC08438006}"/>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Preliminary Activity: “Know, Think, Want to Know” Chart</a:t>
            </a:r>
          </a:p>
        </p:txBody>
      </p:sp>
      <p:sp>
        <p:nvSpPr>
          <p:cNvPr id="24" name="TextBox 23">
            <a:extLst>
              <a:ext uri="{FF2B5EF4-FFF2-40B4-BE49-F238E27FC236}">
                <a16:creationId xmlns:a16="http://schemas.microsoft.com/office/drawing/2014/main" id="{EBE5AEC0-DCCA-6A88-BD04-736997ED61BB}"/>
              </a:ext>
            </a:extLst>
          </p:cNvPr>
          <p:cNvSpPr txBox="1"/>
          <p:nvPr/>
        </p:nvSpPr>
        <p:spPr>
          <a:xfrm>
            <a:off x="637059" y="2277070"/>
            <a:ext cx="16953563" cy="2554545"/>
          </a:xfrm>
          <a:prstGeom prst="rect">
            <a:avLst/>
          </a:prstGeom>
          <a:noFill/>
        </p:spPr>
        <p:txBody>
          <a:bodyPr wrap="square">
            <a:spAutoFit/>
          </a:bodyPr>
          <a:lstStyle/>
          <a:p>
            <a:pPr algn="just"/>
            <a:r>
              <a:rPr lang="en-US" sz="4000" dirty="0">
                <a:latin typeface="Consolas" panose="020B0609020204030204" pitchFamily="49" charset="0"/>
              </a:rPr>
              <a:t>Instructions:</a:t>
            </a:r>
          </a:p>
          <a:p>
            <a:pPr algn="just"/>
            <a:endParaRPr lang="en-US" sz="4000" dirty="0">
              <a:latin typeface="Consolas" panose="020B0609020204030204" pitchFamily="49" charset="0"/>
            </a:endParaRPr>
          </a:p>
          <a:p>
            <a:pPr algn="just"/>
            <a:r>
              <a:rPr lang="en-US" sz="4000" dirty="0">
                <a:latin typeface="Consolas" panose="020B0609020204030204" pitchFamily="49" charset="0"/>
              </a:rPr>
              <a:t>1. Bring out 1 piece of paper.</a:t>
            </a:r>
          </a:p>
          <a:p>
            <a:pPr algn="just"/>
            <a:r>
              <a:rPr lang="en-US" sz="4000" dirty="0">
                <a:latin typeface="Consolas" panose="020B0609020204030204" pitchFamily="49" charset="0"/>
              </a:rPr>
              <a:t>2. Fill out the table below</a:t>
            </a:r>
          </a:p>
        </p:txBody>
      </p:sp>
      <p:graphicFrame>
        <p:nvGraphicFramePr>
          <p:cNvPr id="6" name="Table 5">
            <a:extLst>
              <a:ext uri="{FF2B5EF4-FFF2-40B4-BE49-F238E27FC236}">
                <a16:creationId xmlns:a16="http://schemas.microsoft.com/office/drawing/2014/main" id="{1D7C52AC-7679-CCA9-FC53-56C32FD1C332}"/>
              </a:ext>
            </a:extLst>
          </p:cNvPr>
          <p:cNvGraphicFramePr>
            <a:graphicFrameLocks noGrp="1"/>
          </p:cNvGraphicFramePr>
          <p:nvPr>
            <p:extLst>
              <p:ext uri="{D42A27DB-BD31-4B8C-83A1-F6EECF244321}">
                <p14:modId xmlns:p14="http://schemas.microsoft.com/office/powerpoint/2010/main" val="3304214872"/>
              </p:ext>
            </p:extLst>
          </p:nvPr>
        </p:nvGraphicFramePr>
        <p:xfrm>
          <a:off x="749992" y="5688596"/>
          <a:ext cx="16699806" cy="2960103"/>
        </p:xfrm>
        <a:graphic>
          <a:graphicData uri="http://schemas.openxmlformats.org/drawingml/2006/table">
            <a:tbl>
              <a:tblPr firstRow="1" firstCol="1" bandRow="1">
                <a:tableStyleId>{C4B1156A-380E-4F78-BDF5-A606A8083BF9}</a:tableStyleId>
              </a:tblPr>
              <a:tblGrid>
                <a:gridCol w="5566602">
                  <a:extLst>
                    <a:ext uri="{9D8B030D-6E8A-4147-A177-3AD203B41FA5}">
                      <a16:colId xmlns:a16="http://schemas.microsoft.com/office/drawing/2014/main" val="1348423683"/>
                    </a:ext>
                  </a:extLst>
                </a:gridCol>
                <a:gridCol w="5566602">
                  <a:extLst>
                    <a:ext uri="{9D8B030D-6E8A-4147-A177-3AD203B41FA5}">
                      <a16:colId xmlns:a16="http://schemas.microsoft.com/office/drawing/2014/main" val="1290253073"/>
                    </a:ext>
                  </a:extLst>
                </a:gridCol>
                <a:gridCol w="5566602">
                  <a:extLst>
                    <a:ext uri="{9D8B030D-6E8A-4147-A177-3AD203B41FA5}">
                      <a16:colId xmlns:a16="http://schemas.microsoft.com/office/drawing/2014/main" val="2836401073"/>
                    </a:ext>
                  </a:extLst>
                </a:gridCol>
              </a:tblGrid>
              <a:tr h="1021444">
                <a:tc>
                  <a:txBody>
                    <a:bodyPr/>
                    <a:lstStyle/>
                    <a:p>
                      <a:pPr marL="457200" marR="0" algn="ctr">
                        <a:buNone/>
                        <a:tabLst>
                          <a:tab pos="3917950" algn="l"/>
                        </a:tabLst>
                      </a:pPr>
                      <a:r>
                        <a:rPr lang="en-PH" sz="3200" kern="100" dirty="0">
                          <a:effectLst/>
                          <a:latin typeface="Consolas" panose="020B0609020204030204" pitchFamily="49" charset="0"/>
                        </a:rPr>
                        <a:t>What I Know</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algn="ctr">
                        <a:buNone/>
                        <a:tabLst>
                          <a:tab pos="3917950" algn="l"/>
                        </a:tabLst>
                      </a:pPr>
                      <a:r>
                        <a:rPr lang="en-PH" sz="3200" kern="100">
                          <a:effectLst/>
                          <a:latin typeface="Consolas" panose="020B0609020204030204" pitchFamily="49" charset="0"/>
                        </a:rPr>
                        <a:t>What I Think I Know</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algn="ctr">
                        <a:buNone/>
                        <a:tabLst>
                          <a:tab pos="3917950" algn="l"/>
                        </a:tabLst>
                      </a:pPr>
                      <a:r>
                        <a:rPr lang="en-PH" sz="3200" kern="100">
                          <a:effectLst/>
                          <a:latin typeface="Consolas" panose="020B0609020204030204" pitchFamily="49" charset="0"/>
                        </a:rPr>
                        <a:t>What I Want to Know</a:t>
                      </a:r>
                      <a:endParaRPr lang="en-PH" sz="32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90796939"/>
                  </a:ext>
                </a:extLst>
              </a:tr>
              <a:tr h="1938659">
                <a:tc>
                  <a:txBody>
                    <a:bodyPr/>
                    <a:lstStyle/>
                    <a:p>
                      <a:pPr marL="0" marR="0" algn="l">
                        <a:buNone/>
                        <a:tabLst>
                          <a:tab pos="3917950" algn="l"/>
                        </a:tabLst>
                      </a:pPr>
                      <a:r>
                        <a:rPr lang="en-PH" sz="3200" b="0" kern="100" dirty="0">
                          <a:effectLst/>
                          <a:latin typeface="Consolas" panose="020B0609020204030204" pitchFamily="49" charset="0"/>
                        </a:rPr>
                        <a:t>List any facts or ideas you already know about Python.</a:t>
                      </a:r>
                      <a:endParaRPr lang="en-PH" sz="32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l">
                        <a:buNone/>
                        <a:tabLst>
                          <a:tab pos="3917950" algn="l"/>
                        </a:tabLst>
                      </a:pPr>
                      <a:r>
                        <a:rPr lang="en-PH" sz="3200" kern="100" dirty="0">
                          <a:effectLst/>
                          <a:latin typeface="Consolas" panose="020B0609020204030204" pitchFamily="49" charset="0"/>
                        </a:rPr>
                        <a:t>Write things you believe to be true but aren't sure of.</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l">
                        <a:buNone/>
                        <a:tabLst>
                          <a:tab pos="3917950" algn="l"/>
                        </a:tabLst>
                      </a:pPr>
                      <a:r>
                        <a:rPr lang="en-PH" sz="3200" kern="100" dirty="0">
                          <a:effectLst/>
                          <a:latin typeface="Consolas" panose="020B0609020204030204" pitchFamily="49" charset="0"/>
                        </a:rPr>
                        <a:t>List questions or topics you’re curious about regarding Python.</a:t>
                      </a:r>
                      <a:endParaRPr lang="en-PH" sz="32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89039240"/>
                  </a:ext>
                </a:extLst>
              </a:tr>
            </a:tbl>
          </a:graphicData>
        </a:graphic>
      </p:graphicFrame>
    </p:spTree>
    <p:extLst>
      <p:ext uri="{BB962C8B-B14F-4D97-AF65-F5344CB8AC3E}">
        <p14:creationId xmlns:p14="http://schemas.microsoft.com/office/powerpoint/2010/main" val="22225553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FB354-B01C-02B2-2DEF-10A33803F7C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BF6A6E-4C0A-8069-00A1-6DB404C3CAB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1194FCD-FC69-12DB-DCED-E8B029E7D2C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17654DB-6975-675B-CBE4-88299C098E5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16ADBC3-58F8-936D-376A-C719734FF5A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BE8CDB3-11FC-5F52-C5A5-A552237C467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82B3713-C643-1B74-9AD3-F356485A879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FEB6154-B889-FCEB-F520-3866CA8518F5}"/>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What is Python Programming?</a:t>
            </a:r>
          </a:p>
        </p:txBody>
      </p:sp>
      <p:sp>
        <p:nvSpPr>
          <p:cNvPr id="24" name="TextBox 23">
            <a:extLst>
              <a:ext uri="{FF2B5EF4-FFF2-40B4-BE49-F238E27FC236}">
                <a16:creationId xmlns:a16="http://schemas.microsoft.com/office/drawing/2014/main" id="{4C90BC46-C5A1-A710-F86C-70717C3426BC}"/>
              </a:ext>
            </a:extLst>
          </p:cNvPr>
          <p:cNvSpPr txBox="1"/>
          <p:nvPr/>
        </p:nvSpPr>
        <p:spPr>
          <a:xfrm>
            <a:off x="637059" y="2277070"/>
            <a:ext cx="16953563" cy="6740307"/>
          </a:xfrm>
          <a:prstGeom prst="rect">
            <a:avLst/>
          </a:prstGeom>
          <a:noFill/>
        </p:spPr>
        <p:txBody>
          <a:bodyPr wrap="square">
            <a:spAutoFit/>
          </a:bodyPr>
          <a:lstStyle/>
          <a:p>
            <a:pPr algn="just"/>
            <a:r>
              <a:rPr lang="en-US" sz="3600" dirty="0">
                <a:latin typeface="Consolas" panose="020B0609020204030204" pitchFamily="49" charset="0"/>
              </a:rPr>
              <a:t>Currently, Python is among the commonly used programming languages. It is used for Web development: (server-side), software development, mathematics and system scripting. Also, it is a high-level, interpreted, object-oriented programming language known for its readable syntax and versatility which allow programmers to express complex logic in fewer lines of code compared to other languages such as C++, Java, or PHP.</a:t>
            </a:r>
          </a:p>
          <a:p>
            <a:pPr algn="just"/>
            <a:endParaRPr lang="en-US" sz="3600" dirty="0">
              <a:latin typeface="Consolas" panose="020B0609020204030204" pitchFamily="49" charset="0"/>
            </a:endParaRPr>
          </a:p>
          <a:p>
            <a:pPr algn="just"/>
            <a:r>
              <a:rPr lang="en-US" sz="3600" dirty="0">
                <a:latin typeface="Consolas" panose="020B0609020204030204" pitchFamily="49" charset="0"/>
              </a:rPr>
              <a:t>It was originally created by Guido van Rossum in the late 1980s and officially released in 1991, Python supports multiple programming paradigms, including procedural, object-oriented, and functional programming.</a:t>
            </a:r>
          </a:p>
        </p:txBody>
      </p:sp>
    </p:spTree>
    <p:extLst>
      <p:ext uri="{BB962C8B-B14F-4D97-AF65-F5344CB8AC3E}">
        <p14:creationId xmlns:p14="http://schemas.microsoft.com/office/powerpoint/2010/main" val="20742227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10B40-1BBE-0CDD-24CE-F96C82E281E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90CE38A-3CAB-2CC4-A92B-C7858D223DA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BC79C7D-E0CA-591B-40EF-FF05B8662E0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59AA6C2-C6D7-20CE-D9D2-DE5F963D908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06CE156E-7A57-53A2-5EDF-F46D4973301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E637584-CF5B-4195-5FFA-0CBADAD8803D}"/>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3825EE6-7E00-35D1-D486-498981D85E5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E29E853C-2DE8-4A05-1AB8-719752256FAB}"/>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Characteristics of Python Programming</a:t>
            </a:r>
          </a:p>
        </p:txBody>
      </p:sp>
      <p:sp>
        <p:nvSpPr>
          <p:cNvPr id="6" name="TextBox 5">
            <a:extLst>
              <a:ext uri="{FF2B5EF4-FFF2-40B4-BE49-F238E27FC236}">
                <a16:creationId xmlns:a16="http://schemas.microsoft.com/office/drawing/2014/main" id="{EC758492-FA8F-0E09-B461-1E9B9342333E}"/>
              </a:ext>
            </a:extLst>
          </p:cNvPr>
          <p:cNvSpPr txBox="1"/>
          <p:nvPr/>
        </p:nvSpPr>
        <p:spPr>
          <a:xfrm>
            <a:off x="637059" y="2277070"/>
            <a:ext cx="16953563" cy="7294305"/>
          </a:xfrm>
          <a:prstGeom prst="rect">
            <a:avLst/>
          </a:prstGeom>
          <a:noFill/>
        </p:spPr>
        <p:txBody>
          <a:bodyPr wrap="square">
            <a:spAutoFit/>
          </a:bodyPr>
          <a:lstStyle/>
          <a:p>
            <a:pPr algn="just"/>
            <a:r>
              <a:rPr lang="en-US" sz="3600" dirty="0">
                <a:latin typeface="Consolas" panose="020B0609020204030204" pitchFamily="49" charset="0"/>
              </a:rPr>
              <a:t>1. Interpreted Language - It executes code line by line, as opposed to compiled languages like C or Java that are converted into machine code before running.</a:t>
            </a:r>
          </a:p>
          <a:p>
            <a:pPr algn="just"/>
            <a:r>
              <a:rPr lang="en-US" sz="3600" dirty="0">
                <a:latin typeface="Consolas" panose="020B0609020204030204" pitchFamily="49" charset="0"/>
              </a:rPr>
              <a:t>Example:</a:t>
            </a:r>
          </a:p>
          <a:p>
            <a:pPr algn="just"/>
            <a:endParaRPr lang="en-US" sz="3600" dirty="0">
              <a:latin typeface="Consolas" panose="020B0609020204030204" pitchFamily="49" charset="0"/>
            </a:endParaRPr>
          </a:p>
          <a:p>
            <a:pPr algn="just"/>
            <a:endParaRPr lang="en-US" sz="3600" dirty="0">
              <a:latin typeface="Consolas" panose="020B0609020204030204" pitchFamily="49" charset="0"/>
            </a:endParaRPr>
          </a:p>
          <a:p>
            <a:pPr algn="just"/>
            <a:endParaRPr lang="en-US" sz="3600" dirty="0">
              <a:latin typeface="Consolas" panose="020B0609020204030204" pitchFamily="49" charset="0"/>
            </a:endParaRPr>
          </a:p>
          <a:p>
            <a:pPr algn="just"/>
            <a:endParaRPr lang="en-US" sz="3600" dirty="0">
              <a:latin typeface="Consolas" panose="020B0609020204030204" pitchFamily="49" charset="0"/>
            </a:endParaRPr>
          </a:p>
          <a:p>
            <a:pPr algn="just"/>
            <a:endParaRPr lang="en-US" sz="3600" dirty="0">
              <a:latin typeface="Consolas" panose="020B0609020204030204" pitchFamily="49" charset="0"/>
            </a:endParaRPr>
          </a:p>
          <a:p>
            <a:pPr algn="just"/>
            <a:endParaRPr lang="en-US" sz="3600" dirty="0">
              <a:latin typeface="Consolas" panose="020B0609020204030204" pitchFamily="49" charset="0"/>
            </a:endParaRPr>
          </a:p>
          <a:p>
            <a:pPr algn="just"/>
            <a:r>
              <a:rPr lang="en-US" sz="3600" dirty="0">
                <a:latin typeface="Consolas" panose="020B0609020204030204" pitchFamily="49" charset="0"/>
              </a:rPr>
              <a:t>2. Dynamic Typing - Python uses dynamic typing, meaning that you do not declare the data type of a variable. The type is determined at runtime based on the value assigned.</a:t>
            </a:r>
          </a:p>
        </p:txBody>
      </p:sp>
      <p:grpSp>
        <p:nvGrpSpPr>
          <p:cNvPr id="22" name="Group 21">
            <a:extLst>
              <a:ext uri="{FF2B5EF4-FFF2-40B4-BE49-F238E27FC236}">
                <a16:creationId xmlns:a16="http://schemas.microsoft.com/office/drawing/2014/main" id="{32B2E127-9127-09E1-F852-655D0F0F4A28}"/>
              </a:ext>
            </a:extLst>
          </p:cNvPr>
          <p:cNvGrpSpPr/>
          <p:nvPr/>
        </p:nvGrpSpPr>
        <p:grpSpPr>
          <a:xfrm>
            <a:off x="749993" y="4571553"/>
            <a:ext cx="13638862" cy="2528888"/>
            <a:chOff x="749993" y="5147609"/>
            <a:chExt cx="13638862" cy="2528888"/>
          </a:xfrm>
        </p:grpSpPr>
        <p:pic>
          <p:nvPicPr>
            <p:cNvPr id="8" name="Picture 7" descr="A screen shot of a computer screen&#10;&#10;AI-generated content may be incorrect.">
              <a:extLst>
                <a:ext uri="{FF2B5EF4-FFF2-40B4-BE49-F238E27FC236}">
                  <a16:creationId xmlns:a16="http://schemas.microsoft.com/office/drawing/2014/main" id="{55CEA95A-9E4D-8A98-9784-AEFEBAFDC131}"/>
                </a:ext>
              </a:extLst>
            </p:cNvPr>
            <p:cNvPicPr>
              <a:picLocks noChangeAspect="1"/>
            </p:cNvPicPr>
            <p:nvPr/>
          </p:nvPicPr>
          <p:blipFill>
            <a:blip r:embed="rId7"/>
            <a:stretch>
              <a:fillRect/>
            </a:stretch>
          </p:blipFill>
          <p:spPr>
            <a:xfrm>
              <a:off x="749993" y="5147609"/>
              <a:ext cx="6867062" cy="2528888"/>
            </a:xfrm>
            <a:prstGeom prst="rect">
              <a:avLst/>
            </a:prstGeom>
          </p:spPr>
        </p:pic>
        <p:sp>
          <p:nvSpPr>
            <p:cNvPr id="9" name="Text Box 17">
              <a:extLst>
                <a:ext uri="{FF2B5EF4-FFF2-40B4-BE49-F238E27FC236}">
                  <a16:creationId xmlns:a16="http://schemas.microsoft.com/office/drawing/2014/main" id="{67D3FF24-1801-0AAD-5C08-4315F72D3063}"/>
                </a:ext>
              </a:extLst>
            </p:cNvPr>
            <p:cNvSpPr txBox="1">
              <a:spLocks noChangeArrowheads="1"/>
            </p:cNvSpPr>
            <p:nvPr/>
          </p:nvSpPr>
          <p:spPr bwMode="auto">
            <a:xfrm>
              <a:off x="8940555" y="6605885"/>
              <a:ext cx="5448300" cy="461665"/>
            </a:xfrm>
            <a:prstGeom prst="rect">
              <a:avLst/>
            </a:prstGeom>
            <a:noFill/>
            <a:ln w="9525">
              <a:noFill/>
              <a:miter lim="800000"/>
              <a:headEnd/>
              <a:tailEnd/>
            </a:ln>
          </p:spPr>
          <p:txBody>
            <a:bodyPr rot="0" vert="horz" wrap="square" lIns="91440" tIns="45720" rIns="91440" bIns="45720" anchor="t" anchorCtr="0">
              <a:spAutoFit/>
            </a:bodyPr>
            <a:lstStyle/>
            <a:p>
              <a:pPr marL="0" marR="0" algn="just">
                <a:buNone/>
              </a:pPr>
              <a:r>
                <a:rPr lang="en-PH" sz="2400" kern="100" dirty="0">
                  <a:effectLst/>
                  <a:latin typeface="Consolas" panose="020B0609020204030204" pitchFamily="49" charset="0"/>
                  <a:ea typeface="Aptos" panose="020B0004020202020204" pitchFamily="34" charset="0"/>
                  <a:cs typeface="Times New Roman" panose="02020603050405020304" pitchFamily="18" charset="0"/>
                </a:rPr>
                <a:t>Runtime error occurs here.</a:t>
              </a:r>
            </a:p>
          </p:txBody>
        </p:sp>
        <p:cxnSp>
          <p:nvCxnSpPr>
            <p:cNvPr id="10" name="Straight Arrow Connector 9">
              <a:extLst>
                <a:ext uri="{FF2B5EF4-FFF2-40B4-BE49-F238E27FC236}">
                  <a16:creationId xmlns:a16="http://schemas.microsoft.com/office/drawing/2014/main" id="{E9A8E60F-DBF9-FDBF-A4B8-369603A6C6F0}"/>
                </a:ext>
              </a:extLst>
            </p:cNvPr>
            <p:cNvCxnSpPr>
              <a:cxnSpLocks/>
              <a:endCxn id="9" idx="1"/>
            </p:cNvCxnSpPr>
            <p:nvPr/>
          </p:nvCxnSpPr>
          <p:spPr>
            <a:xfrm>
              <a:off x="4724400" y="6836718"/>
              <a:ext cx="4216155"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1" name="Text Box 17">
              <a:extLst>
                <a:ext uri="{FF2B5EF4-FFF2-40B4-BE49-F238E27FC236}">
                  <a16:creationId xmlns:a16="http://schemas.microsoft.com/office/drawing/2014/main" id="{73F827D7-8E91-D43C-CCBB-0A903595BE48}"/>
                </a:ext>
              </a:extLst>
            </p:cNvPr>
            <p:cNvSpPr txBox="1">
              <a:spLocks noChangeArrowheads="1"/>
            </p:cNvSpPr>
            <p:nvPr/>
          </p:nvSpPr>
          <p:spPr bwMode="auto">
            <a:xfrm>
              <a:off x="8940555" y="7200247"/>
              <a:ext cx="4381500" cy="461665"/>
            </a:xfrm>
            <a:prstGeom prst="rect">
              <a:avLst/>
            </a:prstGeom>
            <a:noFill/>
            <a:ln w="9525">
              <a:noFill/>
              <a:miter lim="800000"/>
              <a:headEnd/>
              <a:tailEnd/>
            </a:ln>
          </p:spPr>
          <p:txBody>
            <a:bodyPr rot="0" vert="horz" wrap="square" lIns="91440" tIns="45720" rIns="91440" bIns="45720" anchor="t" anchorCtr="0">
              <a:spAutoFit/>
            </a:bodyPr>
            <a:lstStyle/>
            <a:p>
              <a:pPr marL="0" marR="0" algn="just">
                <a:buNone/>
              </a:pPr>
              <a:r>
                <a:rPr lang="en-PH" sz="2400" kern="100" dirty="0">
                  <a:effectLst/>
                  <a:latin typeface="Consolas" panose="020B0609020204030204" pitchFamily="49" charset="0"/>
                  <a:ea typeface="Aptos" panose="020B0004020202020204" pitchFamily="34" charset="0"/>
                  <a:cs typeface="Times New Roman" panose="02020603050405020304" pitchFamily="18" charset="0"/>
                </a:rPr>
                <a:t>This will NOT run.</a:t>
              </a:r>
            </a:p>
          </p:txBody>
        </p:sp>
        <p:cxnSp>
          <p:nvCxnSpPr>
            <p:cNvPr id="18" name="Straight Arrow Connector 17">
              <a:extLst>
                <a:ext uri="{FF2B5EF4-FFF2-40B4-BE49-F238E27FC236}">
                  <a16:creationId xmlns:a16="http://schemas.microsoft.com/office/drawing/2014/main" id="{F8521D9C-317E-6DD1-332C-4EE238C9F17E}"/>
                </a:ext>
              </a:extLst>
            </p:cNvPr>
            <p:cNvCxnSpPr>
              <a:cxnSpLocks/>
            </p:cNvCxnSpPr>
            <p:nvPr/>
          </p:nvCxnSpPr>
          <p:spPr>
            <a:xfrm>
              <a:off x="5430975" y="7429500"/>
              <a:ext cx="3484425" cy="0"/>
            </a:xfrm>
            <a:prstGeom prst="straightConnector1">
              <a:avLst/>
            </a:prstGeom>
            <a:ln w="38100">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90880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3C5D3-3097-063E-3ADD-A9C59FEC39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783A6BF-287E-DF8A-64D8-EFA02BD8C994}"/>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C7D0A71-2F15-9ECA-DF5F-DE690CBD6C2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72F222D-E486-A756-1696-31B17F146FA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6473D33-4AD5-9487-FCF4-F63A14948C8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46DFBE7-6409-202A-EA1F-70359570FD1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6199AE3-63CD-5548-BDDF-7EDD4432A8E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774F0775-D9B7-167A-C9CD-7DFE01CB23A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Characteristics of Python Programming</a:t>
            </a:r>
          </a:p>
        </p:txBody>
      </p:sp>
      <p:sp>
        <p:nvSpPr>
          <p:cNvPr id="6" name="TextBox 5">
            <a:extLst>
              <a:ext uri="{FF2B5EF4-FFF2-40B4-BE49-F238E27FC236}">
                <a16:creationId xmlns:a16="http://schemas.microsoft.com/office/drawing/2014/main" id="{4ADD054C-9BBE-FCDC-A71B-8950685D17DB}"/>
              </a:ext>
            </a:extLst>
          </p:cNvPr>
          <p:cNvSpPr txBox="1"/>
          <p:nvPr/>
        </p:nvSpPr>
        <p:spPr>
          <a:xfrm>
            <a:off x="637059" y="2277070"/>
            <a:ext cx="16953563" cy="6740307"/>
          </a:xfrm>
          <a:prstGeom prst="rect">
            <a:avLst/>
          </a:prstGeom>
          <a:noFill/>
        </p:spPr>
        <p:txBody>
          <a:bodyPr wrap="square">
            <a:spAutoFit/>
          </a:bodyPr>
          <a:lstStyle/>
          <a:p>
            <a:pPr algn="just"/>
            <a:r>
              <a:rPr lang="en-US" sz="3600" dirty="0">
                <a:latin typeface="Consolas" panose="020B0609020204030204" pitchFamily="49" charset="0"/>
              </a:rPr>
              <a:t>3. High Level - A high-level language allows you to write programs in a way that is close to human language. For example, when using a function, python handles the complexity while not worrying about how it works internally. Compare this to a low-level language like machine language where every instruction should be written in form of 0 and 1 and it’s very challenging to understand and use as primary language.</a:t>
            </a:r>
          </a:p>
          <a:p>
            <a:pPr algn="just"/>
            <a:endParaRPr lang="en-US" sz="3600" dirty="0">
              <a:latin typeface="Consolas" panose="020B0609020204030204" pitchFamily="49" charset="0"/>
            </a:endParaRPr>
          </a:p>
          <a:p>
            <a:pPr algn="just"/>
            <a:r>
              <a:rPr lang="en-US" sz="3600" dirty="0">
                <a:latin typeface="Consolas" panose="020B0609020204030204" pitchFamily="49" charset="0"/>
              </a:rPr>
              <a:t>4. Multi-paradigm - Python supports multiple programming styles, which makes it highly flexible and adaptable to different types of projects. It supports procedural, object-oriented, and functional programming styles.</a:t>
            </a:r>
          </a:p>
        </p:txBody>
      </p:sp>
    </p:spTree>
    <p:extLst>
      <p:ext uri="{BB962C8B-B14F-4D97-AF65-F5344CB8AC3E}">
        <p14:creationId xmlns:p14="http://schemas.microsoft.com/office/powerpoint/2010/main" val="829408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8CC68-2F8A-D7A7-E058-114DA42C729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CCCBBFE-696F-FD8C-C906-95BDC0784F75}"/>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705B02E-6E68-EC51-C583-295F1E74D1D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86EA70A-90B2-2E3E-B69E-74D0C353F35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A718978C-D979-147F-1B09-8939A1806CA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3F321E4-2A13-21B6-A5A3-266823E457A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5D48CF3-3E6E-02A2-20A3-715DFA6FB80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BEBBF44E-ED14-CF44-50E0-F812E7A8A87F}"/>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Use Cases of Python</a:t>
            </a:r>
          </a:p>
        </p:txBody>
      </p:sp>
      <p:sp>
        <p:nvSpPr>
          <p:cNvPr id="6" name="TextBox 5">
            <a:extLst>
              <a:ext uri="{FF2B5EF4-FFF2-40B4-BE49-F238E27FC236}">
                <a16:creationId xmlns:a16="http://schemas.microsoft.com/office/drawing/2014/main" id="{E9707990-6A80-EB70-29D1-A430D2F2055C}"/>
              </a:ext>
            </a:extLst>
          </p:cNvPr>
          <p:cNvSpPr txBox="1"/>
          <p:nvPr/>
        </p:nvSpPr>
        <p:spPr>
          <a:xfrm>
            <a:off x="637059" y="2277070"/>
            <a:ext cx="16953563" cy="6740307"/>
          </a:xfrm>
          <a:prstGeom prst="rect">
            <a:avLst/>
          </a:prstGeom>
          <a:noFill/>
        </p:spPr>
        <p:txBody>
          <a:bodyPr wrap="square">
            <a:spAutoFit/>
          </a:bodyPr>
          <a:lstStyle/>
          <a:p>
            <a:pPr algn="just"/>
            <a:r>
              <a:rPr lang="en-US" sz="3600" b="1" dirty="0">
                <a:latin typeface="Consolas" panose="020B0609020204030204" pitchFamily="49" charset="0"/>
              </a:rPr>
              <a:t>1. Web Development</a:t>
            </a:r>
            <a:r>
              <a:rPr lang="en-US" sz="3600" dirty="0">
                <a:latin typeface="Consolas" panose="020B0609020204030204" pitchFamily="49" charset="0"/>
              </a:rPr>
              <a:t> - Python is widely used to build the back end (server-side) of web applications. It offers robust frameworks like Django and Flask, which help developers create secure, scalable, and maintainable websites and APIs.</a:t>
            </a:r>
          </a:p>
          <a:p>
            <a:pPr algn="just"/>
            <a:r>
              <a:rPr lang="en-US" sz="3600" b="1" dirty="0">
                <a:latin typeface="Consolas" panose="020B0609020204030204" pitchFamily="49" charset="0"/>
              </a:rPr>
              <a:t>Frameworks:</a:t>
            </a:r>
            <a:r>
              <a:rPr lang="en-US" sz="3600" dirty="0">
                <a:latin typeface="Consolas" panose="020B0609020204030204" pitchFamily="49" charset="0"/>
              </a:rPr>
              <a:t> </a:t>
            </a:r>
          </a:p>
          <a:p>
            <a:pPr algn="just"/>
            <a:r>
              <a:rPr lang="en-US" sz="3600" dirty="0">
                <a:latin typeface="Consolas" panose="020B0609020204030204" pitchFamily="49" charset="0"/>
              </a:rPr>
              <a:t>-	</a:t>
            </a:r>
            <a:r>
              <a:rPr lang="en-US" sz="3600" b="1" dirty="0">
                <a:latin typeface="Consolas" panose="020B0609020204030204" pitchFamily="49" charset="0"/>
              </a:rPr>
              <a:t>Django</a:t>
            </a:r>
            <a:r>
              <a:rPr lang="en-US" sz="3600" dirty="0">
                <a:latin typeface="Consolas" panose="020B0609020204030204" pitchFamily="49" charset="0"/>
              </a:rPr>
              <a:t>: A high-level framework that follows the "batteries included" philosophy which includes everything needed to build a full-featured web app quickly.</a:t>
            </a:r>
          </a:p>
          <a:p>
            <a:pPr algn="just"/>
            <a:endParaRPr lang="en-US" sz="3600" dirty="0">
              <a:latin typeface="Consolas" panose="020B0609020204030204" pitchFamily="49" charset="0"/>
            </a:endParaRPr>
          </a:p>
          <a:p>
            <a:pPr algn="just"/>
            <a:r>
              <a:rPr lang="en-US" sz="3600" dirty="0">
                <a:latin typeface="Consolas" panose="020B0609020204030204" pitchFamily="49" charset="0"/>
              </a:rPr>
              <a:t>-	</a:t>
            </a:r>
            <a:r>
              <a:rPr lang="en-US" sz="3600" b="1" dirty="0">
                <a:latin typeface="Consolas" panose="020B0609020204030204" pitchFamily="49" charset="0"/>
              </a:rPr>
              <a:t>Flask</a:t>
            </a:r>
            <a:r>
              <a:rPr lang="en-US" sz="3600" dirty="0">
                <a:latin typeface="Consolas" panose="020B0609020204030204" pitchFamily="49" charset="0"/>
              </a:rPr>
              <a:t>: A lightweight framework that gives developers more control and flexibility.</a:t>
            </a:r>
          </a:p>
          <a:p>
            <a:pPr algn="just"/>
            <a:endParaRPr lang="en-US" sz="3600" dirty="0">
              <a:latin typeface="Consolas" panose="020B0609020204030204" pitchFamily="49" charset="0"/>
            </a:endParaRPr>
          </a:p>
        </p:txBody>
      </p:sp>
      <p:pic>
        <p:nvPicPr>
          <p:cNvPr id="3076" name="Picture 4" descr="Django logo and symbol, meaning, history, PNG">
            <a:extLst>
              <a:ext uri="{FF2B5EF4-FFF2-40B4-BE49-F238E27FC236}">
                <a16:creationId xmlns:a16="http://schemas.microsoft.com/office/drawing/2014/main" id="{F200E275-5757-1775-0029-66AC3C66122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921505" y="5971580"/>
            <a:ext cx="2499360" cy="1562100"/>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Flask &amp; React - From Zero to Full-Stack (with Samples)">
            <a:extLst>
              <a:ext uri="{FF2B5EF4-FFF2-40B4-BE49-F238E27FC236}">
                <a16:creationId xmlns:a16="http://schemas.microsoft.com/office/drawing/2014/main" id="{BD5D719C-0748-06C9-55A1-F4CB866A933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77200" y="7945814"/>
            <a:ext cx="46958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8138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982D4-14B8-BC5C-D979-92D9876788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54EC5C0-CA62-1AEF-E513-F1D0A36F69D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BCF5632-BCBC-5C3D-525D-E1CB03C257A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6CA7F32-4BE2-6B23-1835-F4A0494628A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9F1E67AE-DCDD-79A0-DC79-797CC3D0F8D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0897C6ED-794A-64EB-B96A-0394E3128A73}"/>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1447428-87B3-315A-11C6-115AAB87A378}"/>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A5FA7050-2DAD-5A72-030D-7301A46357B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Use Cases of Python</a:t>
            </a:r>
          </a:p>
        </p:txBody>
      </p:sp>
      <p:sp>
        <p:nvSpPr>
          <p:cNvPr id="6" name="TextBox 5">
            <a:extLst>
              <a:ext uri="{FF2B5EF4-FFF2-40B4-BE49-F238E27FC236}">
                <a16:creationId xmlns:a16="http://schemas.microsoft.com/office/drawing/2014/main" id="{6B7A7247-A0F0-F45D-2C0B-8991BEF12162}"/>
              </a:ext>
            </a:extLst>
          </p:cNvPr>
          <p:cNvSpPr txBox="1"/>
          <p:nvPr/>
        </p:nvSpPr>
        <p:spPr>
          <a:xfrm>
            <a:off x="637059" y="2277070"/>
            <a:ext cx="16953563" cy="6740307"/>
          </a:xfrm>
          <a:prstGeom prst="rect">
            <a:avLst/>
          </a:prstGeom>
          <a:noFill/>
        </p:spPr>
        <p:txBody>
          <a:bodyPr wrap="square">
            <a:spAutoFit/>
          </a:bodyPr>
          <a:lstStyle/>
          <a:p>
            <a:pPr algn="just"/>
            <a:r>
              <a:rPr lang="en-US" sz="3600" b="1" dirty="0">
                <a:latin typeface="Consolas" panose="020B0609020204030204" pitchFamily="49" charset="0"/>
              </a:rPr>
              <a:t>2. Daya Analysis and Machine Learning </a:t>
            </a:r>
            <a:r>
              <a:rPr lang="en-US" sz="3600" dirty="0">
                <a:latin typeface="Consolas" panose="020B0609020204030204" pitchFamily="49" charset="0"/>
              </a:rPr>
              <a:t>- Python is a favorite in the data science world because of its simple syntax and powerful libraries for data handling and machine learning. </a:t>
            </a:r>
          </a:p>
          <a:p>
            <a:pPr algn="just"/>
            <a:endParaRPr lang="en-US" sz="3600" b="1" dirty="0">
              <a:latin typeface="Consolas" panose="020B0609020204030204" pitchFamily="49" charset="0"/>
            </a:endParaRPr>
          </a:p>
          <a:p>
            <a:pPr algn="just"/>
            <a:r>
              <a:rPr lang="en-US" sz="3600" b="1" dirty="0">
                <a:latin typeface="Consolas" panose="020B0609020204030204" pitchFamily="49" charset="0"/>
              </a:rPr>
              <a:t>Libraries</a:t>
            </a:r>
            <a:r>
              <a:rPr lang="en-US" sz="3600" dirty="0">
                <a:latin typeface="Consolas" panose="020B0609020204030204" pitchFamily="49" charset="0"/>
              </a:rPr>
              <a:t>:</a:t>
            </a:r>
          </a:p>
          <a:p>
            <a:pPr algn="just"/>
            <a:r>
              <a:rPr lang="en-US" sz="3600" dirty="0">
                <a:latin typeface="Consolas" panose="020B0609020204030204" pitchFamily="49" charset="0"/>
              </a:rPr>
              <a:t>-	</a:t>
            </a:r>
            <a:r>
              <a:rPr lang="en-US" sz="3600" b="1" dirty="0">
                <a:latin typeface="Consolas" panose="020B0609020204030204" pitchFamily="49" charset="0"/>
              </a:rPr>
              <a:t>NumPy</a:t>
            </a:r>
            <a:r>
              <a:rPr lang="en-US" sz="3600" dirty="0">
                <a:latin typeface="Consolas" panose="020B0609020204030204" pitchFamily="49" charset="0"/>
              </a:rPr>
              <a:t>: For numerical computing and array manipulation.</a:t>
            </a:r>
          </a:p>
          <a:p>
            <a:pPr algn="just"/>
            <a:endParaRPr lang="en-US" sz="3600" dirty="0">
              <a:latin typeface="Consolas" panose="020B0609020204030204" pitchFamily="49" charset="0"/>
            </a:endParaRPr>
          </a:p>
          <a:p>
            <a:pPr algn="just"/>
            <a:r>
              <a:rPr lang="en-US" sz="3600" dirty="0">
                <a:latin typeface="Consolas" panose="020B0609020204030204" pitchFamily="49" charset="0"/>
              </a:rPr>
              <a:t>-	</a:t>
            </a:r>
            <a:r>
              <a:rPr lang="en-US" sz="3600" b="1" dirty="0">
                <a:latin typeface="Consolas" panose="020B0609020204030204" pitchFamily="49" charset="0"/>
              </a:rPr>
              <a:t>pandas</a:t>
            </a:r>
            <a:r>
              <a:rPr lang="en-US" sz="3600" dirty="0">
                <a:latin typeface="Consolas" panose="020B0609020204030204" pitchFamily="49" charset="0"/>
              </a:rPr>
              <a:t>: For structured data handling (like tables, CSV files, Excel files).</a:t>
            </a:r>
          </a:p>
          <a:p>
            <a:pPr algn="just"/>
            <a:endParaRPr lang="en-US" sz="3600" dirty="0">
              <a:latin typeface="Consolas" panose="020B0609020204030204" pitchFamily="49" charset="0"/>
            </a:endParaRPr>
          </a:p>
          <a:p>
            <a:pPr algn="just"/>
            <a:r>
              <a:rPr lang="en-US" sz="3600" dirty="0">
                <a:latin typeface="Consolas" panose="020B0609020204030204" pitchFamily="49" charset="0"/>
              </a:rPr>
              <a:t>-	</a:t>
            </a:r>
            <a:r>
              <a:rPr lang="en-US" sz="3600" b="1" dirty="0">
                <a:latin typeface="Consolas" panose="020B0609020204030204" pitchFamily="49" charset="0"/>
              </a:rPr>
              <a:t>Matplotlib</a:t>
            </a:r>
            <a:r>
              <a:rPr lang="en-US" sz="3600" dirty="0">
                <a:latin typeface="Consolas" panose="020B0609020204030204" pitchFamily="49" charset="0"/>
              </a:rPr>
              <a:t>: For data visualization.</a:t>
            </a:r>
          </a:p>
          <a:p>
            <a:pPr algn="just"/>
            <a:endParaRPr lang="en-US" sz="3600" dirty="0">
              <a:latin typeface="Consolas" panose="020B0609020204030204" pitchFamily="49" charset="0"/>
            </a:endParaRPr>
          </a:p>
        </p:txBody>
      </p:sp>
      <p:pic>
        <p:nvPicPr>
          <p:cNvPr id="2050" name="Picture 2" descr="A Simple Walk-through with NumPy for Data Science - Neuraspike">
            <a:extLst>
              <a:ext uri="{FF2B5EF4-FFF2-40B4-BE49-F238E27FC236}">
                <a16:creationId xmlns:a16="http://schemas.microsoft.com/office/drawing/2014/main" id="{E3A38068-E16E-69D7-3542-D5CBB1A6EF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621823" y="4123223"/>
            <a:ext cx="1524000" cy="1524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2BCD2C7F-65B8-68F0-C25F-74745757E01C}"/>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752136" y="6689283"/>
            <a:ext cx="3263375" cy="132064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2CCF81E-4CFC-C882-4AFB-6A02A423A5F4}"/>
              </a:ext>
            </a:extLst>
          </p:cNvPr>
          <p:cNvPicPr>
            <a:picLocks noChangeAspect="1"/>
          </p:cNvPicPr>
          <p:nvPr/>
        </p:nvPicPr>
        <p:blipFill>
          <a:blip r:embed="rId9"/>
          <a:stretch>
            <a:fillRect/>
          </a:stretch>
        </p:blipFill>
        <p:spPr>
          <a:xfrm>
            <a:off x="10996189" y="6556845"/>
            <a:ext cx="2906169" cy="2906169"/>
          </a:xfrm>
          <a:prstGeom prst="rect">
            <a:avLst/>
          </a:prstGeom>
        </p:spPr>
      </p:pic>
    </p:spTree>
    <p:extLst>
      <p:ext uri="{BB962C8B-B14F-4D97-AF65-F5344CB8AC3E}">
        <p14:creationId xmlns:p14="http://schemas.microsoft.com/office/powerpoint/2010/main" val="297863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307926-D48C-5DD6-3C90-A3ADB7CFEA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69BF29D-94E0-46E1-C150-49E36B9ACF45}"/>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282F228C-9503-E8DC-4093-39B78DAEE6C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CBC081B3-EE1D-9706-2D6C-B13FFF3C2B7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0383FDF-284D-4550-A22A-8CC78559105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8A11F6E-2B6F-1465-DAD1-5C39C432C25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42D61C04-13F3-6E97-625D-EEE4D5063F9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7DE5BD5-D97B-638B-9361-8496E5753AF3}"/>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Use Cases of Python</a:t>
            </a:r>
          </a:p>
        </p:txBody>
      </p:sp>
      <p:sp>
        <p:nvSpPr>
          <p:cNvPr id="6" name="TextBox 5">
            <a:extLst>
              <a:ext uri="{FF2B5EF4-FFF2-40B4-BE49-F238E27FC236}">
                <a16:creationId xmlns:a16="http://schemas.microsoft.com/office/drawing/2014/main" id="{3F6BD8D3-DB6B-53FD-0DC3-77C831053ED5}"/>
              </a:ext>
            </a:extLst>
          </p:cNvPr>
          <p:cNvSpPr txBox="1"/>
          <p:nvPr/>
        </p:nvSpPr>
        <p:spPr>
          <a:xfrm>
            <a:off x="637059" y="2277070"/>
            <a:ext cx="16953563" cy="7848302"/>
          </a:xfrm>
          <a:prstGeom prst="rect">
            <a:avLst/>
          </a:prstGeom>
          <a:noFill/>
        </p:spPr>
        <p:txBody>
          <a:bodyPr wrap="square">
            <a:spAutoFit/>
          </a:bodyPr>
          <a:lstStyle/>
          <a:p>
            <a:pPr algn="just"/>
            <a:r>
              <a:rPr lang="en-US" sz="3600" b="1" dirty="0">
                <a:latin typeface="Consolas" panose="020B0609020204030204" pitchFamily="49" charset="0"/>
              </a:rPr>
              <a:t>3. Automation and Scripting</a:t>
            </a:r>
            <a:r>
              <a:rPr lang="en-US" sz="3600" dirty="0">
                <a:latin typeface="Consolas" panose="020B0609020204030204" pitchFamily="49" charset="0"/>
              </a:rPr>
              <a:t> - Python is excellent for automating repetitive tasks, also called scripting. It's commonly used for file operations, sending emails, renaming files, scraping websites, and more. </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4. Software Testing and Prototyping</a:t>
            </a:r>
            <a:r>
              <a:rPr lang="en-US" sz="3600" dirty="0">
                <a:latin typeface="Consolas" panose="020B0609020204030204" pitchFamily="49" charset="0"/>
              </a:rPr>
              <a:t> - Python is widely used in software development for writing test cases and quickly creating prototypes of applications.</a:t>
            </a:r>
          </a:p>
          <a:p>
            <a:pPr algn="just"/>
            <a:endParaRPr lang="en-US" sz="3600" dirty="0">
              <a:latin typeface="Consolas" panose="020B0609020204030204" pitchFamily="49" charset="0"/>
            </a:endParaRPr>
          </a:p>
          <a:p>
            <a:pPr algn="just"/>
            <a:r>
              <a:rPr lang="en-US" sz="3600" b="1" dirty="0">
                <a:latin typeface="Consolas" panose="020B0609020204030204" pitchFamily="49" charset="0"/>
              </a:rPr>
              <a:t>5.	IoT, Robotics, Game Development, and Cybersecurity</a:t>
            </a:r>
            <a:r>
              <a:rPr lang="en-US" sz="3600" dirty="0">
                <a:latin typeface="Consolas" panose="020B0609020204030204" pitchFamily="49" charset="0"/>
              </a:rPr>
              <a:t> - Python also extends into emerging and technical fields, offering tools for interacting with hardware, developing games, and building secure systems. For example, Raspberry Pi which is used to control sensors and devices.</a:t>
            </a:r>
          </a:p>
        </p:txBody>
      </p:sp>
    </p:spTree>
    <p:extLst>
      <p:ext uri="{BB962C8B-B14F-4D97-AF65-F5344CB8AC3E}">
        <p14:creationId xmlns:p14="http://schemas.microsoft.com/office/powerpoint/2010/main" val="3898221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4500F-117B-482B-F01D-3E534FAFBAB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CBF36C9-617B-C87F-824F-34410A2305B2}"/>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3BC01D9-6075-E1D7-E7A4-11EA9E52B5F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914D679-D0BF-720A-A9AF-2F668E85939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A8B11759-C790-D6AD-143B-0D0114EB64C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0C07CA7E-3D0B-878D-CA16-57CCAB8C0165}"/>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DDBFD0E-16A0-DDE9-C7EB-3B94D1AC9D4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4943944-C872-B1EA-252B-691326852539}"/>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 1: Match the concept</a:t>
            </a:r>
          </a:p>
        </p:txBody>
      </p:sp>
      <p:sp>
        <p:nvSpPr>
          <p:cNvPr id="10" name="AutoShape 8" descr="Grammarly Logo PNG Vector - BrandLogo">
            <a:extLst>
              <a:ext uri="{FF2B5EF4-FFF2-40B4-BE49-F238E27FC236}">
                <a16:creationId xmlns:a16="http://schemas.microsoft.com/office/drawing/2014/main" id="{BAF2E908-454B-C291-C64C-03FB8DFC22B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02960042-52AE-844F-A920-85E43281092D}"/>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aphicFrame>
        <p:nvGraphicFramePr>
          <p:cNvPr id="7" name="Table 6">
            <a:extLst>
              <a:ext uri="{FF2B5EF4-FFF2-40B4-BE49-F238E27FC236}">
                <a16:creationId xmlns:a16="http://schemas.microsoft.com/office/drawing/2014/main" id="{F5CC8FA0-3489-1E0D-ACDC-18350DB65313}"/>
              </a:ext>
            </a:extLst>
          </p:cNvPr>
          <p:cNvGraphicFramePr>
            <a:graphicFrameLocks noGrp="1"/>
          </p:cNvGraphicFramePr>
          <p:nvPr>
            <p:extLst>
              <p:ext uri="{D42A27DB-BD31-4B8C-83A1-F6EECF244321}">
                <p14:modId xmlns:p14="http://schemas.microsoft.com/office/powerpoint/2010/main" val="1206689694"/>
              </p:ext>
            </p:extLst>
          </p:nvPr>
        </p:nvGraphicFramePr>
        <p:xfrm>
          <a:off x="990600" y="2323921"/>
          <a:ext cx="14657705" cy="6582588"/>
        </p:xfrm>
        <a:graphic>
          <a:graphicData uri="http://schemas.openxmlformats.org/drawingml/2006/table">
            <a:tbl>
              <a:tblPr firstRow="1" firstCol="1" bandRow="1">
                <a:tableStyleId>{C4B1156A-380E-4F78-BDF5-A606A8083BF9}</a:tableStyleId>
              </a:tblPr>
              <a:tblGrid>
                <a:gridCol w="6556488">
                  <a:extLst>
                    <a:ext uri="{9D8B030D-6E8A-4147-A177-3AD203B41FA5}">
                      <a16:colId xmlns:a16="http://schemas.microsoft.com/office/drawing/2014/main" val="707646368"/>
                    </a:ext>
                  </a:extLst>
                </a:gridCol>
                <a:gridCol w="8101217">
                  <a:extLst>
                    <a:ext uri="{9D8B030D-6E8A-4147-A177-3AD203B41FA5}">
                      <a16:colId xmlns:a16="http://schemas.microsoft.com/office/drawing/2014/main" val="3189531351"/>
                    </a:ext>
                  </a:extLst>
                </a:gridCol>
              </a:tblGrid>
              <a:tr h="614930">
                <a:tc>
                  <a:txBody>
                    <a:bodyPr/>
                    <a:lstStyle/>
                    <a:p>
                      <a:pPr marL="0" marR="0" algn="ctr">
                        <a:buNone/>
                        <a:tabLst>
                          <a:tab pos="3917950" algn="l"/>
                        </a:tabLst>
                      </a:pPr>
                      <a:r>
                        <a:rPr lang="en-PH" sz="2800" kern="100" dirty="0">
                          <a:effectLst/>
                          <a:latin typeface="Consolas" panose="020B0609020204030204" pitchFamily="49" charset="0"/>
                        </a:rPr>
                        <a:t>Concept</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buNone/>
                        <a:tabLst>
                          <a:tab pos="3917950" algn="l"/>
                        </a:tabLst>
                      </a:pPr>
                      <a:r>
                        <a:rPr lang="en-PH" sz="2800" kern="100" dirty="0">
                          <a:effectLst/>
                          <a:latin typeface="Consolas" panose="020B0609020204030204" pitchFamily="49" charset="0"/>
                        </a:rPr>
                        <a:t>Definition</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3959657"/>
                  </a:ext>
                </a:extLst>
              </a:tr>
              <a:tr h="1167112">
                <a:tc>
                  <a:txBody>
                    <a:bodyPr/>
                    <a:lstStyle/>
                    <a:p>
                      <a:pPr marL="457200" marR="0" lvl="1" algn="just">
                        <a:buNone/>
                        <a:tabLst>
                          <a:tab pos="3917950" algn="l"/>
                        </a:tabLst>
                      </a:pPr>
                      <a:r>
                        <a:rPr lang="en-PH" sz="2800" b="0" kern="100" dirty="0">
                          <a:effectLst/>
                          <a:latin typeface="Consolas" panose="020B0609020204030204" pitchFamily="49" charset="0"/>
                        </a:rPr>
                        <a:t>1. Interpreted</a:t>
                      </a:r>
                      <a:endParaRPr lang="en-PH" sz="28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lgn="just">
                        <a:buNone/>
                        <a:tabLst>
                          <a:tab pos="3917950" algn="l"/>
                        </a:tabLst>
                      </a:pPr>
                      <a:r>
                        <a:rPr lang="en-PH" sz="2800" kern="100">
                          <a:effectLst/>
                          <a:latin typeface="Consolas" panose="020B0609020204030204" pitchFamily="49" charset="0"/>
                        </a:rPr>
                        <a:t>A. Variables do not need a declared type; their type is determined at runtime.</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48271631"/>
                  </a:ext>
                </a:extLst>
              </a:tr>
              <a:tr h="1167112">
                <a:tc>
                  <a:txBody>
                    <a:bodyPr/>
                    <a:lstStyle/>
                    <a:p>
                      <a:pPr marL="457200" marR="0" lvl="1" algn="just">
                        <a:buNone/>
                        <a:tabLst>
                          <a:tab pos="3917950" algn="l"/>
                        </a:tabLst>
                      </a:pPr>
                      <a:r>
                        <a:rPr lang="en-PH" sz="2800" b="0" kern="100" dirty="0">
                          <a:effectLst/>
                          <a:latin typeface="Consolas" panose="020B0609020204030204" pitchFamily="49" charset="0"/>
                        </a:rPr>
                        <a:t>2. Dynamic Typing</a:t>
                      </a:r>
                      <a:endParaRPr lang="en-PH" sz="28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lgn="just">
                        <a:buNone/>
                        <a:tabLst>
                          <a:tab pos="3917950" algn="l"/>
                        </a:tabLst>
                      </a:pPr>
                      <a:r>
                        <a:rPr lang="en-PH" sz="2800" kern="100" dirty="0">
                          <a:effectLst/>
                          <a:latin typeface="Consolas" panose="020B0609020204030204" pitchFamily="49" charset="0"/>
                        </a:rPr>
                        <a:t>B. Code is close to human language and hides low-level system details.</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19130854"/>
                  </a:ext>
                </a:extLst>
              </a:tr>
              <a:tr h="1167112">
                <a:tc>
                  <a:txBody>
                    <a:bodyPr/>
                    <a:lstStyle/>
                    <a:p>
                      <a:pPr marL="457200" marR="0" lvl="1" algn="just">
                        <a:buNone/>
                        <a:tabLst>
                          <a:tab pos="3917950" algn="l"/>
                        </a:tabLst>
                      </a:pPr>
                      <a:r>
                        <a:rPr lang="en-PH" sz="2800" b="0" kern="100" dirty="0">
                          <a:effectLst/>
                          <a:latin typeface="Consolas" panose="020B0609020204030204" pitchFamily="49" charset="0"/>
                        </a:rPr>
                        <a:t>3. High-Level Language</a:t>
                      </a:r>
                      <a:endParaRPr lang="en-PH" sz="28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lgn="just">
                        <a:buNone/>
                        <a:tabLst>
                          <a:tab pos="3917950" algn="l"/>
                        </a:tabLst>
                      </a:pPr>
                      <a:r>
                        <a:rPr lang="en-PH" sz="2800" kern="100" dirty="0">
                          <a:effectLst/>
                          <a:latin typeface="Consolas" panose="020B0609020204030204" pitchFamily="49" charset="0"/>
                        </a:rPr>
                        <a:t>C. The program is executed line by line rather than compiled beforehand.</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473281961"/>
                  </a:ext>
                </a:extLst>
              </a:tr>
              <a:tr h="1167112">
                <a:tc>
                  <a:txBody>
                    <a:bodyPr/>
                    <a:lstStyle/>
                    <a:p>
                      <a:pPr marL="457200" marR="0" lvl="1" algn="just">
                        <a:buNone/>
                        <a:tabLst>
                          <a:tab pos="3917950" algn="l"/>
                        </a:tabLst>
                      </a:pPr>
                      <a:r>
                        <a:rPr lang="en-PH" sz="2800" b="0" kern="100" dirty="0">
                          <a:effectLst/>
                          <a:latin typeface="Consolas" panose="020B0609020204030204" pitchFamily="49" charset="0"/>
                        </a:rPr>
                        <a:t>4. Object-Oriented</a:t>
                      </a:r>
                      <a:endParaRPr lang="en-PH" sz="28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lgn="just">
                        <a:buNone/>
                        <a:tabLst>
                          <a:tab pos="3917950" algn="l"/>
                        </a:tabLst>
                      </a:pPr>
                      <a:r>
                        <a:rPr lang="en-PH" sz="2800" kern="100" dirty="0">
                          <a:effectLst/>
                          <a:latin typeface="Consolas" panose="020B0609020204030204" pitchFamily="49" charset="0"/>
                        </a:rPr>
                        <a:t>D. Uses functions as building blocks and treats them as data.</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493234246"/>
                  </a:ext>
                </a:extLst>
              </a:tr>
              <a:tr h="1167112">
                <a:tc>
                  <a:txBody>
                    <a:bodyPr/>
                    <a:lstStyle/>
                    <a:p>
                      <a:pPr marL="457200" marR="0" lvl="1" algn="just">
                        <a:buNone/>
                        <a:tabLst>
                          <a:tab pos="3917950" algn="l"/>
                        </a:tabLst>
                      </a:pPr>
                      <a:r>
                        <a:rPr lang="en-PH" sz="2800" b="0" kern="100" dirty="0">
                          <a:effectLst/>
                          <a:latin typeface="Consolas" panose="020B0609020204030204" pitchFamily="49" charset="0"/>
                        </a:rPr>
                        <a:t>5. Functional Programming</a:t>
                      </a:r>
                      <a:endParaRPr lang="en-PH" sz="28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lgn="just">
                        <a:buNone/>
                        <a:tabLst>
                          <a:tab pos="3917950" algn="l"/>
                        </a:tabLst>
                      </a:pPr>
                      <a:r>
                        <a:rPr lang="en-PH" sz="2800" kern="100" dirty="0">
                          <a:effectLst/>
                          <a:latin typeface="Consolas" panose="020B0609020204030204" pitchFamily="49" charset="0"/>
                        </a:rPr>
                        <a:t>E. Organizes code using objects that contain data and behavior.</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26066750"/>
                  </a:ext>
                </a:extLst>
              </a:tr>
            </a:tbl>
          </a:graphicData>
        </a:graphic>
      </p:graphicFrame>
    </p:spTree>
    <p:extLst>
      <p:ext uri="{BB962C8B-B14F-4D97-AF65-F5344CB8AC3E}">
        <p14:creationId xmlns:p14="http://schemas.microsoft.com/office/powerpoint/2010/main" val="1744433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27DF5-74B9-6DDE-70B6-527B451B4B4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4C0A57A-1E51-2BE3-9D49-6E1870C1A127}"/>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BFDD237-A471-763C-6E7E-7D274A80527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E6B866E5-50E4-6B96-2609-D03118EA144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6F1AAAF-A40F-2B08-4561-5201F63AC69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47D5F51-F2E3-1D56-E19B-AC86381DAAF4}"/>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FF2CB19-E401-D7C0-CE02-CB2AFE3824FA}"/>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705EEBF-9CA4-E41E-80F2-5625018176EB}"/>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Assessment</a:t>
            </a:r>
          </a:p>
        </p:txBody>
      </p:sp>
      <p:sp>
        <p:nvSpPr>
          <p:cNvPr id="10" name="AutoShape 8" descr="Grammarly Logo PNG Vector - BrandLogo">
            <a:extLst>
              <a:ext uri="{FF2B5EF4-FFF2-40B4-BE49-F238E27FC236}">
                <a16:creationId xmlns:a16="http://schemas.microsoft.com/office/drawing/2014/main" id="{6153C52B-AB29-AD63-904E-C1B032154EC6}"/>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FB0F8AD2-65C4-AB18-A78E-7F7F131B0B7A}"/>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aphicFrame>
        <p:nvGraphicFramePr>
          <p:cNvPr id="8" name="Table 7">
            <a:extLst>
              <a:ext uri="{FF2B5EF4-FFF2-40B4-BE49-F238E27FC236}">
                <a16:creationId xmlns:a16="http://schemas.microsoft.com/office/drawing/2014/main" id="{5A7C8B41-009A-77C1-0C07-13434BEEEC4D}"/>
              </a:ext>
            </a:extLst>
          </p:cNvPr>
          <p:cNvGraphicFramePr>
            <a:graphicFrameLocks noGrp="1"/>
          </p:cNvGraphicFramePr>
          <p:nvPr>
            <p:extLst>
              <p:ext uri="{D42A27DB-BD31-4B8C-83A1-F6EECF244321}">
                <p14:modId xmlns:p14="http://schemas.microsoft.com/office/powerpoint/2010/main" val="2479394096"/>
              </p:ext>
            </p:extLst>
          </p:nvPr>
        </p:nvGraphicFramePr>
        <p:xfrm>
          <a:off x="381992" y="2130433"/>
          <a:ext cx="17448808" cy="8010541"/>
        </p:xfrm>
        <a:graphic>
          <a:graphicData uri="http://schemas.openxmlformats.org/drawingml/2006/table">
            <a:tbl>
              <a:tblPr firstRow="1" firstCol="1" bandRow="1">
                <a:tableStyleId>{C4B1156A-380E-4F78-BDF5-A606A8083BF9}</a:tableStyleId>
              </a:tblPr>
              <a:tblGrid>
                <a:gridCol w="3474668">
                  <a:extLst>
                    <a:ext uri="{9D8B030D-6E8A-4147-A177-3AD203B41FA5}">
                      <a16:colId xmlns:a16="http://schemas.microsoft.com/office/drawing/2014/main" val="1897324759"/>
                    </a:ext>
                  </a:extLst>
                </a:gridCol>
                <a:gridCol w="947637">
                  <a:extLst>
                    <a:ext uri="{9D8B030D-6E8A-4147-A177-3AD203B41FA5}">
                      <a16:colId xmlns:a16="http://schemas.microsoft.com/office/drawing/2014/main" val="2472613483"/>
                    </a:ext>
                  </a:extLst>
                </a:gridCol>
                <a:gridCol w="13026503">
                  <a:extLst>
                    <a:ext uri="{9D8B030D-6E8A-4147-A177-3AD203B41FA5}">
                      <a16:colId xmlns:a16="http://schemas.microsoft.com/office/drawing/2014/main" val="3593514700"/>
                    </a:ext>
                  </a:extLst>
                </a:gridCol>
              </a:tblGrid>
              <a:tr h="674372">
                <a:tc gridSpan="3">
                  <a:txBody>
                    <a:bodyPr/>
                    <a:lstStyle/>
                    <a:p>
                      <a:pPr marL="0" marR="0" lvl="0" indent="0" algn="just">
                        <a:buSzPts val="1100"/>
                        <a:buFont typeface="+mj-lt"/>
                        <a:buNone/>
                      </a:pPr>
                      <a:r>
                        <a:rPr lang="en-US" sz="2400" dirty="0">
                          <a:effectLst/>
                          <a:latin typeface="Consolas" panose="020B0609020204030204" pitchFamily="49" charset="0"/>
                        </a:rPr>
                        <a:t>Identification: Write the correct answer in the space provided. </a:t>
                      </a:r>
                      <a:endParaRPr lang="en-PH" sz="24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2766286709"/>
                  </a:ext>
                </a:extLst>
              </a:tr>
              <a:tr h="674372">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dirty="0">
                          <a:effectLst/>
                          <a:latin typeface="Consolas" panose="020B0609020204030204" pitchFamily="49" charset="0"/>
                        </a:rPr>
                        <a:t>1.</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0" marR="0" algn="l">
                        <a:lnSpc>
                          <a:spcPct val="115000"/>
                        </a:lnSpc>
                        <a:buNone/>
                      </a:pPr>
                      <a:r>
                        <a:rPr lang="en-PH" sz="2800" kern="0" dirty="0">
                          <a:effectLst/>
                          <a:latin typeface="Consolas" panose="020B0609020204030204" pitchFamily="49" charset="0"/>
                        </a:rPr>
                        <a:t>Python was created by ___________________.</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2964888412"/>
                  </a:ext>
                </a:extLst>
              </a:tr>
              <a:tr h="857030">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2.</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2540" marR="0" algn="l">
                        <a:buNone/>
                      </a:pPr>
                      <a:r>
                        <a:rPr lang="en-US" sz="2800" kern="0" dirty="0">
                          <a:effectLst/>
                          <a:latin typeface="Consolas" panose="020B0609020204030204" pitchFamily="49" charset="0"/>
                        </a:rPr>
                        <a:t>A lightweight framework that gives developers more control and flexibility</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2611429980"/>
                  </a:ext>
                </a:extLst>
              </a:tr>
              <a:tr h="857030">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3.</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0" marR="0" indent="0" algn="l">
                        <a:buNone/>
                      </a:pPr>
                      <a:r>
                        <a:rPr lang="en-US" sz="2800" kern="0" dirty="0">
                          <a:effectLst/>
                          <a:latin typeface="Consolas" panose="020B0609020204030204" pitchFamily="49" charset="0"/>
                        </a:rPr>
                        <a:t>Python executes code line by line which makes it a/an ____________ language.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4119067385"/>
                  </a:ext>
                </a:extLst>
              </a:tr>
              <a:tr h="674372">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4.</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l">
                        <a:buNone/>
                      </a:pPr>
                      <a:r>
                        <a:rPr lang="en-US" sz="2800" kern="0" dirty="0">
                          <a:effectLst/>
                          <a:latin typeface="Consolas" panose="020B0609020204030204" pitchFamily="49" charset="0"/>
                        </a:rPr>
                        <a:t>It is used for numerical computing and array manipulation.</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621298853"/>
                  </a:ext>
                </a:extLst>
              </a:tr>
              <a:tr h="674372">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5.</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l">
                        <a:buNone/>
                      </a:pPr>
                      <a:r>
                        <a:rPr lang="en-US" sz="2800" kern="0">
                          <a:effectLst/>
                          <a:latin typeface="Consolas" panose="020B0609020204030204" pitchFamily="49" charset="0"/>
                        </a:rPr>
                        <a:t>It </a:t>
                      </a:r>
                      <a:r>
                        <a:rPr lang="en-PH" sz="2800" kern="0">
                          <a:effectLst/>
                          <a:latin typeface="Consolas" panose="020B0609020204030204" pitchFamily="49" charset="0"/>
                        </a:rPr>
                        <a:t>would be most useful for creating graphs and visualizations.</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026440429"/>
                  </a:ext>
                </a:extLst>
              </a:tr>
              <a:tr h="674372">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6.</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l">
                        <a:buNone/>
                      </a:pPr>
                      <a:r>
                        <a:rPr lang="en-US" sz="2800" kern="0" dirty="0">
                          <a:effectLst/>
                          <a:latin typeface="Consolas" panose="020B0609020204030204" pitchFamily="49" charset="0"/>
                        </a:rPr>
                        <a:t>True or False: </a:t>
                      </a:r>
                      <a:r>
                        <a:rPr lang="en-PH" sz="2800" kern="0" dirty="0">
                          <a:effectLst/>
                          <a:latin typeface="Consolas" panose="020B0609020204030204" pitchFamily="49" charset="0"/>
                        </a:rPr>
                        <a:t>Variable types are assigned at runtime.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4025543725"/>
                  </a:ext>
                </a:extLst>
              </a:tr>
              <a:tr h="857030">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7.</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2540" marR="0" indent="-2540" algn="l">
                        <a:buNone/>
                      </a:pPr>
                      <a:r>
                        <a:rPr lang="en-US" sz="2800" kern="0" dirty="0">
                          <a:effectLst/>
                          <a:latin typeface="Consolas" panose="020B0609020204030204" pitchFamily="49" charset="0"/>
                        </a:rPr>
                        <a:t>True or False: </a:t>
                      </a:r>
                      <a:r>
                        <a:rPr lang="en-PH" sz="2800" kern="0" dirty="0">
                          <a:effectLst/>
                          <a:latin typeface="Consolas" panose="020B0609020204030204" pitchFamily="49" charset="0"/>
                        </a:rPr>
                        <a:t>High-level languages allow writing programs closer to machine language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387625594"/>
                  </a:ext>
                </a:extLst>
              </a:tr>
              <a:tr h="674372">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8.</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l">
                        <a:buNone/>
                      </a:pPr>
                      <a:r>
                        <a:rPr lang="en-US" sz="2800" kern="0" dirty="0">
                          <a:effectLst/>
                          <a:latin typeface="Consolas" panose="020B0609020204030204" pitchFamily="49" charset="0"/>
                        </a:rPr>
                        <a:t>True or False: </a:t>
                      </a:r>
                      <a:r>
                        <a:rPr lang="en-PH" sz="2800" kern="0" dirty="0">
                          <a:effectLst/>
                          <a:latin typeface="Consolas" panose="020B0609020204030204" pitchFamily="49" charset="0"/>
                        </a:rPr>
                        <a:t>Python is a statically typed language.</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1856244258"/>
                  </a:ext>
                </a:extLst>
              </a:tr>
              <a:tr h="674372">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9.</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l">
                        <a:buNone/>
                      </a:pPr>
                      <a:r>
                        <a:rPr lang="en-US" sz="2800" kern="0" dirty="0">
                          <a:effectLst/>
                          <a:latin typeface="Consolas" panose="020B0609020204030204" pitchFamily="49" charset="0"/>
                        </a:rPr>
                        <a:t>True or False: Python supports multiple programming paradigms.</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1327336752"/>
                  </a:ext>
                </a:extLst>
              </a:tr>
              <a:tr h="674372">
                <a:tc>
                  <a:txBody>
                    <a:bodyPr/>
                    <a:lstStyle/>
                    <a:p>
                      <a:pPr marL="1758315" marR="0" indent="-1758315" algn="just">
                        <a:buNone/>
                      </a:pPr>
                      <a:endParaRPr lang="en-PH" sz="2800" b="0" kern="100" dirty="0">
                        <a:solidFill>
                          <a:schemeClr val="bg1"/>
                        </a:solidFill>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10.</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l">
                        <a:buNone/>
                      </a:pPr>
                      <a:r>
                        <a:rPr lang="en-PH" sz="2800" kern="0" dirty="0">
                          <a:effectLst/>
                          <a:latin typeface="Consolas" panose="020B0609020204030204" pitchFamily="49" charset="0"/>
                        </a:rPr>
                        <a:t>Flask is used for data visualization.</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601158491"/>
                  </a:ext>
                </a:extLst>
              </a:tr>
            </a:tbl>
          </a:graphicData>
        </a:graphic>
      </p:graphicFrame>
      <p:sp>
        <p:nvSpPr>
          <p:cNvPr id="9" name="Rectangle 8">
            <a:extLst>
              <a:ext uri="{FF2B5EF4-FFF2-40B4-BE49-F238E27FC236}">
                <a16:creationId xmlns:a16="http://schemas.microsoft.com/office/drawing/2014/main" id="{68EBE2CA-E33C-1F36-A2CD-5DEC4EF26822}"/>
              </a:ext>
            </a:extLst>
          </p:cNvPr>
          <p:cNvSpPr/>
          <p:nvPr/>
        </p:nvSpPr>
        <p:spPr>
          <a:xfrm>
            <a:off x="304800" y="3009900"/>
            <a:ext cx="4419600" cy="68002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lnSpc>
                <a:spcPts val="5800"/>
              </a:lnSpc>
            </a:pPr>
            <a:r>
              <a:rPr lang="en-US" sz="3100" dirty="0">
                <a:solidFill>
                  <a:schemeClr val="tx1"/>
                </a:solidFill>
                <a:latin typeface="Consolas" panose="020B0609020204030204" pitchFamily="49" charset="0"/>
              </a:rPr>
              <a:t>Guido van Rossum</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Flask</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interpreted</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NumPy</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Matplotlib</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True</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False</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False</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True</a:t>
            </a:r>
            <a:endParaRPr lang="en-PH" sz="3100" dirty="0">
              <a:solidFill>
                <a:schemeClr val="tx1"/>
              </a:solidFill>
              <a:latin typeface="Consolas" panose="020B0609020204030204" pitchFamily="49" charset="0"/>
            </a:endParaRPr>
          </a:p>
          <a:p>
            <a:pPr fontAlgn="ctr">
              <a:lnSpc>
                <a:spcPts val="5800"/>
              </a:lnSpc>
            </a:pPr>
            <a:r>
              <a:rPr lang="en-US" sz="3100" dirty="0">
                <a:solidFill>
                  <a:schemeClr val="tx1"/>
                </a:solidFill>
                <a:latin typeface="Consolas" panose="020B0609020204030204" pitchFamily="49" charset="0"/>
              </a:rPr>
              <a:t>False</a:t>
            </a:r>
            <a:endParaRPr lang="en-PH" sz="31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877554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FEB31-4ECA-64E4-F44E-D29BBCF89E2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A44D38C-C343-EA5F-91DB-3D33E6FB4978}"/>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7172D589-EE30-393B-AA17-D6448EF119B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997A3090-95FF-ED21-7A26-7161C8A1C3B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FC9F46E-63F8-432B-329E-7ABCCEB6270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B5B9781-AC04-8538-2906-649A9BA070F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78335449-C9B3-2EEF-EBDB-882449B51BA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1D8FBA1E-88EF-0D5F-A65D-7CA7B75FA79F}"/>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Generalization</a:t>
            </a:r>
          </a:p>
        </p:txBody>
      </p:sp>
      <p:sp>
        <p:nvSpPr>
          <p:cNvPr id="6" name="TextBox 5">
            <a:extLst>
              <a:ext uri="{FF2B5EF4-FFF2-40B4-BE49-F238E27FC236}">
                <a16:creationId xmlns:a16="http://schemas.microsoft.com/office/drawing/2014/main" id="{9EB8A3EC-B44C-596E-9B72-AC58FF3BF779}"/>
              </a:ext>
            </a:extLst>
          </p:cNvPr>
          <p:cNvSpPr txBox="1"/>
          <p:nvPr/>
        </p:nvSpPr>
        <p:spPr>
          <a:xfrm>
            <a:off x="637059" y="2277070"/>
            <a:ext cx="16953563" cy="3970318"/>
          </a:xfrm>
          <a:prstGeom prst="rect">
            <a:avLst/>
          </a:prstGeom>
          <a:noFill/>
        </p:spPr>
        <p:txBody>
          <a:bodyPr wrap="square">
            <a:spAutoFit/>
          </a:bodyPr>
          <a:lstStyle/>
          <a:p>
            <a:pPr marL="742950" lvl="0" indent="-742950">
              <a:buFont typeface="+mj-lt"/>
              <a:buAutoNum type="arabicPeriod"/>
            </a:pPr>
            <a:r>
              <a:rPr lang="en-PH" sz="3600" dirty="0">
                <a:latin typeface="Consolas" panose="020B0609020204030204" pitchFamily="49" charset="0"/>
              </a:rPr>
              <a:t>What kind of programming language is Python—compiled or interpreted?</a:t>
            </a:r>
          </a:p>
          <a:p>
            <a:pPr marL="742950" lvl="0" indent="-742950">
              <a:buFont typeface="+mj-lt"/>
              <a:buAutoNum type="arabicPeriod"/>
            </a:pPr>
            <a:r>
              <a:rPr lang="en-PH" sz="3600" dirty="0">
                <a:latin typeface="Consolas" panose="020B0609020204030204" pitchFamily="49" charset="0"/>
              </a:rPr>
              <a:t>Why is Python often described as a "high-level" language?</a:t>
            </a:r>
          </a:p>
          <a:p>
            <a:pPr marL="742950" lvl="0" indent="-742950">
              <a:buFont typeface="+mj-lt"/>
              <a:buAutoNum type="arabicPeriod"/>
            </a:pPr>
            <a:r>
              <a:rPr lang="en-PH" sz="3600" dirty="0">
                <a:latin typeface="Consolas" panose="020B0609020204030204" pitchFamily="49" charset="0"/>
              </a:rPr>
              <a:t>In what ways does Python support multiple programming paradigms?</a:t>
            </a:r>
          </a:p>
          <a:p>
            <a:pPr marL="742950" lvl="0" indent="-742950">
              <a:buFont typeface="+mj-lt"/>
              <a:buAutoNum type="arabicPeriod"/>
            </a:pPr>
            <a:r>
              <a:rPr lang="en-PH" sz="3600" dirty="0">
                <a:latin typeface="Consolas" panose="020B0609020204030204" pitchFamily="49" charset="0"/>
              </a:rPr>
              <a:t>How does dynamic typing in Python affect how we declare variables?</a:t>
            </a:r>
          </a:p>
        </p:txBody>
      </p:sp>
    </p:spTree>
    <p:extLst>
      <p:ext uri="{BB962C8B-B14F-4D97-AF65-F5344CB8AC3E}">
        <p14:creationId xmlns:p14="http://schemas.microsoft.com/office/powerpoint/2010/main" val="39203305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F642-3017-5F6E-A0E2-943CC9CD2BD8}"/>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00E9BBF0-08AE-B30C-E4D7-8AB62A99EE48}"/>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6FE7A7F6-60E2-C8F7-C4D1-98E34D2B1E5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87EDB2D6-6E8D-5300-9748-7C558B548C43}"/>
              </a:ext>
            </a:extLst>
          </p:cNvPr>
          <p:cNvSpPr txBox="1"/>
          <p:nvPr/>
        </p:nvSpPr>
        <p:spPr>
          <a:xfrm>
            <a:off x="1144875" y="4404386"/>
            <a:ext cx="15998250" cy="1478225"/>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1.2: Why Learn Python</a:t>
            </a:r>
          </a:p>
        </p:txBody>
      </p:sp>
      <p:grpSp>
        <p:nvGrpSpPr>
          <p:cNvPr id="34" name="Group 13">
            <a:extLst>
              <a:ext uri="{FF2B5EF4-FFF2-40B4-BE49-F238E27FC236}">
                <a16:creationId xmlns:a16="http://schemas.microsoft.com/office/drawing/2014/main" id="{0C732031-8891-D8B5-C017-55C2A1C8F739}"/>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BA01E7F3-35A4-6CB0-FF4E-B3C45DEF67B2}"/>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16E26679-3943-1055-3559-853EA327B75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1AF9954C-8684-9D7C-6CA9-09F4597D33A1}"/>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E5C98B65-55EE-F91B-9AE8-6601ADD3FB49}"/>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3ED0CDD5-9756-28EE-4324-78A5B9462873}"/>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D8E8CC95-B2A4-F32A-2B65-627830DB08C1}"/>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F75B971D-9DF6-8BCA-859E-519CB8C0BDA2}"/>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CAA78368-8062-F6FD-FDFB-4DA23292052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C0531539-4A1F-5BFA-CED8-66A87DA8F6B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37181F9C-9CA7-9472-0F92-603F37DABFE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560800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99A07-BB20-FAE6-278D-241F3B7D10E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371C2FC-8732-0B8E-A9A7-26F87D4946E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249B777E-C45B-95D2-9889-9E8C4DF2238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9C68215-D827-151C-A9FC-82F0C1CF93B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9F170193-023D-DD67-E40A-40C1CCCFB41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36253BB-B5C3-D325-AEAA-C986390A767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3AFD4AA-93B1-BF5D-3005-91E184DD364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21550E20-F196-39F6-2E1F-BCDDBE68E69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Preliminary Activity: “Think-Pair-Share”</a:t>
            </a:r>
          </a:p>
        </p:txBody>
      </p:sp>
      <p:sp>
        <p:nvSpPr>
          <p:cNvPr id="24" name="TextBox 23">
            <a:extLst>
              <a:ext uri="{FF2B5EF4-FFF2-40B4-BE49-F238E27FC236}">
                <a16:creationId xmlns:a16="http://schemas.microsoft.com/office/drawing/2014/main" id="{D14E20BD-2C96-7A4C-0211-DCF0ADC77D2A}"/>
              </a:ext>
            </a:extLst>
          </p:cNvPr>
          <p:cNvSpPr txBox="1"/>
          <p:nvPr/>
        </p:nvSpPr>
        <p:spPr>
          <a:xfrm>
            <a:off x="637059" y="2277070"/>
            <a:ext cx="16953563" cy="4401205"/>
          </a:xfrm>
          <a:prstGeom prst="rect">
            <a:avLst/>
          </a:prstGeom>
          <a:noFill/>
        </p:spPr>
        <p:txBody>
          <a:bodyPr wrap="square">
            <a:spAutoFit/>
          </a:bodyPr>
          <a:lstStyle/>
          <a:p>
            <a:pPr algn="just"/>
            <a:r>
              <a:rPr lang="en-US" sz="4000" dirty="0">
                <a:latin typeface="Consolas" panose="020B0609020204030204" pitchFamily="49" charset="0"/>
              </a:rPr>
              <a:t>Instructions:</a:t>
            </a:r>
          </a:p>
          <a:p>
            <a:pPr algn="just"/>
            <a:endParaRPr lang="en-US" sz="4000" dirty="0">
              <a:latin typeface="Consolas" panose="020B0609020204030204" pitchFamily="49" charset="0"/>
            </a:endParaRPr>
          </a:p>
          <a:p>
            <a:pPr algn="just"/>
            <a:r>
              <a:rPr lang="en-US" sz="4000" dirty="0">
                <a:latin typeface="Consolas" panose="020B0609020204030204" pitchFamily="49" charset="0"/>
              </a:rPr>
              <a:t>1. Think silently for 3 minutes.</a:t>
            </a:r>
          </a:p>
          <a:p>
            <a:pPr algn="just"/>
            <a:r>
              <a:rPr lang="en-US" sz="4000" dirty="0">
                <a:latin typeface="Consolas" panose="020B0609020204030204" pitchFamily="49" charset="0"/>
              </a:rPr>
              <a:t>2. Pair with a seatmate and share your ideas.</a:t>
            </a:r>
          </a:p>
          <a:p>
            <a:pPr algn="just"/>
            <a:endParaRPr lang="en-US" sz="4000" dirty="0">
              <a:latin typeface="Consolas" panose="020B0609020204030204" pitchFamily="49" charset="0"/>
            </a:endParaRPr>
          </a:p>
          <a:p>
            <a:pPr algn="just"/>
            <a:r>
              <a:rPr lang="en-US" sz="4000" dirty="0">
                <a:latin typeface="Consolas" panose="020B0609020204030204" pitchFamily="49" charset="0"/>
              </a:rPr>
              <a:t>Question: Why do you think some programming languages are easier to learn and more popular than others?</a:t>
            </a:r>
          </a:p>
        </p:txBody>
      </p:sp>
    </p:spTree>
    <p:extLst>
      <p:ext uri="{BB962C8B-B14F-4D97-AF65-F5344CB8AC3E}">
        <p14:creationId xmlns:p14="http://schemas.microsoft.com/office/powerpoint/2010/main" val="21002849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0063C-6FCD-A55E-1151-F00E0E0B675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3FA4FAC-804A-7985-5B36-CE34B84221F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3A443078-C78B-6615-776C-E41F0CD70CD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182C0488-3AC3-7183-5203-37D8FCFE506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A465D23-8751-F3B2-11B8-3AC519C6C16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57F01CAA-2FFE-D68F-3158-60DDF57259F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430D1B1-5984-C5FB-0879-2CD05AD8EC3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628B658-BE6F-6A57-573B-7F439416BA58}"/>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Why Python?</a:t>
            </a:r>
          </a:p>
        </p:txBody>
      </p:sp>
      <p:sp>
        <p:nvSpPr>
          <p:cNvPr id="24" name="TextBox 23">
            <a:extLst>
              <a:ext uri="{FF2B5EF4-FFF2-40B4-BE49-F238E27FC236}">
                <a16:creationId xmlns:a16="http://schemas.microsoft.com/office/drawing/2014/main" id="{4C1C83F0-3E0F-5162-BBEF-7308154B803A}"/>
              </a:ext>
            </a:extLst>
          </p:cNvPr>
          <p:cNvSpPr txBox="1"/>
          <p:nvPr/>
        </p:nvSpPr>
        <p:spPr>
          <a:xfrm>
            <a:off x="637059" y="2277070"/>
            <a:ext cx="16953563" cy="6494085"/>
          </a:xfrm>
          <a:prstGeom prst="rect">
            <a:avLst/>
          </a:prstGeom>
          <a:noFill/>
        </p:spPr>
        <p:txBody>
          <a:bodyPr wrap="square">
            <a:spAutoFit/>
          </a:bodyPr>
          <a:lstStyle/>
          <a:p>
            <a:pPr algn="just"/>
            <a:r>
              <a:rPr lang="en-US" sz="3200" dirty="0">
                <a:latin typeface="Consolas" panose="020B0609020204030204" pitchFamily="49" charset="0"/>
              </a:rPr>
              <a:t>Python has become one of the most popular programming languages in the world and not just by chance. Its rise in popularity is backed by strong practical, technical, and economic reasons that make it a top choice for students, educators, developers, and major tech companies. Here are some reasons why:</a:t>
            </a:r>
          </a:p>
          <a:p>
            <a:pPr algn="just"/>
            <a:endParaRPr lang="en-US" sz="3200" dirty="0">
              <a:latin typeface="Consolas" panose="020B0609020204030204" pitchFamily="49" charset="0"/>
            </a:endParaRPr>
          </a:p>
          <a:p>
            <a:pPr algn="just"/>
            <a:r>
              <a:rPr lang="en-US" sz="3200" b="1" dirty="0">
                <a:latin typeface="Consolas" panose="020B0609020204030204" pitchFamily="49" charset="0"/>
              </a:rPr>
              <a:t>1. Beginner-friendly</a:t>
            </a:r>
            <a:r>
              <a:rPr lang="en-US" sz="3200" dirty="0">
                <a:latin typeface="Consolas" panose="020B0609020204030204" pitchFamily="49" charset="0"/>
              </a:rPr>
              <a:t> - Python is known for its clear and readable syntax. You don’t need to memorize complex rules or structures just to write your first program. It reads almost like English, making it easier to understand what each line of code does.</a:t>
            </a:r>
          </a:p>
          <a:p>
            <a:pPr algn="just"/>
            <a:endParaRPr lang="en-US" sz="3200" dirty="0">
              <a:latin typeface="Consolas" panose="020B0609020204030204" pitchFamily="49" charset="0"/>
            </a:endParaRPr>
          </a:p>
          <a:p>
            <a:pPr algn="just"/>
            <a:r>
              <a:rPr lang="en-US" sz="3200" dirty="0">
                <a:latin typeface="Consolas" panose="020B0609020204030204" pitchFamily="49" charset="0"/>
              </a:rPr>
              <a:t>For example: Python simply executes the command and prints the message. No semicolons, no class definitions, no main() function required.</a:t>
            </a:r>
          </a:p>
        </p:txBody>
      </p:sp>
      <p:pic>
        <p:nvPicPr>
          <p:cNvPr id="6" name="Picture 5" descr="A grey background with yellow text&#10;&#10;AI-generated content may be incorrect.">
            <a:extLst>
              <a:ext uri="{FF2B5EF4-FFF2-40B4-BE49-F238E27FC236}">
                <a16:creationId xmlns:a16="http://schemas.microsoft.com/office/drawing/2014/main" id="{EFE473AE-27C4-1C58-CC82-C2587216CA7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49993" y="8686800"/>
            <a:ext cx="8294863" cy="1174425"/>
          </a:xfrm>
          <a:prstGeom prst="rect">
            <a:avLst/>
          </a:prstGeom>
        </p:spPr>
      </p:pic>
    </p:spTree>
    <p:extLst>
      <p:ext uri="{BB962C8B-B14F-4D97-AF65-F5344CB8AC3E}">
        <p14:creationId xmlns:p14="http://schemas.microsoft.com/office/powerpoint/2010/main" val="90350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6B561-7F9C-6E96-28E0-8F08F087BC6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88B5B9F-4B8E-C858-FA2E-D240CC25A08D}"/>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D285A45B-836F-BD68-9B27-BDAFD02CF7B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74759807-5B71-45A1-D2E7-12466D21FF8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32C610F3-F76E-38A5-1E6B-45DE03D23DC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17F2F2DC-94FC-45AC-FB20-D70D10226CB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FEF276B-F06A-0B47-748D-E89B04FDB59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E8944B13-DCF9-4D63-71E3-9BACC2BB106B}"/>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Why Python?</a:t>
            </a:r>
          </a:p>
        </p:txBody>
      </p:sp>
      <p:sp>
        <p:nvSpPr>
          <p:cNvPr id="24" name="TextBox 23">
            <a:extLst>
              <a:ext uri="{FF2B5EF4-FFF2-40B4-BE49-F238E27FC236}">
                <a16:creationId xmlns:a16="http://schemas.microsoft.com/office/drawing/2014/main" id="{38F51CBE-1DA1-E9C4-8F3D-6F60DA0B093B}"/>
              </a:ext>
            </a:extLst>
          </p:cNvPr>
          <p:cNvSpPr txBox="1"/>
          <p:nvPr/>
        </p:nvSpPr>
        <p:spPr>
          <a:xfrm>
            <a:off x="637059" y="2277070"/>
            <a:ext cx="16953563" cy="2800767"/>
          </a:xfrm>
          <a:prstGeom prst="rect">
            <a:avLst/>
          </a:prstGeom>
          <a:noFill/>
        </p:spPr>
        <p:txBody>
          <a:bodyPr wrap="square">
            <a:spAutoFit/>
          </a:bodyPr>
          <a:lstStyle/>
          <a:p>
            <a:pPr algn="just"/>
            <a:r>
              <a:rPr lang="en-US" sz="3200" b="1" dirty="0">
                <a:latin typeface="Consolas" panose="020B0609020204030204" pitchFamily="49" charset="0"/>
              </a:rPr>
              <a:t>2. Fast Learning Curve - </a:t>
            </a:r>
            <a:r>
              <a:rPr lang="en-US" sz="3200" dirty="0">
                <a:latin typeface="Consolas" panose="020B0609020204030204" pitchFamily="49" charset="0"/>
              </a:rPr>
              <a:t>Python is so readable and intuitive where beginners can pick it up faster than other programming languages. </a:t>
            </a:r>
          </a:p>
          <a:p>
            <a:pPr algn="just"/>
            <a:endParaRPr lang="en-US" sz="1600" dirty="0">
              <a:latin typeface="Consolas" panose="020B0609020204030204" pitchFamily="49" charset="0"/>
            </a:endParaRPr>
          </a:p>
          <a:p>
            <a:pPr algn="just"/>
            <a:r>
              <a:rPr lang="en-US" sz="3200" dirty="0">
                <a:latin typeface="Consolas" panose="020B0609020204030204" pitchFamily="49" charset="0"/>
              </a:rPr>
              <a:t>For example, instead of writing 6-10 lines of code to calculate the average of three numbers, python lessen it since there are no more data type declarations:</a:t>
            </a:r>
            <a:r>
              <a:rPr lang="en-US" sz="3200" b="1" dirty="0">
                <a:latin typeface="Consolas" panose="020B0609020204030204" pitchFamily="49" charset="0"/>
              </a:rPr>
              <a:t> </a:t>
            </a:r>
          </a:p>
        </p:txBody>
      </p:sp>
      <p:pic>
        <p:nvPicPr>
          <p:cNvPr id="7" name="Picture 6" descr="A black background with numbers and text&#10;&#10;AI-generated content may be incorrect.">
            <a:extLst>
              <a:ext uri="{FF2B5EF4-FFF2-40B4-BE49-F238E27FC236}">
                <a16:creationId xmlns:a16="http://schemas.microsoft.com/office/drawing/2014/main" id="{C921EA8C-2167-79F1-1E31-A73383088EF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8093" y="4991100"/>
            <a:ext cx="6603307" cy="1809635"/>
          </a:xfrm>
          <a:prstGeom prst="rect">
            <a:avLst/>
          </a:prstGeom>
        </p:spPr>
      </p:pic>
      <p:sp>
        <p:nvSpPr>
          <p:cNvPr id="8" name="TextBox 7">
            <a:extLst>
              <a:ext uri="{FF2B5EF4-FFF2-40B4-BE49-F238E27FC236}">
                <a16:creationId xmlns:a16="http://schemas.microsoft.com/office/drawing/2014/main" id="{4FC48712-D213-DD61-3066-EE8CA3F5C90B}"/>
              </a:ext>
            </a:extLst>
          </p:cNvPr>
          <p:cNvSpPr txBox="1"/>
          <p:nvPr/>
        </p:nvSpPr>
        <p:spPr>
          <a:xfrm>
            <a:off x="637058" y="6960220"/>
            <a:ext cx="16953563" cy="2554545"/>
          </a:xfrm>
          <a:prstGeom prst="rect">
            <a:avLst/>
          </a:prstGeom>
          <a:noFill/>
        </p:spPr>
        <p:txBody>
          <a:bodyPr wrap="square">
            <a:spAutoFit/>
          </a:bodyPr>
          <a:lstStyle/>
          <a:p>
            <a:pPr algn="just"/>
            <a:r>
              <a:rPr lang="en-US" sz="3200" b="1" dirty="0">
                <a:latin typeface="Consolas" panose="020B0609020204030204" pitchFamily="49" charset="0"/>
              </a:rPr>
              <a:t>3. Free and Open-source - </a:t>
            </a:r>
            <a:r>
              <a:rPr lang="en-US" sz="3200" dirty="0">
                <a:latin typeface="Consolas" panose="020B0609020204030204" pitchFamily="49" charset="0"/>
              </a:rPr>
              <a:t>Python is 100% free to use. You don’t need to pay for a license or subscription, and it’s available for Windows, macOS, and Linux. Being open source also means that anyone can contribute to its development and access its source code. So, if anyone wants to build a data dashboard, they can freely use libraries like pandas and matplotlib.</a:t>
            </a:r>
          </a:p>
        </p:txBody>
      </p:sp>
    </p:spTree>
    <p:extLst>
      <p:ext uri="{BB962C8B-B14F-4D97-AF65-F5344CB8AC3E}">
        <p14:creationId xmlns:p14="http://schemas.microsoft.com/office/powerpoint/2010/main" val="1333089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D812B-FE7D-5068-E4B3-83E0AE73455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623D73F-D690-83E3-6CE8-0547C1BB90D5}"/>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66486EEC-4C3B-1C9E-35BD-CA74618446C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6DBCF59B-CADB-5962-752E-261B5E64544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1CAABA4-D17A-C431-7CB4-83B81266CD8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06DFFA5-F0CB-73A8-6532-4EE74C9AACB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97129B5-5345-6785-A002-D9944974E58A}"/>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DBC47400-5004-54D7-BD2C-663E172C7BD8}"/>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Why Python?</a:t>
            </a:r>
          </a:p>
        </p:txBody>
      </p:sp>
      <p:sp>
        <p:nvSpPr>
          <p:cNvPr id="24" name="TextBox 23">
            <a:extLst>
              <a:ext uri="{FF2B5EF4-FFF2-40B4-BE49-F238E27FC236}">
                <a16:creationId xmlns:a16="http://schemas.microsoft.com/office/drawing/2014/main" id="{A13B3E71-41B2-C7D0-7B48-18C706316342}"/>
              </a:ext>
            </a:extLst>
          </p:cNvPr>
          <p:cNvSpPr txBox="1"/>
          <p:nvPr/>
        </p:nvSpPr>
        <p:spPr>
          <a:xfrm>
            <a:off x="637059" y="2277070"/>
            <a:ext cx="16953563" cy="5016758"/>
          </a:xfrm>
          <a:prstGeom prst="rect">
            <a:avLst/>
          </a:prstGeom>
          <a:noFill/>
        </p:spPr>
        <p:txBody>
          <a:bodyPr wrap="square">
            <a:spAutoFit/>
          </a:bodyPr>
          <a:lstStyle/>
          <a:p>
            <a:pPr algn="just"/>
            <a:r>
              <a:rPr lang="en-US" sz="3200" b="1" dirty="0">
                <a:latin typeface="Consolas" panose="020B0609020204030204" pitchFamily="49" charset="0"/>
              </a:rPr>
              <a:t>4. Versatile and Flexible - </a:t>
            </a:r>
            <a:r>
              <a:rPr lang="en-US" sz="3200" dirty="0">
                <a:latin typeface="Consolas" panose="020B0609020204030204" pitchFamily="49" charset="0"/>
              </a:rPr>
              <a:t>Python can be used in a wide range of fields, making it a flexible language for different interests and career paths. </a:t>
            </a:r>
          </a:p>
          <a:p>
            <a:pPr algn="just"/>
            <a:endParaRPr lang="en-US" sz="3200" dirty="0">
              <a:latin typeface="Consolas" panose="020B0609020204030204" pitchFamily="49" charset="0"/>
            </a:endParaRPr>
          </a:p>
          <a:p>
            <a:pPr algn="just"/>
            <a:r>
              <a:rPr lang="en-US" sz="3200" dirty="0">
                <a:latin typeface="Consolas" panose="020B0609020204030204" pitchFamily="49" charset="0"/>
              </a:rPr>
              <a:t>Whether you're a future web developer, data analyst, scientist, or game designer, Python has tools for you.</a:t>
            </a:r>
          </a:p>
          <a:p>
            <a:pPr algn="just"/>
            <a:r>
              <a:rPr lang="en-US" sz="3200" dirty="0">
                <a:latin typeface="Consolas" panose="020B0609020204030204" pitchFamily="49" charset="0"/>
              </a:rPr>
              <a:t>-	Web apps using Django or Flask</a:t>
            </a:r>
          </a:p>
          <a:p>
            <a:pPr algn="just"/>
            <a:r>
              <a:rPr lang="en-US" sz="3200" dirty="0">
                <a:latin typeface="Consolas" panose="020B0609020204030204" pitchFamily="49" charset="0"/>
              </a:rPr>
              <a:t>-	Data science using NumPy and pandas</a:t>
            </a:r>
          </a:p>
          <a:p>
            <a:pPr algn="just"/>
            <a:r>
              <a:rPr lang="en-US" sz="3200" dirty="0">
                <a:latin typeface="Consolas" panose="020B0609020204030204" pitchFamily="49" charset="0"/>
              </a:rPr>
              <a:t>-	Machine learning using scikit-learn or TensorFlow</a:t>
            </a:r>
          </a:p>
          <a:p>
            <a:pPr algn="just"/>
            <a:r>
              <a:rPr lang="en-US" sz="3200" dirty="0">
                <a:latin typeface="Consolas" panose="020B0609020204030204" pitchFamily="49" charset="0"/>
              </a:rPr>
              <a:t>-	Games using </a:t>
            </a:r>
            <a:r>
              <a:rPr lang="en-US" sz="3200" dirty="0" err="1">
                <a:latin typeface="Consolas" panose="020B0609020204030204" pitchFamily="49" charset="0"/>
              </a:rPr>
              <a:t>Pygame</a:t>
            </a:r>
            <a:endParaRPr lang="en-US" sz="3200" dirty="0">
              <a:latin typeface="Consolas" panose="020B0609020204030204" pitchFamily="49" charset="0"/>
            </a:endParaRPr>
          </a:p>
          <a:p>
            <a:pPr algn="just"/>
            <a:r>
              <a:rPr lang="en-US" sz="3200" dirty="0">
                <a:latin typeface="Consolas" panose="020B0609020204030204" pitchFamily="49" charset="0"/>
              </a:rPr>
              <a:t>-	Automation using scripts</a:t>
            </a:r>
          </a:p>
        </p:txBody>
      </p:sp>
    </p:spTree>
    <p:extLst>
      <p:ext uri="{BB962C8B-B14F-4D97-AF65-F5344CB8AC3E}">
        <p14:creationId xmlns:p14="http://schemas.microsoft.com/office/powerpoint/2010/main" val="115542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BA24F-CC24-74A9-B461-C65724E518D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0299CCA-1E7E-1A7B-1233-42FA1D625928}"/>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21DB93C-75AB-0FCE-7546-83ACB4F6549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0C92C910-AEA1-13E6-EBBF-7660ACB31FF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59E288A5-A9AD-CBA3-83CE-8499D304FAB8}"/>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53FA90F-7CB0-447C-D143-57B28EB4C97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5ECB742-0B0A-D164-E985-62DB9DE6209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EFD5AAD2-DC41-E531-4EC4-510DEEB670D1}"/>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How python become popular?</a:t>
            </a:r>
          </a:p>
        </p:txBody>
      </p:sp>
      <p:graphicFrame>
        <p:nvGraphicFramePr>
          <p:cNvPr id="6" name="Table 5">
            <a:extLst>
              <a:ext uri="{FF2B5EF4-FFF2-40B4-BE49-F238E27FC236}">
                <a16:creationId xmlns:a16="http://schemas.microsoft.com/office/drawing/2014/main" id="{60D815E7-8350-5CEC-60C4-E9A123B06D00}"/>
              </a:ext>
            </a:extLst>
          </p:cNvPr>
          <p:cNvGraphicFramePr>
            <a:graphicFrameLocks noGrp="1"/>
          </p:cNvGraphicFramePr>
          <p:nvPr>
            <p:extLst>
              <p:ext uri="{D42A27DB-BD31-4B8C-83A1-F6EECF244321}">
                <p14:modId xmlns:p14="http://schemas.microsoft.com/office/powerpoint/2010/main" val="2192360793"/>
              </p:ext>
            </p:extLst>
          </p:nvPr>
        </p:nvGraphicFramePr>
        <p:xfrm>
          <a:off x="381000" y="2247900"/>
          <a:ext cx="16750118" cy="7455840"/>
        </p:xfrm>
        <a:graphic>
          <a:graphicData uri="http://schemas.openxmlformats.org/drawingml/2006/table">
            <a:tbl>
              <a:tblPr firstRow="1" firstCol="1" bandRow="1">
                <a:tableStyleId>{C4B1156A-380E-4F78-BDF5-A606A8083BF9}</a:tableStyleId>
              </a:tblPr>
              <a:tblGrid>
                <a:gridCol w="4650671">
                  <a:extLst>
                    <a:ext uri="{9D8B030D-6E8A-4147-A177-3AD203B41FA5}">
                      <a16:colId xmlns:a16="http://schemas.microsoft.com/office/drawing/2014/main" val="3774937782"/>
                    </a:ext>
                  </a:extLst>
                </a:gridCol>
                <a:gridCol w="12099447">
                  <a:extLst>
                    <a:ext uri="{9D8B030D-6E8A-4147-A177-3AD203B41FA5}">
                      <a16:colId xmlns:a16="http://schemas.microsoft.com/office/drawing/2014/main" val="783962178"/>
                    </a:ext>
                  </a:extLst>
                </a:gridCol>
              </a:tblGrid>
              <a:tr h="721217">
                <a:tc>
                  <a:txBody>
                    <a:bodyPr/>
                    <a:lstStyle/>
                    <a:p>
                      <a:pPr marL="0" marR="0" algn="ctr">
                        <a:buNone/>
                        <a:tabLst>
                          <a:tab pos="3917950" algn="l"/>
                        </a:tabLst>
                      </a:pPr>
                      <a:r>
                        <a:rPr lang="en-PH" sz="2800" kern="100">
                          <a:effectLst/>
                          <a:latin typeface="Consolas" panose="020B0609020204030204" pitchFamily="49" charset="0"/>
                        </a:rPr>
                        <a:t>Characteristic</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buNone/>
                        <a:tabLst>
                          <a:tab pos="3917950" algn="l"/>
                        </a:tabLst>
                      </a:pPr>
                      <a:r>
                        <a:rPr lang="en-PH" sz="2800" kern="100">
                          <a:effectLst/>
                          <a:latin typeface="Consolas" panose="020B0609020204030204" pitchFamily="49" charset="0"/>
                        </a:rPr>
                        <a:t>How It Helps</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762321476"/>
                  </a:ext>
                </a:extLst>
              </a:tr>
              <a:tr h="858592">
                <a:tc>
                  <a:txBody>
                    <a:bodyPr/>
                    <a:lstStyle/>
                    <a:p>
                      <a:pPr marL="457200" marR="0" lvl="1">
                        <a:buNone/>
                        <a:tabLst>
                          <a:tab pos="3917950" algn="l"/>
                        </a:tabLst>
                      </a:pPr>
                      <a:r>
                        <a:rPr lang="en-PH" sz="2800" kern="100">
                          <a:effectLst/>
                          <a:latin typeface="Consolas" panose="020B0609020204030204" pitchFamily="49" charset="0"/>
                        </a:rPr>
                        <a:t>Simple syntax</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buNone/>
                        <a:tabLst>
                          <a:tab pos="3917950" algn="l"/>
                        </a:tabLst>
                      </a:pPr>
                      <a:r>
                        <a:rPr lang="en-PH" sz="2800" kern="100">
                          <a:effectLst/>
                          <a:latin typeface="Consolas" panose="020B0609020204030204" pitchFamily="49" charset="0"/>
                        </a:rPr>
                        <a:t>Makes code easier to read, write, and maintain even for beginners.</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84007060"/>
                  </a:ext>
                </a:extLst>
              </a:tr>
              <a:tr h="1368840">
                <a:tc>
                  <a:txBody>
                    <a:bodyPr/>
                    <a:lstStyle/>
                    <a:p>
                      <a:pPr marL="457200" marR="0" lvl="1">
                        <a:buNone/>
                        <a:tabLst>
                          <a:tab pos="3917950" algn="l"/>
                        </a:tabLst>
                      </a:pPr>
                      <a:r>
                        <a:rPr lang="en-PH" sz="2800" kern="100">
                          <a:effectLst/>
                          <a:latin typeface="Consolas" panose="020B0609020204030204" pitchFamily="49" charset="0"/>
                        </a:rPr>
                        <a:t>Interpreted language</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buNone/>
                        <a:tabLst>
                          <a:tab pos="3917950" algn="l"/>
                        </a:tabLst>
                      </a:pPr>
                      <a:r>
                        <a:rPr lang="en-PH" sz="2800" kern="100" dirty="0">
                          <a:effectLst/>
                          <a:latin typeface="Consolas" panose="020B0609020204030204" pitchFamily="49" charset="0"/>
                        </a:rPr>
                        <a:t>It can run code directly without compiling, which speeds up testing and learning.</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669822238"/>
                  </a:ext>
                </a:extLst>
              </a:tr>
              <a:tr h="917466">
                <a:tc>
                  <a:txBody>
                    <a:bodyPr/>
                    <a:lstStyle/>
                    <a:p>
                      <a:pPr marL="457200" marR="0" lvl="1">
                        <a:buNone/>
                        <a:tabLst>
                          <a:tab pos="3917950" algn="l"/>
                        </a:tabLst>
                      </a:pPr>
                      <a:r>
                        <a:rPr lang="en-PH" sz="2800" kern="100">
                          <a:effectLst/>
                          <a:latin typeface="Consolas" panose="020B0609020204030204" pitchFamily="49" charset="0"/>
                        </a:rPr>
                        <a:t>Dynamic typing</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buNone/>
                        <a:tabLst>
                          <a:tab pos="3917950" algn="l"/>
                        </a:tabLst>
                      </a:pPr>
                      <a:r>
                        <a:rPr lang="en-PH" sz="2800" kern="100" dirty="0">
                          <a:effectLst/>
                          <a:latin typeface="Consolas" panose="020B0609020204030204" pitchFamily="49" charset="0"/>
                        </a:rPr>
                        <a:t>It doesn’t need to declare variable types, allowing quicker development.</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32324583"/>
                  </a:ext>
                </a:extLst>
              </a:tr>
              <a:tr h="745748">
                <a:tc>
                  <a:txBody>
                    <a:bodyPr/>
                    <a:lstStyle/>
                    <a:p>
                      <a:pPr marL="457200" marR="0" lvl="1">
                        <a:buNone/>
                        <a:tabLst>
                          <a:tab pos="3917950" algn="l"/>
                        </a:tabLst>
                      </a:pPr>
                      <a:r>
                        <a:rPr lang="en-PH" sz="2800" kern="100">
                          <a:effectLst/>
                          <a:latin typeface="Consolas" panose="020B0609020204030204" pitchFamily="49" charset="0"/>
                        </a:rPr>
                        <a:t>Large standard library</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buNone/>
                        <a:tabLst>
                          <a:tab pos="3917950" algn="l"/>
                        </a:tabLst>
                      </a:pPr>
                      <a:r>
                        <a:rPr lang="en-PH" sz="2800" kern="100">
                          <a:effectLst/>
                          <a:latin typeface="Consolas" panose="020B0609020204030204" pitchFamily="49" charset="0"/>
                        </a:rPr>
                        <a:t>Includes built-in tools for math, file handling, web access, and more.</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2799609"/>
                  </a:ext>
                </a:extLst>
              </a:tr>
              <a:tr h="1334497">
                <a:tc>
                  <a:txBody>
                    <a:bodyPr/>
                    <a:lstStyle/>
                    <a:p>
                      <a:pPr marL="457200" marR="0" lvl="1">
                        <a:buNone/>
                        <a:tabLst>
                          <a:tab pos="3917950" algn="l"/>
                        </a:tabLst>
                      </a:pPr>
                      <a:r>
                        <a:rPr lang="en-PH" sz="2800" kern="100">
                          <a:effectLst/>
                          <a:latin typeface="Consolas" panose="020B0609020204030204" pitchFamily="49" charset="0"/>
                        </a:rPr>
                        <a:t>Cross-platform</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buNone/>
                        <a:tabLst>
                          <a:tab pos="3917950" algn="l"/>
                        </a:tabLst>
                      </a:pPr>
                      <a:r>
                        <a:rPr lang="en-PH" sz="2800" kern="100">
                          <a:effectLst/>
                          <a:latin typeface="Consolas" panose="020B0609020204030204" pitchFamily="49" charset="0"/>
                        </a:rPr>
                        <a:t>Python works on Windows, macOS, and Linux without major code changes.</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095922771"/>
                  </a:ext>
                </a:extLst>
              </a:tr>
              <a:tr h="1368840">
                <a:tc>
                  <a:txBody>
                    <a:bodyPr/>
                    <a:lstStyle/>
                    <a:p>
                      <a:pPr marL="457200" marR="0" lvl="1">
                        <a:buNone/>
                        <a:tabLst>
                          <a:tab pos="3917950" algn="l"/>
                        </a:tabLst>
                      </a:pPr>
                      <a:r>
                        <a:rPr lang="en-PH" sz="2800" kern="100">
                          <a:effectLst/>
                          <a:latin typeface="Consolas" panose="020B0609020204030204" pitchFamily="49" charset="0"/>
                        </a:rPr>
                        <a:t>Community support</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marR="0" lvl="1">
                        <a:buNone/>
                        <a:tabLst>
                          <a:tab pos="3917950" algn="l"/>
                        </a:tabLst>
                      </a:pPr>
                      <a:r>
                        <a:rPr lang="en-PH" sz="2800" kern="100" dirty="0">
                          <a:effectLst/>
                          <a:latin typeface="Consolas" panose="020B0609020204030204" pitchFamily="49" charset="0"/>
                        </a:rPr>
                        <a:t>Millions of developers contribute solutions and tools that make your work easier.</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75793891"/>
                  </a:ext>
                </a:extLst>
              </a:tr>
            </a:tbl>
          </a:graphicData>
        </a:graphic>
      </p:graphicFrame>
    </p:spTree>
    <p:extLst>
      <p:ext uri="{BB962C8B-B14F-4D97-AF65-F5344CB8AC3E}">
        <p14:creationId xmlns:p14="http://schemas.microsoft.com/office/powerpoint/2010/main" val="16568483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E1D2C6-93DC-93E2-E222-0DC24CCA722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F4A5D2D-785A-01B1-2994-49EE97890DD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58FA346A-B456-C9CD-69CD-98006DD5484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B2D09CDA-F6D9-4479-6416-93F9D335FED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ACBB30E-F157-DA3B-7C26-117CC30508C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209CCC16-9785-3641-F684-7A8DD62AACD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0CCF8D85-4883-EDB3-7FC2-D88F35B476F1}"/>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F4404F3-513C-543F-7B04-A2F7B04F92BE}"/>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a:t>
            </a:r>
          </a:p>
        </p:txBody>
      </p:sp>
      <p:sp>
        <p:nvSpPr>
          <p:cNvPr id="10" name="AutoShape 8" descr="Grammarly Logo PNG Vector - BrandLogo">
            <a:extLst>
              <a:ext uri="{FF2B5EF4-FFF2-40B4-BE49-F238E27FC236}">
                <a16:creationId xmlns:a16="http://schemas.microsoft.com/office/drawing/2014/main" id="{C0EB8A03-A9F5-A165-04D8-229B91BA4EAB}"/>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4597A2DC-E450-DC51-D89C-46CE6E5D80E7}"/>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aphicFrame>
        <p:nvGraphicFramePr>
          <p:cNvPr id="8" name="Table 7">
            <a:extLst>
              <a:ext uri="{FF2B5EF4-FFF2-40B4-BE49-F238E27FC236}">
                <a16:creationId xmlns:a16="http://schemas.microsoft.com/office/drawing/2014/main" id="{1067EE47-D641-6590-52FC-38A665E07551}"/>
              </a:ext>
            </a:extLst>
          </p:cNvPr>
          <p:cNvGraphicFramePr>
            <a:graphicFrameLocks noGrp="1"/>
          </p:cNvGraphicFramePr>
          <p:nvPr>
            <p:extLst>
              <p:ext uri="{D42A27DB-BD31-4B8C-83A1-F6EECF244321}">
                <p14:modId xmlns:p14="http://schemas.microsoft.com/office/powerpoint/2010/main" val="2005653998"/>
              </p:ext>
            </p:extLst>
          </p:nvPr>
        </p:nvGraphicFramePr>
        <p:xfrm>
          <a:off x="381992" y="2130433"/>
          <a:ext cx="17448808" cy="7966066"/>
        </p:xfrm>
        <a:graphic>
          <a:graphicData uri="http://schemas.openxmlformats.org/drawingml/2006/table">
            <a:tbl>
              <a:tblPr firstRow="1" firstCol="1" bandRow="1">
                <a:tableStyleId>{C4B1156A-380E-4F78-BDF5-A606A8083BF9}</a:tableStyleId>
              </a:tblPr>
              <a:tblGrid>
                <a:gridCol w="3474668">
                  <a:extLst>
                    <a:ext uri="{9D8B030D-6E8A-4147-A177-3AD203B41FA5}">
                      <a16:colId xmlns:a16="http://schemas.microsoft.com/office/drawing/2014/main" val="1897324759"/>
                    </a:ext>
                  </a:extLst>
                </a:gridCol>
                <a:gridCol w="947637">
                  <a:extLst>
                    <a:ext uri="{9D8B030D-6E8A-4147-A177-3AD203B41FA5}">
                      <a16:colId xmlns:a16="http://schemas.microsoft.com/office/drawing/2014/main" val="2472613483"/>
                    </a:ext>
                  </a:extLst>
                </a:gridCol>
                <a:gridCol w="13026503">
                  <a:extLst>
                    <a:ext uri="{9D8B030D-6E8A-4147-A177-3AD203B41FA5}">
                      <a16:colId xmlns:a16="http://schemas.microsoft.com/office/drawing/2014/main" val="3593514700"/>
                    </a:ext>
                  </a:extLst>
                </a:gridCol>
              </a:tblGrid>
              <a:tr h="674372">
                <a:tc gridSpan="3">
                  <a:txBody>
                    <a:bodyPr/>
                    <a:lstStyle/>
                    <a:p>
                      <a:pPr marL="0" marR="0" lvl="0" indent="0" algn="just">
                        <a:buSzPts val="1100"/>
                        <a:buFont typeface="+mj-lt"/>
                        <a:buNone/>
                      </a:pPr>
                      <a:r>
                        <a:rPr lang="en-US" sz="2400" dirty="0">
                          <a:effectLst/>
                          <a:latin typeface="Consolas" panose="020B0609020204030204" pitchFamily="49" charset="0"/>
                        </a:rPr>
                        <a:t>Characteristic Sorting Drill: Write PY if the statement describes Python, and THON if it does not.</a:t>
                      </a:r>
                      <a:endParaRPr lang="en-PH" sz="24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2766286709"/>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dirty="0">
                          <a:effectLst/>
                          <a:latin typeface="Consolas" panose="020B0609020204030204" pitchFamily="49" charset="0"/>
                        </a:rPr>
                        <a:t>1.</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0" marR="0" algn="just">
                        <a:lnSpc>
                          <a:spcPct val="115000"/>
                        </a:lnSpc>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is an interpreted language, meaning it runs code line by line.</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2964888412"/>
                  </a:ext>
                </a:extLst>
              </a:tr>
              <a:tr h="857030">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2.</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2540" marR="0"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syntax is more complex than C++ and requires semicolons.</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2611429980"/>
                  </a:ext>
                </a:extLst>
              </a:tr>
              <a:tr h="857030">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3.</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0" marR="0" indent="0" algn="just">
                        <a:buNone/>
                      </a:pPr>
                      <a:r>
                        <a:rPr lang="en-PH" sz="2600" kern="0" dirty="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supports object-oriented, functional, and procedural programming.</a:t>
                      </a:r>
                      <a:endParaRPr lang="en-PH" sz="26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4119067385"/>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4.</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requires declaring data types before using variables.</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621298853"/>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5.</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can only be used to develop mobile apps.</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026440429"/>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6.</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has a large community and many free libraries and tools.</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4025543725"/>
                  </a:ext>
                </a:extLst>
              </a:tr>
              <a:tr h="857030">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7.</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2540" marR="0" indent="-2540"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can be used in fields like data science, automation, and AI.</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387625594"/>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8.</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programs can only run on Windows and MacOS.</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1856244258"/>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9.</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is beginner-friendly because of its readable and simple syntax.</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1327336752"/>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10.</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dirty="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is a paid software and needs a license to use.</a:t>
                      </a:r>
                      <a:endParaRPr lang="en-PH" sz="26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601158491"/>
                  </a:ext>
                </a:extLst>
              </a:tr>
            </a:tbl>
          </a:graphicData>
        </a:graphic>
      </p:graphicFrame>
      <p:sp>
        <p:nvSpPr>
          <p:cNvPr id="6" name="Rectangle 5">
            <a:extLst>
              <a:ext uri="{FF2B5EF4-FFF2-40B4-BE49-F238E27FC236}">
                <a16:creationId xmlns:a16="http://schemas.microsoft.com/office/drawing/2014/main" id="{577AE379-8BE9-EF55-BCF7-2089E30E039E}"/>
              </a:ext>
            </a:extLst>
          </p:cNvPr>
          <p:cNvSpPr/>
          <p:nvPr/>
        </p:nvSpPr>
        <p:spPr>
          <a:xfrm>
            <a:off x="457200" y="3390900"/>
            <a:ext cx="3428008" cy="680023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lnSpc>
                <a:spcPct val="150000"/>
              </a:lnSpc>
            </a:pPr>
            <a:r>
              <a:rPr lang="en-US" sz="3200" dirty="0">
                <a:solidFill>
                  <a:schemeClr val="tx1"/>
                </a:solidFill>
                <a:latin typeface="Consolas" panose="020B0609020204030204" pitchFamily="49" charset="0"/>
              </a:rPr>
              <a:t>PY</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THON</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PY</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THON</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THON</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PY</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PY</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THON</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PY</a:t>
            </a:r>
            <a:endParaRPr lang="en-PH" sz="3200" dirty="0">
              <a:solidFill>
                <a:schemeClr val="tx1"/>
              </a:solidFill>
              <a:latin typeface="Consolas" panose="020B0609020204030204" pitchFamily="49" charset="0"/>
            </a:endParaRPr>
          </a:p>
          <a:p>
            <a:pPr fontAlgn="ctr">
              <a:lnSpc>
                <a:spcPct val="150000"/>
              </a:lnSpc>
            </a:pPr>
            <a:r>
              <a:rPr lang="en-US" sz="3200" dirty="0">
                <a:solidFill>
                  <a:schemeClr val="tx1"/>
                </a:solidFill>
                <a:latin typeface="Consolas" panose="020B0609020204030204" pitchFamily="49" charset="0"/>
              </a:rPr>
              <a:t>THON</a:t>
            </a:r>
            <a:endParaRPr lang="en-PH" sz="3200" dirty="0">
              <a:solidFill>
                <a:schemeClr val="tx1"/>
              </a:solidFill>
              <a:latin typeface="Consolas" panose="020B0609020204030204" pitchFamily="49" charset="0"/>
            </a:endParaRPr>
          </a:p>
          <a:p>
            <a:pPr algn="ctr">
              <a:lnSpc>
                <a:spcPct val="150000"/>
              </a:lnSpc>
            </a:pPr>
            <a:endParaRPr lang="en-PH" sz="32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262026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38497-CEA6-5F86-4AFE-630C66C31C7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2436EAAE-FCFE-9D46-9537-401CEAADBB83}"/>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918D62FB-F2F9-1937-1FA8-D0A78595E30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4E88D29-DDC3-0616-D233-775880CD2FE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B2C43AF3-8536-436C-4D16-A5F70B6C34A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A0235FB-A90C-D423-2F9B-93F048C697A8}"/>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C9BD7611-CC6D-E4A2-813E-90820438C0F2}"/>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18571902-7A3F-014A-8761-34096C44F91B}"/>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Learning Activity</a:t>
            </a:r>
          </a:p>
        </p:txBody>
      </p:sp>
      <p:sp>
        <p:nvSpPr>
          <p:cNvPr id="10" name="AutoShape 8" descr="Grammarly Logo PNG Vector - BrandLogo">
            <a:extLst>
              <a:ext uri="{FF2B5EF4-FFF2-40B4-BE49-F238E27FC236}">
                <a16:creationId xmlns:a16="http://schemas.microsoft.com/office/drawing/2014/main" id="{1FF7B49F-21C6-4EB4-8403-88B7270F2097}"/>
              </a:ext>
            </a:extLst>
          </p:cNvPr>
          <p:cNvSpPr>
            <a:spLocks noChangeAspect="1" noChangeArrowheads="1"/>
          </p:cNvSpPr>
          <p:nvPr/>
        </p:nvSpPr>
        <p:spPr bwMode="auto">
          <a:xfrm>
            <a:off x="8991600" y="49911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sp>
        <p:nvSpPr>
          <p:cNvPr id="11" name="AutoShape 10" descr="Grammarly Logo PNG Vector - BrandLogo">
            <a:extLst>
              <a:ext uri="{FF2B5EF4-FFF2-40B4-BE49-F238E27FC236}">
                <a16:creationId xmlns:a16="http://schemas.microsoft.com/office/drawing/2014/main" id="{2AC90246-8D1B-2A37-608F-8FEBDA8D6418}"/>
              </a:ext>
            </a:extLst>
          </p:cNvPr>
          <p:cNvSpPr>
            <a:spLocks noChangeAspect="1" noChangeArrowheads="1"/>
          </p:cNvSpPr>
          <p:nvPr/>
        </p:nvSpPr>
        <p:spPr bwMode="auto">
          <a:xfrm>
            <a:off x="9144000" y="51435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graphicFrame>
        <p:nvGraphicFramePr>
          <p:cNvPr id="8" name="Table 7">
            <a:extLst>
              <a:ext uri="{FF2B5EF4-FFF2-40B4-BE49-F238E27FC236}">
                <a16:creationId xmlns:a16="http://schemas.microsoft.com/office/drawing/2014/main" id="{182F5BC8-5587-1329-F024-DE6396BC33FD}"/>
              </a:ext>
            </a:extLst>
          </p:cNvPr>
          <p:cNvGraphicFramePr>
            <a:graphicFrameLocks noGrp="1"/>
          </p:cNvGraphicFramePr>
          <p:nvPr>
            <p:extLst>
              <p:ext uri="{D42A27DB-BD31-4B8C-83A1-F6EECF244321}">
                <p14:modId xmlns:p14="http://schemas.microsoft.com/office/powerpoint/2010/main" val="4275213875"/>
              </p:ext>
            </p:extLst>
          </p:nvPr>
        </p:nvGraphicFramePr>
        <p:xfrm>
          <a:off x="381992" y="2130433"/>
          <a:ext cx="17448808" cy="4774447"/>
        </p:xfrm>
        <a:graphic>
          <a:graphicData uri="http://schemas.openxmlformats.org/drawingml/2006/table">
            <a:tbl>
              <a:tblPr firstRow="1" firstCol="1" bandRow="1">
                <a:tableStyleId>{C4B1156A-380E-4F78-BDF5-A606A8083BF9}</a:tableStyleId>
              </a:tblPr>
              <a:tblGrid>
                <a:gridCol w="3474668">
                  <a:extLst>
                    <a:ext uri="{9D8B030D-6E8A-4147-A177-3AD203B41FA5}">
                      <a16:colId xmlns:a16="http://schemas.microsoft.com/office/drawing/2014/main" val="1897324759"/>
                    </a:ext>
                  </a:extLst>
                </a:gridCol>
                <a:gridCol w="947637">
                  <a:extLst>
                    <a:ext uri="{9D8B030D-6E8A-4147-A177-3AD203B41FA5}">
                      <a16:colId xmlns:a16="http://schemas.microsoft.com/office/drawing/2014/main" val="2472613483"/>
                    </a:ext>
                  </a:extLst>
                </a:gridCol>
                <a:gridCol w="13026503">
                  <a:extLst>
                    <a:ext uri="{9D8B030D-6E8A-4147-A177-3AD203B41FA5}">
                      <a16:colId xmlns:a16="http://schemas.microsoft.com/office/drawing/2014/main" val="3593514700"/>
                    </a:ext>
                  </a:extLst>
                </a:gridCol>
              </a:tblGrid>
              <a:tr h="674372">
                <a:tc gridSpan="3">
                  <a:txBody>
                    <a:bodyPr/>
                    <a:lstStyle/>
                    <a:p>
                      <a:pPr marL="0" marR="0" lvl="0" indent="0" algn="just">
                        <a:buSzPts val="1100"/>
                        <a:buFont typeface="+mj-lt"/>
                        <a:buNone/>
                      </a:pPr>
                      <a:r>
                        <a:rPr lang="en-US" sz="2400" dirty="0">
                          <a:effectLst/>
                          <a:latin typeface="Consolas" panose="020B0609020204030204" pitchFamily="49" charset="0"/>
                        </a:rPr>
                        <a:t>Fill in the blank</a:t>
                      </a:r>
                      <a:endParaRPr lang="en-PH" sz="24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tc>
                <a:tc hMerge="1">
                  <a:txBody>
                    <a:bodyPr/>
                    <a:lstStyle/>
                    <a:p>
                      <a:endParaRPr lang="en-PH"/>
                    </a:p>
                  </a:txBody>
                  <a:tcPr/>
                </a:tc>
                <a:tc hMerge="1">
                  <a:txBody>
                    <a:bodyPr/>
                    <a:lstStyle/>
                    <a:p>
                      <a:endParaRPr lang="en-PH"/>
                    </a:p>
                  </a:txBody>
                  <a:tcPr/>
                </a:tc>
                <a:extLst>
                  <a:ext uri="{0D108BD9-81ED-4DB2-BD59-A6C34878D82A}">
                    <a16:rowId xmlns:a16="http://schemas.microsoft.com/office/drawing/2014/main" val="2766286709"/>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dirty="0">
                          <a:effectLst/>
                          <a:latin typeface="Consolas" panose="020B0609020204030204" pitchFamily="49" charset="0"/>
                        </a:rPr>
                        <a:t>1.</a:t>
                      </a:r>
                      <a:endParaRPr lang="en-PH" sz="28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0" marR="0" algn="just">
                        <a:lnSpc>
                          <a:spcPct val="115000"/>
                        </a:lnSpc>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is known for its ___________ syntax, which makes it beginner friendly.</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2964888412"/>
                  </a:ext>
                </a:extLst>
              </a:tr>
              <a:tr h="857030">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2.</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2540" marR="0"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In data science, the ___________ library is commonly used for handling large datasets.</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2611429980"/>
                  </a:ext>
                </a:extLst>
              </a:tr>
              <a:tr h="857030">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3.</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Python is used in web development with frameworks like __________ and ___________.</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4119067385"/>
                  </a:ext>
                </a:extLst>
              </a:tr>
              <a:tr h="674372">
                <a:tc>
                  <a:txBody>
                    <a:bodyPr/>
                    <a:lstStyle/>
                    <a:p>
                      <a:pPr marL="1758315" marR="0" indent="-1758315"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4.</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PH" sz="2600" kern="0">
                          <a:solidFill>
                            <a:srgbClr val="000000"/>
                          </a:solidFill>
                          <a:effectLst/>
                          <a:latin typeface="Consolas" panose="020B0609020204030204" pitchFamily="49" charset="0"/>
                          <a:ea typeface="Aptos" panose="020B0004020202020204" pitchFamily="34" charset="0"/>
                          <a:cs typeface="Times New Roman" panose="02020603050405020304" pitchFamily="18" charset="0"/>
                        </a:rPr>
                        <a:t>One feature of Python is ______ typing, where variable types are assigned at runtime.</a:t>
                      </a:r>
                      <a:endParaRPr lang="en-PH" sz="26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621298853"/>
                  </a:ext>
                </a:extLst>
              </a:tr>
              <a:tr h="674372">
                <a:tc>
                  <a:txBody>
                    <a:bodyPr/>
                    <a:lstStyle/>
                    <a:p>
                      <a:pPr marL="0" marR="0" algn="just">
                        <a:buNone/>
                      </a:pPr>
                      <a:endParaRPr lang="en-PH" sz="2600" b="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800" kern="0">
                          <a:effectLst/>
                          <a:latin typeface="Consolas" panose="020B0609020204030204" pitchFamily="49" charset="0"/>
                        </a:rPr>
                        <a:t>5.</a:t>
                      </a:r>
                      <a:endParaRPr lang="en-PH" sz="2800" kern="10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tc>
                  <a:txBody>
                    <a:bodyPr/>
                    <a:lstStyle/>
                    <a:p>
                      <a:pPr marL="1758315" marR="0" indent="-1758315" algn="just">
                        <a:buNone/>
                      </a:pPr>
                      <a:r>
                        <a:rPr lang="en-US" sz="2600" kern="0" dirty="0">
                          <a:effectLst/>
                          <a:latin typeface="Consolas" panose="020B0609020204030204" pitchFamily="49" charset="0"/>
                          <a:ea typeface="Aptos" panose="020B0004020202020204" pitchFamily="34" charset="0"/>
                          <a:cs typeface="Times New Roman" panose="02020603050405020304" pitchFamily="18" charset="0"/>
                        </a:rPr>
                        <a:t>Interpreted</a:t>
                      </a:r>
                      <a:r>
                        <a:rPr lang="en-US" sz="2600" b="1" kern="0" dirty="0">
                          <a:effectLst/>
                          <a:latin typeface="Consolas" panose="020B0609020204030204" pitchFamily="49" charset="0"/>
                          <a:ea typeface="Aptos" panose="020B0004020202020204" pitchFamily="34" charset="0"/>
                          <a:cs typeface="Times New Roman" panose="02020603050405020304" pitchFamily="18" charset="0"/>
                        </a:rPr>
                        <a:t> </a:t>
                      </a:r>
                      <a:r>
                        <a:rPr lang="en-US" sz="2600" kern="0" dirty="0">
                          <a:effectLst/>
                          <a:latin typeface="Consolas" panose="020B0609020204030204" pitchFamily="49" charset="0"/>
                          <a:ea typeface="Aptos" panose="020B0004020202020204" pitchFamily="34" charset="0"/>
                          <a:cs typeface="Times New Roman" panose="02020603050405020304" pitchFamily="18" charset="0"/>
                        </a:rPr>
                        <a:t>language can run code directly __________ compiling</a:t>
                      </a:r>
                      <a:endParaRPr lang="en-PH" sz="2600" kern="100" dirty="0">
                        <a:effectLst/>
                        <a:latin typeface="Consolas" panose="020B0609020204030204" pitchFamily="49" charset="0"/>
                        <a:ea typeface="Aptos" panose="020B0004020202020204" pitchFamily="34" charset="0"/>
                        <a:cs typeface="Times New Roman" panose="02020603050405020304" pitchFamily="18" charset="0"/>
                      </a:endParaRPr>
                    </a:p>
                  </a:txBody>
                  <a:tcPr marL="68580" marR="68580" marT="0" marB="18415" anchor="ctr">
                    <a:solidFill>
                      <a:schemeClr val="bg1"/>
                    </a:solidFill>
                  </a:tcPr>
                </a:tc>
                <a:extLst>
                  <a:ext uri="{0D108BD9-81ED-4DB2-BD59-A6C34878D82A}">
                    <a16:rowId xmlns:a16="http://schemas.microsoft.com/office/drawing/2014/main" val="3026440429"/>
                  </a:ext>
                </a:extLst>
              </a:tr>
            </a:tbl>
          </a:graphicData>
        </a:graphic>
      </p:graphicFrame>
      <p:sp>
        <p:nvSpPr>
          <p:cNvPr id="6" name="Rectangle 5">
            <a:extLst>
              <a:ext uri="{FF2B5EF4-FFF2-40B4-BE49-F238E27FC236}">
                <a16:creationId xmlns:a16="http://schemas.microsoft.com/office/drawing/2014/main" id="{55D18C3E-3B50-47AD-2DCA-D563D1A0676D}"/>
              </a:ext>
            </a:extLst>
          </p:cNvPr>
          <p:cNvSpPr/>
          <p:nvPr/>
        </p:nvSpPr>
        <p:spPr>
          <a:xfrm>
            <a:off x="420092" y="3162300"/>
            <a:ext cx="3428008" cy="35561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ctr">
              <a:lnSpc>
                <a:spcPct val="150000"/>
              </a:lnSpc>
            </a:pPr>
            <a:r>
              <a:rPr lang="en-PH" sz="3400" dirty="0">
                <a:solidFill>
                  <a:schemeClr val="tx1"/>
                </a:solidFill>
                <a:latin typeface="Consolas" panose="020B0609020204030204" pitchFamily="49" charset="0"/>
              </a:rPr>
              <a:t>readable</a:t>
            </a:r>
          </a:p>
          <a:p>
            <a:pPr fontAlgn="ctr">
              <a:lnSpc>
                <a:spcPct val="150000"/>
              </a:lnSpc>
            </a:pPr>
            <a:r>
              <a:rPr lang="en-PH" sz="3400" dirty="0">
                <a:solidFill>
                  <a:schemeClr val="tx1"/>
                </a:solidFill>
                <a:latin typeface="Consolas" panose="020B0609020204030204" pitchFamily="49" charset="0"/>
              </a:rPr>
              <a:t>Pandas</a:t>
            </a:r>
          </a:p>
          <a:p>
            <a:pPr fontAlgn="ctr">
              <a:lnSpc>
                <a:spcPct val="150000"/>
              </a:lnSpc>
            </a:pPr>
            <a:r>
              <a:rPr lang="en-PH" sz="3400" dirty="0">
                <a:solidFill>
                  <a:schemeClr val="tx1"/>
                </a:solidFill>
                <a:latin typeface="Consolas" panose="020B0609020204030204" pitchFamily="49" charset="0"/>
              </a:rPr>
              <a:t>Django, Flask</a:t>
            </a:r>
          </a:p>
          <a:p>
            <a:pPr fontAlgn="ctr">
              <a:lnSpc>
                <a:spcPct val="150000"/>
              </a:lnSpc>
            </a:pPr>
            <a:r>
              <a:rPr lang="en-PH" sz="3400" dirty="0">
                <a:solidFill>
                  <a:schemeClr val="tx1"/>
                </a:solidFill>
                <a:latin typeface="Consolas" panose="020B0609020204030204" pitchFamily="49" charset="0"/>
              </a:rPr>
              <a:t>dynamic</a:t>
            </a:r>
          </a:p>
          <a:p>
            <a:pPr fontAlgn="ctr">
              <a:lnSpc>
                <a:spcPct val="150000"/>
              </a:lnSpc>
            </a:pPr>
            <a:r>
              <a:rPr lang="en-US" sz="3400" dirty="0">
                <a:solidFill>
                  <a:schemeClr val="tx1"/>
                </a:solidFill>
                <a:latin typeface="Consolas" panose="020B0609020204030204" pitchFamily="49" charset="0"/>
              </a:rPr>
              <a:t>without</a:t>
            </a:r>
            <a:endParaRPr lang="en-PH" sz="3400" dirty="0">
              <a:solidFill>
                <a:schemeClr val="tx1"/>
              </a:solidFill>
              <a:latin typeface="Consolas" panose="020B0609020204030204" pitchFamily="49" charset="0"/>
            </a:endParaRPr>
          </a:p>
        </p:txBody>
      </p:sp>
    </p:spTree>
    <p:extLst>
      <p:ext uri="{BB962C8B-B14F-4D97-AF65-F5344CB8AC3E}">
        <p14:creationId xmlns:p14="http://schemas.microsoft.com/office/powerpoint/2010/main" val="261245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53DB1-D750-E3EC-FC3A-110DFF0809D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BC4A208-07E1-212D-1CF6-E363ED76551C}"/>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3378D5EB-87D2-7ED1-3DEF-EBB393F9556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80E8AD28-C13C-CFA5-195E-658DA2AA8A7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64FE65A-8759-8F62-4D83-4EBC25A3BE8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494947E-CC03-D4E4-600D-C558B533EC5C}"/>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689B43ED-5C7F-CABE-3DAC-5F6805B4156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494D22B6-C438-4B17-5BAE-82F824DC898E}"/>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Generalization</a:t>
            </a:r>
          </a:p>
        </p:txBody>
      </p:sp>
      <p:sp>
        <p:nvSpPr>
          <p:cNvPr id="6" name="TextBox 5">
            <a:extLst>
              <a:ext uri="{FF2B5EF4-FFF2-40B4-BE49-F238E27FC236}">
                <a16:creationId xmlns:a16="http://schemas.microsoft.com/office/drawing/2014/main" id="{E88BE3B5-D491-9C87-152B-CE7048DF8151}"/>
              </a:ext>
            </a:extLst>
          </p:cNvPr>
          <p:cNvSpPr txBox="1"/>
          <p:nvPr/>
        </p:nvSpPr>
        <p:spPr>
          <a:xfrm>
            <a:off x="637059" y="2277070"/>
            <a:ext cx="16953563" cy="4524315"/>
          </a:xfrm>
          <a:prstGeom prst="rect">
            <a:avLst/>
          </a:prstGeom>
          <a:noFill/>
        </p:spPr>
        <p:txBody>
          <a:bodyPr wrap="square">
            <a:spAutoFit/>
          </a:bodyPr>
          <a:lstStyle/>
          <a:p>
            <a:pPr marL="742950" lvl="0" indent="-742950" algn="just">
              <a:buFont typeface="+mj-lt"/>
              <a:buAutoNum type="arabicPeriod"/>
            </a:pPr>
            <a:r>
              <a:rPr lang="en-US" sz="3600" dirty="0">
                <a:latin typeface="Consolas" panose="020B0609020204030204" pitchFamily="49" charset="0"/>
              </a:rPr>
              <a:t>Why is Python considered a beginner-friendly programming language?</a:t>
            </a:r>
          </a:p>
          <a:p>
            <a:pPr marL="742950" lvl="0" indent="-742950" algn="just">
              <a:buFont typeface="+mj-lt"/>
              <a:buAutoNum type="arabicPeriod"/>
            </a:pPr>
            <a:r>
              <a:rPr lang="en-US" sz="3600" dirty="0">
                <a:latin typeface="Consolas" panose="020B0609020204030204" pitchFamily="49" charset="0"/>
              </a:rPr>
              <a:t>In what ways does Python’s versatility make it suitable for different industries?</a:t>
            </a:r>
          </a:p>
          <a:p>
            <a:pPr marL="742950" lvl="0" indent="-742950" algn="just">
              <a:buFont typeface="+mj-lt"/>
              <a:buAutoNum type="arabicPeriod"/>
            </a:pPr>
            <a:r>
              <a:rPr lang="en-US" sz="3600" dirty="0">
                <a:latin typeface="Consolas" panose="020B0609020204030204" pitchFamily="49" charset="0"/>
              </a:rPr>
              <a:t>How do Python’s features like dynamic typing and readable syntax benefit new learners?</a:t>
            </a:r>
          </a:p>
          <a:p>
            <a:pPr marL="742950" lvl="0" indent="-742950" algn="just">
              <a:buFont typeface="+mj-lt"/>
              <a:buAutoNum type="arabicPeriod"/>
            </a:pPr>
            <a:r>
              <a:rPr lang="en-US" sz="3600" dirty="0">
                <a:latin typeface="Consolas" panose="020B0609020204030204" pitchFamily="49" charset="0"/>
              </a:rPr>
              <a:t>What real-world applications or fields can you explore by learning Python?</a:t>
            </a:r>
          </a:p>
        </p:txBody>
      </p:sp>
    </p:spTree>
    <p:extLst>
      <p:ext uri="{BB962C8B-B14F-4D97-AF65-F5344CB8AC3E}">
        <p14:creationId xmlns:p14="http://schemas.microsoft.com/office/powerpoint/2010/main" val="194517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DFC0F8-DFB8-2EFE-A930-36D428EAA583}"/>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DB640705-9B68-1D4F-06CC-E5E2D58315B5}"/>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38101" y="2939232"/>
            <a:ext cx="18287999" cy="4408536"/>
          </a:xfrm>
          <a:prstGeom prst="rect">
            <a:avLst/>
          </a:prstGeom>
        </p:spPr>
      </p:pic>
      <p:sp>
        <p:nvSpPr>
          <p:cNvPr id="20" name="Freeform 20">
            <a:extLst>
              <a:ext uri="{FF2B5EF4-FFF2-40B4-BE49-F238E27FC236}">
                <a16:creationId xmlns:a16="http://schemas.microsoft.com/office/drawing/2014/main" id="{425147E4-3B60-6B2E-3A1C-1726FD58F6F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4AD9920E-007C-887C-C4DA-FF0D2B862669}"/>
              </a:ext>
            </a:extLst>
          </p:cNvPr>
          <p:cNvSpPr txBox="1"/>
          <p:nvPr/>
        </p:nvSpPr>
        <p:spPr>
          <a:xfrm>
            <a:off x="1144875" y="3543300"/>
            <a:ext cx="15998250" cy="3132524"/>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1.3: Implementation of Python Environment</a:t>
            </a:r>
          </a:p>
        </p:txBody>
      </p:sp>
      <p:grpSp>
        <p:nvGrpSpPr>
          <p:cNvPr id="34" name="Group 13">
            <a:extLst>
              <a:ext uri="{FF2B5EF4-FFF2-40B4-BE49-F238E27FC236}">
                <a16:creationId xmlns:a16="http://schemas.microsoft.com/office/drawing/2014/main" id="{5AEC786F-F5DA-D305-77B6-A80DA87312D8}"/>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2B58E7D2-FF5B-8C07-1B86-9954725C6BB4}"/>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AFB70674-DAD3-3D53-E23B-1CBE3852938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5382182D-903E-94D6-724F-70DAD36260BD}"/>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435A9E3C-39F2-8A75-D22B-F44D04F20B36}"/>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B51F9CAD-5705-E2AF-6C59-7BE5479AECE4}"/>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1296C66E-8D76-79EE-0211-EBE9901B8B8A}"/>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0BF25E52-ED1F-296F-64E6-53660BDEBE04}"/>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96D02377-1E3E-D0BB-D4E6-7A1124E62B7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4831EE23-89B7-CCA0-54A2-AE95175F883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CD796281-AFBE-BE42-C6DA-FA7BCDD222C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39602286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5B873-74AC-008D-2B2D-10447049496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602CE70-E52A-0511-F470-F2874560195B}"/>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A93B74E5-AC71-0C8B-EBA9-6F1868A6A4C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A87E94E4-5323-DFED-E7EA-28802693A81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996C7577-F552-0F4F-812A-107343CED96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48B04ABD-B83C-03F3-9D8D-39B8E0A672DA}"/>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8E1DD13-D7A1-48A3-3E04-DFFAC4F19D3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2833B906-140E-63B4-9CF6-8026C5DB1A35}"/>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Overview of What is Needed to Start Python Development</a:t>
            </a:r>
          </a:p>
        </p:txBody>
      </p:sp>
      <p:sp>
        <p:nvSpPr>
          <p:cNvPr id="6" name="TextBox 5">
            <a:extLst>
              <a:ext uri="{FF2B5EF4-FFF2-40B4-BE49-F238E27FC236}">
                <a16:creationId xmlns:a16="http://schemas.microsoft.com/office/drawing/2014/main" id="{ED4F69BA-901F-541C-B49C-F3D399FE071C}"/>
              </a:ext>
            </a:extLst>
          </p:cNvPr>
          <p:cNvSpPr txBox="1"/>
          <p:nvPr/>
        </p:nvSpPr>
        <p:spPr>
          <a:xfrm>
            <a:off x="637059" y="2277070"/>
            <a:ext cx="16953563" cy="6740307"/>
          </a:xfrm>
          <a:prstGeom prst="rect">
            <a:avLst/>
          </a:prstGeom>
          <a:noFill/>
        </p:spPr>
        <p:txBody>
          <a:bodyPr wrap="square">
            <a:spAutoFit/>
          </a:bodyPr>
          <a:lstStyle/>
          <a:p>
            <a:pPr lvl="0" algn="just"/>
            <a:r>
              <a:rPr lang="en-US" sz="3600" dirty="0">
                <a:latin typeface="Consolas" panose="020B0609020204030204" pitchFamily="49" charset="0"/>
              </a:rPr>
              <a:t>Before writing any Python code, it's important to prepare the tools that make coding, testing, and running programs easy and efficient. These tools together form Python development environment.</a:t>
            </a:r>
          </a:p>
          <a:p>
            <a:pPr lvl="0" algn="just"/>
            <a:endParaRPr lang="en-US" sz="3600" dirty="0">
              <a:latin typeface="Consolas" panose="020B0609020204030204" pitchFamily="49" charset="0"/>
            </a:endParaRPr>
          </a:p>
          <a:p>
            <a:pPr lvl="0" algn="just"/>
            <a:r>
              <a:rPr lang="en-US" sz="3600" dirty="0">
                <a:latin typeface="Consolas" panose="020B0609020204030204" pitchFamily="49" charset="0"/>
              </a:rPr>
              <a:t>1. </a:t>
            </a:r>
            <a:r>
              <a:rPr lang="en-US" sz="3600" b="1" dirty="0">
                <a:latin typeface="Consolas" panose="020B0609020204030204" pitchFamily="49" charset="0"/>
              </a:rPr>
              <a:t>Python Interpreter - </a:t>
            </a:r>
            <a:r>
              <a:rPr lang="en-US" sz="3600" dirty="0">
                <a:latin typeface="Consolas" panose="020B0609020204030204" pitchFamily="49" charset="0"/>
              </a:rPr>
              <a:t>The Python interpreter is the core software that runs your Python programs. It reads your .</a:t>
            </a:r>
            <a:r>
              <a:rPr lang="en-US" sz="3600" dirty="0" err="1">
                <a:latin typeface="Consolas" panose="020B0609020204030204" pitchFamily="49" charset="0"/>
              </a:rPr>
              <a:t>py</a:t>
            </a:r>
            <a:r>
              <a:rPr lang="en-US" sz="3600" dirty="0">
                <a:latin typeface="Consolas" panose="020B0609020204030204" pitchFamily="49" charset="0"/>
              </a:rPr>
              <a:t> file line by line and translates it into actions your computer can perform. Without the interpreter, your code is just plain text, thus the interpreter gives it meaning.</a:t>
            </a:r>
          </a:p>
          <a:p>
            <a:pPr lvl="0" algn="just"/>
            <a:r>
              <a:rPr lang="en-US" sz="3600" b="1" dirty="0">
                <a:latin typeface="Consolas" panose="020B0609020204030204" pitchFamily="49" charset="0"/>
              </a:rPr>
              <a:t>Example:</a:t>
            </a:r>
          </a:p>
          <a:p>
            <a:pPr lvl="0" algn="just"/>
            <a:endParaRPr lang="en-US" sz="3600" dirty="0">
              <a:latin typeface="Consolas" panose="020B0609020204030204" pitchFamily="49" charset="0"/>
            </a:endParaRPr>
          </a:p>
        </p:txBody>
      </p:sp>
      <p:pic>
        <p:nvPicPr>
          <p:cNvPr id="9" name="Picture 8" descr="A grey background with yellow text&#10;&#10;AI-generated content may be incorrect.">
            <a:extLst>
              <a:ext uri="{FF2B5EF4-FFF2-40B4-BE49-F238E27FC236}">
                <a16:creationId xmlns:a16="http://schemas.microsoft.com/office/drawing/2014/main" id="{FDF22666-846D-4247-87E6-95C1A63CAE3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37059" y="8463379"/>
            <a:ext cx="8817130" cy="1248370"/>
          </a:xfrm>
          <a:prstGeom prst="rect">
            <a:avLst/>
          </a:prstGeom>
        </p:spPr>
      </p:pic>
    </p:spTree>
    <p:extLst>
      <p:ext uri="{BB962C8B-B14F-4D97-AF65-F5344CB8AC3E}">
        <p14:creationId xmlns:p14="http://schemas.microsoft.com/office/powerpoint/2010/main" val="4533163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83B2E2-0FA4-54BC-4C51-3476C44D1E9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C47E8CE-C458-9DBA-7F72-7C1942F9479D}"/>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0386C28-1507-F581-373F-266DAB88180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0514788-7D24-B4BA-FB05-9AE074139A4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364A18A-FF6D-5C1F-B2FE-2EB0994F888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BF66309-2C66-4027-64E5-CDC2E1ED9CC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7F1F7F2-58E6-7CDE-AC1B-40262AA7DA7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32A71FEB-74CA-8EEB-D0C5-A5A416C4CBAD}"/>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Overview of What is Needed to Start Python Development</a:t>
            </a:r>
          </a:p>
        </p:txBody>
      </p:sp>
      <p:sp>
        <p:nvSpPr>
          <p:cNvPr id="6" name="TextBox 5">
            <a:extLst>
              <a:ext uri="{FF2B5EF4-FFF2-40B4-BE49-F238E27FC236}">
                <a16:creationId xmlns:a16="http://schemas.microsoft.com/office/drawing/2014/main" id="{5E1148FA-E7CE-AD36-9E98-FD1B159A22EA}"/>
              </a:ext>
            </a:extLst>
          </p:cNvPr>
          <p:cNvSpPr txBox="1"/>
          <p:nvPr/>
        </p:nvSpPr>
        <p:spPr>
          <a:xfrm>
            <a:off x="637059" y="2277070"/>
            <a:ext cx="16953563" cy="5078313"/>
          </a:xfrm>
          <a:prstGeom prst="rect">
            <a:avLst/>
          </a:prstGeom>
          <a:noFill/>
        </p:spPr>
        <p:txBody>
          <a:bodyPr wrap="square">
            <a:spAutoFit/>
          </a:bodyPr>
          <a:lstStyle/>
          <a:p>
            <a:pPr lvl="0" algn="just"/>
            <a:r>
              <a:rPr lang="en-US" sz="3600" b="1" dirty="0">
                <a:latin typeface="Consolas" panose="020B0609020204030204" pitchFamily="49" charset="0"/>
              </a:rPr>
              <a:t>2. Code Editor or IDE - </a:t>
            </a:r>
            <a:r>
              <a:rPr lang="en-US" sz="3600" dirty="0">
                <a:latin typeface="Consolas" panose="020B0609020204030204" pitchFamily="49" charset="0"/>
              </a:rPr>
              <a:t>This is where you write your Python code. </a:t>
            </a:r>
          </a:p>
          <a:p>
            <a:pPr lvl="0" algn="just"/>
            <a:endParaRPr lang="en-US" sz="3600" dirty="0">
              <a:latin typeface="Consolas" panose="020B0609020204030204" pitchFamily="49" charset="0"/>
            </a:endParaRPr>
          </a:p>
          <a:p>
            <a:pPr lvl="0" algn="just"/>
            <a:r>
              <a:rPr lang="en-US" sz="3600" dirty="0">
                <a:latin typeface="Consolas" panose="020B0609020204030204" pitchFamily="49" charset="0"/>
              </a:rPr>
              <a:t>Types of editors:</a:t>
            </a:r>
          </a:p>
          <a:p>
            <a:pPr lvl="0" algn="just"/>
            <a:r>
              <a:rPr lang="en-US" sz="3600" dirty="0">
                <a:latin typeface="Consolas" panose="020B0609020204030204" pitchFamily="49" charset="0"/>
              </a:rPr>
              <a:t>-	IDLE – comes with Python installation, great for beginners.</a:t>
            </a:r>
          </a:p>
          <a:p>
            <a:pPr lvl="0" algn="just"/>
            <a:r>
              <a:rPr lang="en-US" sz="3600" dirty="0">
                <a:latin typeface="Consolas" panose="020B0609020204030204" pitchFamily="49" charset="0"/>
              </a:rPr>
              <a:t>-	VS Code – a powerful, customizable editor.</a:t>
            </a:r>
          </a:p>
          <a:p>
            <a:pPr lvl="0" algn="just"/>
            <a:r>
              <a:rPr lang="en-US" sz="3600" dirty="0">
                <a:latin typeface="Consolas" panose="020B0609020204030204" pitchFamily="49" charset="0"/>
              </a:rPr>
              <a:t>-	PyCharm – a full IDE for serious Python development.</a:t>
            </a:r>
          </a:p>
          <a:p>
            <a:pPr lvl="0" algn="just"/>
            <a:r>
              <a:rPr lang="en-US" sz="3600" dirty="0">
                <a:latin typeface="Consolas" panose="020B0609020204030204" pitchFamily="49" charset="0"/>
              </a:rPr>
              <a:t>-	</a:t>
            </a:r>
            <a:r>
              <a:rPr lang="en-US" sz="3600" dirty="0" err="1">
                <a:latin typeface="Consolas" panose="020B0609020204030204" pitchFamily="49" charset="0"/>
              </a:rPr>
              <a:t>Jupyter</a:t>
            </a:r>
            <a:r>
              <a:rPr lang="en-US" sz="3600" dirty="0">
                <a:latin typeface="Consolas" panose="020B0609020204030204" pitchFamily="49" charset="0"/>
              </a:rPr>
              <a:t> Notebook – ideal for writing code with explanations and outputs (often used in data science).</a:t>
            </a:r>
          </a:p>
          <a:p>
            <a:pPr lvl="0" algn="just"/>
            <a:r>
              <a:rPr lang="en-US" sz="3600" b="1" dirty="0">
                <a:latin typeface="Consolas" panose="020B0609020204030204" pitchFamily="49" charset="0"/>
              </a:rPr>
              <a:t> </a:t>
            </a:r>
          </a:p>
        </p:txBody>
      </p:sp>
    </p:spTree>
    <p:extLst>
      <p:ext uri="{BB962C8B-B14F-4D97-AF65-F5344CB8AC3E}">
        <p14:creationId xmlns:p14="http://schemas.microsoft.com/office/powerpoint/2010/main" val="34625279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626192-B1AB-801A-0FBB-278FC693FB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76B5B8D-87A0-0B14-DFB7-32A7C23C8CB6}"/>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3655EA8C-72D8-DF92-A055-82247B065AA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B32373C-2EC6-EEAE-E783-910A1DA04E6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43386F85-2495-4BD6-0868-D1CB82320C5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3D3FA8D5-BEF1-0CCA-3DFC-06EA1DBA23C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D1A64E5-5EAA-982E-2108-F3DBF043589E}"/>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DA04F0E-76D0-CCD5-2DB6-ECDD708DE284}"/>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Overview of What is Needed to Start Python Development</a:t>
            </a:r>
          </a:p>
        </p:txBody>
      </p:sp>
      <p:sp>
        <p:nvSpPr>
          <p:cNvPr id="6" name="TextBox 5">
            <a:extLst>
              <a:ext uri="{FF2B5EF4-FFF2-40B4-BE49-F238E27FC236}">
                <a16:creationId xmlns:a16="http://schemas.microsoft.com/office/drawing/2014/main" id="{752E8C8E-EB86-6D1A-AE0E-D96522AB0105}"/>
              </a:ext>
            </a:extLst>
          </p:cNvPr>
          <p:cNvSpPr txBox="1"/>
          <p:nvPr/>
        </p:nvSpPr>
        <p:spPr>
          <a:xfrm>
            <a:off x="637059" y="2277070"/>
            <a:ext cx="16953563" cy="5078313"/>
          </a:xfrm>
          <a:prstGeom prst="rect">
            <a:avLst/>
          </a:prstGeom>
          <a:noFill/>
        </p:spPr>
        <p:txBody>
          <a:bodyPr wrap="square">
            <a:spAutoFit/>
          </a:bodyPr>
          <a:lstStyle/>
          <a:p>
            <a:pPr lvl="0" algn="just"/>
            <a:r>
              <a:rPr lang="en-US" sz="3600" b="1" dirty="0">
                <a:latin typeface="Consolas" panose="020B0609020204030204" pitchFamily="49" charset="0"/>
              </a:rPr>
              <a:t>3. Terminal or Command Prompt - </a:t>
            </a:r>
            <a:r>
              <a:rPr lang="en-US" sz="3600" dirty="0">
                <a:latin typeface="Consolas" panose="020B0609020204030204" pitchFamily="49" charset="0"/>
              </a:rPr>
              <a:t>This is a text-based interface where you can run commands like launching Python scripts or navigating folders.</a:t>
            </a:r>
          </a:p>
          <a:p>
            <a:pPr lvl="0" algn="just"/>
            <a:r>
              <a:rPr lang="en-US" sz="3600" dirty="0">
                <a:latin typeface="Consolas" panose="020B0609020204030204" pitchFamily="49" charset="0"/>
              </a:rPr>
              <a:t>Example: When running a python script, use either of the following commands on the root directory of the file/s:</a:t>
            </a: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r>
              <a:rPr lang="en-US" sz="3600" b="1" dirty="0">
                <a:latin typeface="Consolas" panose="020B0609020204030204" pitchFamily="49" charset="0"/>
              </a:rPr>
              <a:t> </a:t>
            </a:r>
          </a:p>
        </p:txBody>
      </p:sp>
      <p:pic>
        <p:nvPicPr>
          <p:cNvPr id="7" name="Picture 6">
            <a:extLst>
              <a:ext uri="{FF2B5EF4-FFF2-40B4-BE49-F238E27FC236}">
                <a16:creationId xmlns:a16="http://schemas.microsoft.com/office/drawing/2014/main" id="{9BB151AC-1BA2-D3AF-C63B-A0B854FDE22D}"/>
              </a:ext>
            </a:extLst>
          </p:cNvPr>
          <p:cNvPicPr>
            <a:picLocks noChangeAspect="1"/>
          </p:cNvPicPr>
          <p:nvPr/>
        </p:nvPicPr>
        <p:blipFill rotWithShape="1">
          <a:blip r:embed="rId7">
            <a:extLst>
              <a:ext uri="{28A0092B-C50C-407E-A947-70E740481C1C}">
                <a14:useLocalDpi xmlns:a14="http://schemas.microsoft.com/office/drawing/2010/main" val="0"/>
              </a:ext>
            </a:extLst>
          </a:blip>
          <a:srcRect t="16359" b="18105"/>
          <a:stretch>
            <a:fillRect/>
          </a:stretch>
        </p:blipFill>
        <p:spPr bwMode="auto">
          <a:xfrm>
            <a:off x="743643" y="5359340"/>
            <a:ext cx="6805672" cy="536490"/>
          </a:xfrm>
          <a:prstGeom prst="rect">
            <a:avLst/>
          </a:prstGeom>
          <a:ln>
            <a:noFill/>
          </a:ln>
          <a:extLst>
            <a:ext uri="{53640926-AAD7-44D8-BBD7-CCE9431645EC}">
              <a14:shadowObscured xmlns:a14="http://schemas.microsoft.com/office/drawing/2010/main"/>
            </a:ext>
          </a:extLst>
        </p:spPr>
      </p:pic>
      <p:pic>
        <p:nvPicPr>
          <p:cNvPr id="8" name="Picture 7">
            <a:extLst>
              <a:ext uri="{FF2B5EF4-FFF2-40B4-BE49-F238E27FC236}">
                <a16:creationId xmlns:a16="http://schemas.microsoft.com/office/drawing/2014/main" id="{CAC592A3-3D70-D0AC-BE0D-868C3BF20D88}"/>
              </a:ext>
            </a:extLst>
          </p:cNvPr>
          <p:cNvPicPr>
            <a:picLocks noChangeAspect="1"/>
          </p:cNvPicPr>
          <p:nvPr/>
        </p:nvPicPr>
        <p:blipFill rotWithShape="1">
          <a:blip r:embed="rId8">
            <a:extLst>
              <a:ext uri="{28A0092B-C50C-407E-A947-70E740481C1C}">
                <a14:useLocalDpi xmlns:a14="http://schemas.microsoft.com/office/drawing/2010/main" val="0"/>
              </a:ext>
            </a:extLst>
          </a:blip>
          <a:srcRect b="23257"/>
          <a:stretch>
            <a:fillRect/>
          </a:stretch>
        </p:blipFill>
        <p:spPr bwMode="auto">
          <a:xfrm>
            <a:off x="749993" y="6101992"/>
            <a:ext cx="6816312" cy="57600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388345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5F5F2-E4C0-9439-3D8A-E774FCDAF26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B0FA96A-B5AC-B3A9-5198-F5A40DA5C2C9}"/>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421A6CA7-A74B-4AC4-E963-A5A476C63F4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DB10CEE5-E5F5-C000-CB24-83153A9A704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D2A4152-47A1-441B-0E6F-2927315AD9C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CC6A55F-B027-FAEC-0E26-46D4F8E5892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2FE898E-6D24-BC11-4F7B-22251E40B497}"/>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B577DA35-91CF-C413-94C4-9C5FE1ED0309}"/>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Overview of What is Needed to Start Python Development</a:t>
            </a:r>
          </a:p>
        </p:txBody>
      </p:sp>
      <p:sp>
        <p:nvSpPr>
          <p:cNvPr id="6" name="TextBox 5">
            <a:extLst>
              <a:ext uri="{FF2B5EF4-FFF2-40B4-BE49-F238E27FC236}">
                <a16:creationId xmlns:a16="http://schemas.microsoft.com/office/drawing/2014/main" id="{9839DE59-CEAB-115C-749A-A6F6D4A89B3A}"/>
              </a:ext>
            </a:extLst>
          </p:cNvPr>
          <p:cNvSpPr txBox="1"/>
          <p:nvPr/>
        </p:nvSpPr>
        <p:spPr>
          <a:xfrm>
            <a:off x="637059" y="2277070"/>
            <a:ext cx="16953563" cy="6186309"/>
          </a:xfrm>
          <a:prstGeom prst="rect">
            <a:avLst/>
          </a:prstGeom>
          <a:noFill/>
        </p:spPr>
        <p:txBody>
          <a:bodyPr wrap="square">
            <a:spAutoFit/>
          </a:bodyPr>
          <a:lstStyle/>
          <a:p>
            <a:pPr lvl="0"/>
            <a:r>
              <a:rPr lang="en-US" sz="3600" b="1" dirty="0">
                <a:latin typeface="Consolas" panose="020B0609020204030204" pitchFamily="49" charset="0"/>
              </a:rPr>
              <a:t>4. Package Manager </a:t>
            </a:r>
            <a:r>
              <a:rPr lang="en-US" sz="3600" dirty="0">
                <a:latin typeface="Consolas" panose="020B0609020204030204" pitchFamily="49" charset="0"/>
              </a:rPr>
              <a:t>- pip is Python’s package installer to add external libraries.</a:t>
            </a:r>
          </a:p>
          <a:p>
            <a:pPr lvl="0"/>
            <a:r>
              <a:rPr lang="en-US" sz="3600" dirty="0">
                <a:latin typeface="Consolas" panose="020B0609020204030204" pitchFamily="49" charset="0"/>
              </a:rPr>
              <a:t>Example:</a:t>
            </a:r>
          </a:p>
          <a:p>
            <a:pPr lvl="0"/>
            <a:r>
              <a:rPr lang="en-US" sz="3600" b="1" dirty="0">
                <a:latin typeface="Consolas" panose="020B0609020204030204" pitchFamily="49" charset="0"/>
              </a:rPr>
              <a:t>Installing</a:t>
            </a:r>
          </a:p>
          <a:p>
            <a:pPr lvl="0"/>
            <a:r>
              <a:rPr lang="en-US" sz="3600" dirty="0">
                <a:latin typeface="Consolas" panose="020B0609020204030204" pitchFamily="49" charset="0"/>
              </a:rPr>
              <a:t>pip install </a:t>
            </a:r>
            <a:r>
              <a:rPr lang="en-US" sz="3600" dirty="0" err="1">
                <a:latin typeface="Consolas" panose="020B0609020204030204" pitchFamily="49" charset="0"/>
              </a:rPr>
              <a:t>numpy</a:t>
            </a:r>
            <a:endParaRPr lang="en-US" sz="3600" dirty="0">
              <a:latin typeface="Consolas" panose="020B0609020204030204" pitchFamily="49" charset="0"/>
            </a:endParaRPr>
          </a:p>
          <a:p>
            <a:pPr lvl="0"/>
            <a:endParaRPr lang="en-US" sz="3600" b="1" dirty="0">
              <a:latin typeface="Consolas" panose="020B0609020204030204" pitchFamily="49" charset="0"/>
            </a:endParaRPr>
          </a:p>
          <a:p>
            <a:pPr lvl="0"/>
            <a:r>
              <a:rPr lang="en-US" sz="3600" b="1" dirty="0">
                <a:latin typeface="Consolas" panose="020B0609020204030204" pitchFamily="49" charset="0"/>
              </a:rPr>
              <a:t>Uninstalling</a:t>
            </a:r>
          </a:p>
          <a:p>
            <a:pPr lvl="0"/>
            <a:r>
              <a:rPr lang="en-US" sz="3600" dirty="0">
                <a:latin typeface="Consolas" panose="020B0609020204030204" pitchFamily="49" charset="0"/>
              </a:rPr>
              <a:t>pip uninstall </a:t>
            </a:r>
            <a:r>
              <a:rPr lang="en-US" sz="3600" dirty="0" err="1">
                <a:latin typeface="Consolas" panose="020B0609020204030204" pitchFamily="49" charset="0"/>
              </a:rPr>
              <a:t>numpy</a:t>
            </a:r>
            <a:endParaRPr lang="en-US" sz="3600" dirty="0">
              <a:latin typeface="Consolas" panose="020B0609020204030204" pitchFamily="49" charset="0"/>
            </a:endParaRPr>
          </a:p>
          <a:p>
            <a:pPr lvl="0"/>
            <a:endParaRPr lang="en-US" sz="3600" dirty="0">
              <a:latin typeface="Consolas" panose="020B0609020204030204" pitchFamily="49" charset="0"/>
            </a:endParaRPr>
          </a:p>
          <a:p>
            <a:pPr lvl="0"/>
            <a:r>
              <a:rPr lang="en-US" sz="3600" b="1" dirty="0">
                <a:latin typeface="Consolas" panose="020B0609020204030204" pitchFamily="49" charset="0"/>
              </a:rPr>
              <a:t>Upgrading</a:t>
            </a:r>
          </a:p>
          <a:p>
            <a:pPr lvl="0"/>
            <a:r>
              <a:rPr lang="en-US" sz="3600" dirty="0">
                <a:latin typeface="Consolas" panose="020B0609020204030204" pitchFamily="49" charset="0"/>
              </a:rPr>
              <a:t>pip install --upgrade </a:t>
            </a:r>
            <a:r>
              <a:rPr lang="en-US" sz="3600" dirty="0" err="1">
                <a:latin typeface="Consolas" panose="020B0609020204030204" pitchFamily="49" charset="0"/>
              </a:rPr>
              <a:t>numpy</a:t>
            </a:r>
            <a:endParaRPr lang="en-US" sz="3600" dirty="0">
              <a:latin typeface="Consolas" panose="020B0609020204030204" pitchFamily="49" charset="0"/>
            </a:endParaRPr>
          </a:p>
        </p:txBody>
      </p:sp>
    </p:spTree>
    <p:extLst>
      <p:ext uri="{BB962C8B-B14F-4D97-AF65-F5344CB8AC3E}">
        <p14:creationId xmlns:p14="http://schemas.microsoft.com/office/powerpoint/2010/main" val="11407511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25B94-A5F6-4162-4D66-51816887085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36773E8-F03B-2ABE-7546-1277BFCCF5B8}"/>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B94E7409-D42C-81A0-C0E8-E04EDED995A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10AF92C6-299A-DAEB-0A67-2434BAC6253A}"/>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8AB3151-CAA7-F803-9057-995DBCCD0CC9}"/>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61807CA-E663-011E-231B-A69C54DD4CBF}"/>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27C107E7-C62F-2F9E-B8ED-374E3D4DD1AB}"/>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DE893BBA-9DE4-6521-73A1-E52424689472}"/>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File Management</a:t>
            </a:r>
          </a:p>
        </p:txBody>
      </p:sp>
      <p:sp>
        <p:nvSpPr>
          <p:cNvPr id="6" name="TextBox 5">
            <a:extLst>
              <a:ext uri="{FF2B5EF4-FFF2-40B4-BE49-F238E27FC236}">
                <a16:creationId xmlns:a16="http://schemas.microsoft.com/office/drawing/2014/main" id="{4EC928F3-18B5-F65C-C487-0FEAF9718CC9}"/>
              </a:ext>
            </a:extLst>
          </p:cNvPr>
          <p:cNvSpPr txBox="1"/>
          <p:nvPr/>
        </p:nvSpPr>
        <p:spPr>
          <a:xfrm>
            <a:off x="637059" y="2277070"/>
            <a:ext cx="16953563" cy="5632311"/>
          </a:xfrm>
          <a:prstGeom prst="rect">
            <a:avLst/>
          </a:prstGeom>
          <a:noFill/>
        </p:spPr>
        <p:txBody>
          <a:bodyPr wrap="square">
            <a:spAutoFit/>
          </a:bodyPr>
          <a:lstStyle/>
          <a:p>
            <a:pPr lvl="0" algn="just"/>
            <a:r>
              <a:rPr lang="en-US" sz="3600" dirty="0">
                <a:latin typeface="Consolas" panose="020B0609020204030204" pitchFamily="49" charset="0"/>
              </a:rPr>
              <a:t>Python scripts are saved with the .</a:t>
            </a:r>
            <a:r>
              <a:rPr lang="en-US" sz="3600" dirty="0" err="1">
                <a:latin typeface="Consolas" panose="020B0609020204030204" pitchFamily="49" charset="0"/>
              </a:rPr>
              <a:t>py</a:t>
            </a:r>
            <a:r>
              <a:rPr lang="en-US" sz="3600" dirty="0">
                <a:latin typeface="Consolas" panose="020B0609020204030204" pitchFamily="49" charset="0"/>
              </a:rPr>
              <a:t> file extension. It is good practice to organize scripts in separate folders based on topic or project. This helps avoid confusion and makes your workspace cleaner.</a:t>
            </a:r>
          </a:p>
          <a:p>
            <a:pPr lvl="0" algn="just"/>
            <a:endParaRPr lang="en-US" sz="3600" dirty="0">
              <a:latin typeface="Consolas" panose="020B0609020204030204" pitchFamily="49" charset="0"/>
            </a:endParaRPr>
          </a:p>
          <a:p>
            <a:pPr lvl="0" algn="just"/>
            <a:r>
              <a:rPr lang="en-US" sz="3600" dirty="0" err="1">
                <a:latin typeface="Consolas" panose="020B0609020204030204" pitchFamily="49" charset="0"/>
              </a:rPr>
              <a:t>PythonProjects</a:t>
            </a:r>
            <a:r>
              <a:rPr lang="en-US" sz="3600" dirty="0">
                <a:latin typeface="Consolas" panose="020B0609020204030204" pitchFamily="49" charset="0"/>
              </a:rPr>
              <a:t>/</a:t>
            </a:r>
          </a:p>
          <a:p>
            <a:pPr lvl="0" algn="just"/>
            <a:r>
              <a:rPr lang="en-US" sz="3600" dirty="0">
                <a:latin typeface="Consolas" panose="020B0609020204030204" pitchFamily="49" charset="0"/>
              </a:rPr>
              <a:t>├── Lesson1/</a:t>
            </a:r>
          </a:p>
          <a:p>
            <a:pPr lvl="0" algn="just"/>
            <a:r>
              <a:rPr lang="en-US" sz="3600" dirty="0">
                <a:latin typeface="Consolas" panose="020B0609020204030204" pitchFamily="49" charset="0"/>
              </a:rPr>
              <a:t>│   └── hello.py</a:t>
            </a:r>
          </a:p>
          <a:p>
            <a:pPr lvl="0" algn="just"/>
            <a:r>
              <a:rPr lang="en-US" sz="3600" dirty="0">
                <a:latin typeface="Consolas" panose="020B0609020204030204" pitchFamily="49" charset="0"/>
              </a:rPr>
              <a:t>└── Lesson2/</a:t>
            </a:r>
          </a:p>
          <a:p>
            <a:pPr lvl="0" algn="just"/>
            <a:r>
              <a:rPr lang="en-US" sz="3600" dirty="0">
                <a:latin typeface="Consolas" panose="020B0609020204030204" pitchFamily="49" charset="0"/>
              </a:rPr>
              <a:t>    └── calculator.py </a:t>
            </a:r>
          </a:p>
        </p:txBody>
      </p:sp>
    </p:spTree>
    <p:extLst>
      <p:ext uri="{BB962C8B-B14F-4D97-AF65-F5344CB8AC3E}">
        <p14:creationId xmlns:p14="http://schemas.microsoft.com/office/powerpoint/2010/main" val="2607617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67957-CD36-E0F4-64E5-80A070037F1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86EF99B-B0CE-96E5-9FD1-AC044544E310}"/>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843A707A-1FA3-F33F-5A32-78C38216C86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8B024D52-A63B-0A05-B24E-1C904422DA7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FB4F4098-2FE2-6351-D5A7-9AFF7C7EF42E}"/>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6F0DA883-8E3F-773B-4BC5-CA6CE71762D0}"/>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D3E8090-4D7E-EE76-1283-FBB723ADB66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5E65C295-93CC-F158-E097-172B6D5A4C80}"/>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How to run code using the IDE</a:t>
            </a:r>
          </a:p>
        </p:txBody>
      </p:sp>
      <p:sp>
        <p:nvSpPr>
          <p:cNvPr id="6" name="TextBox 5">
            <a:extLst>
              <a:ext uri="{FF2B5EF4-FFF2-40B4-BE49-F238E27FC236}">
                <a16:creationId xmlns:a16="http://schemas.microsoft.com/office/drawing/2014/main" id="{27DE0E12-453B-2140-49BD-1AA7C5CA7E64}"/>
              </a:ext>
            </a:extLst>
          </p:cNvPr>
          <p:cNvSpPr txBox="1"/>
          <p:nvPr/>
        </p:nvSpPr>
        <p:spPr>
          <a:xfrm>
            <a:off x="637059" y="2277070"/>
            <a:ext cx="16953563" cy="7294305"/>
          </a:xfrm>
          <a:prstGeom prst="rect">
            <a:avLst/>
          </a:prstGeom>
          <a:noFill/>
        </p:spPr>
        <p:txBody>
          <a:bodyPr wrap="square">
            <a:spAutoFit/>
          </a:bodyPr>
          <a:lstStyle/>
          <a:p>
            <a:pPr lvl="0" algn="just"/>
            <a:r>
              <a:rPr lang="en-US" sz="3600" dirty="0">
                <a:latin typeface="Consolas" panose="020B0609020204030204" pitchFamily="49" charset="0"/>
              </a:rPr>
              <a:t>1. Using IDLE</a:t>
            </a:r>
          </a:p>
          <a:p>
            <a:pPr marL="571500" lvl="0" indent="-571500" algn="just">
              <a:buFontTx/>
              <a:buChar char="-"/>
            </a:pPr>
            <a:r>
              <a:rPr lang="en-US" sz="3600" dirty="0">
                <a:latin typeface="Consolas" panose="020B0609020204030204" pitchFamily="49" charset="0"/>
              </a:rPr>
              <a:t>Open IDLE</a:t>
            </a:r>
          </a:p>
          <a:p>
            <a:pPr marL="571500" lvl="0" indent="-571500" algn="just">
              <a:buFontTx/>
              <a:buChar char="-"/>
            </a:pPr>
            <a:r>
              <a:rPr lang="en-US" sz="3600" dirty="0">
                <a:latin typeface="Consolas" panose="020B0609020204030204" pitchFamily="49" charset="0"/>
              </a:rPr>
              <a:t>Click File &gt; New File, write your code.</a:t>
            </a:r>
          </a:p>
          <a:p>
            <a:pPr marL="571500" lvl="0" indent="-571500" algn="just">
              <a:buFontTx/>
              <a:buChar char="-"/>
            </a:pPr>
            <a:r>
              <a:rPr lang="en-US" sz="3600" dirty="0">
                <a:latin typeface="Consolas" panose="020B0609020204030204" pitchFamily="49" charset="0"/>
              </a:rPr>
              <a:t>Save file with a .</a:t>
            </a:r>
            <a:r>
              <a:rPr lang="en-US" sz="3600" dirty="0" err="1">
                <a:latin typeface="Consolas" panose="020B0609020204030204" pitchFamily="49" charset="0"/>
              </a:rPr>
              <a:t>py</a:t>
            </a:r>
            <a:r>
              <a:rPr lang="en-US" sz="3600" dirty="0">
                <a:latin typeface="Consolas" panose="020B0609020204030204" pitchFamily="49" charset="0"/>
              </a:rPr>
              <a:t> extension</a:t>
            </a:r>
          </a:p>
          <a:p>
            <a:pPr marL="571500" lvl="0" indent="-571500" algn="just">
              <a:buFontTx/>
              <a:buChar char="-"/>
            </a:pPr>
            <a:r>
              <a:rPr lang="en-US" sz="3600" dirty="0">
                <a:latin typeface="Consolas" panose="020B0609020204030204" pitchFamily="49" charset="0"/>
              </a:rPr>
              <a:t>Press F5 or Click Run &gt; Run Module to see the output.</a:t>
            </a:r>
          </a:p>
          <a:p>
            <a:pPr lvl="0" algn="just"/>
            <a:endParaRPr lang="en-US" sz="3600" dirty="0">
              <a:latin typeface="Consolas" panose="020B0609020204030204" pitchFamily="49" charset="0"/>
            </a:endParaRPr>
          </a:p>
          <a:p>
            <a:pPr lvl="0" algn="just"/>
            <a:r>
              <a:rPr lang="en-US" sz="3600" dirty="0">
                <a:latin typeface="Consolas" panose="020B0609020204030204" pitchFamily="49" charset="0"/>
              </a:rPr>
              <a:t>2. Using VS Code</a:t>
            </a:r>
          </a:p>
          <a:p>
            <a:pPr marL="571500" lvl="0" indent="-571500" algn="just">
              <a:buFontTx/>
              <a:buChar char="-"/>
            </a:pPr>
            <a:r>
              <a:rPr lang="en-US" sz="3600" dirty="0">
                <a:latin typeface="Consolas" panose="020B0609020204030204" pitchFamily="49" charset="0"/>
              </a:rPr>
              <a:t>Create new .</a:t>
            </a:r>
            <a:r>
              <a:rPr lang="en-US" sz="3600" dirty="0" err="1">
                <a:latin typeface="Consolas" panose="020B0609020204030204" pitchFamily="49" charset="0"/>
              </a:rPr>
              <a:t>py</a:t>
            </a:r>
            <a:r>
              <a:rPr lang="en-US" sz="3600" dirty="0">
                <a:latin typeface="Consolas" panose="020B0609020204030204" pitchFamily="49" charset="0"/>
              </a:rPr>
              <a:t> file.</a:t>
            </a:r>
          </a:p>
          <a:p>
            <a:pPr marL="571500" lvl="0" indent="-571500" algn="just">
              <a:buFontTx/>
              <a:buChar char="-"/>
            </a:pPr>
            <a:r>
              <a:rPr lang="en-US" sz="3600" dirty="0">
                <a:latin typeface="Consolas" panose="020B0609020204030204" pitchFamily="49" charset="0"/>
              </a:rPr>
              <a:t>Press </a:t>
            </a:r>
            <a:r>
              <a:rPr lang="en-US" sz="3600" b="1" dirty="0">
                <a:latin typeface="Consolas" panose="020B0609020204030204" pitchFamily="49" charset="0"/>
              </a:rPr>
              <a:t>Ctrl + Shift + P </a:t>
            </a:r>
            <a:r>
              <a:rPr lang="en-US" sz="3600" dirty="0">
                <a:latin typeface="Consolas" panose="020B0609020204030204" pitchFamily="49" charset="0"/>
              </a:rPr>
              <a:t>&gt; </a:t>
            </a:r>
            <a:r>
              <a:rPr lang="en-US" sz="3600" b="1" dirty="0">
                <a:latin typeface="Consolas" panose="020B0609020204030204" pitchFamily="49" charset="0"/>
              </a:rPr>
              <a:t>Python; Run Python File in Terminal </a:t>
            </a:r>
            <a:r>
              <a:rPr lang="en-US" sz="3600" dirty="0">
                <a:latin typeface="Consolas" panose="020B0609020204030204" pitchFamily="49" charset="0"/>
              </a:rPr>
              <a:t>to run </a:t>
            </a:r>
            <a:r>
              <a:rPr lang="en-US" sz="3600" b="1" dirty="0">
                <a:latin typeface="Consolas" panose="020B0609020204030204" pitchFamily="49" charset="0"/>
              </a:rPr>
              <a:t>or</a:t>
            </a:r>
            <a:r>
              <a:rPr lang="en-US" sz="3600" dirty="0">
                <a:latin typeface="Consolas" panose="020B0609020204030204" pitchFamily="49" charset="0"/>
              </a:rPr>
              <a:t> </a:t>
            </a:r>
            <a:r>
              <a:rPr lang="en-US" sz="3600" b="1" dirty="0">
                <a:latin typeface="Consolas" panose="020B0609020204030204" pitchFamily="49" charset="0"/>
              </a:rPr>
              <a:t>Open</a:t>
            </a:r>
            <a:r>
              <a:rPr lang="en-US" sz="3600" dirty="0">
                <a:latin typeface="Consolas" panose="020B0609020204030204" pitchFamily="49" charset="0"/>
              </a:rPr>
              <a:t> the </a:t>
            </a:r>
            <a:r>
              <a:rPr lang="en-US" sz="3600" b="1" dirty="0">
                <a:latin typeface="Consolas" panose="020B0609020204030204" pitchFamily="49" charset="0"/>
              </a:rPr>
              <a:t>integrated terminal </a:t>
            </a:r>
            <a:r>
              <a:rPr lang="en-US" sz="3600" dirty="0">
                <a:latin typeface="Consolas" panose="020B0609020204030204" pitchFamily="49" charset="0"/>
              </a:rPr>
              <a:t>then run the following command: </a:t>
            </a:r>
          </a:p>
          <a:p>
            <a:pPr lvl="0" algn="just"/>
            <a:r>
              <a:rPr lang="en-US" sz="3600" dirty="0">
                <a:latin typeface="Consolas" panose="020B0609020204030204" pitchFamily="49" charset="0"/>
              </a:rPr>
              <a:t>		</a:t>
            </a:r>
            <a:r>
              <a:rPr lang="en-US" sz="3600" dirty="0" err="1">
                <a:latin typeface="Consolas" panose="020B0609020204030204" pitchFamily="49" charset="0"/>
              </a:rPr>
              <a:t>py</a:t>
            </a:r>
            <a:r>
              <a:rPr lang="en-US" sz="3600" dirty="0">
                <a:latin typeface="Consolas" panose="020B0609020204030204" pitchFamily="49" charset="0"/>
              </a:rPr>
              <a:t> &lt;filename.py&gt;</a:t>
            </a:r>
          </a:p>
          <a:p>
            <a:pPr lvl="0" algn="just"/>
            <a:r>
              <a:rPr lang="en-US" sz="3600" dirty="0">
                <a:latin typeface="Consolas" panose="020B0609020204030204" pitchFamily="49" charset="0"/>
              </a:rPr>
              <a:t>		python &lt;filename.py&gt;</a:t>
            </a:r>
          </a:p>
        </p:txBody>
      </p:sp>
    </p:spTree>
    <p:extLst>
      <p:ext uri="{BB962C8B-B14F-4D97-AF65-F5344CB8AC3E}">
        <p14:creationId xmlns:p14="http://schemas.microsoft.com/office/powerpoint/2010/main" val="24936602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6F6D8A-9050-8023-4C87-FC23E01D5C23}"/>
            </a:ext>
          </a:extLst>
        </p:cNvPr>
        <p:cNvGrpSpPr/>
        <p:nvPr/>
      </p:nvGrpSpPr>
      <p:grpSpPr>
        <a:xfrm>
          <a:off x="0" y="0"/>
          <a:ext cx="0" cy="0"/>
          <a:chOff x="0" y="0"/>
          <a:chExt cx="0" cy="0"/>
        </a:xfrm>
      </p:grpSpPr>
      <p:pic>
        <p:nvPicPr>
          <p:cNvPr id="43" name="Picture 42" descr="A blue and orange square&#10;&#10;Description automatically generated">
            <a:extLst>
              <a:ext uri="{FF2B5EF4-FFF2-40B4-BE49-F238E27FC236}">
                <a16:creationId xmlns:a16="http://schemas.microsoft.com/office/drawing/2014/main" id="{7E1AB370-0619-F7EA-265E-68AB127F72C7}"/>
              </a:ext>
            </a:extLst>
          </p:cNvPr>
          <p:cNvPicPr>
            <a:picLocks noChangeAspect="1"/>
          </p:cNvPicPr>
          <p:nvPr/>
        </p:nvPicPr>
        <p:blipFill rotWithShape="1">
          <a:blip r:embed="rId3">
            <a:alphaModFix amt="50000"/>
            <a:extLst>
              <a:ext uri="{28A0092B-C50C-407E-A947-70E740481C1C}">
                <a14:useLocalDpi xmlns:a14="http://schemas.microsoft.com/office/drawing/2010/main" val="0"/>
              </a:ext>
            </a:extLst>
          </a:blip>
          <a:srcRect l="10264" r="12208"/>
          <a:stretch/>
        </p:blipFill>
        <p:spPr>
          <a:xfrm>
            <a:off x="1" y="2939231"/>
            <a:ext cx="18287999" cy="4408536"/>
          </a:xfrm>
          <a:prstGeom prst="rect">
            <a:avLst/>
          </a:prstGeom>
        </p:spPr>
      </p:pic>
      <p:sp>
        <p:nvSpPr>
          <p:cNvPr id="20" name="Freeform 20">
            <a:extLst>
              <a:ext uri="{FF2B5EF4-FFF2-40B4-BE49-F238E27FC236}">
                <a16:creationId xmlns:a16="http://schemas.microsoft.com/office/drawing/2014/main" id="{CDF5E828-C79B-CD8C-0416-2DDE963EC83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sp>
        <p:nvSpPr>
          <p:cNvPr id="28" name="TextBox 28">
            <a:extLst>
              <a:ext uri="{FF2B5EF4-FFF2-40B4-BE49-F238E27FC236}">
                <a16:creationId xmlns:a16="http://schemas.microsoft.com/office/drawing/2014/main" id="{2F2B945B-C78B-CAC2-3447-95AFA4E8E32F}"/>
              </a:ext>
            </a:extLst>
          </p:cNvPr>
          <p:cNvSpPr txBox="1"/>
          <p:nvPr/>
        </p:nvSpPr>
        <p:spPr>
          <a:xfrm>
            <a:off x="1138730" y="3577237"/>
            <a:ext cx="15998250" cy="3132524"/>
          </a:xfrm>
          <a:prstGeom prst="rect">
            <a:avLst/>
          </a:prstGeom>
        </p:spPr>
        <p:txBody>
          <a:bodyPr wrap="square" lIns="0" tIns="0" rIns="0" bIns="0" rtlCol="0" anchor="t">
            <a:spAutoFit/>
          </a:bodyPr>
          <a:lstStyle/>
          <a:p>
            <a:pPr algn="l">
              <a:lnSpc>
                <a:spcPts val="12857"/>
              </a:lnSpc>
            </a:pPr>
            <a:r>
              <a:rPr lang="en-US" sz="7200" spc="-360" dirty="0">
                <a:ln>
                  <a:solidFill>
                    <a:sysClr val="windowText" lastClr="000000"/>
                  </a:solidFill>
                </a:ln>
                <a:solidFill>
                  <a:schemeClr val="bg1"/>
                </a:solidFill>
                <a:latin typeface="Consolas" panose="020B0609020204030204" pitchFamily="49" charset="0"/>
              </a:rPr>
              <a:t>Lesson 1.4: Installation of Python Application and Interpreter</a:t>
            </a:r>
          </a:p>
        </p:txBody>
      </p:sp>
      <p:grpSp>
        <p:nvGrpSpPr>
          <p:cNvPr id="34" name="Group 13">
            <a:extLst>
              <a:ext uri="{FF2B5EF4-FFF2-40B4-BE49-F238E27FC236}">
                <a16:creationId xmlns:a16="http://schemas.microsoft.com/office/drawing/2014/main" id="{DAFAD242-D172-14A7-CBF6-B9FB66E9B334}"/>
              </a:ext>
            </a:extLst>
          </p:cNvPr>
          <p:cNvGrpSpPr/>
          <p:nvPr/>
        </p:nvGrpSpPr>
        <p:grpSpPr>
          <a:xfrm>
            <a:off x="152400" y="211586"/>
            <a:ext cx="6840467" cy="1321138"/>
            <a:chOff x="0" y="0"/>
            <a:chExt cx="15396444" cy="3066458"/>
          </a:xfrm>
        </p:grpSpPr>
        <p:sp>
          <p:nvSpPr>
            <p:cNvPr id="35" name="Freeform 14">
              <a:extLst>
                <a:ext uri="{FF2B5EF4-FFF2-40B4-BE49-F238E27FC236}">
                  <a16:creationId xmlns:a16="http://schemas.microsoft.com/office/drawing/2014/main" id="{94E23D42-1E2F-759F-3760-70AAB7F8A72C}"/>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6" name="Freeform 15">
              <a:extLst>
                <a:ext uri="{FF2B5EF4-FFF2-40B4-BE49-F238E27FC236}">
                  <a16:creationId xmlns:a16="http://schemas.microsoft.com/office/drawing/2014/main" id="{42AB49DC-D210-CB08-0FFB-2ED364A2C934}"/>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7" name="Freeform 16">
              <a:extLst>
                <a:ext uri="{FF2B5EF4-FFF2-40B4-BE49-F238E27FC236}">
                  <a16:creationId xmlns:a16="http://schemas.microsoft.com/office/drawing/2014/main" id="{553654D7-1C05-4203-E18C-4EE2920065B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8" name="Freeform 17">
              <a:extLst>
                <a:ext uri="{FF2B5EF4-FFF2-40B4-BE49-F238E27FC236}">
                  <a16:creationId xmlns:a16="http://schemas.microsoft.com/office/drawing/2014/main" id="{DD8B1A71-C362-1939-4D3E-6A5AE54A3FC8}"/>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39" name="Freeform 18">
              <a:extLst>
                <a:ext uri="{FF2B5EF4-FFF2-40B4-BE49-F238E27FC236}">
                  <a16:creationId xmlns:a16="http://schemas.microsoft.com/office/drawing/2014/main" id="{FBD5A7BD-D0D8-B8E8-D326-5DEEB461BE1E}"/>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sp>
          <p:nvSpPr>
            <p:cNvPr id="40" name="Freeform 19">
              <a:extLst>
                <a:ext uri="{FF2B5EF4-FFF2-40B4-BE49-F238E27FC236}">
                  <a16:creationId xmlns:a16="http://schemas.microsoft.com/office/drawing/2014/main" id="{78CE30CD-E631-B3A3-3FBC-10F469370CDF}"/>
                </a:ext>
              </a:extLst>
            </p:cNvPr>
            <p:cNvSpPr/>
            <p:nvPr/>
          </p:nvSpPr>
          <p:spPr>
            <a:xfrm>
              <a:off x="0" y="0"/>
              <a:ext cx="15396444" cy="3066458"/>
            </a:xfrm>
            <a:custGeom>
              <a:avLst/>
              <a:gdLst/>
              <a:ahLst/>
              <a:cxnLst/>
              <a:rect l="l" t="t" r="r" b="b"/>
              <a:pathLst>
                <a:path w="15396444" h="3066458">
                  <a:moveTo>
                    <a:pt x="0" y="0"/>
                  </a:moveTo>
                  <a:lnTo>
                    <a:pt x="15396444" y="0"/>
                  </a:lnTo>
                  <a:lnTo>
                    <a:pt x="15396444" y="3066458"/>
                  </a:lnTo>
                  <a:lnTo>
                    <a:pt x="0" y="3066458"/>
                  </a:lnTo>
                  <a:lnTo>
                    <a:pt x="0" y="0"/>
                  </a:lnTo>
                  <a:close/>
                </a:path>
              </a:pathLst>
            </a:custGeom>
            <a:blipFill>
              <a:blip r:embed="rId6"/>
              <a:stretch>
                <a:fillRect/>
              </a:stretch>
            </a:blipFill>
          </p:spPr>
          <p:txBody>
            <a:bodyPr/>
            <a:lstStyle/>
            <a:p>
              <a:endParaRPr lang="en-PH"/>
            </a:p>
          </p:txBody>
        </p:sp>
      </p:grpSp>
      <p:grpSp>
        <p:nvGrpSpPr>
          <p:cNvPr id="2" name="Group 2">
            <a:extLst>
              <a:ext uri="{FF2B5EF4-FFF2-40B4-BE49-F238E27FC236}">
                <a16:creationId xmlns:a16="http://schemas.microsoft.com/office/drawing/2014/main" id="{42E53E52-6286-3EAE-0D0F-EDD59ED1D8FB}"/>
              </a:ext>
            </a:extLst>
          </p:cNvPr>
          <p:cNvGrpSpPr/>
          <p:nvPr/>
        </p:nvGrpSpPr>
        <p:grpSpPr>
          <a:xfrm>
            <a:off x="14554200" y="6438900"/>
            <a:ext cx="3886200" cy="3848100"/>
            <a:chOff x="0" y="0"/>
            <a:chExt cx="10022021" cy="9446043"/>
          </a:xfrm>
        </p:grpSpPr>
        <p:sp>
          <p:nvSpPr>
            <p:cNvPr id="3" name="Freeform 3">
              <a:extLst>
                <a:ext uri="{FF2B5EF4-FFF2-40B4-BE49-F238E27FC236}">
                  <a16:creationId xmlns:a16="http://schemas.microsoft.com/office/drawing/2014/main" id="{B814EB50-E6D2-C310-D53C-F4EF407617A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4" name="Freeform 4">
              <a:extLst>
                <a:ext uri="{FF2B5EF4-FFF2-40B4-BE49-F238E27FC236}">
                  <a16:creationId xmlns:a16="http://schemas.microsoft.com/office/drawing/2014/main" id="{8E197F70-9298-2EE8-C484-02B68209FBEC}"/>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sp>
          <p:nvSpPr>
            <p:cNvPr id="5" name="Freeform 5">
              <a:extLst>
                <a:ext uri="{FF2B5EF4-FFF2-40B4-BE49-F238E27FC236}">
                  <a16:creationId xmlns:a16="http://schemas.microsoft.com/office/drawing/2014/main" id="{436C4F30-26D7-173D-A340-83FAC45F947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7">
                <a:alphaModFix amt="50000"/>
              </a:blip>
              <a:stretch>
                <a:fillRect/>
              </a:stretch>
            </a:blipFill>
          </p:spPr>
          <p:txBody>
            <a:bodyPr/>
            <a:lstStyle/>
            <a:p>
              <a:endParaRPr lang="en-PH"/>
            </a:p>
          </p:txBody>
        </p:sp>
      </p:grpSp>
    </p:spTree>
    <p:extLst>
      <p:ext uri="{BB962C8B-B14F-4D97-AF65-F5344CB8AC3E}">
        <p14:creationId xmlns:p14="http://schemas.microsoft.com/office/powerpoint/2010/main" val="33693269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25F14-721A-885E-EBDD-4B20B376B59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91831B-3BAB-6EFC-78BF-8AD6DDF2BF94}"/>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0EB2E08B-1DCF-80D8-D798-A3A16B9F7820}"/>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C58078B3-17A1-AACB-4567-21ECE48E546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A9F29CBE-8DE9-EF32-F353-8D68A6A5360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E7965754-51D4-B86E-D0C5-2A81F1DD760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50F3133D-5638-2E10-F823-1C39F07796AD}"/>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854E662A-C9C6-4AED-9B99-38A06B15D878}"/>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Preliminary Activity: Check your computer</a:t>
            </a:r>
          </a:p>
        </p:txBody>
      </p:sp>
      <p:sp>
        <p:nvSpPr>
          <p:cNvPr id="6" name="TextBox 5">
            <a:extLst>
              <a:ext uri="{FF2B5EF4-FFF2-40B4-BE49-F238E27FC236}">
                <a16:creationId xmlns:a16="http://schemas.microsoft.com/office/drawing/2014/main" id="{6AF8846D-B7A8-D7D0-4A03-8BC5B32CD412}"/>
              </a:ext>
            </a:extLst>
          </p:cNvPr>
          <p:cNvSpPr txBox="1"/>
          <p:nvPr/>
        </p:nvSpPr>
        <p:spPr>
          <a:xfrm>
            <a:off x="637059" y="2277070"/>
            <a:ext cx="16953563" cy="2308324"/>
          </a:xfrm>
          <a:prstGeom prst="rect">
            <a:avLst/>
          </a:prstGeom>
          <a:noFill/>
        </p:spPr>
        <p:txBody>
          <a:bodyPr wrap="square">
            <a:spAutoFit/>
          </a:bodyPr>
          <a:lstStyle/>
          <a:p>
            <a:pPr lvl="0" algn="just"/>
            <a:r>
              <a:rPr lang="en-US" sz="3600" dirty="0">
                <a:latin typeface="Consolas" panose="020B0609020204030204" pitchFamily="49" charset="0"/>
              </a:rPr>
              <a:t>Let’s check whether Python is already installed by running this command:</a:t>
            </a:r>
          </a:p>
          <a:p>
            <a:pPr lvl="0" algn="just"/>
            <a:endParaRPr lang="en-US" sz="3600" dirty="0">
              <a:latin typeface="Consolas" panose="020B0609020204030204" pitchFamily="49" charset="0"/>
            </a:endParaRPr>
          </a:p>
          <a:p>
            <a:pPr lvl="0" algn="just"/>
            <a:r>
              <a:rPr lang="en-US" sz="3600" dirty="0">
                <a:latin typeface="Consolas" panose="020B0609020204030204" pitchFamily="49" charset="0"/>
              </a:rPr>
              <a:t>python --version</a:t>
            </a:r>
          </a:p>
        </p:txBody>
      </p:sp>
    </p:spTree>
    <p:extLst>
      <p:ext uri="{BB962C8B-B14F-4D97-AF65-F5344CB8AC3E}">
        <p14:creationId xmlns:p14="http://schemas.microsoft.com/office/powerpoint/2010/main" val="32330153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49CC3-2F53-225B-775E-576FF13D920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91DAB23-58C6-CE67-AE41-BCBDA4E010A2}"/>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E6D77322-25A5-AA15-C7DD-EE9B5FF5E89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3A65B793-3E22-6FAF-3FC5-41FEB2EA25C6}"/>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E779DE4A-242D-6C04-CFE5-8EB0701FB4C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BE43D731-2D8F-E899-DCA9-A8AB335EABC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CC6A17DC-AED5-39DA-94C3-AE1A30E1264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9417BC8E-E7BC-9856-E5E9-969CBDF96B7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What is Python Application and Interpreter</a:t>
            </a:r>
          </a:p>
        </p:txBody>
      </p:sp>
      <p:sp>
        <p:nvSpPr>
          <p:cNvPr id="6" name="TextBox 5">
            <a:extLst>
              <a:ext uri="{FF2B5EF4-FFF2-40B4-BE49-F238E27FC236}">
                <a16:creationId xmlns:a16="http://schemas.microsoft.com/office/drawing/2014/main" id="{1C6B01B8-7FFD-BC60-783F-40AA8B27B7FC}"/>
              </a:ext>
            </a:extLst>
          </p:cNvPr>
          <p:cNvSpPr txBox="1"/>
          <p:nvPr/>
        </p:nvSpPr>
        <p:spPr>
          <a:xfrm>
            <a:off x="637059" y="2277070"/>
            <a:ext cx="16953563" cy="5078313"/>
          </a:xfrm>
          <a:prstGeom prst="rect">
            <a:avLst/>
          </a:prstGeom>
          <a:noFill/>
        </p:spPr>
        <p:txBody>
          <a:bodyPr wrap="square">
            <a:spAutoFit/>
          </a:bodyPr>
          <a:lstStyle/>
          <a:p>
            <a:pPr lvl="0" algn="just"/>
            <a:r>
              <a:rPr lang="en-US" sz="3600" b="1" dirty="0">
                <a:latin typeface="Consolas" panose="020B0609020204030204" pitchFamily="49" charset="0"/>
              </a:rPr>
              <a:t>Python Application:</a:t>
            </a:r>
            <a:r>
              <a:rPr lang="en-US" sz="3600" dirty="0">
                <a:latin typeface="Consolas" panose="020B0609020204030204" pitchFamily="49" charset="0"/>
              </a:rPr>
              <a:t> the official software package containing everything needed to run Python.</a:t>
            </a:r>
          </a:p>
          <a:p>
            <a:pPr lvl="0" algn="just"/>
            <a:endParaRPr lang="en-US" sz="3600" dirty="0">
              <a:latin typeface="Consolas" panose="020B0609020204030204" pitchFamily="49" charset="0"/>
            </a:endParaRPr>
          </a:p>
          <a:p>
            <a:pPr lvl="0" algn="just"/>
            <a:r>
              <a:rPr lang="en-US" sz="3600" b="1" dirty="0">
                <a:latin typeface="Consolas" panose="020B0609020204030204" pitchFamily="49" charset="0"/>
              </a:rPr>
              <a:t>Interpreter:</a:t>
            </a:r>
            <a:r>
              <a:rPr lang="en-US" sz="3600" dirty="0">
                <a:latin typeface="Consolas" panose="020B0609020204030204" pitchFamily="49" charset="0"/>
              </a:rPr>
              <a:t> the program that executes Python code line by line. Without it, your computer cannot understand Python.</a:t>
            </a:r>
          </a:p>
          <a:p>
            <a:pPr lvl="0" algn="just"/>
            <a:endParaRPr lang="en-US" sz="3600" dirty="0">
              <a:latin typeface="Consolas" panose="020B0609020204030204" pitchFamily="49" charset="0"/>
            </a:endParaRPr>
          </a:p>
          <a:p>
            <a:pPr lvl="0" algn="just"/>
            <a:r>
              <a:rPr lang="en-US" sz="3600" dirty="0">
                <a:latin typeface="Consolas" panose="020B0609020204030204" pitchFamily="49" charset="0"/>
              </a:rPr>
              <a:t>Think of Python as a new language. The interpreter acts like a translator that converts your words into something the computer understands.</a:t>
            </a:r>
          </a:p>
        </p:txBody>
      </p:sp>
    </p:spTree>
    <p:extLst>
      <p:ext uri="{BB962C8B-B14F-4D97-AF65-F5344CB8AC3E}">
        <p14:creationId xmlns:p14="http://schemas.microsoft.com/office/powerpoint/2010/main" val="20561620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80808-6158-FF69-13F6-38CBC942463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D09A09C-AC41-4E04-2539-37CCFBE73C68}"/>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C3396270-72BB-B442-6D57-4DB78662097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AC37615F-21E5-1206-1741-DABB5A299797}"/>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255D704E-6358-8795-07CD-67A339AC63A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FC57E30-0F5F-4FD3-B4A5-ECE5B46982F1}"/>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8F408879-31FE-ED6D-CD47-C85129250E29}"/>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55BB66B0-BB47-C957-D2E4-41D8E9EF2713}"/>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Steps to Install Python</a:t>
            </a:r>
          </a:p>
        </p:txBody>
      </p:sp>
      <p:sp>
        <p:nvSpPr>
          <p:cNvPr id="6" name="TextBox 5">
            <a:extLst>
              <a:ext uri="{FF2B5EF4-FFF2-40B4-BE49-F238E27FC236}">
                <a16:creationId xmlns:a16="http://schemas.microsoft.com/office/drawing/2014/main" id="{9E0E3BD0-6B94-3040-48DC-2309E862BE7D}"/>
              </a:ext>
            </a:extLst>
          </p:cNvPr>
          <p:cNvSpPr txBox="1"/>
          <p:nvPr/>
        </p:nvSpPr>
        <p:spPr>
          <a:xfrm>
            <a:off x="637059" y="2277070"/>
            <a:ext cx="16953563" cy="6740307"/>
          </a:xfrm>
          <a:prstGeom prst="rect">
            <a:avLst/>
          </a:prstGeom>
          <a:noFill/>
        </p:spPr>
        <p:txBody>
          <a:bodyPr wrap="square">
            <a:spAutoFit/>
          </a:bodyPr>
          <a:lstStyle/>
          <a:p>
            <a:pPr lvl="0" algn="just"/>
            <a:r>
              <a:rPr lang="en-US" sz="3600" b="1" dirty="0">
                <a:latin typeface="Consolas" panose="020B0609020204030204" pitchFamily="49" charset="0"/>
              </a:rPr>
              <a:t>Step 1: Download Python - </a:t>
            </a:r>
            <a:r>
              <a:rPr lang="en-US" sz="3600" dirty="0">
                <a:latin typeface="Consolas" panose="020B0609020204030204" pitchFamily="49" charset="0"/>
              </a:rPr>
              <a:t>Go to the official Python website: https://www.python.org/downloads/</a:t>
            </a:r>
            <a:r>
              <a:rPr lang="en-US" sz="3600" b="1" dirty="0">
                <a:latin typeface="Consolas" panose="020B0609020204030204" pitchFamily="49" charset="0"/>
              </a:rPr>
              <a:t>. </a:t>
            </a:r>
            <a:r>
              <a:rPr lang="en-US" sz="3600" dirty="0">
                <a:latin typeface="Consolas" panose="020B0609020204030204" pitchFamily="49" charset="0"/>
              </a:rPr>
              <a:t>Choose the correct version for your OS (Windows, macOS, Linux).</a:t>
            </a: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p:txBody>
      </p:sp>
      <p:pic>
        <p:nvPicPr>
          <p:cNvPr id="7" name="Picture 6">
            <a:extLst>
              <a:ext uri="{FF2B5EF4-FFF2-40B4-BE49-F238E27FC236}">
                <a16:creationId xmlns:a16="http://schemas.microsoft.com/office/drawing/2014/main" id="{5C51F4F2-EC39-D0E5-8CBE-B65F5755D0C0}"/>
              </a:ext>
            </a:extLst>
          </p:cNvPr>
          <p:cNvPicPr/>
          <p:nvPr/>
        </p:nvPicPr>
        <p:blipFill rotWithShape="1">
          <a:blip r:embed="rId7">
            <a:extLst>
              <a:ext uri="{28A0092B-C50C-407E-A947-70E740481C1C}">
                <a14:useLocalDpi xmlns:a14="http://schemas.microsoft.com/office/drawing/2010/main" val="0"/>
              </a:ext>
            </a:extLst>
          </a:blip>
          <a:srcRect b="9000"/>
          <a:stretch/>
        </p:blipFill>
        <p:spPr bwMode="auto">
          <a:xfrm>
            <a:off x="749993" y="4220528"/>
            <a:ext cx="11727757" cy="53425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9648492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67B96-AD5E-4384-D470-EAC5FA98877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4DF742A-C14D-8362-5D08-F87D53CDC651}"/>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60E8A3EB-F906-4A5B-6A83-197DDE1E236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630B8E73-294E-86E6-759A-597ECE308A7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77F4C4F-2F7D-F9DD-DA28-10513E6B8F4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91E154E8-8287-9226-D4F9-74F98566F86B}"/>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DDFEF682-66ED-53F1-FD53-D47870B358F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2F1E2BC4-B37C-778A-0747-FDB3D9F0A266}"/>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Steps to Install Python</a:t>
            </a:r>
          </a:p>
        </p:txBody>
      </p:sp>
      <p:sp>
        <p:nvSpPr>
          <p:cNvPr id="6" name="TextBox 5">
            <a:extLst>
              <a:ext uri="{FF2B5EF4-FFF2-40B4-BE49-F238E27FC236}">
                <a16:creationId xmlns:a16="http://schemas.microsoft.com/office/drawing/2014/main" id="{75C793B1-1BBF-FAE9-A6C5-327699210944}"/>
              </a:ext>
            </a:extLst>
          </p:cNvPr>
          <p:cNvSpPr txBox="1"/>
          <p:nvPr/>
        </p:nvSpPr>
        <p:spPr>
          <a:xfrm>
            <a:off x="637059" y="2277070"/>
            <a:ext cx="16953563" cy="3416320"/>
          </a:xfrm>
          <a:prstGeom prst="rect">
            <a:avLst/>
          </a:prstGeom>
          <a:noFill/>
        </p:spPr>
        <p:txBody>
          <a:bodyPr wrap="square">
            <a:spAutoFit/>
          </a:bodyPr>
          <a:lstStyle/>
          <a:p>
            <a:pPr lvl="0" algn="just"/>
            <a:r>
              <a:rPr lang="en-US" sz="3600" b="1" dirty="0">
                <a:latin typeface="Consolas" panose="020B0609020204030204" pitchFamily="49" charset="0"/>
              </a:rPr>
              <a:t>Step 2: </a:t>
            </a:r>
            <a:r>
              <a:rPr lang="en-US" sz="3600" dirty="0">
                <a:latin typeface="Consolas" panose="020B0609020204030204" pitchFamily="49" charset="0"/>
              </a:rPr>
              <a:t>Run the installer</a:t>
            </a:r>
          </a:p>
          <a:p>
            <a:pPr lvl="0" algn="just"/>
            <a:endParaRPr lang="en-US" sz="3600" dirty="0">
              <a:latin typeface="Consolas" panose="020B0609020204030204" pitchFamily="49" charset="0"/>
            </a:endParaRPr>
          </a:p>
          <a:p>
            <a:pPr algn="just"/>
            <a:r>
              <a:rPr lang="en-US" sz="3600" i="1" dirty="0"/>
              <a:t>Check on “Add python.exe to PATH” then select “Customize installation”.</a:t>
            </a:r>
          </a:p>
          <a:p>
            <a:pPr lvl="0" algn="just"/>
            <a:endParaRPr lang="en-US" sz="3600"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p:txBody>
      </p:sp>
      <p:pic>
        <p:nvPicPr>
          <p:cNvPr id="12" name="Picture 11">
            <a:extLst>
              <a:ext uri="{FF2B5EF4-FFF2-40B4-BE49-F238E27FC236}">
                <a16:creationId xmlns:a16="http://schemas.microsoft.com/office/drawing/2014/main" id="{806C1B21-E3E0-EF22-B8E9-6E412BD03380}"/>
              </a:ext>
            </a:extLst>
          </p:cNvPr>
          <p:cNvPicPr/>
          <p:nvPr/>
        </p:nvPicPr>
        <p:blipFill>
          <a:blip r:embed="rId7">
            <a:extLst>
              <a:ext uri="{28A0092B-C50C-407E-A947-70E740481C1C}">
                <a14:useLocalDpi xmlns:a14="http://schemas.microsoft.com/office/drawing/2010/main" val="0"/>
              </a:ext>
            </a:extLst>
          </a:blip>
          <a:stretch>
            <a:fillRect/>
          </a:stretch>
        </p:blipFill>
        <p:spPr>
          <a:xfrm>
            <a:off x="749992" y="4250690"/>
            <a:ext cx="11442007" cy="5236210"/>
          </a:xfrm>
          <a:prstGeom prst="rect">
            <a:avLst/>
          </a:prstGeom>
          <a:ln>
            <a:solidFill>
              <a:schemeClr val="tx1"/>
            </a:solidFill>
          </a:ln>
        </p:spPr>
      </p:pic>
    </p:spTree>
    <p:extLst>
      <p:ext uri="{BB962C8B-B14F-4D97-AF65-F5344CB8AC3E}">
        <p14:creationId xmlns:p14="http://schemas.microsoft.com/office/powerpoint/2010/main" val="14518792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DF790-CD08-C01E-67E0-482A6A49A84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9F2BC54E-CE0D-B013-19D5-104323377BC9}"/>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1D0B5530-56C3-4813-1AFF-22D5B9D2677F}"/>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F40BB643-2250-076D-47B6-37F64328D4C3}"/>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63DF245A-1398-46F6-2601-256FB570DC21}"/>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DF11EEA8-47C0-BA60-88EB-1EDA4A044D6E}"/>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1DF7B912-7B42-E453-6A8B-8AA7CD32F905}"/>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CCFA15CC-9C2B-0CBE-E190-A0B747DA0E31}"/>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Steps to Install Python</a:t>
            </a:r>
          </a:p>
        </p:txBody>
      </p:sp>
      <p:sp>
        <p:nvSpPr>
          <p:cNvPr id="6" name="TextBox 5">
            <a:extLst>
              <a:ext uri="{FF2B5EF4-FFF2-40B4-BE49-F238E27FC236}">
                <a16:creationId xmlns:a16="http://schemas.microsoft.com/office/drawing/2014/main" id="{2530B0BC-AE01-0D9D-5B78-B09A422E5F12}"/>
              </a:ext>
            </a:extLst>
          </p:cNvPr>
          <p:cNvSpPr txBox="1"/>
          <p:nvPr/>
        </p:nvSpPr>
        <p:spPr>
          <a:xfrm>
            <a:off x="637059" y="2277070"/>
            <a:ext cx="16953563" cy="3416320"/>
          </a:xfrm>
          <a:prstGeom prst="rect">
            <a:avLst/>
          </a:prstGeom>
          <a:noFill/>
        </p:spPr>
        <p:txBody>
          <a:bodyPr wrap="square">
            <a:spAutoFit/>
          </a:bodyPr>
          <a:lstStyle/>
          <a:p>
            <a:pPr lvl="0" algn="just"/>
            <a:r>
              <a:rPr lang="en-US" sz="3600" b="1" dirty="0">
                <a:latin typeface="Consolas" panose="020B0609020204030204" pitchFamily="49" charset="0"/>
              </a:rPr>
              <a:t>Step 2: </a:t>
            </a:r>
            <a:r>
              <a:rPr lang="en-US" sz="3600" dirty="0">
                <a:latin typeface="Consolas" panose="020B0609020204030204" pitchFamily="49" charset="0"/>
              </a:rPr>
              <a:t>Run the installer</a:t>
            </a:r>
          </a:p>
          <a:p>
            <a:pPr lvl="0" algn="just"/>
            <a:endParaRPr lang="en-US" sz="3600" dirty="0">
              <a:latin typeface="Consolas" panose="020B0609020204030204" pitchFamily="49" charset="0"/>
            </a:endParaRPr>
          </a:p>
          <a:p>
            <a:pPr algn="just"/>
            <a:r>
              <a:rPr lang="en-US" sz="3600" i="1" dirty="0"/>
              <a:t>Click Next</a:t>
            </a:r>
          </a:p>
          <a:p>
            <a:pPr lvl="0" algn="just"/>
            <a:endParaRPr lang="en-US" sz="3600"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p:txBody>
      </p:sp>
      <p:pic>
        <p:nvPicPr>
          <p:cNvPr id="7" name="Picture 6">
            <a:extLst>
              <a:ext uri="{FF2B5EF4-FFF2-40B4-BE49-F238E27FC236}">
                <a16:creationId xmlns:a16="http://schemas.microsoft.com/office/drawing/2014/main" id="{465BB08B-92F0-6187-7C3C-2C53B6C50D59}"/>
              </a:ext>
            </a:extLst>
          </p:cNvPr>
          <p:cNvPicPr/>
          <p:nvPr/>
        </p:nvPicPr>
        <p:blipFill>
          <a:blip r:embed="rId7">
            <a:extLst>
              <a:ext uri="{28A0092B-C50C-407E-A947-70E740481C1C}">
                <a14:useLocalDpi xmlns:a14="http://schemas.microsoft.com/office/drawing/2010/main" val="0"/>
              </a:ext>
            </a:extLst>
          </a:blip>
          <a:stretch>
            <a:fillRect/>
          </a:stretch>
        </p:blipFill>
        <p:spPr>
          <a:xfrm>
            <a:off x="749993" y="4241164"/>
            <a:ext cx="9918007" cy="5017136"/>
          </a:xfrm>
          <a:prstGeom prst="rect">
            <a:avLst/>
          </a:prstGeom>
          <a:ln>
            <a:solidFill>
              <a:schemeClr val="tx1"/>
            </a:solidFill>
          </a:ln>
        </p:spPr>
      </p:pic>
    </p:spTree>
    <p:extLst>
      <p:ext uri="{BB962C8B-B14F-4D97-AF65-F5344CB8AC3E}">
        <p14:creationId xmlns:p14="http://schemas.microsoft.com/office/powerpoint/2010/main" val="16475015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DCB57-2CC1-C68C-24A7-9A8285B57C2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AD763DC-8B83-A0C7-E2C6-A3A6389DE01E}"/>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0DEEDD59-29C6-DD46-AE4F-74686F7328F4}"/>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424B666D-EB11-37A6-EC26-824C7BE33ACD}"/>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7F07C672-365F-5C45-8BB3-4D6EA5D1027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C9A38CB3-B4D5-F3E1-5485-9D96E72D8B97}"/>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A6C29AEF-800C-5624-F4A0-43E0E24EB8B3}"/>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52938E71-4D10-2D60-A678-8E832AE514A0}"/>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Steps to Install Python</a:t>
            </a:r>
          </a:p>
        </p:txBody>
      </p:sp>
      <p:sp>
        <p:nvSpPr>
          <p:cNvPr id="6" name="TextBox 5">
            <a:extLst>
              <a:ext uri="{FF2B5EF4-FFF2-40B4-BE49-F238E27FC236}">
                <a16:creationId xmlns:a16="http://schemas.microsoft.com/office/drawing/2014/main" id="{F75739ED-156C-4024-961F-731FC9A60D42}"/>
              </a:ext>
            </a:extLst>
          </p:cNvPr>
          <p:cNvSpPr txBox="1"/>
          <p:nvPr/>
        </p:nvSpPr>
        <p:spPr>
          <a:xfrm>
            <a:off x="637059" y="2277070"/>
            <a:ext cx="16953563" cy="4524315"/>
          </a:xfrm>
          <a:prstGeom prst="rect">
            <a:avLst/>
          </a:prstGeom>
          <a:noFill/>
        </p:spPr>
        <p:txBody>
          <a:bodyPr wrap="square">
            <a:spAutoFit/>
          </a:bodyPr>
          <a:lstStyle/>
          <a:p>
            <a:pPr lvl="0" algn="just"/>
            <a:r>
              <a:rPr lang="en-US" sz="3600" b="1" dirty="0">
                <a:latin typeface="Consolas" panose="020B0609020204030204" pitchFamily="49" charset="0"/>
              </a:rPr>
              <a:t>Step 2: </a:t>
            </a:r>
            <a:r>
              <a:rPr lang="en-US" sz="3600" dirty="0">
                <a:latin typeface="Consolas" panose="020B0609020204030204" pitchFamily="49" charset="0"/>
              </a:rPr>
              <a:t>Run the installer</a:t>
            </a:r>
          </a:p>
          <a:p>
            <a:pPr lvl="0" algn="just"/>
            <a:endParaRPr lang="en-US" sz="3600" dirty="0">
              <a:latin typeface="Consolas" panose="020B0609020204030204" pitchFamily="49" charset="0"/>
            </a:endParaRPr>
          </a:p>
          <a:p>
            <a:pPr algn="just"/>
            <a:r>
              <a:rPr lang="en-US" sz="3600" i="1" dirty="0"/>
              <a:t>Check on “Install Python 3.12 for all users” and “Add Python to environment variables” then, click install. A dialogue box will appear, click “Yes” then wait for the installation to be done.</a:t>
            </a:r>
          </a:p>
          <a:p>
            <a:pPr lvl="0" algn="just"/>
            <a:endParaRPr lang="en-US" sz="3600" dirty="0">
              <a:latin typeface="Consolas" panose="020B0609020204030204" pitchFamily="49" charset="0"/>
            </a:endParaRPr>
          </a:p>
          <a:p>
            <a:pPr lvl="0" algn="just"/>
            <a:endParaRPr lang="en-US" sz="3600" b="1" dirty="0">
              <a:latin typeface="Consolas" panose="020B0609020204030204" pitchFamily="49" charset="0"/>
            </a:endParaRPr>
          </a:p>
          <a:p>
            <a:pPr lvl="0" algn="just"/>
            <a:endParaRPr lang="en-US" sz="3600" b="1" dirty="0">
              <a:latin typeface="Consolas" panose="020B0609020204030204" pitchFamily="49" charset="0"/>
            </a:endParaRPr>
          </a:p>
        </p:txBody>
      </p:sp>
      <p:pic>
        <p:nvPicPr>
          <p:cNvPr id="8" name="Picture 7">
            <a:extLst>
              <a:ext uri="{FF2B5EF4-FFF2-40B4-BE49-F238E27FC236}">
                <a16:creationId xmlns:a16="http://schemas.microsoft.com/office/drawing/2014/main" id="{C7E33CFC-D8DF-D631-FFC0-1AA71E59F3DE}"/>
              </a:ext>
            </a:extLst>
          </p:cNvPr>
          <p:cNvPicPr/>
          <p:nvPr/>
        </p:nvPicPr>
        <p:blipFill>
          <a:blip r:embed="rId7">
            <a:extLst>
              <a:ext uri="{28A0092B-C50C-407E-A947-70E740481C1C}">
                <a14:useLocalDpi xmlns:a14="http://schemas.microsoft.com/office/drawing/2010/main" val="0"/>
              </a:ext>
            </a:extLst>
          </a:blip>
          <a:stretch>
            <a:fillRect/>
          </a:stretch>
        </p:blipFill>
        <p:spPr>
          <a:xfrm>
            <a:off x="716428" y="5124450"/>
            <a:ext cx="9460807" cy="4645370"/>
          </a:xfrm>
          <a:prstGeom prst="rect">
            <a:avLst/>
          </a:prstGeom>
          <a:ln>
            <a:solidFill>
              <a:schemeClr val="tx1"/>
            </a:solidFill>
          </a:ln>
        </p:spPr>
      </p:pic>
    </p:spTree>
    <p:extLst>
      <p:ext uri="{BB962C8B-B14F-4D97-AF65-F5344CB8AC3E}">
        <p14:creationId xmlns:p14="http://schemas.microsoft.com/office/powerpoint/2010/main" val="2827700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66BC4-AE08-E201-7E7B-54E2757C4EE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82294A3A-FED0-1BB9-80B5-A02DF08DADCF}"/>
              </a:ext>
            </a:extLst>
          </p:cNvPr>
          <p:cNvGrpSpPr/>
          <p:nvPr/>
        </p:nvGrpSpPr>
        <p:grpSpPr>
          <a:xfrm>
            <a:off x="15240000" y="7086600"/>
            <a:ext cx="3200400" cy="3200400"/>
            <a:chOff x="0" y="0"/>
            <a:chExt cx="10022021" cy="9446043"/>
          </a:xfrm>
        </p:grpSpPr>
        <p:sp>
          <p:nvSpPr>
            <p:cNvPr id="3" name="Freeform 3">
              <a:extLst>
                <a:ext uri="{FF2B5EF4-FFF2-40B4-BE49-F238E27FC236}">
                  <a16:creationId xmlns:a16="http://schemas.microsoft.com/office/drawing/2014/main" id="{EB609842-B810-DE36-4D8D-DE05888828C5}"/>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4" name="Freeform 4">
              <a:extLst>
                <a:ext uri="{FF2B5EF4-FFF2-40B4-BE49-F238E27FC236}">
                  <a16:creationId xmlns:a16="http://schemas.microsoft.com/office/drawing/2014/main" id="{405FA918-01F5-B5BB-08CE-B9586401103B}"/>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sp>
          <p:nvSpPr>
            <p:cNvPr id="5" name="Freeform 5">
              <a:extLst>
                <a:ext uri="{FF2B5EF4-FFF2-40B4-BE49-F238E27FC236}">
                  <a16:creationId xmlns:a16="http://schemas.microsoft.com/office/drawing/2014/main" id="{C6B5C333-0DE2-E40F-55BC-869E3A8438F2}"/>
                </a:ext>
              </a:extLst>
            </p:cNvPr>
            <p:cNvSpPr/>
            <p:nvPr/>
          </p:nvSpPr>
          <p:spPr>
            <a:xfrm>
              <a:off x="0" y="0"/>
              <a:ext cx="10022021" cy="9446043"/>
            </a:xfrm>
            <a:custGeom>
              <a:avLst/>
              <a:gdLst/>
              <a:ahLst/>
              <a:cxnLst/>
              <a:rect l="l" t="t" r="r" b="b"/>
              <a:pathLst>
                <a:path w="10022021" h="9446043">
                  <a:moveTo>
                    <a:pt x="0" y="0"/>
                  </a:moveTo>
                  <a:lnTo>
                    <a:pt x="10022021" y="0"/>
                  </a:lnTo>
                  <a:lnTo>
                    <a:pt x="10022021" y="9446043"/>
                  </a:lnTo>
                  <a:lnTo>
                    <a:pt x="0" y="9446043"/>
                  </a:lnTo>
                  <a:lnTo>
                    <a:pt x="0" y="0"/>
                  </a:lnTo>
                  <a:close/>
                </a:path>
              </a:pathLst>
            </a:custGeom>
            <a:blipFill>
              <a:blip r:embed="rId3">
                <a:alphaModFix amt="5000"/>
              </a:blip>
              <a:stretch>
                <a:fillRect/>
              </a:stretch>
            </a:blipFill>
          </p:spPr>
          <p:txBody>
            <a:bodyPr/>
            <a:lstStyle/>
            <a:p>
              <a:endParaRPr lang="en-PH"/>
            </a:p>
          </p:txBody>
        </p:sp>
      </p:grpSp>
      <p:sp>
        <p:nvSpPr>
          <p:cNvPr id="20" name="Freeform 20">
            <a:extLst>
              <a:ext uri="{FF2B5EF4-FFF2-40B4-BE49-F238E27FC236}">
                <a16:creationId xmlns:a16="http://schemas.microsoft.com/office/drawing/2014/main" id="{511C55C8-13B9-A8F6-4D8B-9E06ED100F69}"/>
              </a:ext>
            </a:extLst>
          </p:cNvPr>
          <p:cNvSpPr/>
          <p:nvPr/>
        </p:nvSpPr>
        <p:spPr>
          <a:xfrm>
            <a:off x="16022831" y="9062992"/>
            <a:ext cx="2228298" cy="1222779"/>
          </a:xfrm>
          <a:custGeom>
            <a:avLst/>
            <a:gdLst/>
            <a:ahLst/>
            <a:cxnLst/>
            <a:rect l="l" t="t" r="r" b="b"/>
            <a:pathLst>
              <a:path w="2228298" h="1222779">
                <a:moveTo>
                  <a:pt x="0" y="0"/>
                </a:moveTo>
                <a:lnTo>
                  <a:pt x="2228298" y="0"/>
                </a:lnTo>
                <a:lnTo>
                  <a:pt x="2228298" y="1222779"/>
                </a:lnTo>
                <a:lnTo>
                  <a:pt x="0" y="12227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H"/>
          </a:p>
        </p:txBody>
      </p:sp>
      <p:pic>
        <p:nvPicPr>
          <p:cNvPr id="19" name="Picture 18" descr="A blue and orange square&#10;&#10;Description automatically generated">
            <a:extLst>
              <a:ext uri="{FF2B5EF4-FFF2-40B4-BE49-F238E27FC236}">
                <a16:creationId xmlns:a16="http://schemas.microsoft.com/office/drawing/2014/main" id="{BDACE274-5400-EAB4-9810-B1BF423BE906}"/>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rcRect l="10012"/>
          <a:stretch/>
        </p:blipFill>
        <p:spPr>
          <a:xfrm>
            <a:off x="-11723" y="0"/>
            <a:ext cx="18251129" cy="2095500"/>
          </a:xfrm>
          <a:prstGeom prst="rect">
            <a:avLst/>
          </a:prstGeom>
        </p:spPr>
      </p:pic>
      <p:sp>
        <p:nvSpPr>
          <p:cNvPr id="21" name="TextBox 28">
            <a:extLst>
              <a:ext uri="{FF2B5EF4-FFF2-40B4-BE49-F238E27FC236}">
                <a16:creationId xmlns:a16="http://schemas.microsoft.com/office/drawing/2014/main" id="{33AC9B5E-EFC7-005B-4B3E-65985F23D22C}"/>
              </a:ext>
            </a:extLst>
          </p:cNvPr>
          <p:cNvSpPr txBox="1"/>
          <p:nvPr/>
        </p:nvSpPr>
        <p:spPr>
          <a:xfrm>
            <a:off x="749993" y="-15883"/>
            <a:ext cx="16381125" cy="1399037"/>
          </a:xfrm>
          <a:prstGeom prst="rect">
            <a:avLst/>
          </a:prstGeom>
        </p:spPr>
        <p:txBody>
          <a:bodyPr wrap="square" lIns="0" tIns="0" rIns="0" bIns="0" rtlCol="0" anchor="t">
            <a:spAutoFit/>
          </a:bodyPr>
          <a:lstStyle/>
          <a:p>
            <a:pPr>
              <a:lnSpc>
                <a:spcPts val="12857"/>
              </a:lnSpc>
            </a:pPr>
            <a:r>
              <a:rPr lang="en-US" sz="4800" i="1" spc="-360" dirty="0">
                <a:ln>
                  <a:solidFill>
                    <a:schemeClr val="tx1"/>
                  </a:solidFill>
                </a:ln>
                <a:solidFill>
                  <a:schemeClr val="bg1"/>
                </a:solidFill>
                <a:latin typeface="Consolas" panose="020B0609020204030204" pitchFamily="49" charset="0"/>
                <a:ea typeface="Cambria" panose="02040503050406030204" pitchFamily="18" charset="0"/>
              </a:rPr>
              <a:t>Installing Python on </a:t>
            </a:r>
            <a:r>
              <a:rPr lang="en-US" sz="4800" i="1" spc="-360" dirty="0" err="1">
                <a:ln>
                  <a:solidFill>
                    <a:schemeClr val="tx1"/>
                  </a:solidFill>
                </a:ln>
                <a:solidFill>
                  <a:schemeClr val="bg1"/>
                </a:solidFill>
                <a:latin typeface="Consolas" panose="020B0609020204030204" pitchFamily="49" charset="0"/>
                <a:ea typeface="Cambria" panose="02040503050406030204" pitchFamily="18" charset="0"/>
              </a:rPr>
              <a:t>VSCode</a:t>
            </a:r>
            <a:endParaRPr lang="en-US" sz="4800" i="1" spc="-360" dirty="0">
              <a:ln>
                <a:solidFill>
                  <a:schemeClr val="tx1"/>
                </a:solidFill>
              </a:ln>
              <a:solidFill>
                <a:schemeClr val="bg1"/>
              </a:solidFill>
              <a:latin typeface="Consolas" panose="020B0609020204030204" pitchFamily="49" charset="0"/>
              <a:ea typeface="Cambria" panose="02040503050406030204" pitchFamily="18" charset="0"/>
            </a:endParaRPr>
          </a:p>
        </p:txBody>
      </p:sp>
      <p:sp>
        <p:nvSpPr>
          <p:cNvPr id="6" name="TextBox 5">
            <a:extLst>
              <a:ext uri="{FF2B5EF4-FFF2-40B4-BE49-F238E27FC236}">
                <a16:creationId xmlns:a16="http://schemas.microsoft.com/office/drawing/2014/main" id="{61461D51-8C37-D5E2-04B7-724B51628E1C}"/>
              </a:ext>
            </a:extLst>
          </p:cNvPr>
          <p:cNvSpPr txBox="1"/>
          <p:nvPr/>
        </p:nvSpPr>
        <p:spPr>
          <a:xfrm>
            <a:off x="637059" y="2277070"/>
            <a:ext cx="16953563" cy="6740307"/>
          </a:xfrm>
          <a:prstGeom prst="rect">
            <a:avLst/>
          </a:prstGeom>
          <a:noFill/>
        </p:spPr>
        <p:txBody>
          <a:bodyPr wrap="square">
            <a:spAutoFit/>
          </a:bodyPr>
          <a:lstStyle/>
          <a:p>
            <a:pPr lvl="0" algn="just"/>
            <a:r>
              <a:rPr lang="en-US" sz="3600" b="1" dirty="0">
                <a:latin typeface="Consolas" panose="020B0609020204030204" pitchFamily="49" charset="0"/>
              </a:rPr>
              <a:t>Step 1: </a:t>
            </a:r>
            <a:r>
              <a:rPr lang="en-US" sz="3600" dirty="0">
                <a:latin typeface="Consolas" panose="020B0609020204030204" pitchFamily="49" charset="0"/>
              </a:rPr>
              <a:t>On your </a:t>
            </a:r>
            <a:r>
              <a:rPr lang="en-US" sz="3600" dirty="0" err="1">
                <a:latin typeface="Consolas" panose="020B0609020204030204" pitchFamily="49" charset="0"/>
              </a:rPr>
              <a:t>VSCode</a:t>
            </a:r>
            <a:r>
              <a:rPr lang="en-US" sz="3600" dirty="0">
                <a:latin typeface="Consolas" panose="020B0609020204030204" pitchFamily="49" charset="0"/>
              </a:rPr>
              <a:t>, go to extensions and download the following extensions</a:t>
            </a: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endParaRPr lang="en-US" sz="3600" dirty="0">
              <a:latin typeface="Consolas" panose="020B0609020204030204" pitchFamily="49" charset="0"/>
            </a:endParaRPr>
          </a:p>
          <a:p>
            <a:pPr lvl="0" algn="just"/>
            <a:r>
              <a:rPr lang="en-US" sz="3600" b="1" dirty="0">
                <a:latin typeface="Consolas" panose="020B0609020204030204" pitchFamily="49" charset="0"/>
              </a:rPr>
              <a:t>Step 2: Create python file then run the program to test.</a:t>
            </a:r>
            <a:endParaRPr lang="en-US" sz="3600" dirty="0">
              <a:latin typeface="Consolas" panose="020B0609020204030204" pitchFamily="49" charset="0"/>
            </a:endParaRPr>
          </a:p>
        </p:txBody>
      </p:sp>
      <p:pic>
        <p:nvPicPr>
          <p:cNvPr id="9" name="Picture 8">
            <a:extLst>
              <a:ext uri="{FF2B5EF4-FFF2-40B4-BE49-F238E27FC236}">
                <a16:creationId xmlns:a16="http://schemas.microsoft.com/office/drawing/2014/main" id="{31EF9D92-3327-AC27-D37D-63614DB35199}"/>
              </a:ext>
            </a:extLst>
          </p:cNvPr>
          <p:cNvPicPr>
            <a:picLocks noChangeAspect="1"/>
          </p:cNvPicPr>
          <p:nvPr/>
        </p:nvPicPr>
        <p:blipFill>
          <a:blip r:embed="rId7"/>
          <a:stretch>
            <a:fillRect/>
          </a:stretch>
        </p:blipFill>
        <p:spPr>
          <a:xfrm>
            <a:off x="697378" y="3835756"/>
            <a:ext cx="11993649" cy="1857634"/>
          </a:xfrm>
          <a:prstGeom prst="rect">
            <a:avLst/>
          </a:prstGeom>
        </p:spPr>
      </p:pic>
      <p:pic>
        <p:nvPicPr>
          <p:cNvPr id="11" name="Picture 10">
            <a:extLst>
              <a:ext uri="{FF2B5EF4-FFF2-40B4-BE49-F238E27FC236}">
                <a16:creationId xmlns:a16="http://schemas.microsoft.com/office/drawing/2014/main" id="{473C7D61-60A2-19CA-30DC-CF3726026B79}"/>
              </a:ext>
            </a:extLst>
          </p:cNvPr>
          <p:cNvPicPr>
            <a:picLocks noChangeAspect="1"/>
          </p:cNvPicPr>
          <p:nvPr/>
        </p:nvPicPr>
        <p:blipFill>
          <a:blip r:embed="rId8"/>
          <a:stretch>
            <a:fillRect/>
          </a:stretch>
        </p:blipFill>
        <p:spPr>
          <a:xfrm>
            <a:off x="749993" y="6176835"/>
            <a:ext cx="11941034" cy="1833095"/>
          </a:xfrm>
          <a:prstGeom prst="rect">
            <a:avLst/>
          </a:prstGeom>
        </p:spPr>
      </p:pic>
    </p:spTree>
    <p:extLst>
      <p:ext uri="{BB962C8B-B14F-4D97-AF65-F5344CB8AC3E}">
        <p14:creationId xmlns:p14="http://schemas.microsoft.com/office/powerpoint/2010/main" val="40666672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4370</TotalTime>
  <Words>2524</Words>
  <Application>Microsoft Office PowerPoint</Application>
  <PresentationFormat>Custom</PresentationFormat>
  <Paragraphs>337</Paragraphs>
  <Slides>36</Slides>
  <Notes>36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Calibri</vt:lpstr>
      <vt:lpstr>Arial</vt:lpstr>
      <vt:lpstr>Aptos</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 4 - Lesson 5</dc:title>
  <dc:creator>DENVER</dc:creator>
  <cp:lastModifiedBy>Mark Denver Adora</cp:lastModifiedBy>
  <cp:revision>211</cp:revision>
  <dcterms:created xsi:type="dcterms:W3CDTF">2006-08-16T00:00:00Z</dcterms:created>
  <dcterms:modified xsi:type="dcterms:W3CDTF">2025-08-20T08:35:47Z</dcterms:modified>
  <dc:identifier>DAGH1tVytZk</dc:identifier>
</cp:coreProperties>
</file>